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fromPNG/presentation.xml" ContentType="application/vnd.openxmlformats-officedocument.presentationml.presentation.main+xml"/>
  <Override PartName="/ppt/fromPNG/theme/theme1.xml" ContentType="application/vnd.openxmlformats-officedocument.theme+xml"/>
  <Override PartName="/ppt/fromPNG/slideMasters/slideMaster1.xml" ContentType="application/vnd.openxmlformats-officedocument.presentationml.slideMaster+xml"/>
  <Override PartName="/ppt/fromPNG/slideMasters/theme/theme2.xml" ContentType="application/vnd.openxmlformats-officedocument.theme+xml"/>
  <Override PartName="/ppt/fromPNG/slideLayouts/slideLayout1.xml" ContentType="application/vnd.openxmlformats-officedocument.presentationml.slideLayout+xml"/>
  <Override PartName="/ppt/fromPNG/notesMasters/notesMaster1.xml" ContentType="application/vnd.openxmlformats-officedocument.presentationml.notesMaster+xml"/>
  <Override PartName="/ppt/fromPNG/notesMasters/theme/theme3.xml" ContentType="application/vnd.openxmlformats-officedocument.theme+xml"/>
  <Override PartName="/ppt/fromPNG/presProps.xml" ContentType="application/vnd.openxmlformats-officedocument.presentationml.presProps+xml"/>
  <Override PartName="/ppt/fromPNG/tableStyles.xml" ContentType="application/vnd.openxmlformats-officedocument.presentationml.tableStyles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079b89778b4319" /><Relationship Type="http://schemas.openxmlformats.org/officeDocument/2006/relationships/extended-properties" Target="/docProps/app.xml" Id="Rbdd7b9abd62e4eb0" /><Relationship Type="http://schemas.openxmlformats.org/officeDocument/2006/relationships/officeDocument" Target="/ppt/presentation.xml" Id="R8eaac7869ab34faf" /></Relationships>
</file>

<file path=ppt/presentation.xml><?xml version="1.0" encoding="utf-8"?>
<p:presentation xmlns:p="http://schemas.openxmlformats.org/presentationml/2006/main" xmlns:r="http://schemas.openxmlformats.org/officeDocument/2006/relationships" xmlns:p14="http://schemas.microsoft.com/office/powerpoint/2010/main">
  <p:sldMasterIdLst>
    <p:sldMasterId xmlns:r="http://schemas.openxmlformats.org/officeDocument/2006/relationships" id="2147483648" r:id="R9c9cfaea4fe14bf9"/>
    <p:sldMasterId id="3000000000" r:id="rIdPNGMaster0"/>
  </p:sldMasterIdLst>
  <p:notesMasterIdLst>
    <p:notesMasterId xmlns:r="http://schemas.openxmlformats.org/officeDocument/2006/relationships" r:id="R25c94bd01a3941aa"/>
  </p:notesMasterIdLst>
  <p:sldIdLst>
    <p:sldId id="256" r:id="rIdMerged1"/>
    <p:sldId id="257" r:id="rIdMerged2"/>
    <p:sldId id="258" r:id="rIdMerged3"/>
    <p:sldId id="259" r:id="rIdMerged4"/>
    <p:sldId id="260" r:id="rIdMerged5"/>
    <p:sldId id="261" r:id="rIdMerged6"/>
    <p:sldId id="262" r:id="rIdMerged7"/>
    <p:sldId id="263" r:id="rIdMerged8"/>
    <p:sldId id="264" r:id="rIdMerged9"/>
    <p:sldId id="265" r:id="rIdMerged10"/>
    <p:sldId id="266" r:id="rIdMerged11"/>
    <p:sldId id="267" r:id="rIdMerged12"/>
    <p:sldId id="268" r:id="rIdMerged13"/>
    <p:sldId id="269" r:id="rIdMerged14"/>
    <p:sldId id="270" r:id="rIdMerged15"/>
    <p:sldId id="271" r:id="rIdMerged16"/>
    <p:sldId id="272" r:id="rIdMerged17"/>
    <p:sldId id="273" r:id="rIdMerged18"/>
    <p:sldId id="274" r:id="rIdMerged19"/>
    <p:sldId id="275" r:id="rIdMerged20"/>
    <p:sldId id="276" r:id="rIdMerged21"/>
    <p:sldId id="277" r:id="rIdMerged22"/>
    <p:sldId id="278" r:id="rIdMerged23"/>
    <p:sldId id="279" r:id="rIdMerged24"/>
    <p:sldId id="280" r:id="rIdMerged25"/>
    <p:sldId id="281" r:id="rIdMerged26"/>
    <p:sldId id="282" r:id="rIdMerged27"/>
    <p:sldId id="283" r:id="rIdMerged28"/>
    <p:sldId id="284" r:id="rIdMerged29"/>
    <p:sldId id="285" r:id="rIdMerged30"/>
    <p:sldId id="286" r:id="rIdMerged31"/>
    <p:sldId id="287" r:id="rIdMerged32"/>
    <p:sldId id="288" r:id="rIdMerged33"/>
    <p:sldId id="289" r:id="rIdMerged34"/>
    <p:sldId id="290" r:id="rIdMerged35"/>
    <p:sldId id="291" r:id="rIdMerged36"/>
    <p:sldId id="292" r:id="rIdMerged37"/>
    <p:sldId id="293" r:id="rIdMerged38"/>
    <p:sldId id="294" r:id="rIdMerged39"/>
    <p:sldId id="295" r:id="rIdMerged40"/>
    <p:sldId id="296" r:id="rIdMerged41"/>
    <p:sldId id="297" r:id="rIdMerged42"/>
    <p:sldId id="298" r:id="rIdMerged43"/>
    <p:sldId id="299" r:id="rIdMerged44"/>
    <p:sldId id="300" r:id="rIdMerged45"/>
    <p:sldId id="301" r:id="rIdMerged46"/>
    <p:sldId id="302" r:id="rIdMerged47"/>
    <p:sldId id="303" r:id="rIdMerged48"/>
    <p:sldId id="304" r:id="rIdMerged49"/>
    <p:sldId id="305" r:id="rIdMerged50"/>
    <p:sldId id="306" r:id="rIdMerged51"/>
    <p:sldId id="307" r:id="rIdMerged52"/>
    <p:sldId id="308" r:id="rIdMerged53"/>
    <p:sldId id="309" r:id="rIdMerged54"/>
    <p:sldId id="310" r:id="rIdMerged55"/>
    <p:sldId id="311" r:id="rIdMerged56"/>
    <p:sldId id="312" r:id="rIdMerged57"/>
    <p:sldId id="313" r:id="rIdMerged58"/>
    <p:sldId id="314" r:id="rIdMerged59"/>
    <p:sldId id="315" r:id="rIdMerged60"/>
    <p:sldId id="316" r:id="rIdMerged61"/>
    <p:sldId id="317" r:id="rIdMerged62"/>
    <p:sldId id="318" r:id="rIdMerged63"/>
    <p:sldId id="319" r:id="rIdMerged64"/>
    <p:sldId id="320" r:id="rIdMerged65"/>
    <p:sldId id="321" r:id="rIdMerged66"/>
    <p:sldId id="322" r:id="rIdMerged67"/>
    <p:sldId id="323" r:id="rIdMerged68"/>
    <p:sldId id="324" r:id="rIdMerged69"/>
    <p:sldId id="325" r:id="rIdMerged70"/>
    <p:sldId id="326" r:id="rIdMerged71"/>
    <p:sldId id="327" r:id="rIdMerged72"/>
    <p:sldId id="328" r:id="rIdMerged73"/>
    <p:sldId id="329" r:id="rIdMerged74"/>
    <p:sldId id="330" r:id="rIdMerged75"/>
    <p:sldId id="331" r:id="rIdMerged76"/>
    <p:sldId id="332" r:id="rIdMerged77"/>
    <p:sldId id="333" r:id="rIdMerged78"/>
    <p:sldId id="334" r:id="rIdMerged79"/>
    <p:sldId id="335" r:id="rIdMerged80"/>
    <p:sldId id="336" r:id="rIdMerged81"/>
    <p:sldId id="337" r:id="rIdMerged82"/>
    <p:sldId id="338" r:id="rIdMerged83"/>
    <p:sldId id="339" r:id="rIdMerged84"/>
  </p:sldIdLst>
  <p:sldSz cx="12192000" cy="6858000"/>
  <p:notesSz cx="6858000" cy="9144000"/>
  <p:extLst>
    <p:ext uri="{521415D9-36F7-43E2-AB2F-B90AF26B5E84}">
      <p14:sectionLst>
        <p14:section name="01 封面与目录" id="{E6657A79-0C9E-49B9-A0EF-FF9629365A99}">
          <p14:sldIdLst>
            <p14:sldId id="256"/>
            <p14:sldId id="257"/>
            <p14:sldId id="258"/>
          </p14:sldIdLst>
        </p14:section>
        <p14:section name="02 背景、意义与模式演进" id="{BFB1005F-4727-4E8D-AB7E-E91449B5594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03 研究问题、局限与缺口" id="{846A3C75-2F86-4F4E-9667-6E320467585F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04 研究目标与内容总览" id="{C887B77C-A3E6-472C-8F6B-7913E141A10A}">
          <p14:sldIdLst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05 方法原理与技术路线" id="{0B636B38-1C6A-4F1B-B327-DDBF396E90F4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06 实验设计、结果与证据" id="{EFE16BB1-4114-4EE0-84C8-728D0663C270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</p14:sldIdLst>
        </p14:section>
        <p14:section name="07 系统架构、功能与应用" id="{488456A6-14F6-4360-B3E8-508F43AEA5F3}">
          <p14:sldIdLst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  <p14:section name="08 支撑条件与代表成果" id="{524D60F6-9424-42B8-BB58-8F832381F691}">
          <p14:sldIdLst>
            <p14:sldId id="331"/>
            <p14:sldId id="332"/>
            <p14:sldId id="333"/>
            <p14:sldId id="334"/>
          </p14:sldIdLst>
        </p14:section>
        <p14:section name="09 总结与未来展望" id="{C8B714F6-C348-4FCD-B762-6A3198862BF2}">
          <p14:sldIdLst>
            <p14:sldId id="335"/>
            <p14:sldId id="336"/>
            <p14:sldId id="337"/>
          </p14:sldIdLst>
        </p14:section>
        <p14:section name="10 空白备用页" id="{26C4B1B5-001E-4F21-8783-75494697D7F0}">
          <p14:sldIdLst>
            <p14:sldId id="338"/>
            <p14:sldId id="339"/>
          </p14:sldIdLst>
        </p14:section>
      </p14:sectionLst>
    </p:ext>
  </p:ex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fd08d87246864fcd"/><Relationship Type="http://schemas.openxmlformats.org/officeDocument/2006/relationships/slideMaster" Target="/ppt/slideMasters/slideMaster1.xml" Id="R9c9cfaea4fe14bf9"/><Relationship Type="http://schemas.openxmlformats.org/officeDocument/2006/relationships/notesMaster" Target="/ppt/notesMasters/notesMaster1.xml" Id="R25c94bd01a3941aa"/><Relationship Type="http://schemas.openxmlformats.org/officeDocument/2006/relationships/presProps" Target="/ppt/presProps.xml" Id="R31b4926c5d904ee9"/><Relationship Type="http://schemas.openxmlformats.org/officeDocument/2006/relationships/tableStyles" Target="/ppt/tableStyles.xml" Id="Rf800158e67344d2e"/><Relationship Id="rIdMerged1" Type="http://schemas.openxmlformats.org/officeDocument/2006/relationships/slide" Target="slides/slide1.xml"/><Relationship Id="rIdMerged2" Type="http://schemas.openxmlformats.org/officeDocument/2006/relationships/slide" Target="slides/slide2.xml"/><Relationship Id="rIdMerged3" Type="http://schemas.openxmlformats.org/officeDocument/2006/relationships/slide" Target="slides/slide3.xml"/><Relationship Id="rIdMerged4" Type="http://schemas.openxmlformats.org/officeDocument/2006/relationships/slide" Target="slides/slide4.xml"/><Relationship Id="rIdMerged5" Type="http://schemas.openxmlformats.org/officeDocument/2006/relationships/slide" Target="slides/slide5.xml"/><Relationship Id="rIdMerged6" Type="http://schemas.openxmlformats.org/officeDocument/2006/relationships/slide" Target="slides/slide6.xml"/><Relationship Id="rIdMerged7" Type="http://schemas.openxmlformats.org/officeDocument/2006/relationships/slide" Target="slides/slide7.xml"/><Relationship Id="rIdMerged8" Type="http://schemas.openxmlformats.org/officeDocument/2006/relationships/slide" Target="slides/slide8.xml"/><Relationship Id="rIdMerged9" Type="http://schemas.openxmlformats.org/officeDocument/2006/relationships/slide" Target="slides/slide9.xml"/><Relationship Id="rIdMerged10" Type="http://schemas.openxmlformats.org/officeDocument/2006/relationships/slide" Target="slides/slide10.xml"/><Relationship Id="rIdMerged11" Type="http://schemas.openxmlformats.org/officeDocument/2006/relationships/slide" Target="slides/slide11.xml"/><Relationship Id="rIdMerged12" Type="http://schemas.openxmlformats.org/officeDocument/2006/relationships/slide" Target="slides/slide12.xml"/><Relationship Id="rIdMerged13" Type="http://schemas.openxmlformats.org/officeDocument/2006/relationships/slide" Target="slides/slide13.xml"/><Relationship Id="rIdMerged14" Type="http://schemas.openxmlformats.org/officeDocument/2006/relationships/slide" Target="slides/slide14.xml"/><Relationship Id="rIdMerged15" Type="http://schemas.openxmlformats.org/officeDocument/2006/relationships/slide" Target="slides/slide15.xml"/><Relationship Id="rIdMerged16" Type="http://schemas.openxmlformats.org/officeDocument/2006/relationships/slide" Target="slides/slide16.xml"/><Relationship Id="rIdMerged17" Type="http://schemas.openxmlformats.org/officeDocument/2006/relationships/slide" Target="slides/slide17.xml"/><Relationship Id="rIdMerged18" Type="http://schemas.openxmlformats.org/officeDocument/2006/relationships/slide" Target="slides/slide18.xml"/><Relationship Id="rIdMerged19" Type="http://schemas.openxmlformats.org/officeDocument/2006/relationships/slide" Target="slides/slide19.xml"/><Relationship Id="rIdMerged20" Type="http://schemas.openxmlformats.org/officeDocument/2006/relationships/slide" Target="slides/slide20.xml"/><Relationship Id="rIdMerged21" Type="http://schemas.openxmlformats.org/officeDocument/2006/relationships/slide" Target="slides/slide21.xml"/><Relationship Id="rIdMerged22" Type="http://schemas.openxmlformats.org/officeDocument/2006/relationships/slide" Target="slides/slide22.xml"/><Relationship Id="rIdMerged23" Type="http://schemas.openxmlformats.org/officeDocument/2006/relationships/slide" Target="slides/slide23.xml"/><Relationship Id="rIdMerged24" Type="http://schemas.openxmlformats.org/officeDocument/2006/relationships/slide" Target="slides/slide24.xml"/><Relationship Id="rIdMerged25" Type="http://schemas.openxmlformats.org/officeDocument/2006/relationships/slide" Target="slides/slide25.xml"/><Relationship Id="rIdMerged26" Type="http://schemas.openxmlformats.org/officeDocument/2006/relationships/slide" Target="slides/slide26.xml"/><Relationship Id="rIdMerged27" Type="http://schemas.openxmlformats.org/officeDocument/2006/relationships/slide" Target="slides/slide27.xml"/><Relationship Id="rIdMerged28" Type="http://schemas.openxmlformats.org/officeDocument/2006/relationships/slide" Target="slides/slide28.xml"/><Relationship Id="rIdMerged29" Type="http://schemas.openxmlformats.org/officeDocument/2006/relationships/slide" Target="slides/slide29.xml"/><Relationship Id="rIdMerged30" Type="http://schemas.openxmlformats.org/officeDocument/2006/relationships/slide" Target="slides/slide30.xml"/><Relationship Id="rIdMerged31" Type="http://schemas.openxmlformats.org/officeDocument/2006/relationships/slide" Target="slides/slide31.xml"/><Relationship Id="rIdMerged32" Type="http://schemas.openxmlformats.org/officeDocument/2006/relationships/slide" Target="slides/slide32.xml"/><Relationship Id="rIdMerged33" Type="http://schemas.openxmlformats.org/officeDocument/2006/relationships/slide" Target="slides/slide33.xml"/><Relationship Id="rIdMerged34" Type="http://schemas.openxmlformats.org/officeDocument/2006/relationships/slide" Target="slides/slide34.xml"/><Relationship Id="rIdMerged35" Type="http://schemas.openxmlformats.org/officeDocument/2006/relationships/slide" Target="slides/slide35.xml"/><Relationship Id="rIdMerged36" Type="http://schemas.openxmlformats.org/officeDocument/2006/relationships/slide" Target="slides/slide36.xml"/><Relationship Id="rIdMerged37" Type="http://schemas.openxmlformats.org/officeDocument/2006/relationships/slide" Target="slides/slide37.xml"/><Relationship Id="rIdMerged38" Type="http://schemas.openxmlformats.org/officeDocument/2006/relationships/slide" Target="slides/slide38.xml"/><Relationship Id="rIdMerged39" Type="http://schemas.openxmlformats.org/officeDocument/2006/relationships/slide" Target="slides/slide39.xml"/><Relationship Id="rIdMerged40" Type="http://schemas.openxmlformats.org/officeDocument/2006/relationships/slide" Target="slides/slide40.xml"/><Relationship Id="rIdMerged41" Type="http://schemas.openxmlformats.org/officeDocument/2006/relationships/slide" Target="slides/slide41.xml"/><Relationship Id="rIdMerged42" Type="http://schemas.openxmlformats.org/officeDocument/2006/relationships/slide" Target="slides/slide42.xml"/><Relationship Id="rIdMerged43" Type="http://schemas.openxmlformats.org/officeDocument/2006/relationships/slide" Target="slides/slide43.xml"/><Relationship Id="rIdMerged44" Type="http://schemas.openxmlformats.org/officeDocument/2006/relationships/slide" Target="slides/slide44.xml"/><Relationship Id="rIdMerged45" Type="http://schemas.openxmlformats.org/officeDocument/2006/relationships/slide" Target="slides/slide45.xml"/><Relationship Id="rIdMerged46" Type="http://schemas.openxmlformats.org/officeDocument/2006/relationships/slide" Target="slides/slide46.xml"/><Relationship Id="rIdMerged47" Type="http://schemas.openxmlformats.org/officeDocument/2006/relationships/slide" Target="slides/slide47.xml"/><Relationship Id="rIdMerged48" Type="http://schemas.openxmlformats.org/officeDocument/2006/relationships/slide" Target="slides/slide48.xml"/><Relationship Id="rIdMerged49" Type="http://schemas.openxmlformats.org/officeDocument/2006/relationships/slide" Target="slides/slide49.xml"/><Relationship Id="rIdMerged50" Type="http://schemas.openxmlformats.org/officeDocument/2006/relationships/slide" Target="slides/slide50.xml"/><Relationship Id="rIdMerged51" Type="http://schemas.openxmlformats.org/officeDocument/2006/relationships/slide" Target="slides/slide51.xml"/><Relationship Id="rIdMerged52" Type="http://schemas.openxmlformats.org/officeDocument/2006/relationships/slide" Target="slides/slide52.xml"/><Relationship Id="rIdMerged53" Type="http://schemas.openxmlformats.org/officeDocument/2006/relationships/slide" Target="slides/slide53.xml"/><Relationship Id="rIdMerged54" Type="http://schemas.openxmlformats.org/officeDocument/2006/relationships/slide" Target="slides/slide54.xml"/><Relationship Id="rIdMerged55" Type="http://schemas.openxmlformats.org/officeDocument/2006/relationships/slide" Target="slides/slide55.xml"/><Relationship Id="rIdMerged56" Type="http://schemas.openxmlformats.org/officeDocument/2006/relationships/slide" Target="slides/slide56.xml"/><Relationship Id="rIdMerged57" Type="http://schemas.openxmlformats.org/officeDocument/2006/relationships/slide" Target="slides/slide57.xml"/><Relationship Id="rIdMerged58" Type="http://schemas.openxmlformats.org/officeDocument/2006/relationships/slide" Target="slides/slide58.xml"/><Relationship Id="rIdMerged59" Type="http://schemas.openxmlformats.org/officeDocument/2006/relationships/slide" Target="slides/slide59.xml"/><Relationship Id="rIdMerged60" Type="http://schemas.openxmlformats.org/officeDocument/2006/relationships/slide" Target="slides/slide60.xml"/><Relationship Id="rIdMerged61" Type="http://schemas.openxmlformats.org/officeDocument/2006/relationships/slide" Target="slides/slide61.xml"/><Relationship Id="rIdMerged62" Type="http://schemas.openxmlformats.org/officeDocument/2006/relationships/slide" Target="slides/slide62.xml"/><Relationship Id="rIdMerged63" Type="http://schemas.openxmlformats.org/officeDocument/2006/relationships/slide" Target="slides/slide63.xml"/><Relationship Id="rIdMerged64" Type="http://schemas.openxmlformats.org/officeDocument/2006/relationships/slide" Target="slides/slide64.xml"/><Relationship Id="rIdMerged65" Type="http://schemas.openxmlformats.org/officeDocument/2006/relationships/slide" Target="slides/slide65.xml"/><Relationship Id="rIdMerged66" Type="http://schemas.openxmlformats.org/officeDocument/2006/relationships/slide" Target="slides/slide66.xml"/><Relationship Id="rIdMerged67" Type="http://schemas.openxmlformats.org/officeDocument/2006/relationships/slide" Target="slides/slide67.xml"/><Relationship Id="rIdMerged68" Type="http://schemas.openxmlformats.org/officeDocument/2006/relationships/slide" Target="slides/slide68.xml"/><Relationship Id="rIdMerged69" Type="http://schemas.openxmlformats.org/officeDocument/2006/relationships/slide" Target="slides/slide69.xml"/><Relationship Id="rIdMerged70" Type="http://schemas.openxmlformats.org/officeDocument/2006/relationships/slide" Target="slides/slide70.xml"/><Relationship Id="rIdMerged71" Type="http://schemas.openxmlformats.org/officeDocument/2006/relationships/slide" Target="slides/slide71.xml"/><Relationship Id="rIdMerged72" Type="http://schemas.openxmlformats.org/officeDocument/2006/relationships/slide" Target="slides/slide72.xml"/><Relationship Id="rIdMerged73" Type="http://schemas.openxmlformats.org/officeDocument/2006/relationships/slide" Target="slides/slide73.xml"/><Relationship Id="rIdMerged74" Type="http://schemas.openxmlformats.org/officeDocument/2006/relationships/slide" Target="slides/slide74.xml"/><Relationship Id="rIdMerged75" Type="http://schemas.openxmlformats.org/officeDocument/2006/relationships/slide" Target="slides/slide75.xml"/><Relationship Id="rIdMerged76" Type="http://schemas.openxmlformats.org/officeDocument/2006/relationships/slide" Target="slides/slide76.xml"/><Relationship Id="rIdMerged77" Type="http://schemas.openxmlformats.org/officeDocument/2006/relationships/slide" Target="slides/slide77.xml"/><Relationship Id="rIdMerged78" Type="http://schemas.openxmlformats.org/officeDocument/2006/relationships/slide" Target="slides/slide78.xml"/><Relationship Id="rIdMerged79" Type="http://schemas.openxmlformats.org/officeDocument/2006/relationships/slide" Target="slides/slide79.xml"/><Relationship Id="rIdMerged80" Type="http://schemas.openxmlformats.org/officeDocument/2006/relationships/slide" Target="slides/slide80.xml"/><Relationship Id="rIdMerged81" Type="http://schemas.openxmlformats.org/officeDocument/2006/relationships/slide" Target="slides/slide81.xml"/><Relationship Id="rIdMerged82" Type="http://schemas.openxmlformats.org/officeDocument/2006/relationships/slide" Target="slides/slide82.xml"/><Relationship Id="rIdMerged83" Type="http://schemas.openxmlformats.org/officeDocument/2006/relationships/slide" Target="slides/slide83.xml"/><Relationship Id="rIdMerged84" Type="http://schemas.openxmlformats.org/officeDocument/2006/relationships/slide" Target="slides/slide84.xml"/><Relationship Id="rIdPNGMaster0" Type="http://schemas.openxmlformats.org/officeDocument/2006/relationships/slideMaster" Target="fromPNG/slideMasters/slideMaster1.xml"/></Relationships>
</file>

<file path=ppt/fromPNG/_rels/presentation.xml.rels><?xml version="1.0" encoding="utf-8"?><Relationships xmlns="http://schemas.openxmlformats.org/package/2006/relationships"><Relationship Type="http://schemas.openxmlformats.org/officeDocument/2006/relationships/theme" Target="theme/theme1.xml" Id="R6c604be222bb48c1"/><Relationship Type="http://schemas.openxmlformats.org/officeDocument/2006/relationships/slideMaster" Target="slideMasters/slideMaster1.xml" Id="R3c07d89124c243d1"/><Relationship Type="http://schemas.openxmlformats.org/officeDocument/2006/relationships/notesMaster" Target="notesMasters/notesMaster1.xml" Id="R2c9fc20418c24393"/><Relationship Type="http://schemas.openxmlformats.org/officeDocument/2006/relationships/presProps" Target="presProps.xml" Id="R34c8bc83f493493c"/><Relationship Type="http://schemas.openxmlformats.org/officeDocument/2006/relationships/tableStyles" Target="tableStyles.xml" Id="R73c62b1ad061474c"/><Relationship Type="http://schemas.openxmlformats.org/officeDocument/2006/relationships/slide" Target="../slides/slide31.xml" Id="R68107e24ee1c4d18"/><Relationship Type="http://schemas.openxmlformats.org/officeDocument/2006/relationships/slide" Target="../slides/slide32.xml" Id="R22d286a33e774e46"/><Relationship Type="http://schemas.openxmlformats.org/officeDocument/2006/relationships/slide" Target="../slides/slide23.xml" Id="R4d5f13f9f97b4f3b"/><Relationship Type="http://schemas.openxmlformats.org/officeDocument/2006/relationships/slide" Target="../slides/slide11.xml" Id="R50bebc6bb19148df"/><Relationship Type="http://schemas.openxmlformats.org/officeDocument/2006/relationships/slide" Target="../slides/slide39.xml" Id="R0d5379335be24e90"/><Relationship Type="http://schemas.openxmlformats.org/officeDocument/2006/relationships/slide" Target="../slides/slide33.xml" Id="R2b2d5c3969f44b34"/><Relationship Type="http://schemas.openxmlformats.org/officeDocument/2006/relationships/slide" Target="../slides/slide18.xml" Id="Rbfe026b4c05a4132"/><Relationship Type="http://schemas.openxmlformats.org/officeDocument/2006/relationships/slide" Target="../slides/slide8.xml" Id="R3dc7e0f74579413d"/><Relationship Type="http://schemas.openxmlformats.org/officeDocument/2006/relationships/slide" Target="../slides/slide40.xml" Id="R4d33113f45954678"/><Relationship Type="http://schemas.openxmlformats.org/officeDocument/2006/relationships/slide" Target="../slides/slide35.xml" Id="Rcb0e58b1442d4fd5"/><Relationship Type="http://schemas.openxmlformats.org/officeDocument/2006/relationships/slide" Target="../slides/slide49.xml" Id="R7064824486344916"/><Relationship Type="http://schemas.openxmlformats.org/officeDocument/2006/relationships/slide" Target="../slides/slide50.xml" Id="R751c1c1456cc41f8"/><Relationship Type="http://schemas.openxmlformats.org/officeDocument/2006/relationships/slide" Target="../slides/slide51.xml" Id="Rfc680799c55c4829"/><Relationship Type="http://schemas.openxmlformats.org/officeDocument/2006/relationships/slide" Target="../slides/slide68.xml" Id="Rd7889382ad744fdc"/><Relationship Type="http://schemas.openxmlformats.org/officeDocument/2006/relationships/slide" Target="../slides/slide19.xml" Id="R0ced14df76524195"/><Relationship Type="http://schemas.openxmlformats.org/officeDocument/2006/relationships/slide" Target="../slides/slide34.xml" Id="Rdb7d4e3a00bb4bdb"/><Relationship Type="http://schemas.openxmlformats.org/officeDocument/2006/relationships/slide" Target="../slides/slide20.xml" Id="Rce97a642bfa14e25"/><Relationship Type="http://schemas.openxmlformats.org/officeDocument/2006/relationships/slide" Target="../slides/slide26.xml" Id="Rdf103739a35947fd"/><Relationship Type="http://schemas.openxmlformats.org/officeDocument/2006/relationships/slide" Target="../slides/slide7.xml" Id="R2cfb570920e44184"/><Relationship Type="http://schemas.openxmlformats.org/officeDocument/2006/relationships/slide" Target="../slides/slide48.xml" Id="Rf27fa9c2ced14f86"/><Relationship Type="http://schemas.openxmlformats.org/officeDocument/2006/relationships/slide" Target="../slides/slide27.xml" Id="R7d2d04bb3b8742e3"/><Relationship Type="http://schemas.openxmlformats.org/officeDocument/2006/relationships/slide" Target="../slides/slide45.xml" Id="R5371b571130848c6"/><Relationship Type="http://schemas.openxmlformats.org/officeDocument/2006/relationships/slide" Target="../slides/slide21.xml" Id="R29a98e54164a47c8"/><Relationship Type="http://schemas.openxmlformats.org/officeDocument/2006/relationships/slide" Target="../slides/slide65.xml" Id="Ra121a403fda8460b"/><Relationship Type="http://schemas.openxmlformats.org/officeDocument/2006/relationships/slide" Target="../slides/slide9.xml" Id="Rbf694ce3ebef4291"/><Relationship Type="http://schemas.openxmlformats.org/officeDocument/2006/relationships/slide" Target="../slides/slide66.xml" Id="Rc555aa287ce24c73"/><Relationship Type="http://schemas.openxmlformats.org/officeDocument/2006/relationships/slide" Target="../slides/slide78.xml" Id="Rbd3b510463e94f97"/><Relationship Type="http://schemas.openxmlformats.org/officeDocument/2006/relationships/slide" Target="../slides/slide10.xml" Id="R09923cf911044fe6"/><Relationship Type="http://schemas.openxmlformats.org/officeDocument/2006/relationships/slide" Target="../slides/slide37.xml" Id="R4150419eee664fe2"/><Relationship Type="http://schemas.openxmlformats.org/officeDocument/2006/relationships/slide" Target="../slides/slide72.xml" Id="R9cdb2fa4e4494599"/><Relationship Type="http://schemas.openxmlformats.org/officeDocument/2006/relationships/slide" Target="../slides/slide79.xml" Id="Rbf5c4a3861154524"/><Relationship Type="http://schemas.openxmlformats.org/officeDocument/2006/relationships/slide" Target="../slides/slide73.xml" Id="Rc690b30d94ee49e5"/><Relationship Type="http://schemas.openxmlformats.org/officeDocument/2006/relationships/slide" Target="../slides/slide74.xml" Id="Rf5a5ff293cfc49da"/><Relationship Type="http://schemas.openxmlformats.org/officeDocument/2006/relationships/slide" Target="../slides/slide28.xml" Id="Ra8ae7c2294214f4f"/><Relationship Type="http://schemas.openxmlformats.org/officeDocument/2006/relationships/slide" Target="../slides/slide6.xml" Id="R8c83a2a2a01343e2"/><Relationship Type="http://schemas.openxmlformats.org/officeDocument/2006/relationships/slide" Target="../slides/slide76.xml" Id="R299988f04ffa4203"/><Relationship Type="http://schemas.openxmlformats.org/officeDocument/2006/relationships/slide" Target="../slides/slide75.xml" Id="R7975742c80f4427f"/><Relationship Type="http://schemas.openxmlformats.org/officeDocument/2006/relationships/slide" Target="../slides/slide77.xml" Id="Reaf65ef023554bdc"/></Relationships>
</file>

<file path=ppt/fromPNG/notesMasters/_rels/notesMaster1.xml.rels><?xml version="1.0" encoding="utf-8"?><Relationships xmlns="http://schemas.openxmlformats.org/package/2006/relationships"><Relationship Type="http://schemas.openxmlformats.org/officeDocument/2006/relationships/theme" Target="theme/theme3.xml" Id="Rd77adc88067c4920"/></Relationships>
</file>

<file path=ppt/fromPNG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fromPNG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fromPNG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fromPNG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07d89124c243d1"/>
  </p:sldMasterIdLst>
  <p:notesMasterIdLst>
    <p:notesMasterId xmlns:r="http://schemas.openxmlformats.org/officeDocument/2006/relationships" r:id="R2c9fc20418c24393"/>
  </p:notesMasterIdLst>
  <p:sldIdLst>
    <p:sldId xmlns:r="http://schemas.openxmlformats.org/officeDocument/2006/relationships" id="256" r:id="R68107e24ee1c4d18"/>
    <p:sldId xmlns:r="http://schemas.openxmlformats.org/officeDocument/2006/relationships" id="257" r:id="R22d286a33e774e46"/>
    <p:sldId xmlns:r="http://schemas.openxmlformats.org/officeDocument/2006/relationships" id="258" r:id="R4d5f13f9f97b4f3b"/>
    <p:sldId xmlns:r="http://schemas.openxmlformats.org/officeDocument/2006/relationships" id="259" r:id="R50bebc6bb19148df"/>
    <p:sldId xmlns:r="http://schemas.openxmlformats.org/officeDocument/2006/relationships" id="260" r:id="R0d5379335be24e90"/>
    <p:sldId xmlns:r="http://schemas.openxmlformats.org/officeDocument/2006/relationships" id="261" r:id="R2b2d5c3969f44b34"/>
    <p:sldId xmlns:r="http://schemas.openxmlformats.org/officeDocument/2006/relationships" id="262" r:id="Rbfe026b4c05a4132"/>
    <p:sldId xmlns:r="http://schemas.openxmlformats.org/officeDocument/2006/relationships" id="263" r:id="R3dc7e0f74579413d"/>
    <p:sldId xmlns:r="http://schemas.openxmlformats.org/officeDocument/2006/relationships" id="264" r:id="R4d33113f45954678"/>
    <p:sldId xmlns:r="http://schemas.openxmlformats.org/officeDocument/2006/relationships" id="265" r:id="Rcb0e58b1442d4fd5"/>
    <p:sldId xmlns:r="http://schemas.openxmlformats.org/officeDocument/2006/relationships" id="266" r:id="R7064824486344916"/>
    <p:sldId xmlns:r="http://schemas.openxmlformats.org/officeDocument/2006/relationships" id="267" r:id="R751c1c1456cc41f8"/>
    <p:sldId xmlns:r="http://schemas.openxmlformats.org/officeDocument/2006/relationships" id="268" r:id="Rfc680799c55c4829"/>
    <p:sldId xmlns:r="http://schemas.openxmlformats.org/officeDocument/2006/relationships" id="269" r:id="Rd7889382ad744fdc"/>
    <p:sldId xmlns:r="http://schemas.openxmlformats.org/officeDocument/2006/relationships" id="270" r:id="R0ced14df76524195"/>
    <p:sldId xmlns:r="http://schemas.openxmlformats.org/officeDocument/2006/relationships" id="271" r:id="Rdb7d4e3a00bb4bdb"/>
    <p:sldId xmlns:r="http://schemas.openxmlformats.org/officeDocument/2006/relationships" id="272" r:id="Rce97a642bfa14e25"/>
    <p:sldId xmlns:r="http://schemas.openxmlformats.org/officeDocument/2006/relationships" id="273" r:id="Rdf103739a35947fd"/>
    <p:sldId xmlns:r="http://schemas.openxmlformats.org/officeDocument/2006/relationships" id="274" r:id="R2cfb570920e44184"/>
    <p:sldId xmlns:r="http://schemas.openxmlformats.org/officeDocument/2006/relationships" id="275" r:id="Rf27fa9c2ced14f86"/>
    <p:sldId xmlns:r="http://schemas.openxmlformats.org/officeDocument/2006/relationships" id="276" r:id="R7d2d04bb3b8742e3"/>
    <p:sldId xmlns:r="http://schemas.openxmlformats.org/officeDocument/2006/relationships" id="277" r:id="R5371b571130848c6"/>
    <p:sldId xmlns:r="http://schemas.openxmlformats.org/officeDocument/2006/relationships" id="278" r:id="R29a98e54164a47c8"/>
    <p:sldId xmlns:r="http://schemas.openxmlformats.org/officeDocument/2006/relationships" id="279" r:id="Ra121a403fda8460b"/>
    <p:sldId xmlns:r="http://schemas.openxmlformats.org/officeDocument/2006/relationships" id="280" r:id="Rbf694ce3ebef4291"/>
    <p:sldId xmlns:r="http://schemas.openxmlformats.org/officeDocument/2006/relationships" id="281" r:id="Rc555aa287ce24c73"/>
    <p:sldId xmlns:r="http://schemas.openxmlformats.org/officeDocument/2006/relationships" id="282" r:id="Rbd3b510463e94f97"/>
    <p:sldId xmlns:r="http://schemas.openxmlformats.org/officeDocument/2006/relationships" id="283" r:id="R09923cf911044fe6"/>
    <p:sldId xmlns:r="http://schemas.openxmlformats.org/officeDocument/2006/relationships" id="284" r:id="R4150419eee664fe2"/>
    <p:sldId xmlns:r="http://schemas.openxmlformats.org/officeDocument/2006/relationships" id="285" r:id="R9cdb2fa4e4494599"/>
    <p:sldId xmlns:r="http://schemas.openxmlformats.org/officeDocument/2006/relationships" id="286" r:id="Rbf5c4a3861154524"/>
    <p:sldId xmlns:r="http://schemas.openxmlformats.org/officeDocument/2006/relationships" id="287" r:id="Rc690b30d94ee49e5"/>
    <p:sldId xmlns:r="http://schemas.openxmlformats.org/officeDocument/2006/relationships" id="288" r:id="Rf5a5ff293cfc49da"/>
    <p:sldId xmlns:r="http://schemas.openxmlformats.org/officeDocument/2006/relationships" id="289" r:id="Ra8ae7c2294214f4f"/>
    <p:sldId xmlns:r="http://schemas.openxmlformats.org/officeDocument/2006/relationships" id="290" r:id="R8c83a2a2a01343e2"/>
    <p:sldId xmlns:r="http://schemas.openxmlformats.org/officeDocument/2006/relationships" id="291" r:id="R299988f04ffa4203"/>
    <p:sldId xmlns:r="http://schemas.openxmlformats.org/officeDocument/2006/relationships" id="292" r:id="R7975742c80f4427f"/>
    <p:sldId xmlns:r="http://schemas.openxmlformats.org/officeDocument/2006/relationships" id="293" r:id="Reaf65ef023554bdc"/>
  </p:sldIdLst>
  <p:sldSz cx="15925800" cy="8963025"/>
  <p:notesSz cx="6858000" cy="9144000"/>
</p:presentation>
</file>

<file path=ppt/fromPNG/slideLayouts/_rels/slideLayout1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82395782ec7c4b0d"/></Relationships>
</file>

<file path=ppt/fromPNG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fromPNG/slideMasters/_rels/slideMaster1.xml.rels><?xml version="1.0" encoding="utf-8"?><Relationships xmlns="http://schemas.openxmlformats.org/package/2006/relationships"><Relationship Type="http://schemas.openxmlformats.org/officeDocument/2006/relationships/theme" Target="theme/theme2.xml" Id="R82ec1a153d1a4dc5"/><Relationship Type="http://schemas.openxmlformats.org/officeDocument/2006/relationships/slideLayout" Target="../slideLayouts/slideLayout1.xml" Id="Rac7cccb24d554831"/></Relationships>
</file>

<file path=ppt/fromPNG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7cccb24d5548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367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765"/>
        </a:spcBef>
        <a:buChar char="•"/>
        <a:defRPr sz="2142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383"/>
        </a:spcBef>
        <a:buChar char="•"/>
        <a:defRPr sz="1836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383"/>
        </a:spcBef>
        <a:buChar char="•"/>
        <a:defRPr sz="153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383"/>
        </a:spcBef>
        <a:buChar char="•"/>
        <a:defRPr sz="1377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383"/>
        </a:spcBef>
        <a:buChar char="•"/>
        <a:defRPr sz="1377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383"/>
        </a:spcBef>
        <a:buChar char="•"/>
        <a:defRPr sz="1377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383"/>
        </a:spcBef>
        <a:buChar char="•"/>
        <a:defRPr sz="1377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383"/>
        </a:spcBef>
        <a:buChar char="•"/>
        <a:defRPr sz="1377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383"/>
        </a:spcBef>
        <a:buChar char="•"/>
        <a:defRPr sz="1377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77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377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377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377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377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377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377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377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377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fromPNG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fromPNG/tableStyles.xml><?xml version="1.0" encoding="utf-8"?>
<a:tblStyleLst xmlns:a="http://schemas.openxmlformats.org/drawingml/2006/main" def="{5C22544A-7EE6-4342-B048-85BDC9FD1C3A}"/>
</file>

<file path=ppt/fromPNG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theme/theme3.xml" Id="R86168bb1bb034991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../slides/slide1.xml" Id="R2783f7b30afd4645"/><Relationship Type="http://schemas.openxmlformats.org/officeDocument/2006/relationships/notesMaster" Target="../notesMasters/notesMaster1.xml" Id="Rf2529680f59847df"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../slides/slide2.xml" Id="Raf829f5887a943e7"/><Relationship Type="http://schemas.openxmlformats.org/officeDocument/2006/relationships/notesMaster" Target="../notesMasters/notesMaster1.xml" Id="Rd7115070294c4180"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../slides/slide3.xml" Id="R45b19e3542814da0"/><Relationship Type="http://schemas.openxmlformats.org/officeDocument/2006/relationships/notesMaster" Target="../notesMasters/notesMaster1.xml" Id="R47491869a7664bb8"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../slides/slide4.xml" Id="Rd50830e8f2a14a80"/><Relationship Type="http://schemas.openxmlformats.org/officeDocument/2006/relationships/notesMaster" Target="../notesMasters/notesMaster1.xml" Id="R41fd774d753f4c6c"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../slides/slide5.xml" Id="Rba51012bfea04de3"/><Relationship Type="http://schemas.openxmlformats.org/officeDocument/2006/relationships/notesMaster" Target="../notesMasters/notesMaster1.xml" Id="R35e62d92017746d3"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../slides/slide6.xml" Id="R3721a39639f0484c"/><Relationship Type="http://schemas.openxmlformats.org/officeDocument/2006/relationships/notesMaster" Target="../fromPNG/notesMasters/notesMaster1.xml" Id="R1408a9dcf9d54597"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../slides/slide7.xml" Id="R6862d2af9fd3463b"/><Relationship Type="http://schemas.openxmlformats.org/officeDocument/2006/relationships/notesMaster" Target="../fromPNG/notesMasters/notesMaster1.xml" Id="Rebfe3f407cf14fc3"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../slides/slide8.xml" Id="Rce3a3f41e29e46fe"/><Relationship Type="http://schemas.openxmlformats.org/officeDocument/2006/relationships/notesMaster" Target="../fromPNG/notesMasters/notesMaster1.xml" Id="Rbb67773d56754c9f"/></Relationships>
</file>

<file path=ppt/notesSlides/_rels/notesSlide9.xml.rels><?xml version="1.0" encoding="utf-8"?><Relationships xmlns="http://schemas.openxmlformats.org/package/2006/relationships"><Relationship Type="http://schemas.openxmlformats.org/officeDocument/2006/relationships/slide" Target="../slides/slide9.xml" Id="R7b21a4628ac142a0"/><Relationship Type="http://schemas.openxmlformats.org/officeDocument/2006/relationships/notesMaster" Target="../fromPNG/notesMasters/notesMaster1.xml" Id="R3995d87631d94923"/></Relationships>
</file>

<file path=ppt/notesSlides/_rels/notesSlide10.xml.rels><?xml version="1.0" encoding="utf-8"?><Relationships xmlns="http://schemas.openxmlformats.org/package/2006/relationships"><Relationship Type="http://schemas.openxmlformats.org/officeDocument/2006/relationships/slide" Target="../slides/slide10.xml" Id="R2cab1f80daba4c98"/><Relationship Type="http://schemas.openxmlformats.org/officeDocument/2006/relationships/notesMaster" Target="../fromPNG/notesMasters/notesMaster1.xml" Id="R68e7d1fba5224ea7"/></Relationships>
</file>

<file path=ppt/notesSlides/_rels/notesSlide11.xml.rels><?xml version="1.0" encoding="utf-8"?><Relationships xmlns="http://schemas.openxmlformats.org/package/2006/relationships"><Relationship Type="http://schemas.openxmlformats.org/officeDocument/2006/relationships/slide" Target="../slides/slide11.xml" Id="R72af625ac1004373"/><Relationship Type="http://schemas.openxmlformats.org/officeDocument/2006/relationships/notesMaster" Target="../fromPNG/notesMasters/notesMaster1.xml" Id="Rb0a54d3708cc47ac"/></Relationships>
</file>

<file path=ppt/notesSlides/_rels/notesSlide12.xml.rels><?xml version="1.0" encoding="utf-8"?><Relationships xmlns="http://schemas.openxmlformats.org/package/2006/relationships"><Relationship Type="http://schemas.openxmlformats.org/officeDocument/2006/relationships/slide" Target="../slides/slide12.xml" Id="R8c85421c7c314e5e"/><Relationship Type="http://schemas.openxmlformats.org/officeDocument/2006/relationships/notesMaster" Target="../notesMasters/notesMaster1.xml" Id="Re6f31892ee4c40ff"/></Relationships>
</file>

<file path=ppt/notesSlides/_rels/notesSlide13.xml.rels><?xml version="1.0" encoding="utf-8"?><Relationships xmlns="http://schemas.openxmlformats.org/package/2006/relationships"><Relationship Type="http://schemas.openxmlformats.org/officeDocument/2006/relationships/slide" Target="../slides/slide13.xml" Id="R5ce9284ebbeb433c"/><Relationship Type="http://schemas.openxmlformats.org/officeDocument/2006/relationships/notesMaster" Target="../notesMasters/notesMaster1.xml" Id="Rf5c82d86ecbf4afb"/></Relationships>
</file>

<file path=ppt/notesSlides/_rels/notesSlide14.xml.rels><?xml version="1.0" encoding="utf-8"?><Relationships xmlns="http://schemas.openxmlformats.org/package/2006/relationships"><Relationship Type="http://schemas.openxmlformats.org/officeDocument/2006/relationships/slide" Target="../slides/slide14.xml" Id="Ree0aebf6a7094781"/><Relationship Type="http://schemas.openxmlformats.org/officeDocument/2006/relationships/notesMaster" Target="../notesMasters/notesMaster1.xml" Id="Rd32c3311b5934e44"/></Relationships>
</file>

<file path=ppt/notesSlides/_rels/notesSlide15.xml.rels><?xml version="1.0" encoding="utf-8"?><Relationships xmlns="http://schemas.openxmlformats.org/package/2006/relationships"><Relationship Type="http://schemas.openxmlformats.org/officeDocument/2006/relationships/slide" Target="../slides/slide15.xml" Id="Rab7b8a65d29e4ba0"/><Relationship Type="http://schemas.openxmlformats.org/officeDocument/2006/relationships/notesMaster" Target="../notesMasters/notesMaster1.xml" Id="R21e3f660c09945ab"/></Relationships>
</file>

<file path=ppt/notesSlides/_rels/notesSlide16.xml.rels><?xml version="1.0" encoding="utf-8"?><Relationships xmlns="http://schemas.openxmlformats.org/package/2006/relationships"><Relationship Type="http://schemas.openxmlformats.org/officeDocument/2006/relationships/slide" Target="../slides/slide16.xml" Id="R553931fb12414065"/><Relationship Type="http://schemas.openxmlformats.org/officeDocument/2006/relationships/notesMaster" Target="../notesMasters/notesMaster1.xml" Id="R6b054d80d31e4050"/></Relationships>
</file>

<file path=ppt/notesSlides/_rels/notesSlide17.xml.rels><?xml version="1.0" encoding="utf-8"?><Relationships xmlns="http://schemas.openxmlformats.org/package/2006/relationships"><Relationship Type="http://schemas.openxmlformats.org/officeDocument/2006/relationships/slide" Target="../slides/slide17.xml" Id="Rfd197f4f3344401c"/><Relationship Type="http://schemas.openxmlformats.org/officeDocument/2006/relationships/notesMaster" Target="../notesMasters/notesMaster1.xml" Id="Re56c4f506b5f4706"/></Relationships>
</file>

<file path=ppt/notesSlides/_rels/notesSlide18.xml.rels><?xml version="1.0" encoding="utf-8"?><Relationships xmlns="http://schemas.openxmlformats.org/package/2006/relationships"><Relationship Type="http://schemas.openxmlformats.org/officeDocument/2006/relationships/slide" Target="../slides/slide18.xml" Id="Rc567571867ef4c37"/><Relationship Type="http://schemas.openxmlformats.org/officeDocument/2006/relationships/notesMaster" Target="../fromPNG/notesMasters/notesMaster1.xml" Id="R1ec44d4c0ce34ab4"/></Relationships>
</file>

<file path=ppt/notesSlides/_rels/notesSlide19.xml.rels><?xml version="1.0" encoding="utf-8"?><Relationships xmlns="http://schemas.openxmlformats.org/package/2006/relationships"><Relationship Type="http://schemas.openxmlformats.org/officeDocument/2006/relationships/slide" Target="../slides/slide19.xml" Id="Ra32892f658d64f0c"/><Relationship Type="http://schemas.openxmlformats.org/officeDocument/2006/relationships/notesMaster" Target="../fromPNG/notesMasters/notesMaster1.xml" Id="R9b190e6297bc41b8"/></Relationships>
</file>

<file path=ppt/notesSlides/_rels/notesSlide20.xml.rels><?xml version="1.0" encoding="utf-8"?><Relationships xmlns="http://schemas.openxmlformats.org/package/2006/relationships"><Relationship Type="http://schemas.openxmlformats.org/officeDocument/2006/relationships/slide" Target="../slides/slide20.xml" Id="Rd610658b80754972"/><Relationship Type="http://schemas.openxmlformats.org/officeDocument/2006/relationships/notesMaster" Target="../fromPNG/notesMasters/notesMaster1.xml" Id="R1f3c7e89751845d9"/></Relationships>
</file>

<file path=ppt/notesSlides/_rels/notesSlide21.xml.rels><?xml version="1.0" encoding="utf-8"?><Relationships xmlns="http://schemas.openxmlformats.org/package/2006/relationships"><Relationship Type="http://schemas.openxmlformats.org/officeDocument/2006/relationships/slide" Target="../slides/slide21.xml" Id="R499202d5eb5d405e"/><Relationship Type="http://schemas.openxmlformats.org/officeDocument/2006/relationships/notesMaster" Target="../fromPNG/notesMasters/notesMaster1.xml" Id="Ra70df09a3550492a"/></Relationships>
</file>

<file path=ppt/notesSlides/_rels/notesSlide22.xml.rels><?xml version="1.0" encoding="utf-8"?><Relationships xmlns="http://schemas.openxmlformats.org/package/2006/relationships"><Relationship Type="http://schemas.openxmlformats.org/officeDocument/2006/relationships/slide" Target="../slides/slide22.xml" Id="R01873dc3246b4ce5"/><Relationship Type="http://schemas.openxmlformats.org/officeDocument/2006/relationships/notesMaster" Target="../notesMasters/notesMaster1.xml" Id="R4079262c67eb4f10"/></Relationships>
</file>

<file path=ppt/notesSlides/_rels/notesSlide23.xml.rels><?xml version="1.0" encoding="utf-8"?><Relationships xmlns="http://schemas.openxmlformats.org/package/2006/relationships"><Relationship Type="http://schemas.openxmlformats.org/officeDocument/2006/relationships/slide" Target="../slides/slide23.xml" Id="R1406b49ea05f409b"/><Relationship Type="http://schemas.openxmlformats.org/officeDocument/2006/relationships/notesMaster" Target="../fromPNG/notesMasters/notesMaster1.xml" Id="R092e5e24fe3b4319"/></Relationships>
</file>

<file path=ppt/notesSlides/_rels/notesSlide24.xml.rels><?xml version="1.0" encoding="utf-8"?><Relationships xmlns="http://schemas.openxmlformats.org/package/2006/relationships"><Relationship Type="http://schemas.openxmlformats.org/officeDocument/2006/relationships/slide" Target="../slides/slide24.xml" Id="R2cabe41577fd42cd"/><Relationship Type="http://schemas.openxmlformats.org/officeDocument/2006/relationships/notesMaster" Target="../notesMasters/notesMaster1.xml" Id="R86205fa491ae4416"/></Relationships>
</file>

<file path=ppt/notesSlides/_rels/notesSlide25.xml.rels><?xml version="1.0" encoding="utf-8"?><Relationships xmlns="http://schemas.openxmlformats.org/package/2006/relationships"><Relationship Type="http://schemas.openxmlformats.org/officeDocument/2006/relationships/slide" Target="../slides/slide25.xml" Id="Rb7972791a8fe450f"/><Relationship Type="http://schemas.openxmlformats.org/officeDocument/2006/relationships/notesMaster" Target="../notesMasters/notesMaster1.xml" Id="R0a949db999454932"/></Relationships>
</file>

<file path=ppt/notesSlides/_rels/notesSlide26.xml.rels><?xml version="1.0" encoding="utf-8"?><Relationships xmlns="http://schemas.openxmlformats.org/package/2006/relationships"><Relationship Type="http://schemas.openxmlformats.org/officeDocument/2006/relationships/slide" Target="../slides/slide26.xml" Id="R5a20e78027414085"/><Relationship Type="http://schemas.openxmlformats.org/officeDocument/2006/relationships/notesMaster" Target="../fromPNG/notesMasters/notesMaster1.xml" Id="R3d217347c77a4bc9"/></Relationships>
</file>

<file path=ppt/notesSlides/_rels/notesSlide27.xml.rels><?xml version="1.0" encoding="utf-8"?><Relationships xmlns="http://schemas.openxmlformats.org/package/2006/relationships"><Relationship Type="http://schemas.openxmlformats.org/officeDocument/2006/relationships/slide" Target="../slides/slide27.xml" Id="Re87001bfb6d3428a"/><Relationship Type="http://schemas.openxmlformats.org/officeDocument/2006/relationships/notesMaster" Target="../fromPNG/notesMasters/notesMaster1.xml" Id="Ra0d822c0436f49e8"/></Relationships>
</file>

<file path=ppt/notesSlides/_rels/notesSlide28.xml.rels><?xml version="1.0" encoding="utf-8"?><Relationships xmlns="http://schemas.openxmlformats.org/package/2006/relationships"><Relationship Type="http://schemas.openxmlformats.org/officeDocument/2006/relationships/slide" Target="../slides/slide28.xml" Id="Rc27899c03c9142cb"/><Relationship Type="http://schemas.openxmlformats.org/officeDocument/2006/relationships/notesMaster" Target="../fromPNG/notesMasters/notesMaster1.xml" Id="Rf5f296642b7a4041"/></Relationships>
</file>

<file path=ppt/notesSlides/_rels/notesSlide29.xml.rels><?xml version="1.0" encoding="utf-8"?><Relationships xmlns="http://schemas.openxmlformats.org/package/2006/relationships"><Relationship Type="http://schemas.openxmlformats.org/officeDocument/2006/relationships/slide" Target="../slides/slide29.xml" Id="Rcd2fb30db9af4416"/><Relationship Type="http://schemas.openxmlformats.org/officeDocument/2006/relationships/notesMaster" Target="../notesMasters/notesMaster1.xml" Id="R95474dc461744b6a"/></Relationships>
</file>

<file path=ppt/notesSlides/_rels/notesSlide30.xml.rels><?xml version="1.0" encoding="utf-8"?><Relationships xmlns="http://schemas.openxmlformats.org/package/2006/relationships"><Relationship Type="http://schemas.openxmlformats.org/officeDocument/2006/relationships/slide" Target="../slides/slide30.xml" Id="Rb9b9cce5245c4523"/><Relationship Type="http://schemas.openxmlformats.org/officeDocument/2006/relationships/notesMaster" Target="../notesMasters/notesMaster1.xml" Id="Re5604f622b6c430b"/></Relationships>
</file>

<file path=ppt/notesSlides/_rels/notesSlide31.xml.rels><?xml version="1.0" encoding="utf-8"?><Relationships xmlns="http://schemas.openxmlformats.org/package/2006/relationships"><Relationship Type="http://schemas.openxmlformats.org/officeDocument/2006/relationships/slide" Target="../slides/slide31.xml" Id="R36b6adf8634e4f6c"/><Relationship Type="http://schemas.openxmlformats.org/officeDocument/2006/relationships/notesMaster" Target="../fromPNG/notesMasters/notesMaster1.xml" Id="Rba675b8b312a47f0"/></Relationships>
</file>

<file path=ppt/notesSlides/_rels/notesSlide32.xml.rels><?xml version="1.0" encoding="utf-8"?><Relationships xmlns="http://schemas.openxmlformats.org/package/2006/relationships"><Relationship Type="http://schemas.openxmlformats.org/officeDocument/2006/relationships/slide" Target="../slides/slide32.xml" Id="R3a3ed0f978854cea"/><Relationship Type="http://schemas.openxmlformats.org/officeDocument/2006/relationships/notesMaster" Target="../fromPNG/notesMasters/notesMaster1.xml" Id="R3e0db7a57352401c"/></Relationships>
</file>

<file path=ppt/notesSlides/_rels/notesSlide33.xml.rels><?xml version="1.0" encoding="utf-8"?><Relationships xmlns="http://schemas.openxmlformats.org/package/2006/relationships"><Relationship Type="http://schemas.openxmlformats.org/officeDocument/2006/relationships/slide" Target="../slides/slide33.xml" Id="R112666ef9a34408b"/><Relationship Type="http://schemas.openxmlformats.org/officeDocument/2006/relationships/notesMaster" Target="../fromPNG/notesMasters/notesMaster1.xml" Id="Rb91f231ed4684555"/></Relationships>
</file>

<file path=ppt/notesSlides/_rels/notesSlide34.xml.rels><?xml version="1.0" encoding="utf-8"?><Relationships xmlns="http://schemas.openxmlformats.org/package/2006/relationships"><Relationship Type="http://schemas.openxmlformats.org/officeDocument/2006/relationships/slide" Target="../slides/slide34.xml" Id="R046bb50cee874468"/><Relationship Type="http://schemas.openxmlformats.org/officeDocument/2006/relationships/notesMaster" Target="../fromPNG/notesMasters/notesMaster1.xml" Id="Rc028d5712a7a4e8d"/></Relationships>
</file>

<file path=ppt/notesSlides/_rels/notesSlide35.xml.rels><?xml version="1.0" encoding="utf-8"?><Relationships xmlns="http://schemas.openxmlformats.org/package/2006/relationships"><Relationship Type="http://schemas.openxmlformats.org/officeDocument/2006/relationships/slide" Target="../slides/slide35.xml" Id="R331fbbb222c04f8e"/><Relationship Type="http://schemas.openxmlformats.org/officeDocument/2006/relationships/notesMaster" Target="../fromPNG/notesMasters/notesMaster1.xml" Id="R92af5863d77b4920"/></Relationships>
</file>

<file path=ppt/notesSlides/_rels/notesSlide36.xml.rels><?xml version="1.0" encoding="utf-8"?><Relationships xmlns="http://schemas.openxmlformats.org/package/2006/relationships"><Relationship Type="http://schemas.openxmlformats.org/officeDocument/2006/relationships/slide" Target="../slides/slide36.xml" Id="R87df16f27cf54127"/><Relationship Type="http://schemas.openxmlformats.org/officeDocument/2006/relationships/notesMaster" Target="../notesMasters/notesMaster1.xml" Id="R5a26e9c2f6334abf"/></Relationships>
</file>

<file path=ppt/notesSlides/_rels/notesSlide37.xml.rels><?xml version="1.0" encoding="utf-8"?><Relationships xmlns="http://schemas.openxmlformats.org/package/2006/relationships"><Relationship Type="http://schemas.openxmlformats.org/officeDocument/2006/relationships/slide" Target="../slides/slide37.xml" Id="Re397550b0b384173"/><Relationship Type="http://schemas.openxmlformats.org/officeDocument/2006/relationships/notesMaster" Target="../fromPNG/notesMasters/notesMaster1.xml" Id="Ra867087bb3c24eec"/></Relationships>
</file>

<file path=ppt/notesSlides/_rels/notesSlide38.xml.rels><?xml version="1.0" encoding="utf-8"?><Relationships xmlns="http://schemas.openxmlformats.org/package/2006/relationships"><Relationship Type="http://schemas.openxmlformats.org/officeDocument/2006/relationships/slide" Target="../slides/slide38.xml" Id="Rf71574fa9185433c"/><Relationship Type="http://schemas.openxmlformats.org/officeDocument/2006/relationships/notesMaster" Target="../notesMasters/notesMaster1.xml" Id="R6b5902fade6e49eb"/></Relationships>
</file>

<file path=ppt/notesSlides/_rels/notesSlide39.xml.rels><?xml version="1.0" encoding="utf-8"?><Relationships xmlns="http://schemas.openxmlformats.org/package/2006/relationships"><Relationship Type="http://schemas.openxmlformats.org/officeDocument/2006/relationships/slide" Target="../slides/slide39.xml" Id="Re1d56a0807714278"/><Relationship Type="http://schemas.openxmlformats.org/officeDocument/2006/relationships/notesMaster" Target="../fromPNG/notesMasters/notesMaster1.xml" Id="R459a24a3f43743a4"/></Relationships>
</file>

<file path=ppt/notesSlides/_rels/notesSlide40.xml.rels><?xml version="1.0" encoding="utf-8"?><Relationships xmlns="http://schemas.openxmlformats.org/package/2006/relationships"><Relationship Type="http://schemas.openxmlformats.org/officeDocument/2006/relationships/slide" Target="../slides/slide40.xml" Id="R119bb6f53fe44d11"/><Relationship Type="http://schemas.openxmlformats.org/officeDocument/2006/relationships/notesMaster" Target="../fromPNG/notesMasters/notesMaster1.xml" Id="Re1b6d43df01a451f"/></Relationships>
</file>

<file path=ppt/notesSlides/_rels/notesSlide41.xml.rels><?xml version="1.0" encoding="utf-8"?><Relationships xmlns="http://schemas.openxmlformats.org/package/2006/relationships"><Relationship Type="http://schemas.openxmlformats.org/officeDocument/2006/relationships/slide" Target="../slides/slide41.xml" Id="R0a640a55ccf34099"/><Relationship Type="http://schemas.openxmlformats.org/officeDocument/2006/relationships/notesMaster" Target="../notesMasters/notesMaster1.xml" Id="R645942b0dc4644a6"/></Relationships>
</file>

<file path=ppt/notesSlides/_rels/notesSlide42.xml.rels><?xml version="1.0" encoding="utf-8"?><Relationships xmlns="http://schemas.openxmlformats.org/package/2006/relationships"><Relationship Type="http://schemas.openxmlformats.org/officeDocument/2006/relationships/slide" Target="../slides/slide42.xml" Id="Rc259d9f879de4514"/><Relationship Type="http://schemas.openxmlformats.org/officeDocument/2006/relationships/notesMaster" Target="../notesMasters/notesMaster1.xml" Id="R36985a09ed35488e"/></Relationships>
</file>

<file path=ppt/notesSlides/_rels/notesSlide43.xml.rels><?xml version="1.0" encoding="utf-8"?><Relationships xmlns="http://schemas.openxmlformats.org/package/2006/relationships"><Relationship Type="http://schemas.openxmlformats.org/officeDocument/2006/relationships/slide" Target="../slides/slide43.xml" Id="R04fa80b4cb994a42"/><Relationship Type="http://schemas.openxmlformats.org/officeDocument/2006/relationships/notesMaster" Target="../notesMasters/notesMaster1.xml" Id="Rdd85634fa6bf4ab3"/></Relationships>
</file>

<file path=ppt/notesSlides/_rels/notesSlide44.xml.rels><?xml version="1.0" encoding="utf-8"?><Relationships xmlns="http://schemas.openxmlformats.org/package/2006/relationships"><Relationship Type="http://schemas.openxmlformats.org/officeDocument/2006/relationships/slide" Target="../slides/slide44.xml" Id="Rb84a22bb2e2c4a7a"/><Relationship Type="http://schemas.openxmlformats.org/officeDocument/2006/relationships/notesMaster" Target="../notesMasters/notesMaster1.xml" Id="R3ac90223fd9447f7"/></Relationships>
</file>

<file path=ppt/notesSlides/_rels/notesSlide45.xml.rels><?xml version="1.0" encoding="utf-8"?><Relationships xmlns="http://schemas.openxmlformats.org/package/2006/relationships"><Relationship Type="http://schemas.openxmlformats.org/officeDocument/2006/relationships/slide" Target="../slides/slide45.xml" Id="R05a8265917af4ec3"/><Relationship Type="http://schemas.openxmlformats.org/officeDocument/2006/relationships/notesMaster" Target="../fromPNG/notesMasters/notesMaster1.xml" Id="R3d840f0783ca4856"/></Relationships>
</file>

<file path=ppt/notesSlides/_rels/notesSlide46.xml.rels><?xml version="1.0" encoding="utf-8"?><Relationships xmlns="http://schemas.openxmlformats.org/package/2006/relationships"><Relationship Type="http://schemas.openxmlformats.org/officeDocument/2006/relationships/slide" Target="../slides/slide46.xml" Id="R7d78724420444c67"/><Relationship Type="http://schemas.openxmlformats.org/officeDocument/2006/relationships/notesMaster" Target="../notesMasters/notesMaster1.xml" Id="Rad99f017c8a04499"/></Relationships>
</file>

<file path=ppt/notesSlides/_rels/notesSlide47.xml.rels><?xml version="1.0" encoding="utf-8"?><Relationships xmlns="http://schemas.openxmlformats.org/package/2006/relationships"><Relationship Type="http://schemas.openxmlformats.org/officeDocument/2006/relationships/slide" Target="../slides/slide47.xml" Id="R2b9e5b642bc243e2"/><Relationship Type="http://schemas.openxmlformats.org/officeDocument/2006/relationships/notesMaster" Target="../notesMasters/notesMaster1.xml" Id="Ra0e8db4a610e428d"/></Relationships>
</file>

<file path=ppt/notesSlides/_rels/notesSlide48.xml.rels><?xml version="1.0" encoding="utf-8"?><Relationships xmlns="http://schemas.openxmlformats.org/package/2006/relationships"><Relationship Type="http://schemas.openxmlformats.org/officeDocument/2006/relationships/slide" Target="../slides/slide48.xml" Id="R95919d0dc3414755"/><Relationship Type="http://schemas.openxmlformats.org/officeDocument/2006/relationships/notesMaster" Target="../fromPNG/notesMasters/notesMaster1.xml" Id="Rcfb691dae59545f5"/></Relationships>
</file>

<file path=ppt/notesSlides/_rels/notesSlide49.xml.rels><?xml version="1.0" encoding="utf-8"?><Relationships xmlns="http://schemas.openxmlformats.org/package/2006/relationships"><Relationship Type="http://schemas.openxmlformats.org/officeDocument/2006/relationships/slide" Target="../slides/slide49.xml" Id="Rc11a23f49d3d4606"/><Relationship Type="http://schemas.openxmlformats.org/officeDocument/2006/relationships/notesMaster" Target="../fromPNG/notesMasters/notesMaster1.xml" Id="R455e477867264886"/></Relationships>
</file>

<file path=ppt/notesSlides/_rels/notesSlide50.xml.rels><?xml version="1.0" encoding="utf-8"?><Relationships xmlns="http://schemas.openxmlformats.org/package/2006/relationships"><Relationship Type="http://schemas.openxmlformats.org/officeDocument/2006/relationships/slide" Target="../slides/slide50.xml" Id="Rf7933b26b2e4478c"/><Relationship Type="http://schemas.openxmlformats.org/officeDocument/2006/relationships/notesMaster" Target="../fromPNG/notesMasters/notesMaster1.xml" Id="R1eb6a424f37f4769"/></Relationships>
</file>

<file path=ppt/notesSlides/_rels/notesSlide51.xml.rels><?xml version="1.0" encoding="utf-8"?><Relationships xmlns="http://schemas.openxmlformats.org/package/2006/relationships"><Relationship Type="http://schemas.openxmlformats.org/officeDocument/2006/relationships/slide" Target="../slides/slide51.xml" Id="R28b830097d45440a"/><Relationship Type="http://schemas.openxmlformats.org/officeDocument/2006/relationships/notesMaster" Target="../fromPNG/notesMasters/notesMaster1.xml" Id="R2fb6b8c2b414432b"/></Relationships>
</file>

<file path=ppt/notesSlides/_rels/notesSlide52.xml.rels><?xml version="1.0" encoding="utf-8"?><Relationships xmlns="http://schemas.openxmlformats.org/package/2006/relationships"><Relationship Type="http://schemas.openxmlformats.org/officeDocument/2006/relationships/slide" Target="../slides/slide52.xml" Id="R91808b2c372549f9"/><Relationship Type="http://schemas.openxmlformats.org/officeDocument/2006/relationships/notesMaster" Target="../notesMasters/notesMaster1.xml" Id="R991de327823c4383"/></Relationships>
</file>

<file path=ppt/notesSlides/_rels/notesSlide53.xml.rels><?xml version="1.0" encoding="utf-8"?><Relationships xmlns="http://schemas.openxmlformats.org/package/2006/relationships"><Relationship Type="http://schemas.openxmlformats.org/officeDocument/2006/relationships/slide" Target="../slides/slide53.xml" Id="R208b019149c24701"/><Relationship Type="http://schemas.openxmlformats.org/officeDocument/2006/relationships/notesMaster" Target="../notesMasters/notesMaster1.xml" Id="R6d3bcc8ed3ed4fc8"/></Relationships>
</file>

<file path=ppt/notesSlides/_rels/notesSlide54.xml.rels><?xml version="1.0" encoding="utf-8"?><Relationships xmlns="http://schemas.openxmlformats.org/package/2006/relationships"><Relationship Type="http://schemas.openxmlformats.org/officeDocument/2006/relationships/slide" Target="../slides/slide54.xml" Id="R85d5cdffe5e04a8f"/><Relationship Type="http://schemas.openxmlformats.org/officeDocument/2006/relationships/notesMaster" Target="../notesMasters/notesMaster1.xml" Id="Rce386b4c0ede468a"/></Relationships>
</file>

<file path=ppt/notesSlides/_rels/notesSlide55.xml.rels><?xml version="1.0" encoding="utf-8"?><Relationships xmlns="http://schemas.openxmlformats.org/package/2006/relationships"><Relationship Type="http://schemas.openxmlformats.org/officeDocument/2006/relationships/slide" Target="../slides/slide55.xml" Id="Reea773b05b40480f"/><Relationship Type="http://schemas.openxmlformats.org/officeDocument/2006/relationships/notesMaster" Target="../notesMasters/notesMaster1.xml" Id="R9a022f2c875943d3"/></Relationships>
</file>

<file path=ppt/notesSlides/_rels/notesSlide56.xml.rels><?xml version="1.0" encoding="utf-8"?><Relationships xmlns="http://schemas.openxmlformats.org/package/2006/relationships"><Relationship Type="http://schemas.openxmlformats.org/officeDocument/2006/relationships/slide" Target="../slides/slide56.xml" Id="R245e9fd7b5084cf1"/><Relationship Type="http://schemas.openxmlformats.org/officeDocument/2006/relationships/notesMaster" Target="../notesMasters/notesMaster1.xml" Id="R71aabbed791947ab"/></Relationships>
</file>

<file path=ppt/notesSlides/_rels/notesSlide57.xml.rels><?xml version="1.0" encoding="utf-8"?><Relationships xmlns="http://schemas.openxmlformats.org/package/2006/relationships"><Relationship Type="http://schemas.openxmlformats.org/officeDocument/2006/relationships/slide" Target="../slides/slide57.xml" Id="Rb56c015f0d2a4fba"/><Relationship Type="http://schemas.openxmlformats.org/officeDocument/2006/relationships/notesMaster" Target="../notesMasters/notesMaster1.xml" Id="R1edc530607dc4d79"/></Relationships>
</file>

<file path=ppt/notesSlides/_rels/notesSlide58.xml.rels><?xml version="1.0" encoding="utf-8"?><Relationships xmlns="http://schemas.openxmlformats.org/package/2006/relationships"><Relationship Type="http://schemas.openxmlformats.org/officeDocument/2006/relationships/slide" Target="../slides/slide58.xml" Id="R991e8eafe1e441e7"/><Relationship Type="http://schemas.openxmlformats.org/officeDocument/2006/relationships/notesMaster" Target="../notesMasters/notesMaster1.xml" Id="R4b369564fa3f4a82"/></Relationships>
</file>

<file path=ppt/notesSlides/_rels/notesSlide59.xml.rels><?xml version="1.0" encoding="utf-8"?><Relationships xmlns="http://schemas.openxmlformats.org/package/2006/relationships"><Relationship Type="http://schemas.openxmlformats.org/officeDocument/2006/relationships/slide" Target="../slides/slide59.xml" Id="Ra01a91d9df4e4232"/><Relationship Type="http://schemas.openxmlformats.org/officeDocument/2006/relationships/notesMaster" Target="../notesMasters/notesMaster1.xml" Id="Ra9f8140887d842d4"/></Relationships>
</file>

<file path=ppt/notesSlides/_rels/notesSlide60.xml.rels><?xml version="1.0" encoding="utf-8"?><Relationships xmlns="http://schemas.openxmlformats.org/package/2006/relationships"><Relationship Type="http://schemas.openxmlformats.org/officeDocument/2006/relationships/slide" Target="../slides/slide60.xml" Id="Ra6e381e7c2cf44cc"/><Relationship Type="http://schemas.openxmlformats.org/officeDocument/2006/relationships/notesMaster" Target="../notesMasters/notesMaster1.xml" Id="Rbe4b4098a44d49b6"/></Relationships>
</file>

<file path=ppt/notesSlides/_rels/notesSlide61.xml.rels><?xml version="1.0" encoding="utf-8"?><Relationships xmlns="http://schemas.openxmlformats.org/package/2006/relationships"><Relationship Type="http://schemas.openxmlformats.org/officeDocument/2006/relationships/slide" Target="../slides/slide61.xml" Id="Ra61b8ac422424ea1"/><Relationship Type="http://schemas.openxmlformats.org/officeDocument/2006/relationships/notesMaster" Target="../notesMasters/notesMaster1.xml" Id="R5326b1b5981d419a"/></Relationships>
</file>

<file path=ppt/notesSlides/_rels/notesSlide62.xml.rels><?xml version="1.0" encoding="utf-8"?><Relationships xmlns="http://schemas.openxmlformats.org/package/2006/relationships"><Relationship Type="http://schemas.openxmlformats.org/officeDocument/2006/relationships/slide" Target="../slides/slide62.xml" Id="R92fab3ea7a284eee"/><Relationship Type="http://schemas.openxmlformats.org/officeDocument/2006/relationships/notesMaster" Target="../notesMasters/notesMaster1.xml" Id="Rc4ffef8e4a8642f9"/></Relationships>
</file>

<file path=ppt/notesSlides/_rels/notesSlide63.xml.rels><?xml version="1.0" encoding="utf-8"?><Relationships xmlns="http://schemas.openxmlformats.org/package/2006/relationships"><Relationship Type="http://schemas.openxmlformats.org/officeDocument/2006/relationships/slide" Target="../slides/slide63.xml" Id="R7b90390a2acc4735"/><Relationship Type="http://schemas.openxmlformats.org/officeDocument/2006/relationships/notesMaster" Target="../notesMasters/notesMaster1.xml" Id="R364d141769694876"/></Relationships>
</file>

<file path=ppt/notesSlides/_rels/notesSlide64.xml.rels><?xml version="1.0" encoding="utf-8"?><Relationships xmlns="http://schemas.openxmlformats.org/package/2006/relationships"><Relationship Type="http://schemas.openxmlformats.org/officeDocument/2006/relationships/slide" Target="../slides/slide64.xml" Id="Rc52fec24d34a4549"/><Relationship Type="http://schemas.openxmlformats.org/officeDocument/2006/relationships/notesMaster" Target="../notesMasters/notesMaster1.xml" Id="Rd8fe7fcd9f20412e"/></Relationships>
</file>

<file path=ppt/notesSlides/_rels/notesSlide65.xml.rels><?xml version="1.0" encoding="utf-8"?><Relationships xmlns="http://schemas.openxmlformats.org/package/2006/relationships"><Relationship Type="http://schemas.openxmlformats.org/officeDocument/2006/relationships/slide" Target="../slides/slide65.xml" Id="R8c310fbf836d4fa0"/><Relationship Type="http://schemas.openxmlformats.org/officeDocument/2006/relationships/notesMaster" Target="../fromPNG/notesMasters/notesMaster1.xml" Id="R17faaddfadeb4f38"/></Relationships>
</file>

<file path=ppt/notesSlides/_rels/notesSlide66.xml.rels><?xml version="1.0" encoding="utf-8"?><Relationships xmlns="http://schemas.openxmlformats.org/package/2006/relationships"><Relationship Type="http://schemas.openxmlformats.org/officeDocument/2006/relationships/slide" Target="../slides/slide66.xml" Id="R3a0e8e702795479d"/><Relationship Type="http://schemas.openxmlformats.org/officeDocument/2006/relationships/notesMaster" Target="../fromPNG/notesMasters/notesMaster1.xml" Id="R94b021cc57f740bf"/></Relationships>
</file>

<file path=ppt/notesSlides/_rels/notesSlide67.xml.rels><?xml version="1.0" encoding="utf-8"?><Relationships xmlns="http://schemas.openxmlformats.org/package/2006/relationships"><Relationship Type="http://schemas.openxmlformats.org/officeDocument/2006/relationships/slide" Target="../slides/slide67.xml" Id="Rda155140736e4999"/><Relationship Type="http://schemas.openxmlformats.org/officeDocument/2006/relationships/notesMaster" Target="../notesMasters/notesMaster1.xml" Id="Rf524035a49a942e0"/></Relationships>
</file>

<file path=ppt/notesSlides/_rels/notesSlide68.xml.rels><?xml version="1.0" encoding="utf-8"?><Relationships xmlns="http://schemas.openxmlformats.org/package/2006/relationships"><Relationship Type="http://schemas.openxmlformats.org/officeDocument/2006/relationships/slide" Target="../slides/slide68.xml" Id="R7a59bc2121d4498c"/><Relationship Type="http://schemas.openxmlformats.org/officeDocument/2006/relationships/notesMaster" Target="../fromPNG/notesMasters/notesMaster1.xml" Id="R17325669ce144226"/></Relationships>
</file>

<file path=ppt/notesSlides/_rels/notesSlide69.xml.rels><?xml version="1.0" encoding="utf-8"?><Relationships xmlns="http://schemas.openxmlformats.org/package/2006/relationships"><Relationship Type="http://schemas.openxmlformats.org/officeDocument/2006/relationships/slide" Target="../slides/slide69.xml" Id="R5b0a7e5136a34899"/><Relationship Type="http://schemas.openxmlformats.org/officeDocument/2006/relationships/notesMaster" Target="../notesMasters/notesMaster1.xml" Id="R3bcd4f3f9d074bd2"/></Relationships>
</file>

<file path=ppt/notesSlides/_rels/notesSlide70.xml.rels><?xml version="1.0" encoding="utf-8"?><Relationships xmlns="http://schemas.openxmlformats.org/package/2006/relationships"><Relationship Type="http://schemas.openxmlformats.org/officeDocument/2006/relationships/slide" Target="../slides/slide70.xml" Id="R0cca0b0d03c742db"/><Relationship Type="http://schemas.openxmlformats.org/officeDocument/2006/relationships/notesMaster" Target="../notesMasters/notesMaster1.xml" Id="Rdde59bbfb2ef4f0f"/></Relationships>
</file>

<file path=ppt/notesSlides/_rels/notesSlide71.xml.rels><?xml version="1.0" encoding="utf-8"?><Relationships xmlns="http://schemas.openxmlformats.org/package/2006/relationships"><Relationship Type="http://schemas.openxmlformats.org/officeDocument/2006/relationships/slide" Target="../slides/slide71.xml" Id="R57f0b6d6c19f4f1c"/><Relationship Type="http://schemas.openxmlformats.org/officeDocument/2006/relationships/notesMaster" Target="../notesMasters/notesMaster1.xml" Id="R42e2df0381284b7c"/></Relationships>
</file>

<file path=ppt/notesSlides/_rels/notesSlide72.xml.rels><?xml version="1.0" encoding="utf-8"?><Relationships xmlns="http://schemas.openxmlformats.org/package/2006/relationships"><Relationship Type="http://schemas.openxmlformats.org/officeDocument/2006/relationships/slide" Target="../slides/slide72.xml" Id="Rd02dc8624e1a4267"/><Relationship Type="http://schemas.openxmlformats.org/officeDocument/2006/relationships/notesMaster" Target="../fromPNG/notesMasters/notesMaster1.xml" Id="R3c7773520ce24036"/></Relationships>
</file>

<file path=ppt/notesSlides/_rels/notesSlide73.xml.rels><?xml version="1.0" encoding="utf-8"?><Relationships xmlns="http://schemas.openxmlformats.org/package/2006/relationships"><Relationship Type="http://schemas.openxmlformats.org/officeDocument/2006/relationships/slide" Target="../slides/slide73.xml" Id="Raf04622ef0004f3c"/><Relationship Type="http://schemas.openxmlformats.org/officeDocument/2006/relationships/notesMaster" Target="../fromPNG/notesMasters/notesMaster1.xml" Id="Rcd77cc7d2dde4654"/></Relationships>
</file>

<file path=ppt/notesSlides/_rels/notesSlide74.xml.rels><?xml version="1.0" encoding="utf-8"?><Relationships xmlns="http://schemas.openxmlformats.org/package/2006/relationships"><Relationship Type="http://schemas.openxmlformats.org/officeDocument/2006/relationships/slide" Target="../slides/slide74.xml" Id="R4e1a1bc23f2a4b0d"/><Relationship Type="http://schemas.openxmlformats.org/officeDocument/2006/relationships/notesMaster" Target="../fromPNG/notesMasters/notesMaster1.xml" Id="R501310b2619046b2"/></Relationships>
</file>

<file path=ppt/notesSlides/_rels/notesSlide75.xml.rels><?xml version="1.0" encoding="utf-8"?><Relationships xmlns="http://schemas.openxmlformats.org/package/2006/relationships"><Relationship Type="http://schemas.openxmlformats.org/officeDocument/2006/relationships/slide" Target="../slides/slide75.xml" Id="R4149a0758caf40f4"/><Relationship Type="http://schemas.openxmlformats.org/officeDocument/2006/relationships/notesMaster" Target="../fromPNG/notesMasters/notesMaster1.xml" Id="R364c65c0a13c4622"/></Relationships>
</file>

<file path=ppt/notesSlides/_rels/notesSlide76.xml.rels><?xml version="1.0" encoding="utf-8"?><Relationships xmlns="http://schemas.openxmlformats.org/package/2006/relationships"><Relationship Type="http://schemas.openxmlformats.org/officeDocument/2006/relationships/slide" Target="../slides/slide76.xml" Id="Rde36511f94724c38"/><Relationship Type="http://schemas.openxmlformats.org/officeDocument/2006/relationships/notesMaster" Target="../fromPNG/notesMasters/notesMaster1.xml" Id="Rb2cf758b6ef44ab5"/></Relationships>
</file>

<file path=ppt/notesSlides/_rels/notesSlide77.xml.rels><?xml version="1.0" encoding="utf-8"?><Relationships xmlns="http://schemas.openxmlformats.org/package/2006/relationships"><Relationship Type="http://schemas.openxmlformats.org/officeDocument/2006/relationships/slide" Target="../slides/slide77.xml" Id="R9a7d0742ca2c4d30"/><Relationship Type="http://schemas.openxmlformats.org/officeDocument/2006/relationships/notesMaster" Target="../fromPNG/notesMasters/notesMaster1.xml" Id="Rb784cc3b97804edb"/></Relationships>
</file>

<file path=ppt/notesSlides/_rels/notesSlide78.xml.rels><?xml version="1.0" encoding="utf-8"?><Relationships xmlns="http://schemas.openxmlformats.org/package/2006/relationships"><Relationship Type="http://schemas.openxmlformats.org/officeDocument/2006/relationships/slide" Target="../slides/slide78.xml" Id="R774a00f4cbe1443f"/><Relationship Type="http://schemas.openxmlformats.org/officeDocument/2006/relationships/notesMaster" Target="../fromPNG/notesMasters/notesMaster1.xml" Id="R3478451c61694d6c"/></Relationships>
</file>

<file path=ppt/notesSlides/_rels/notesSlide79.xml.rels><?xml version="1.0" encoding="utf-8"?><Relationships xmlns="http://schemas.openxmlformats.org/package/2006/relationships"><Relationship Type="http://schemas.openxmlformats.org/officeDocument/2006/relationships/slide" Target="../slides/slide79.xml" Id="Rd9866a14f3f04714"/><Relationship Type="http://schemas.openxmlformats.org/officeDocument/2006/relationships/notesMaster" Target="../fromPNG/notesMasters/notesMaster1.xml" Id="Rd6561ec35f09487d"/></Relationships>
</file>

<file path=ppt/notesSlides/_rels/notesSlide80.xml.rels><?xml version="1.0" encoding="utf-8"?><Relationships xmlns="http://schemas.openxmlformats.org/package/2006/relationships"><Relationship Type="http://schemas.openxmlformats.org/officeDocument/2006/relationships/slide" Target="../slides/slide80.xml" Id="R4a1189b7dc484223"/><Relationship Type="http://schemas.openxmlformats.org/officeDocument/2006/relationships/notesMaster" Target="../notesMasters/notesMaster1.xml" Id="Rb6033ab149534b1f"/></Relationships>
</file>

<file path=ppt/notesSlides/_rels/notesSlide81.xml.rels><?xml version="1.0" encoding="utf-8"?><Relationships xmlns="http://schemas.openxmlformats.org/package/2006/relationships"><Relationship Type="http://schemas.openxmlformats.org/officeDocument/2006/relationships/slide" Target="../slides/slide81.xml" Id="R47b1c3ee538b4a46"/><Relationship Type="http://schemas.openxmlformats.org/officeDocument/2006/relationships/notesMaster" Target="../notesMasters/notesMaster1.xml" Id="R6d0d7b5bffe846b8"/></Relationships>
</file>

<file path=ppt/notesSlides/_rels/notesSlide82.xml.rels><?xml version="1.0" encoding="utf-8"?><Relationships xmlns="http://schemas.openxmlformats.org/package/2006/relationships"><Relationship Type="http://schemas.openxmlformats.org/officeDocument/2006/relationships/slide" Target="../slides/slide82.xml" Id="Ra8d583a110b44f4d"/><Relationship Type="http://schemas.openxmlformats.org/officeDocument/2006/relationships/notesMaster" Target="../notesMasters/notesMaster1.xml" Id="R8706787494154bea"/></Relationships>
</file>

<file path=ppt/notesSlides/_rels/notesSlide83.xml.rels><?xml version="1.0" encoding="utf-8"?><Relationships xmlns="http://schemas.openxmlformats.org/package/2006/relationships"><Relationship Type="http://schemas.openxmlformats.org/officeDocument/2006/relationships/slide" Target="../slides/slide83.xml" Id="R305ba9ea6f41410e"/><Relationship Type="http://schemas.openxmlformats.org/officeDocument/2006/relationships/notesMaster" Target="../notesMasters/notesMaster1.xml" Id="R3d9289dfd9914d29"/></Relationships>
</file>

<file path=ppt/notesSlides/_rels/notesSlide84.xml.rels><?xml version="1.0" encoding="utf-8"?><Relationships xmlns="http://schemas.openxmlformats.org/package/2006/relationships"><Relationship Type="http://schemas.openxmlformats.org/officeDocument/2006/relationships/slide" Target="../slides/slide84.xml" Id="R75fecce456e04c8e"/><Relationship Type="http://schemas.openxmlformats.org/officeDocument/2006/relationships/notesMaster" Target="../notesMasters/notesMaster1.xml" Id="R955d97e2184f40c1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模板：TPL-P01｜中央主题与底部身份封面</a:t>
            </a:r>
          </a:p>
          <a:p>
            <a:r>
              <a:t>原型：T01｜中央主题与底部身份封面</a:t>
            </a:r>
          </a:p>
          <a:p>
            <a:r>
              <a:t>关系：主次</a:t>
            </a:r>
          </a:p>
          <a:p>
            <a:r>
              <a:t>结构：主题＞身份信息</a:t>
            </a:r>
          </a:p>
          <a:p>
            <a:r>
              <a:t>适用：报告封面、开题与答辩开场</a:t>
            </a:r>
          </a:p>
          <a:p>
            <a:r>
              <a:t>槽位：研究题目；报告人、单位、日期</a:t>
            </a:r>
          </a:p>
          <a:p>
            <a:r>
              <a:t>注意：封面不承担研究内容展开。</a:t>
            </a:r>
          </a:p>
          <a:p>
            <a:r>
              <a:t>分组：封面与目录</a:t>
            </a:r>
          </a:p>
          <a:p>
            <a:r>
              <a:t>来源：P01｜039-上海大学孙衍宁.pptx 原第1页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模板：TPL-P36｜目录与第3部分定位</a:t>
            </a:r>
          </a:p>
          <a:p>
            <a:r>
              <a:t>原型：T27｜当前章节高亮目录</a:t>
            </a:r>
          </a:p>
          <a:p>
            <a:r>
              <a:t>关系：总分、主次</a:t>
            </a:r>
          </a:p>
          <a:p>
            <a:r>
              <a:t>结构：1→4；第3项高亮</a:t>
            </a:r>
          </a:p>
          <a:p>
            <a:r>
              <a:t>适用：章节导航、转场</a:t>
            </a:r>
          </a:p>
          <a:p>
            <a:r>
              <a:t>槽位：4章目录；当前第3章高亮</a:t>
            </a:r>
          </a:p>
          <a:p>
            <a:r>
              <a:t>注意：用于自己的章节目录，不是模板库目录。</a:t>
            </a:r>
          </a:p>
          <a:p>
            <a:r>
              <a:t>分组：封面与目录</a:t>
            </a:r>
          </a:p>
          <a:p>
            <a:r>
              <a:t>来源：P36｜039-上海大学孙衍宁.pptx 原第36页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模板：TPL-P41｜目录与第4部分定位</a:t>
            </a:r>
          </a:p>
          <a:p>
            <a:r>
              <a:t>原型：T27｜当前章节高亮目录</a:t>
            </a:r>
          </a:p>
          <a:p>
            <a:r>
              <a:t>关系：总分、主次</a:t>
            </a:r>
          </a:p>
          <a:p>
            <a:r>
              <a:t>结构：1→4；第4项高亮</a:t>
            </a:r>
          </a:p>
          <a:p>
            <a:r>
              <a:t>适用：章节导航、转场</a:t>
            </a:r>
          </a:p>
          <a:p>
            <a:r>
              <a:t>槽位：4章目录；当前第4章高亮</a:t>
            </a:r>
          </a:p>
          <a:p>
            <a:r>
              <a:t>注意：用于自己的章节目录，不是模板库目录。</a:t>
            </a:r>
          </a:p>
          <a:p>
            <a:r>
              <a:t>分组：封面与目录</a:t>
            </a:r>
          </a:p>
          <a:p>
            <a:r>
              <a:t>来源：P41｜039-上海大学孙衍宁.pptx 原第41页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模板：TPL-P02｜时间线证据与需求收束</a:t>
            </a:r>
          </a:p>
          <a:p>
            <a:r>
              <a:t>原型：T02｜时间线证据与需求收束</a:t>
            </a:r>
          </a:p>
          <a:p>
            <a:r>
              <a:t>关系：时序、总—分—总</a:t>
            </a:r>
          </a:p>
          <a:p>
            <a:r>
              <a:t>结构：观点→时间线→需求</a:t>
            </a:r>
          </a:p>
          <a:p>
            <a:r>
              <a:t>适用：发展背景、技术演进</a:t>
            </a:r>
          </a:p>
          <a:p>
            <a:r>
              <a:t>槽位：发展判断；时间节点；研究需求</a:t>
            </a:r>
          </a:p>
          <a:p>
            <a:r>
              <a:t>注意：时间先后不等于因果。</a:t>
            </a:r>
          </a:p>
          <a:p>
            <a:r>
              <a:t>分组：背景、意义与模式演进</a:t>
            </a:r>
          </a:p>
          <a:p>
            <a:r>
              <a:t>来源：P02｜039-上海大学孙衍宁.pptx 原第2页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模板：TPL-P03｜整体对象与局部标注</a:t>
            </a:r>
          </a:p>
          <a:p>
            <a:r>
              <a:t>原型：T03｜整体对象与局部标注</a:t>
            </a:r>
          </a:p>
          <a:p>
            <a:r>
              <a:t>关系：整体—部分、映射</a:t>
            </a:r>
          </a:p>
          <a:p>
            <a:r>
              <a:t>结构：整体⊃部件；部件↔功能</a:t>
            </a:r>
          </a:p>
          <a:p>
            <a:r>
              <a:t>适用：对象介绍、装置组成</a:t>
            </a:r>
          </a:p>
          <a:p>
            <a:r>
              <a:t>槽位：对象主图；部件与约束标注；规模指标</a:t>
            </a:r>
          </a:p>
          <a:p>
            <a:r>
              <a:t>注意：引线标位置，不代表步骤顺序。</a:t>
            </a:r>
          </a:p>
          <a:p>
            <a:r>
              <a:t>分组：背景、意义与模式演进</a:t>
            </a:r>
          </a:p>
          <a:p>
            <a:r>
              <a:t>来源：P03｜039-上海大学孙衍宁.pptx 原第3页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模板：TPL-W10｜装置整体与局部标注</a:t>
            </a:r>
          </a:p>
          <a:p>
            <a:r>
              <a:t>原型：T03｜整体对象与局部标注</a:t>
            </a:r>
          </a:p>
          <a:p>
            <a:r>
              <a:t>关系：整体—部分、映射</a:t>
            </a:r>
          </a:p>
          <a:p>
            <a:r>
              <a:t>结构：整体⊃部件；部件↔功能</a:t>
            </a:r>
          </a:p>
          <a:p>
            <a:r>
              <a:t>适用：对象介绍、装置组成</a:t>
            </a:r>
          </a:p>
          <a:p>
            <a:r>
              <a:t>槽位：装置整体；局部标注；左右功能说明</a:t>
            </a:r>
          </a:p>
          <a:p>
            <a:r>
              <a:t>注意：引线标位置，不代表步骤顺序。</a:t>
            </a:r>
          </a:p>
          <a:p>
            <a:r>
              <a:t>分组：背景、意义与模式演进</a:t>
            </a:r>
          </a:p>
          <a:p>
            <a:r>
              <a:t>来源：W10｜035.png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模板：TPL-N21｜研究背景：左侧论述与右侧主图</a:t>
            </a:r>
          </a:p>
          <a:p>
            <a:r>
              <a:t>原型：T35｜主图与分点释义</a:t>
            </a:r>
          </a:p>
          <a:p>
            <a:r>
              <a:t>关系：主次、图文释义</a:t>
            </a:r>
          </a:p>
          <a:p>
            <a:r>
              <a:t>结构：主图＋分点说明</a:t>
            </a:r>
          </a:p>
          <a:p>
            <a:r>
              <a:t>适用：机制解释、发现与创新点</a:t>
            </a:r>
          </a:p>
          <a:p>
            <a:r>
              <a:t>槽位：2项背景论述；右侧主图与配图</a:t>
            </a:r>
          </a:p>
          <a:p>
            <a:r>
              <a:t>注意：图像要直接支持邻近说明。</a:t>
            </a:r>
          </a:p>
          <a:p>
            <a:r>
              <a:t>分组：背景、意义与模式演进</a:t>
            </a:r>
          </a:p>
          <a:p>
            <a:r>
              <a:t>来源：N21｜019.png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模板：TPL-N08｜四维度科学意义</a:t>
            </a:r>
          </a:p>
          <a:p>
            <a:r>
              <a:t>原型：T34｜同级维度与案例展开</a:t>
            </a:r>
          </a:p>
          <a:p>
            <a:r>
              <a:t>关系：并列、总分</a:t>
            </a:r>
          </a:p>
          <a:p>
            <a:r>
              <a:t>结构：1→4</a:t>
            </a:r>
          </a:p>
          <a:p>
            <a:r>
              <a:t>适用：研究意义、性能与应用</a:t>
            </a:r>
          </a:p>
          <a:p>
            <a:r>
              <a:t>槽位：4类科学意义；各自说明与配图</a:t>
            </a:r>
          </a:p>
          <a:p>
            <a:r>
              <a:t>注意：各维度同级，避免硬凑流程箭头。</a:t>
            </a:r>
          </a:p>
          <a:p>
            <a:r>
              <a:t>分组：背景、意义与模式演进</a:t>
            </a:r>
          </a:p>
          <a:p>
            <a:r>
              <a:t>来源：N08｜008.png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模板：TPL-W00｜技术要素与双图研究背景</a:t>
            </a:r>
          </a:p>
          <a:p>
            <a:r>
              <a:t>原型：T34｜同级维度与案例展开</a:t>
            </a:r>
          </a:p>
          <a:p>
            <a:r>
              <a:t>关系：并列、总分</a:t>
            </a:r>
          </a:p>
          <a:p>
            <a:r>
              <a:t>结构：1→3＋2图</a:t>
            </a:r>
          </a:p>
          <a:p>
            <a:r>
              <a:t>适用：研究意义、性能与应用</a:t>
            </a:r>
          </a:p>
          <a:p>
            <a:r>
              <a:t>槽位：3类技术要素；2幅背景图；研究目标</a:t>
            </a:r>
          </a:p>
          <a:p>
            <a:r>
              <a:t>注意：各维度同级，避免硬凑流程箭头。</a:t>
            </a:r>
          </a:p>
          <a:p>
            <a:r>
              <a:t>分组：背景、意义与模式演进</a:t>
            </a:r>
          </a:p>
          <a:p>
            <a:r>
              <a:t>来源：W00｜025.png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模板：TPL-W03｜外部需求与技术发展双依据</a:t>
            </a:r>
          </a:p>
          <a:p>
            <a:r>
              <a:t>原型：T36｜双路径汇聚与目标论证</a:t>
            </a:r>
          </a:p>
          <a:p>
            <a:r>
              <a:t>关系：汇聚、问题—解决</a:t>
            </a:r>
          </a:p>
          <a:p>
            <a:r>
              <a:t>结构：2→1</a:t>
            </a:r>
          </a:p>
          <a:p>
            <a:r>
              <a:t>适用：双依据论证、联合研究路径</a:t>
            </a:r>
          </a:p>
          <a:p>
            <a:r>
              <a:t>槽位：需求依据；技术发展；研究必要性</a:t>
            </a:r>
          </a:p>
          <a:p>
            <a:r>
              <a:t>注意：解释两条路径各自的贡献。</a:t>
            </a:r>
          </a:p>
          <a:p>
            <a:r>
              <a:t>分组：背景、意义与模式演进</a:t>
            </a:r>
          </a:p>
          <a:p>
            <a:r>
              <a:t>来源：W03｜028.png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模板：TPL-N04｜双研究基础汇聚到研究目标</a:t>
            </a:r>
          </a:p>
          <a:p>
            <a:r>
              <a:t>原型：T36｜双路径汇聚与目标论证</a:t>
            </a:r>
          </a:p>
          <a:p>
            <a:r>
              <a:t>关系：汇聚、问题—解决</a:t>
            </a:r>
          </a:p>
          <a:p>
            <a:r>
              <a:t>结构：2→1</a:t>
            </a:r>
          </a:p>
          <a:p>
            <a:r>
              <a:t>适用：双依据论证、联合研究路径</a:t>
            </a:r>
          </a:p>
          <a:p>
            <a:r>
              <a:t>槽位：2类研究基础；关键问题；总目标</a:t>
            </a:r>
          </a:p>
          <a:p>
            <a:r>
              <a:t>注意：解释两条路径各自的贡献。</a:t>
            </a:r>
          </a:p>
          <a:p>
            <a:r>
              <a:t>分组：背景、意义与模式演进</a:t>
            </a:r>
          </a:p>
          <a:p>
            <a:r>
              <a:t>来源：N04｜004.png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模板：TPL-P05｜双行业三阶段演进对照</a:t>
            </a:r>
          </a:p>
          <a:p>
            <a:r>
              <a:t>原型：T05｜阶段演进对照</a:t>
            </a:r>
          </a:p>
          <a:p>
            <a:r>
              <a:t>关系：演化、对比</a:t>
            </a:r>
          </a:p>
          <a:p>
            <a:r>
              <a:t>结构：阶段A→B→C</a:t>
            </a:r>
          </a:p>
          <a:p>
            <a:r>
              <a:t>适用：模式演进、阶段能力对照</a:t>
            </a:r>
          </a:p>
          <a:p>
            <a:r>
              <a:t>槽位：3阶段；2条同维度演进线；启示</a:t>
            </a:r>
          </a:p>
          <a:p>
            <a:r>
              <a:t>注意：比较阶段时使用共同维度。</a:t>
            </a:r>
          </a:p>
          <a:p>
            <a:r>
              <a:t>分组：背景、意义与模式演进</a:t>
            </a:r>
          </a:p>
          <a:p>
            <a:r>
              <a:t>来源：P05｜039-上海大学孙衍宁.pptx 原第5页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模板：TPL-P06｜传统模式与六单元重构</a:t>
            </a:r>
          </a:p>
          <a:p>
            <a:r>
              <a:t>原型：T06｜原有系统与功能单元拆解</a:t>
            </a:r>
          </a:p>
          <a:p>
            <a:r>
              <a:t>关系：整体—部分、对比</a:t>
            </a:r>
          </a:p>
          <a:p>
            <a:r>
              <a:t>结构：原模式↔6个单元</a:t>
            </a:r>
          </a:p>
          <a:p>
            <a:r>
              <a:t>适用：系统拆解、组织方式重构</a:t>
            </a:r>
          </a:p>
          <a:p>
            <a:r>
              <a:t>槽位：原模式；6个功能单元；共享资源</a:t>
            </a:r>
          </a:p>
          <a:p>
            <a:r>
              <a:t>注意：说明拆解依据和单元接口。</a:t>
            </a:r>
          </a:p>
          <a:p>
            <a:r>
              <a:t>分组：背景、意义与模式演进</a:t>
            </a:r>
          </a:p>
          <a:p>
            <a:r>
              <a:t>来源：P06｜039-上海大学孙衍宁.pptx 原第6页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模板：TPL-P21｜三阶段模式演进</a:t>
            </a:r>
          </a:p>
          <a:p>
            <a:r>
              <a:t>原型：T05｜阶段演进对照</a:t>
            </a:r>
          </a:p>
          <a:p>
            <a:r>
              <a:t>关系：演化、对比</a:t>
            </a:r>
          </a:p>
          <a:p>
            <a:r>
              <a:t>结构：阶段A→B→C</a:t>
            </a:r>
          </a:p>
          <a:p>
            <a:r>
              <a:t>适用：模式演进、阶段能力对照</a:t>
            </a:r>
          </a:p>
          <a:p>
            <a:r>
              <a:t>槽位：3个阶段；输入、处理、知识基础、输出</a:t>
            </a:r>
          </a:p>
          <a:p>
            <a:r>
              <a:t>注意：比较阶段时使用共同维度。</a:t>
            </a:r>
          </a:p>
          <a:p>
            <a:r>
              <a:t>分组：背景、意义与模式演进</a:t>
            </a:r>
          </a:p>
          <a:p>
            <a:r>
              <a:t>来源：P21｜039-上海大学孙衍宁.pptx 原第21页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模板：TPL-P22｜三阶段演进与结论收束</a:t>
            </a:r>
          </a:p>
          <a:p>
            <a:r>
              <a:t>原型：T05｜阶段演进对照</a:t>
            </a:r>
          </a:p>
          <a:p>
            <a:r>
              <a:t>关系：演化、对比</a:t>
            </a:r>
          </a:p>
          <a:p>
            <a:r>
              <a:t>结构：阶段A→B→C</a:t>
            </a:r>
          </a:p>
          <a:p>
            <a:r>
              <a:t>适用：模式演进、阶段能力对照</a:t>
            </a:r>
          </a:p>
          <a:p>
            <a:r>
              <a:t>槽位：3个阶段；共同基础；底部结论</a:t>
            </a:r>
          </a:p>
          <a:p>
            <a:r>
              <a:t>注意：比较阶段时使用共同维度。</a:t>
            </a:r>
          </a:p>
          <a:p>
            <a:r>
              <a:t>分组：背景、意义与模式演进</a:t>
            </a:r>
          </a:p>
          <a:p>
            <a:r>
              <a:t>来源：P22｜039-上海大学孙衍宁.pptx 原第22页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模板：TPL-P04｜一主两辅的三项挑战</a:t>
            </a:r>
          </a:p>
          <a:p>
            <a:r>
              <a:t>原型：T04｜一主两辅挑战展开</a:t>
            </a:r>
          </a:p>
          <a:p>
            <a:r>
              <a:t>关系：总分、并列</a:t>
            </a:r>
          </a:p>
          <a:p>
            <a:r>
              <a:t>结构：1→3</a:t>
            </a:r>
          </a:p>
          <a:p>
            <a:r>
              <a:t>适用：工程挑战、三类难点</a:t>
            </a:r>
          </a:p>
          <a:p>
            <a:r>
              <a:t>槽位：1个主场景；2个辅助场景；3项挑战</a:t>
            </a:r>
          </a:p>
          <a:p>
            <a:r>
              <a:t>注意：三项应属于同一总体问题。</a:t>
            </a:r>
          </a:p>
          <a:p>
            <a:r>
              <a:t>分组：研究问题、局限与缺口</a:t>
            </a:r>
          </a:p>
          <a:p>
            <a:r>
              <a:t>来源：P04｜039-上海大学孙衍宁.pptx 原第4页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模板：TPL-P07｜三项关键问题与应对路径</a:t>
            </a:r>
          </a:p>
          <a:p>
            <a:r>
              <a:t>原型：T07｜三个关键问题展开</a:t>
            </a:r>
          </a:p>
          <a:p>
            <a:r>
              <a:t>关系：总分、并列</a:t>
            </a:r>
          </a:p>
          <a:p>
            <a:r>
              <a:t>结构：1→3</a:t>
            </a:r>
          </a:p>
          <a:p>
            <a:r>
              <a:t>适用：科学问题、研究难点</a:t>
            </a:r>
          </a:p>
          <a:p>
            <a:r>
              <a:t>槽位：3项问题；各自机制与研究切入点</a:t>
            </a:r>
          </a:p>
          <a:p>
            <a:r>
              <a:t>注意：同级问题，不把依赖链当并列。</a:t>
            </a:r>
          </a:p>
          <a:p>
            <a:r>
              <a:t>分组：研究问题、局限与缺口</a:t>
            </a:r>
          </a:p>
          <a:p>
            <a:r>
              <a:t>来源：P07｜039-上海大学孙衍宁.pptx 原第7页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模板：TPL-N07｜总问题、主研究图区与验证问题</a:t>
            </a:r>
          </a:p>
          <a:p>
            <a:r>
              <a:t>原型：T38｜分层问题展开与研究应对</a:t>
            </a:r>
          </a:p>
          <a:p>
            <a:r>
              <a:t>关系：总分、问题—解决</a:t>
            </a:r>
          </a:p>
          <a:p>
            <a:r>
              <a:t>结构：总问题→分层问题→应对</a:t>
            </a:r>
          </a:p>
          <a:p>
            <a:r>
              <a:t>适用：复杂性分解、研究缺口</a:t>
            </a:r>
          </a:p>
          <a:p>
            <a:r>
              <a:t>槽位：总问题；机制说明；研究主图；3项验证</a:t>
            </a:r>
          </a:p>
          <a:p>
            <a:r>
              <a:t>注意：明确分层依据及问题和措施的对应。</a:t>
            </a:r>
          </a:p>
          <a:p>
            <a:r>
              <a:t>分组：研究问题、局限与缺口</a:t>
            </a:r>
          </a:p>
          <a:p>
            <a:r>
              <a:t>来源：N07｜007.png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模板：TPL-N15｜复杂性分解与研究应对</a:t>
            </a:r>
          </a:p>
          <a:p>
            <a:r>
              <a:t>原型：T38｜分层问题展开与研究应对</a:t>
            </a:r>
          </a:p>
          <a:p>
            <a:r>
              <a:t>关系：总分、问题—解决</a:t>
            </a:r>
          </a:p>
          <a:p>
            <a:r>
              <a:t>结构：总问题→分层问题→应对</a:t>
            </a:r>
          </a:p>
          <a:p>
            <a:r>
              <a:t>适用：复杂性分解、研究缺口</a:t>
            </a:r>
          </a:p>
          <a:p>
            <a:r>
              <a:t>槽位：复杂性问题；关键技术；研究模型与输出</a:t>
            </a:r>
          </a:p>
          <a:p>
            <a:r>
              <a:t>注意：明确分层依据及问题和措施的对应。</a:t>
            </a:r>
          </a:p>
          <a:p>
            <a:r>
              <a:t>分组：研究问题、局限与缺口</a:t>
            </a:r>
          </a:p>
          <a:p>
            <a:r>
              <a:t>来源：N15｜015.png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模板：TPL-N18｜目标、构筑与机理分层框架</a:t>
            </a:r>
          </a:p>
          <a:p>
            <a:r>
              <a:t>原型：T38｜分层问题展开与研究应对</a:t>
            </a:r>
          </a:p>
          <a:p>
            <a:r>
              <a:t>关系：总分、问题—解决</a:t>
            </a:r>
          </a:p>
          <a:p>
            <a:r>
              <a:t>结构：总问题→分层问题→应对</a:t>
            </a:r>
          </a:p>
          <a:p>
            <a:r>
              <a:t>适用：复杂性分解、研究缺口</a:t>
            </a:r>
          </a:p>
          <a:p>
            <a:r>
              <a:t>槽位：总需求；构筑方法；作用机理；验证要素</a:t>
            </a:r>
          </a:p>
          <a:p>
            <a:r>
              <a:t>注意：明确分层依据及问题和措施的对应。</a:t>
            </a:r>
          </a:p>
          <a:p>
            <a:r>
              <a:t>分组：研究问题、局限与缺口</a:t>
            </a:r>
          </a:p>
          <a:p>
            <a:r>
              <a:t>来源：N18｜017.png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模板：TPL-N26｜已有基础与三层研究缺口</a:t>
            </a:r>
          </a:p>
          <a:p>
            <a:r>
              <a:t>原型：T38｜分层问题展开与研究应对</a:t>
            </a:r>
          </a:p>
          <a:p>
            <a:r>
              <a:t>关系：总分、问题—解决</a:t>
            </a:r>
          </a:p>
          <a:p>
            <a:r>
              <a:t>结构：总问题→分层问题→应对</a:t>
            </a:r>
          </a:p>
          <a:p>
            <a:r>
              <a:t>适用：复杂性分解、研究缺口</a:t>
            </a:r>
          </a:p>
          <a:p>
            <a:r>
              <a:t>槽位：已有基础；认知、方法、应用3层缺口</a:t>
            </a:r>
          </a:p>
          <a:p>
            <a:r>
              <a:t>注意：明确分层依据及问题和措施的对应。</a:t>
            </a:r>
          </a:p>
          <a:p>
            <a:r>
              <a:t>分组：研究问题、局限与缺口</a:t>
            </a:r>
          </a:p>
          <a:p>
            <a:r>
              <a:t>来源：N26｜023.png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模板：TPL-P08｜现状局限趋势的三列矩阵</a:t>
            </a:r>
          </a:p>
          <a:p>
            <a:r>
              <a:t>原型：T08｜现状—局限—趋势矩阵</a:t>
            </a:r>
          </a:p>
          <a:p>
            <a:r>
              <a:t>关系：矩阵、问题—解决</a:t>
            </a:r>
          </a:p>
          <a:p>
            <a:r>
              <a:t>结构：维度×现状/局限/方向</a:t>
            </a:r>
          </a:p>
          <a:p>
            <a:r>
              <a:t>适用：研究现状、缺口与趋势</a:t>
            </a:r>
          </a:p>
          <a:p>
            <a:r>
              <a:t>槽位：3维度；现状、局限、趋势；总结</a:t>
            </a:r>
          </a:p>
          <a:p>
            <a:r>
              <a:t>注意：同一列上下内容要逐项对应。</a:t>
            </a:r>
          </a:p>
          <a:p>
            <a:r>
              <a:t>分组：研究问题、局限与缺口</a:t>
            </a:r>
          </a:p>
          <a:p>
            <a:r>
              <a:t>来源：P08｜039-上海大学孙衍宁.pptx 原第8页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模板：TPL-N03｜现状、挑战与方向矩阵</a:t>
            </a:r>
          </a:p>
          <a:p>
            <a:r>
              <a:t>原型：T08｜现状—局限—趋势矩阵</a:t>
            </a:r>
          </a:p>
          <a:p>
            <a:r>
              <a:t>关系：矩阵、问题—解决</a:t>
            </a:r>
          </a:p>
          <a:p>
            <a:r>
              <a:t>结构：维度×现状/局限/方向</a:t>
            </a:r>
          </a:p>
          <a:p>
            <a:r>
              <a:t>适用：研究现状、缺口与趋势</a:t>
            </a:r>
          </a:p>
          <a:p>
            <a:r>
              <a:t>槽位：3方向×现状/挑战/探索；补充方法</a:t>
            </a:r>
          </a:p>
          <a:p>
            <a:r>
              <a:t>注意：同一列上下内容要逐项对应。</a:t>
            </a:r>
          </a:p>
          <a:p>
            <a:r>
              <a:t>分组：研究问题、局限与缺口</a:t>
            </a:r>
          </a:p>
          <a:p>
            <a:r>
              <a:t>来源：N03｜003.png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模板：TPL-P10｜工程场景方法局限与核心问题</a:t>
            </a:r>
          </a:p>
          <a:p>
            <a:r>
              <a:t>原型：T10｜场景—局限—研究突破口</a:t>
            </a:r>
          </a:p>
          <a:p>
            <a:r>
              <a:t>关系：问题—解决</a:t>
            </a:r>
          </a:p>
          <a:p>
            <a:r>
              <a:t>结构：场景→局限→切入点</a:t>
            </a:r>
          </a:p>
          <a:p>
            <a:r>
              <a:t>适用：方法动机、研究突破口</a:t>
            </a:r>
          </a:p>
          <a:p>
            <a:r>
              <a:t>槽位：研究场景；现有局限；核心问题</a:t>
            </a:r>
          </a:p>
          <a:p>
            <a:r>
              <a:t>注意：说明局限与方案的对应关系。</a:t>
            </a:r>
          </a:p>
          <a:p>
            <a:r>
              <a:t>分组：研究问题、局限与缺口</a:t>
            </a:r>
          </a:p>
          <a:p>
            <a:r>
              <a:t>来源：P10｜039-上海大学孙衍宁.pptx 原第10页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模板：TPL-P30｜现场问题协作障碍与闭环方案</a:t>
            </a:r>
          </a:p>
          <a:p>
            <a:r>
              <a:t>原型：T10｜场景—局限—研究突破口</a:t>
            </a:r>
          </a:p>
          <a:p>
            <a:r>
              <a:t>关系：问题—解决</a:t>
            </a:r>
          </a:p>
          <a:p>
            <a:r>
              <a:t>结构：场景→局限→切入点</a:t>
            </a:r>
          </a:p>
          <a:p>
            <a:r>
              <a:t>适用：方法动机、研究突破口</a:t>
            </a:r>
          </a:p>
          <a:p>
            <a:r>
              <a:t>槽位：现场需求；协作障碍；4步闭环方案</a:t>
            </a:r>
          </a:p>
          <a:p>
            <a:r>
              <a:t>注意：说明局限与方案的对应关系。</a:t>
            </a:r>
          </a:p>
          <a:p>
            <a:r>
              <a:t>分组：研究问题、局限与缺口</a:t>
            </a:r>
          </a:p>
          <a:p>
            <a:r>
              <a:t>来源：P30｜039-上海大学孙衍宁.pptx 原第30页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模板：TPL-N19｜构筑、瓶颈与机制三分区</a:t>
            </a:r>
          </a:p>
          <a:p>
            <a:r>
              <a:t>原型：T10｜场景—局限—研究突破口</a:t>
            </a:r>
          </a:p>
          <a:p>
            <a:r>
              <a:t>关系：问题—解决</a:t>
            </a:r>
          </a:p>
          <a:p>
            <a:r>
              <a:t>结构：场景→局限→切入点</a:t>
            </a:r>
          </a:p>
          <a:p>
            <a:r>
              <a:t>适用：方法动机、研究突破口</a:t>
            </a:r>
          </a:p>
          <a:p>
            <a:r>
              <a:t>槽位：构筑条件；中间瓶颈；机理解释与调控</a:t>
            </a:r>
          </a:p>
          <a:p>
            <a:r>
              <a:t>注意：说明局限与方案的对应关系。</a:t>
            </a:r>
          </a:p>
          <a:p>
            <a:r>
              <a:t>分组：研究问题、局限与缺口</a:t>
            </a:r>
          </a:p>
          <a:p>
            <a:r>
              <a:t>来源：N19｜018.png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模板：TPL-N24｜需求、技术与价值三栏</a:t>
            </a:r>
          </a:p>
          <a:p>
            <a:r>
              <a:t>原型：T10｜场景—局限—研究突破口</a:t>
            </a:r>
          </a:p>
          <a:p>
            <a:r>
              <a:t>关系：问题—解决</a:t>
            </a:r>
          </a:p>
          <a:p>
            <a:r>
              <a:t>结构：场景→局限→切入点</a:t>
            </a:r>
          </a:p>
          <a:p>
            <a:r>
              <a:t>适用：方法动机、研究突破口</a:t>
            </a:r>
          </a:p>
          <a:p>
            <a:r>
              <a:t>槽位：研究需求；技术路径；应用价值</a:t>
            </a:r>
          </a:p>
          <a:p>
            <a:r>
              <a:t>注意：说明局限与方案的对应关系。</a:t>
            </a:r>
          </a:p>
          <a:p>
            <a:r>
              <a:t>分组：研究问题、局限与缺口</a:t>
            </a:r>
          </a:p>
          <a:p>
            <a:r>
              <a:t>来源：N24｜021.png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模板：TPL-W09｜问题链与双路径研究</a:t>
            </a:r>
          </a:p>
          <a:p>
            <a:r>
              <a:t>原型：T36｜双路径汇聚与目标论证</a:t>
            </a:r>
          </a:p>
          <a:p>
            <a:r>
              <a:t>关系：汇聚、问题—解决</a:t>
            </a:r>
          </a:p>
          <a:p>
            <a:r>
              <a:t>结构：2→1</a:t>
            </a:r>
          </a:p>
          <a:p>
            <a:r>
              <a:t>适用：双依据论证、联合研究路径</a:t>
            </a:r>
          </a:p>
          <a:p>
            <a:r>
              <a:t>槽位：问题链；2条研究路径；共同目标</a:t>
            </a:r>
          </a:p>
          <a:p>
            <a:r>
              <a:t>注意：解释两条路径各自的贡献。</a:t>
            </a:r>
          </a:p>
          <a:p>
            <a:r>
              <a:t>分组：研究问题、局限与缺口</a:t>
            </a:r>
          </a:p>
          <a:p>
            <a:r>
              <a:t>来源：W09｜034.png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模板：TPL-P23｜检索生成机制与失效环节</a:t>
            </a:r>
          </a:p>
          <a:p>
            <a:r>
              <a:t>原型：T19｜在流程上定位失效环节</a:t>
            </a:r>
          </a:p>
          <a:p>
            <a:r>
              <a:t>关系：问题—解决、流程</a:t>
            </a:r>
          </a:p>
          <a:p>
            <a:r>
              <a:t>结构：流程→失效点→补强</a:t>
            </a:r>
          </a:p>
          <a:p>
            <a:r>
              <a:t>适用：检索缺口、机制诊断</a:t>
            </a:r>
          </a:p>
          <a:p>
            <a:r>
              <a:t>槽位：任务输入；检索证据；生成与改进输出</a:t>
            </a:r>
          </a:p>
          <a:p>
            <a:r>
              <a:t>注意：区分已有流程与新增改进。</a:t>
            </a:r>
          </a:p>
          <a:p>
            <a:r>
              <a:t>分组：研究问题、局限与缺口</a:t>
            </a:r>
          </a:p>
          <a:p>
            <a:r>
              <a:t>来源：P23｜039-上海大学孙衍宁.pptx 原第23页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模板：TPL-P09｜三项研究内容与统一验证</a:t>
            </a:r>
          </a:p>
          <a:p>
            <a:r>
              <a:t>原型：T09｜总目标—三模块—共同验证</a:t>
            </a:r>
          </a:p>
          <a:p>
            <a:r>
              <a:t>关系：总—分—总、汇聚</a:t>
            </a:r>
          </a:p>
          <a:p>
            <a:r>
              <a:t>结构：1→3→1</a:t>
            </a:r>
          </a:p>
          <a:p>
            <a:r>
              <a:t>适用：研究内容、技术路线总览</a:t>
            </a:r>
          </a:p>
          <a:p>
            <a:r>
              <a:t>槽位：总目标；3项研究；统一验证</a:t>
            </a:r>
          </a:p>
          <a:p>
            <a:r>
              <a:t>注意：三个模块应共同支撑验证目标。</a:t>
            </a:r>
          </a:p>
          <a:p>
            <a:r>
              <a:t>分组：研究目标与内容总览</a:t>
            </a:r>
          </a:p>
          <a:p>
            <a:r>
              <a:t>来源：P09｜039-上海大学孙衍宁.pptx 原第9页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模板：TPL-N01｜研究内容：上二下三</a:t>
            </a:r>
          </a:p>
          <a:p>
            <a:r>
              <a:t>原型：T33｜分阶段研究任务与产出</a:t>
            </a:r>
          </a:p>
          <a:p>
            <a:r>
              <a:t>关系：总分、阶段递进</a:t>
            </a:r>
          </a:p>
          <a:p>
            <a:r>
              <a:t>结构：1→4；阶段一含2个子任务</a:t>
            </a:r>
          </a:p>
          <a:p>
            <a:r>
              <a:t>适用：研究内容、阶段工作</a:t>
            </a:r>
          </a:p>
          <a:p>
            <a:r>
              <a:t>槽位：4阶段；上部2子任务；下部3模块</a:t>
            </a:r>
          </a:p>
          <a:p>
            <a:r>
              <a:t>注意：同一阶段任务可并列，阶段关系需明确。</a:t>
            </a:r>
          </a:p>
          <a:p>
            <a:r>
              <a:t>分组：研究目标与内容总览</a:t>
            </a:r>
          </a:p>
          <a:p>
            <a:r>
              <a:t>来源：N01｜001.png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模板：TPL-N02｜阶段目标与三任务展开</a:t>
            </a:r>
          </a:p>
          <a:p>
            <a:r>
              <a:t>原型：T33｜分阶段研究任务与产出</a:t>
            </a:r>
          </a:p>
          <a:p>
            <a:r>
              <a:t>关系：总分、阶段递进</a:t>
            </a:r>
          </a:p>
          <a:p>
            <a:r>
              <a:t>结构：目标→阶段任务→产出</a:t>
            </a:r>
          </a:p>
          <a:p>
            <a:r>
              <a:t>适用：研究内容、阶段工作</a:t>
            </a:r>
          </a:p>
          <a:p>
            <a:r>
              <a:t>槽位：阶段目标；3项任务；共同产出</a:t>
            </a:r>
          </a:p>
          <a:p>
            <a:r>
              <a:t>注意：同一阶段任务可并列，阶段关系需明确。</a:t>
            </a:r>
          </a:p>
          <a:p>
            <a:r>
              <a:t>分组：研究目标与内容总览</a:t>
            </a:r>
          </a:p>
          <a:p>
            <a:r>
              <a:t>来源：N02｜002.png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模板：TPL-N06｜阶段目标与三任务展开</a:t>
            </a:r>
          </a:p>
          <a:p>
            <a:r>
              <a:t>原型：T33｜分阶段研究任务与产出</a:t>
            </a:r>
          </a:p>
          <a:p>
            <a:r>
              <a:t>关系：总分、阶段递进</a:t>
            </a:r>
          </a:p>
          <a:p>
            <a:r>
              <a:t>结构：目标→阶段任务→产出</a:t>
            </a:r>
          </a:p>
          <a:p>
            <a:r>
              <a:t>适用：研究内容、阶段工作</a:t>
            </a:r>
          </a:p>
          <a:p>
            <a:r>
              <a:t>槽位：阶段目标；3项任务；共同产出</a:t>
            </a:r>
          </a:p>
          <a:p>
            <a:r>
              <a:t>注意：同一阶段任务可并列，阶段关系需明确。</a:t>
            </a:r>
          </a:p>
          <a:p>
            <a:r>
              <a:t>分组：研究目标与内容总览</a:t>
            </a:r>
          </a:p>
          <a:p>
            <a:r>
              <a:t>来源：N06｜006.png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模板：TPL-N17｜双目标协同与共同约束</a:t>
            </a:r>
          </a:p>
          <a:p>
            <a:r>
              <a:t>原型：T41｜双目标协同与约束支撑</a:t>
            </a:r>
          </a:p>
          <a:p>
            <a:r>
              <a:t>关系：并列、条件、协同</a:t>
            </a:r>
          </a:p>
          <a:p>
            <a:r>
              <a:t>结构：目标A＋目标B←共同约束</a:t>
            </a:r>
          </a:p>
          <a:p>
            <a:r>
              <a:t>适用：双目标设计、协同优化</a:t>
            </a:r>
          </a:p>
          <a:p>
            <a:r>
              <a:t>槽位：2个目标；各自路径；共同瓶颈与约束</a:t>
            </a:r>
          </a:p>
          <a:p>
            <a:r>
              <a:t>注意：双目标不等于权衡，需写明共同条件。</a:t>
            </a:r>
          </a:p>
          <a:p>
            <a:r>
              <a:t>分组：研究目标与内容总览</a:t>
            </a:r>
          </a:p>
          <a:p>
            <a:r>
              <a:t>来源：N17｜016.png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模板：TPL-N10｜三维度标准化体系</a:t>
            </a:r>
          </a:p>
          <a:p>
            <a:r>
              <a:t>原型：T34｜同级维度与案例展开</a:t>
            </a:r>
          </a:p>
          <a:p>
            <a:r>
              <a:t>关系：并列、总分</a:t>
            </a:r>
          </a:p>
          <a:p>
            <a:r>
              <a:t>结构：1→3</a:t>
            </a:r>
          </a:p>
          <a:p>
            <a:r>
              <a:t>适用：研究意义、性能与应用</a:t>
            </a:r>
          </a:p>
          <a:p>
            <a:r>
              <a:t>槽位：接口标准；数据标准；质量控制</a:t>
            </a:r>
          </a:p>
          <a:p>
            <a:r>
              <a:t>注意：各维度同级，避免硬凑流程箭头。</a:t>
            </a:r>
          </a:p>
          <a:p>
            <a:r>
              <a:t>分组：研究目标与内容总览</a:t>
            </a:r>
          </a:p>
          <a:p>
            <a:r>
              <a:t>来源：N10｜010.png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模板：TPL-P11｜概念表示到系统表征</a:t>
            </a:r>
          </a:p>
          <a:p>
            <a:r>
              <a:t>原型：T11｜抽象概念到应用对象映射</a:t>
            </a:r>
          </a:p>
          <a:p>
            <a:r>
              <a:t>关系：映射</a:t>
            </a:r>
          </a:p>
          <a:p>
            <a:r>
              <a:t>结构：A↔B</a:t>
            </a:r>
          </a:p>
          <a:p>
            <a:r>
              <a:t>适用：物理机制建模、概念应用</a:t>
            </a:r>
          </a:p>
          <a:p>
            <a:r>
              <a:t>槽位：基础概念；建模关系；系统表征</a:t>
            </a:r>
          </a:p>
          <a:p>
            <a:r>
              <a:t>注意：写清对应规则，不只并排放图。</a:t>
            </a:r>
          </a:p>
          <a:p>
            <a:r>
              <a:t>分组：方法原理与技术路线</a:t>
            </a:r>
          </a:p>
          <a:p>
            <a:r>
              <a:t>来源：P11｜039-上海大学孙衍宁.pptx 原第11页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模板：TPL-W04｜物理机制到模型约束的映射</a:t>
            </a:r>
          </a:p>
          <a:p>
            <a:r>
              <a:t>原型：T11｜抽象概念到应用对象映射</a:t>
            </a:r>
          </a:p>
          <a:p>
            <a:r>
              <a:t>关系：映射</a:t>
            </a:r>
          </a:p>
          <a:p>
            <a:r>
              <a:t>结构：A↔B</a:t>
            </a:r>
          </a:p>
          <a:p>
            <a:r>
              <a:t>适用：物理机制建模、概念应用</a:t>
            </a:r>
          </a:p>
          <a:p>
            <a:r>
              <a:t>槽位：物理规律；模型约束；验证结果</a:t>
            </a:r>
          </a:p>
          <a:p>
            <a:r>
              <a:t>注意：写清对应规则，不只并排放图。</a:t>
            </a:r>
          </a:p>
          <a:p>
            <a:r>
              <a:t>分组：方法原理与技术路线</a:t>
            </a:r>
          </a:p>
          <a:p>
            <a:r>
              <a:t>来源：W04｜029.png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模板：TPL-P12｜多路径定义与特征生成</a:t>
            </a:r>
          </a:p>
          <a:p>
            <a:r>
              <a:t>原型：T12｜语义—结构—特征转换</a:t>
            </a:r>
          </a:p>
          <a:p>
            <a:r>
              <a:t>关系：输入—处理—输出、流程</a:t>
            </a:r>
          </a:p>
          <a:p>
            <a:r>
              <a:t>结构：输入→处理→输出</a:t>
            </a:r>
          </a:p>
          <a:p>
            <a:r>
              <a:t>适用：特征构建、测量原理</a:t>
            </a:r>
          </a:p>
          <a:p>
            <a:r>
              <a:t>槽位：3条关系路径；关系模型；特征矩阵</a:t>
            </a:r>
          </a:p>
          <a:p>
            <a:r>
              <a:t>注意：处理环节需要真实转换关系。</a:t>
            </a:r>
          </a:p>
          <a:p>
            <a:r>
              <a:t>分组：方法原理与技术路线</a:t>
            </a:r>
          </a:p>
          <a:p>
            <a:r>
              <a:t>来源：P12｜039-上海大学孙衍宁.pptx 原第12页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模板：TPL-N05｜两窄一宽的建模与设计页</a:t>
            </a:r>
          </a:p>
          <a:p>
            <a:r>
              <a:t>原型：T12｜语义—结构—特征转换</a:t>
            </a:r>
          </a:p>
          <a:p>
            <a:r>
              <a:t>关系：输入—处理—输出、流程</a:t>
            </a:r>
          </a:p>
          <a:p>
            <a:r>
              <a:t>结构：输入→处理→输出</a:t>
            </a:r>
          </a:p>
          <a:p>
            <a:r>
              <a:t>适用：特征构建、测量原理</a:t>
            </a:r>
          </a:p>
          <a:p>
            <a:r>
              <a:t>槽位：研究模型；特征计算；结构映射与验证</a:t>
            </a:r>
          </a:p>
          <a:p>
            <a:r>
              <a:t>注意：处理环节需要真实转换关系。</a:t>
            </a:r>
          </a:p>
          <a:p>
            <a:r>
              <a:t>分组：方法原理与技术路线</a:t>
            </a:r>
          </a:p>
          <a:p>
            <a:r>
              <a:t>来源：N05｜005.png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模板：TPL-N09｜处理链与四原理说明</a:t>
            </a:r>
          </a:p>
          <a:p>
            <a:r>
              <a:t>原型：T12｜语义—结构—特征转换</a:t>
            </a:r>
          </a:p>
          <a:p>
            <a:r>
              <a:t>关系：输入—处理—输出、流程</a:t>
            </a:r>
          </a:p>
          <a:p>
            <a:r>
              <a:t>结构：输入→3步处理→输出</a:t>
            </a:r>
          </a:p>
          <a:p>
            <a:r>
              <a:t>适用：特征构建、测量原理</a:t>
            </a:r>
          </a:p>
          <a:p>
            <a:r>
              <a:t>槽位：输入；3步处理；输出；4项原理</a:t>
            </a:r>
          </a:p>
          <a:p>
            <a:r>
              <a:t>注意：处理环节需要真实转换关系。</a:t>
            </a:r>
          </a:p>
          <a:p>
            <a:r>
              <a:t>分组：方法原理与技术路线</a:t>
            </a:r>
          </a:p>
          <a:p>
            <a:r>
              <a:t>来源：N09｜009.png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模板：TPL-P24｜两层模型与两类关系</a:t>
            </a:r>
          </a:p>
          <a:p>
            <a:r>
              <a:t>原型：T20｜分层模型与关系实例</a:t>
            </a:r>
          </a:p>
          <a:p>
            <a:r>
              <a:t>关系：层级、映射</a:t>
            </a:r>
          </a:p>
          <a:p>
            <a:r>
              <a:t>结构：概念层↔实例层</a:t>
            </a:r>
          </a:p>
          <a:p>
            <a:r>
              <a:t>适用：模型分层、关系定义</a:t>
            </a:r>
          </a:p>
          <a:p>
            <a:r>
              <a:t>槽位：概念层；实例层；2类关系；4步依赖</a:t>
            </a:r>
          </a:p>
          <a:p>
            <a:r>
              <a:t>注意：层间映射与步骤依赖分开表达。</a:t>
            </a:r>
          </a:p>
          <a:p>
            <a:r>
              <a:t>分组：方法原理与技术路线</a:t>
            </a:r>
          </a:p>
          <a:p>
            <a:r>
              <a:t>来源：P24｜039-上海大学孙衍宁.pptx 原第24页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模板：TPL-P13｜双路建模融合与推断</a:t>
            </a:r>
          </a:p>
          <a:p>
            <a:r>
              <a:t>原型：T13｜多路径汇合方法</a:t>
            </a:r>
          </a:p>
          <a:p>
            <a:r>
              <a:t>关系：汇聚、流程</a:t>
            </a:r>
          </a:p>
          <a:p>
            <a:r>
              <a:t>结构：1→2→1</a:t>
            </a:r>
          </a:p>
          <a:p>
            <a:r>
              <a:t>适用：数据融合、多方法联合</a:t>
            </a:r>
          </a:p>
          <a:p>
            <a:r>
              <a:t>槽位：结构信息；属性信息；融合与推断</a:t>
            </a:r>
          </a:p>
          <a:p>
            <a:r>
              <a:t>注意：多路信息应共同参与结果形成。</a:t>
            </a:r>
          </a:p>
          <a:p>
            <a:r>
              <a:t>分组：方法原理与技术路线</a:t>
            </a:r>
          </a:p>
          <a:p>
            <a:r>
              <a:t>来源：P13｜039-上海大学孙衍宁.pptx 原第13页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模板：TPL-P14｜双指标识别与优化策略</a:t>
            </a:r>
          </a:p>
          <a:p>
            <a:r>
              <a:t>原型：T13｜多路径汇合方法</a:t>
            </a:r>
          </a:p>
          <a:p>
            <a:r>
              <a:t>关系：汇聚、流程</a:t>
            </a:r>
          </a:p>
          <a:p>
            <a:r>
              <a:t>结构：2→1→3</a:t>
            </a:r>
          </a:p>
          <a:p>
            <a:r>
              <a:t>适用：数据融合、多方法联合</a:t>
            </a:r>
          </a:p>
          <a:p>
            <a:r>
              <a:t>槽位：2类指标；识别结果；3项优化策略</a:t>
            </a:r>
          </a:p>
          <a:p>
            <a:r>
              <a:t>注意：多路信息应共同参与结果形成。</a:t>
            </a:r>
          </a:p>
          <a:p>
            <a:r>
              <a:t>分组：方法原理与技术路线</a:t>
            </a:r>
          </a:p>
          <a:p>
            <a:r>
              <a:t>来源：P14｜039-上海大学孙衍宁.pptx 原第14页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模板：TPL-P25｜多路检索与上下文融合</a:t>
            </a:r>
          </a:p>
          <a:p>
            <a:r>
              <a:t>原型：T13｜多路径汇合方法</a:t>
            </a:r>
          </a:p>
          <a:p>
            <a:r>
              <a:t>关系：汇聚、流程</a:t>
            </a:r>
          </a:p>
          <a:p>
            <a:r>
              <a:t>结构：1→3→1</a:t>
            </a:r>
          </a:p>
          <a:p>
            <a:r>
              <a:t>适用：数据融合、多方法联合</a:t>
            </a:r>
          </a:p>
          <a:p>
            <a:r>
              <a:t>槽位：问题输入；3路检索；证据融合；输出</a:t>
            </a:r>
          </a:p>
          <a:p>
            <a:r>
              <a:t>注意：多路信息应共同参与结果形成。</a:t>
            </a:r>
          </a:p>
          <a:p>
            <a:r>
              <a:t>分组：方法原理与技术路线</a:t>
            </a:r>
          </a:p>
          <a:p>
            <a:r>
              <a:t>来源：P25｜039-上海大学孙衍宁.pptx 原第25页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模板：TPL-N25｜多来源汇合与分步处理</a:t>
            </a:r>
          </a:p>
          <a:p>
            <a:r>
              <a:t>原型：T13｜多路径汇合方法</a:t>
            </a:r>
          </a:p>
          <a:p>
            <a:r>
              <a:t>关系：汇聚、流程</a:t>
            </a:r>
          </a:p>
          <a:p>
            <a:r>
              <a:t>结构：3→1→1</a:t>
            </a:r>
          </a:p>
          <a:p>
            <a:r>
              <a:t>适用：数据融合、多方法联合</a:t>
            </a:r>
          </a:p>
          <a:p>
            <a:r>
              <a:t>槽位：3类输入；分步处理；输出与应用</a:t>
            </a:r>
          </a:p>
          <a:p>
            <a:r>
              <a:t>注意：多路信息应共同参与结果形成。</a:t>
            </a:r>
          </a:p>
          <a:p>
            <a:r>
              <a:t>分组：方法原理与技术路线</a:t>
            </a:r>
          </a:p>
          <a:p>
            <a:r>
              <a:t>来源：N25｜022.png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模板：TPL-P31｜参数优化与方法优化对照</a:t>
            </a:r>
          </a:p>
          <a:p>
            <a:r>
              <a:t>原型：T23｜共享维度的双栏理论对比</a:t>
            </a:r>
          </a:p>
          <a:p>
            <a:r>
              <a:t>关系：对比、映射</a:t>
            </a:r>
          </a:p>
          <a:p>
            <a:r>
              <a:t>结构：方案A↔方案B</a:t>
            </a:r>
          </a:p>
          <a:p>
            <a:r>
              <a:t>适用：优化对象、理论差异</a:t>
            </a:r>
          </a:p>
          <a:p>
            <a:r>
              <a:t>槽位：2类优化问题；目标、变量、约束</a:t>
            </a:r>
          </a:p>
          <a:p>
            <a:r>
              <a:t>注意：沿相同维度比较两个方案。</a:t>
            </a:r>
          </a:p>
          <a:p>
            <a:r>
              <a:t>分组：方法原理与技术路线</a:t>
            </a:r>
          </a:p>
          <a:p>
            <a:r>
              <a:t>来源：P31｜039-上海大学孙衍宁.pptx 原第31页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模板：TPL-P32｜五步迭代搜索与反思</a:t>
            </a:r>
          </a:p>
          <a:p>
            <a:r>
              <a:t>原型：T24｜多种信息流的算法框架</a:t>
            </a:r>
          </a:p>
          <a:p>
            <a:r>
              <a:t>关系：流程、反馈</a:t>
            </a:r>
          </a:p>
          <a:p>
            <a:r>
              <a:t>结构：5步迭代→新候选→回传</a:t>
            </a:r>
          </a:p>
          <a:p>
            <a:r>
              <a:t>适用：算法框架、迭代搜索</a:t>
            </a:r>
          </a:p>
          <a:p>
            <a:r>
              <a:t>槽位：初始候选；5步迭代；新候选与回传</a:t>
            </a:r>
          </a:p>
          <a:p>
            <a:r>
              <a:t>注意：不同信息流要有明确方向。</a:t>
            </a:r>
          </a:p>
          <a:p>
            <a:r>
              <a:t>分组：方法原理与技术路线</a:t>
            </a:r>
          </a:p>
          <a:p>
            <a:r>
              <a:t>来源：P32｜039-上海大学孙衍宁.pptx 原第32页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模板：TPL-N22｜机制链与研究流程双通道</a:t>
            </a:r>
          </a:p>
          <a:p>
            <a:r>
              <a:t>原型：T24｜多种信息流的算法框架</a:t>
            </a:r>
          </a:p>
          <a:p>
            <a:r>
              <a:t>关系：流程、反馈</a:t>
            </a:r>
          </a:p>
          <a:p>
            <a:r>
              <a:t>结构：机制3步∥研究3步</a:t>
            </a:r>
          </a:p>
          <a:p>
            <a:r>
              <a:t>适用：算法框架、迭代搜索</a:t>
            </a:r>
          </a:p>
          <a:p>
            <a:r>
              <a:t>槽位：3步机制链；3步研究流程</a:t>
            </a:r>
          </a:p>
          <a:p>
            <a:r>
              <a:t>注意：不同信息流要有明确方向。</a:t>
            </a:r>
          </a:p>
          <a:p>
            <a:r>
              <a:t>分组：方法原理与技术路线</a:t>
            </a:r>
          </a:p>
          <a:p>
            <a:r>
              <a:t>来源：N22｜020.png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模板：TPL-N11｜多区域模块关联框架</a:t>
            </a:r>
          </a:p>
          <a:p>
            <a:r>
              <a:t>原型：T37｜核心—支撑关联图</a:t>
            </a:r>
          </a:p>
          <a:p>
            <a:r>
              <a:t>关系：关联、支撑</a:t>
            </a:r>
          </a:p>
          <a:p>
            <a:r>
              <a:t>结构：核心↔支撑要素</a:t>
            </a:r>
          </a:p>
          <a:p>
            <a:r>
              <a:t>适用：概念框架、模块能力关系</a:t>
            </a:r>
          </a:p>
          <a:p>
            <a:r>
              <a:t>槽位：模块组织；核心集成；动态过程；支撑条件</a:t>
            </a:r>
          </a:p>
          <a:p>
            <a:r>
              <a:t>注意：只借骨架；环形不等于反馈。</a:t>
            </a:r>
          </a:p>
          <a:p>
            <a:r>
              <a:t>分组：方法原理与技术路线</a:t>
            </a:r>
          </a:p>
          <a:p>
            <a:r>
              <a:t>来源：N11｜011.png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模板：TPL-N12｜双核心与环形支撑结构</a:t>
            </a:r>
          </a:p>
          <a:p>
            <a:r>
              <a:t>原型：T37｜核心—支撑关联图</a:t>
            </a:r>
          </a:p>
          <a:p>
            <a:r>
              <a:t>关系：关联、支撑</a:t>
            </a:r>
          </a:p>
          <a:p>
            <a:r>
              <a:t>结构：核心↔支撑要素</a:t>
            </a:r>
          </a:p>
          <a:p>
            <a:r>
              <a:t>适用：概念框架、模块能力关系</a:t>
            </a:r>
          </a:p>
          <a:p>
            <a:r>
              <a:t>槽位：2个核心；共享平台；外围支撑要素</a:t>
            </a:r>
          </a:p>
          <a:p>
            <a:r>
              <a:t>注意：只借骨架；环形不等于反馈。</a:t>
            </a:r>
          </a:p>
          <a:p>
            <a:r>
              <a:t>分组：方法原理与技术路线</a:t>
            </a:r>
          </a:p>
          <a:p>
            <a:r>
              <a:t>来源：N12｜012.png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模板：TPL-N13｜输入、核心能力与应用框架</a:t>
            </a:r>
          </a:p>
          <a:p>
            <a:r>
              <a:t>原型：T37｜核心—支撑关联图</a:t>
            </a:r>
          </a:p>
          <a:p>
            <a:r>
              <a:t>关系：关联、支撑</a:t>
            </a:r>
          </a:p>
          <a:p>
            <a:r>
              <a:t>结构：核心↔支撑要素</a:t>
            </a:r>
          </a:p>
          <a:p>
            <a:r>
              <a:t>适用：概念框架、模块能力关系</a:t>
            </a:r>
          </a:p>
          <a:p>
            <a:r>
              <a:t>槽位：多源输入；核心能力；流程与应用</a:t>
            </a:r>
          </a:p>
          <a:p>
            <a:r>
              <a:t>注意：只借骨架；环形不等于反馈。</a:t>
            </a:r>
          </a:p>
          <a:p>
            <a:r>
              <a:t>分组：方法原理与技术路线</a:t>
            </a:r>
          </a:p>
          <a:p>
            <a:r>
              <a:t>来源：N13｜013.png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模板：TPL-P15｜实验场景与三类协作关系</a:t>
            </a:r>
          </a:p>
          <a:p>
            <a:r>
              <a:t>原型：T14｜场景大图与工序定位</a:t>
            </a:r>
          </a:p>
          <a:p>
            <a:r>
              <a:t>关系：整体—部分、流程</a:t>
            </a:r>
          </a:p>
          <a:p>
            <a:r>
              <a:t>结构：场景⊃局部步骤</a:t>
            </a:r>
          </a:p>
          <a:p>
            <a:r>
              <a:t>适用：实验场景、工序定位</a:t>
            </a:r>
          </a:p>
          <a:p>
            <a:r>
              <a:t>槽位：实验场景；3阶段；3类协作说明</a:t>
            </a:r>
          </a:p>
          <a:p>
            <a:r>
              <a:t>注意：先标清空间位置，再说明步骤。</a:t>
            </a:r>
          </a:p>
          <a:p>
            <a:r>
              <a:t>分组：实验设计、结果与证据</a:t>
            </a:r>
          </a:p>
          <a:p>
            <a:r>
              <a:t>来源：P15｜039-上海大学孙衍宁.pptx 原第15页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模板：TPL-P16｜整体网络与局部展开</a:t>
            </a:r>
          </a:p>
          <a:p>
            <a:r>
              <a:t>原型：T15｜全局网络与局部实例</a:t>
            </a:r>
          </a:p>
          <a:p>
            <a:r>
              <a:t>关系：整体—部分、主次</a:t>
            </a:r>
          </a:p>
          <a:p>
            <a:r>
              <a:t>结构：全局→局部放大</a:t>
            </a:r>
          </a:p>
          <a:p>
            <a:r>
              <a:t>适用：网络结构、典型关系</a:t>
            </a:r>
          </a:p>
          <a:p>
            <a:r>
              <a:t>槽位：全局图；规模说明；局部放大</a:t>
            </a:r>
          </a:p>
          <a:p>
            <a:r>
              <a:t>注意：局部应能追溯到全局对象。</a:t>
            </a:r>
          </a:p>
          <a:p>
            <a:r>
              <a:t>分组：实验设计、结果与证据</a:t>
            </a:r>
          </a:p>
          <a:p>
            <a:r>
              <a:t>来源：P16｜039-上海大学孙衍宁.pptx 原第16页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模板：TPL-P26｜数据预处理与样本设计表</a:t>
            </a:r>
          </a:p>
          <a:p>
            <a:r>
              <a:t>原型：T21｜分类统计与样本说明</a:t>
            </a:r>
          </a:p>
          <a:p>
            <a:r>
              <a:t>关系：分类、矩阵</a:t>
            </a:r>
          </a:p>
          <a:p>
            <a:r>
              <a:t>结构：3类任务×属性</a:t>
            </a:r>
          </a:p>
          <a:p>
            <a:r>
              <a:t>适用：样本设计、模型规模统计</a:t>
            </a:r>
          </a:p>
          <a:p>
            <a:r>
              <a:t>槽位：数据来源；3类任务；输入与标准输出</a:t>
            </a:r>
          </a:p>
          <a:p>
            <a:r>
              <a:t>注意：分类口径与数量统计保持一致。</a:t>
            </a:r>
          </a:p>
          <a:p>
            <a:r>
              <a:t>分组：实验设计、结果与证据</a:t>
            </a:r>
          </a:p>
          <a:p>
            <a:r>
              <a:t>来源：P26｜039-上海大学孙衍宁.pptx 原第26页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模板：TPL-P27｜模型组成与规模统计表</a:t>
            </a:r>
          </a:p>
          <a:p>
            <a:r>
              <a:t>原型：T21｜分类统计与样本说明</a:t>
            </a:r>
          </a:p>
          <a:p>
            <a:r>
              <a:t>关系：分类、矩阵</a:t>
            </a:r>
          </a:p>
          <a:p>
            <a:r>
              <a:t>结构：6类实体＋2类关系</a:t>
            </a:r>
          </a:p>
          <a:p>
            <a:r>
              <a:t>适用：样本设计、模型规模统计</a:t>
            </a:r>
          </a:p>
          <a:p>
            <a:r>
              <a:t>槽位：6类实体；2类关系；数量与示例</a:t>
            </a:r>
          </a:p>
          <a:p>
            <a:r>
              <a:t>注意：分类口径与数量统计保持一致。</a:t>
            </a:r>
          </a:p>
          <a:p>
            <a:r>
              <a:t>分组：实验设计、结果与证据</a:t>
            </a:r>
          </a:p>
          <a:p>
            <a:r>
              <a:t>来源：P27｜039-上海大学孙衍宁.pptx 原第27页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模板：TPL-P17｜四项指标参数选择</a:t>
            </a:r>
          </a:p>
          <a:p>
            <a:r>
              <a:t>原型：T16｜多指标证据矩阵</a:t>
            </a:r>
          </a:p>
          <a:p>
            <a:r>
              <a:t>关系：并列、观点—证据</a:t>
            </a:r>
          </a:p>
          <a:p>
            <a:r>
              <a:t>结构：观点←4项指标</a:t>
            </a:r>
          </a:p>
          <a:p>
            <a:r>
              <a:t>适用：参数选择、多指标评价</a:t>
            </a:r>
          </a:p>
          <a:p>
            <a:r>
              <a:t>槽位：4幅指标图；共同选参结论</a:t>
            </a:r>
          </a:p>
          <a:p>
            <a:r>
              <a:t>注意：各图条件一致，解释共同选点。</a:t>
            </a:r>
          </a:p>
          <a:p>
            <a:r>
              <a:t>分组：实验设计、结果与证据</a:t>
            </a:r>
          </a:p>
          <a:p>
            <a:r>
              <a:t>来源：P17｜039-上海大学孙衍宁.pptx 原第17页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模板：TPL-P18｜四参数情形并排对照</a:t>
            </a:r>
          </a:p>
          <a:p>
            <a:r>
              <a:t>原型：T17｜条件变化下的同构图对照</a:t>
            </a:r>
          </a:p>
          <a:p>
            <a:r>
              <a:t>关系：对比、观点—证据</a:t>
            </a:r>
          </a:p>
          <a:p>
            <a:r>
              <a:t>结构：4种条件→同一结果维度</a:t>
            </a:r>
          </a:p>
          <a:p>
            <a:r>
              <a:t>适用：参数对比、消融实验</a:t>
            </a:r>
          </a:p>
          <a:p>
            <a:r>
              <a:t>槽位：4种参数条件；4幅同构结果图</a:t>
            </a:r>
          </a:p>
          <a:p>
            <a:r>
              <a:t>注意：对照条件可比，标清变化因素。</a:t>
            </a:r>
          </a:p>
          <a:p>
            <a:r>
              <a:t>分组：实验设计、结果与证据</a:t>
            </a:r>
          </a:p>
          <a:p>
            <a:r>
              <a:t>来源：P18｜039-上海大学孙衍宁.pptx 原第18页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模板：TPL-P19｜三幅结果图与解释表</a:t>
            </a:r>
          </a:p>
          <a:p>
            <a:r>
              <a:t>原型：T18｜结果图与解释表对应</a:t>
            </a:r>
          </a:p>
          <a:p>
            <a:r>
              <a:t>关系：映射、观点—证据</a:t>
            </a:r>
          </a:p>
          <a:p>
            <a:r>
              <a:t>结构：3幅图↔5类解释</a:t>
            </a:r>
          </a:p>
          <a:p>
            <a:r>
              <a:t>适用：类别解释、关键对象识别</a:t>
            </a:r>
          </a:p>
          <a:p>
            <a:r>
              <a:t>槽位：3幅结果图；5类结果解释表</a:t>
            </a:r>
          </a:p>
          <a:p>
            <a:r>
              <a:t>注意：图、表使用一致名称与编号。</a:t>
            </a:r>
          </a:p>
          <a:p>
            <a:r>
              <a:t>分组：实验设计、结果与证据</a:t>
            </a:r>
          </a:p>
          <a:p>
            <a:r>
              <a:t>来源：P19｜039-上海大学孙衍宁.pptx 原第19页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模板：TPL-P20｜网络可视化与指标排名</a:t>
            </a:r>
          </a:p>
          <a:p>
            <a:r>
              <a:t>原型：T18｜结果图与解释表对应</a:t>
            </a:r>
          </a:p>
          <a:p>
            <a:r>
              <a:t>关系：映射、观点—证据</a:t>
            </a:r>
          </a:p>
          <a:p>
            <a:r>
              <a:t>结构：全局图↔10项排名</a:t>
            </a:r>
          </a:p>
          <a:p>
            <a:r>
              <a:t>适用：类别解释、关键对象识别</a:t>
            </a:r>
          </a:p>
          <a:p>
            <a:r>
              <a:t>槽位：关系图；10项排名表；研究小结</a:t>
            </a:r>
          </a:p>
          <a:p>
            <a:r>
              <a:t>注意：图、表使用一致名称与编号。</a:t>
            </a:r>
          </a:p>
          <a:p>
            <a:r>
              <a:t>分组：实验设计、结果与证据</a:t>
            </a:r>
          </a:p>
          <a:p>
            <a:r>
              <a:t>来源：P20｜039-上海大学孙衍宁.pptx 原第20页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模板：TPL-P28｜定量对比与定性证据</a:t>
            </a:r>
          </a:p>
          <a:p>
            <a:r>
              <a:t>原型：T22｜定量与定性证据联合论证</a:t>
            </a:r>
          </a:p>
          <a:p>
            <a:r>
              <a:t>关系：观点—证据、汇聚</a:t>
            </a:r>
          </a:p>
          <a:p>
            <a:r>
              <a:t>结构：定量＋定性→结论</a:t>
            </a:r>
          </a:p>
          <a:p>
            <a:r>
              <a:t>适用：基线验证、代表案例</a:t>
            </a:r>
          </a:p>
          <a:p>
            <a:r>
              <a:t>槽位：对比表；定量图；定性证据；结论</a:t>
            </a:r>
          </a:p>
          <a:p>
            <a:r>
              <a:t>注意：两种证据应支撑同一结论。</a:t>
            </a:r>
          </a:p>
          <a:p>
            <a:r>
              <a:t>分组：实验设计、结果与证据</a:t>
            </a:r>
          </a:p>
          <a:p>
            <a:r>
              <a:t>来源：P28｜039-上海大学孙衍宁.pptx 原第28页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模板：TPL-P29｜三指标消融与研究小结</a:t>
            </a:r>
          </a:p>
          <a:p>
            <a:r>
              <a:t>原型：T17｜条件变化下的同构图对照</a:t>
            </a:r>
          </a:p>
          <a:p>
            <a:r>
              <a:t>关系：对比、观点—证据</a:t>
            </a:r>
          </a:p>
          <a:p>
            <a:r>
              <a:t>结构：组件变化→3项指标→解释</a:t>
            </a:r>
          </a:p>
          <a:p>
            <a:r>
              <a:t>适用：参数对比、消融实验</a:t>
            </a:r>
          </a:p>
          <a:p>
            <a:r>
              <a:t>槽位：组件变化；3幅指标图；机制解释</a:t>
            </a:r>
          </a:p>
          <a:p>
            <a:r>
              <a:t>注意：对照条件可比，标清变化因素。</a:t>
            </a:r>
          </a:p>
          <a:p>
            <a:r>
              <a:t>分组：实验设计、结果与证据</a:t>
            </a:r>
          </a:p>
          <a:p>
            <a:r>
              <a:t>来源：P29｜039-上海大学孙衍宁.pptx 原第29页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模板：TPL-P33｜候选模型选择与双图验证</a:t>
            </a:r>
          </a:p>
          <a:p>
            <a:r>
              <a:t>原型：T25｜表格、双图与解释侧栏</a:t>
            </a:r>
          </a:p>
          <a:p>
            <a:r>
              <a:t>关系：对比、观点—证据</a:t>
            </a:r>
          </a:p>
          <a:p>
            <a:r>
              <a:t>结构：3种方法×指标＋2图</a:t>
            </a:r>
          </a:p>
          <a:p>
            <a:r>
              <a:t>适用：性能比较、模型选择</a:t>
            </a:r>
          </a:p>
          <a:p>
            <a:r>
              <a:t>槽位：3种方法对照；2幅图；评价说明</a:t>
            </a:r>
          </a:p>
          <a:p>
            <a:r>
              <a:t>注意：统一指标口径，补充适用边界。</a:t>
            </a:r>
          </a:p>
          <a:p>
            <a:r>
              <a:t>分组：实验设计、结果与证据</a:t>
            </a:r>
          </a:p>
          <a:p>
            <a:r>
              <a:t>来源：P33｜039-上海大学孙衍宁.pptx 原第33页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模板：TPL-P34｜多基线质量比较与双图验证</a:t>
            </a:r>
          </a:p>
          <a:p>
            <a:r>
              <a:t>原型：T25｜表格、双图与解释侧栏</a:t>
            </a:r>
          </a:p>
          <a:p>
            <a:r>
              <a:t>关系：对比、观点—证据</a:t>
            </a:r>
          </a:p>
          <a:p>
            <a:r>
              <a:t>结构：7种方法×指标＋2图</a:t>
            </a:r>
          </a:p>
          <a:p>
            <a:r>
              <a:t>适用：性能比较、模型选择</a:t>
            </a:r>
          </a:p>
          <a:p>
            <a:r>
              <a:t>槽位：7种方法对照；2幅图；差异解释</a:t>
            </a:r>
          </a:p>
          <a:p>
            <a:r>
              <a:t>注意：统一指标口径，补充适用边界。</a:t>
            </a:r>
          </a:p>
          <a:p>
            <a:r>
              <a:t>分组：实验设计、结果与证据</a:t>
            </a:r>
          </a:p>
          <a:p>
            <a:r>
              <a:t>来源：P34｜039-上海大学孙衍宁.pptx 原第34页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模板：TPL-P35｜优化轨迹与效率对照</a:t>
            </a:r>
          </a:p>
          <a:p>
            <a:r>
              <a:t>原型：T26｜迭代曲线与效率对照</a:t>
            </a:r>
          </a:p>
          <a:p>
            <a:r>
              <a:t>关系：演化、对比、观点—证据</a:t>
            </a:r>
          </a:p>
          <a:p>
            <a:r>
              <a:t>结构：过程曲线＋效率表→结论</a:t>
            </a:r>
          </a:p>
          <a:p>
            <a:r>
              <a:t>适用：迭代改进、效率验证</a:t>
            </a:r>
          </a:p>
          <a:p>
            <a:r>
              <a:t>槽位：迭代曲线；质量与工作量对比；结论</a:t>
            </a:r>
          </a:p>
          <a:p>
            <a:r>
              <a:t>注意：工作量与性能要分别定义。</a:t>
            </a:r>
          </a:p>
          <a:p>
            <a:r>
              <a:t>分组：实验设计、结果与证据</a:t>
            </a:r>
          </a:p>
          <a:p>
            <a:r>
              <a:t>来源：P35｜039-上海大学孙衍宁.pptx 原第35页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模板：TPL-N27｜研究主图与双发现侧栏</a:t>
            </a:r>
          </a:p>
          <a:p>
            <a:r>
              <a:t>原型：T35｜主图与分点释义</a:t>
            </a:r>
          </a:p>
          <a:p>
            <a:r>
              <a:t>关系：主次、图文释义</a:t>
            </a:r>
          </a:p>
          <a:p>
            <a:r>
              <a:t>结构：主图＋分点说明</a:t>
            </a:r>
          </a:p>
          <a:p>
            <a:r>
              <a:t>适用：机制解释、发现与创新点</a:t>
            </a:r>
          </a:p>
          <a:p>
            <a:r>
              <a:t>槽位：研究主图；2项发现；阶段说明</a:t>
            </a:r>
          </a:p>
          <a:p>
            <a:r>
              <a:t>注意：图像要直接支持邻近说明。</a:t>
            </a:r>
          </a:p>
          <a:p>
            <a:r>
              <a:t>分组：实验设计、结果与证据</a:t>
            </a:r>
          </a:p>
          <a:p>
            <a:r>
              <a:t>来源：N27｜024.png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模板：TPL-W01｜机制大图与两组作用说明</a:t>
            </a:r>
          </a:p>
          <a:p>
            <a:r>
              <a:t>原型：T35｜主图与分点释义</a:t>
            </a:r>
          </a:p>
          <a:p>
            <a:r>
              <a:t>关系：主次、图文释义</a:t>
            </a:r>
          </a:p>
          <a:p>
            <a:r>
              <a:t>结构：主图＋分点说明</a:t>
            </a:r>
          </a:p>
          <a:p>
            <a:r>
              <a:t>适用：机制解释、发现与创新点</a:t>
            </a:r>
          </a:p>
          <a:p>
            <a:r>
              <a:t>槽位：机制主图；内部组成；外部作用</a:t>
            </a:r>
          </a:p>
          <a:p>
            <a:r>
              <a:t>注意：图像要直接支持邻近说明。</a:t>
            </a:r>
          </a:p>
          <a:p>
            <a:r>
              <a:t>分组：实验设计、结果与证据</a:t>
            </a:r>
          </a:p>
          <a:p>
            <a:r>
              <a:t>来源：W01｜026.png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模板：TPL-P37｜应用架构与基础支撑</a:t>
            </a:r>
          </a:p>
          <a:p>
            <a:r>
              <a:t>原型：T28｜分层系统架构</a:t>
            </a:r>
          </a:p>
          <a:p>
            <a:r>
              <a:t>关系：层级、整体—部分</a:t>
            </a:r>
          </a:p>
          <a:p>
            <a:r>
              <a:t>结构：应用→核心→基础</a:t>
            </a:r>
          </a:p>
          <a:p>
            <a:r>
              <a:t>适用：系统架构、功能分工</a:t>
            </a:r>
          </a:p>
          <a:p>
            <a:r>
              <a:t>槽位：应用功能；核心模块；模型与工具基础</a:t>
            </a:r>
          </a:p>
          <a:p>
            <a:r>
              <a:t>注意：架构组成不自动代表运行顺序。</a:t>
            </a:r>
          </a:p>
          <a:p>
            <a:r>
              <a:t>分组：系统架构、功能与应用</a:t>
            </a:r>
          </a:p>
          <a:p>
            <a:r>
              <a:t>来源：P37｜039-上海大学孙衍宁.pptx 原第37页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模板：TPL-N14｜核心架构与共享技术支撑</a:t>
            </a:r>
          </a:p>
          <a:p>
            <a:r>
              <a:t>原型：T28｜分层系统架构</a:t>
            </a:r>
          </a:p>
          <a:p>
            <a:r>
              <a:t>关系：层级、整体—部分</a:t>
            </a:r>
          </a:p>
          <a:p>
            <a:r>
              <a:t>结构：应用→核心→基础</a:t>
            </a:r>
          </a:p>
          <a:p>
            <a:r>
              <a:t>适用：系统架构、功能分工</a:t>
            </a:r>
          </a:p>
          <a:p>
            <a:r>
              <a:t>槽位：核心架构；2类能力；共享基础与工具</a:t>
            </a:r>
          </a:p>
          <a:p>
            <a:r>
              <a:t>注意：架构组成不自动代表运行顺序。</a:t>
            </a:r>
          </a:p>
          <a:p>
            <a:r>
              <a:t>分组：系统架构、功能与应用</a:t>
            </a:r>
          </a:p>
          <a:p>
            <a:r>
              <a:t>来源：N14｜014.png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模板：TPL-P38｜单界面功能展示</a:t>
            </a:r>
          </a:p>
          <a:p>
            <a:r>
              <a:t>原型：T29｜功能说明与主界面演示</a:t>
            </a:r>
          </a:p>
          <a:p>
            <a:r>
              <a:t>关系：主次、映射</a:t>
            </a:r>
          </a:p>
          <a:p>
            <a:r>
              <a:t>结构：功能说明→界面展示</a:t>
            </a:r>
          </a:p>
          <a:p>
            <a:r>
              <a:t>适用：软件功能、原型演示</a:t>
            </a:r>
          </a:p>
          <a:p>
            <a:r>
              <a:t>槽位：功能说明；1个主界面</a:t>
            </a:r>
          </a:p>
          <a:p>
            <a:r>
              <a:t>注意：截图不能代替性能验证。</a:t>
            </a:r>
          </a:p>
          <a:p>
            <a:r>
              <a:t>分组：系统架构、功能与应用</a:t>
            </a:r>
          </a:p>
          <a:p>
            <a:r>
              <a:t>来源：P38｜039-上海大学孙衍宁.pptx 原第38页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模板：TPL-P39｜场景感知界面展示</a:t>
            </a:r>
          </a:p>
          <a:p>
            <a:r>
              <a:t>原型：T29｜功能说明与主界面演示</a:t>
            </a:r>
          </a:p>
          <a:p>
            <a:r>
              <a:t>关系：主次、映射</a:t>
            </a:r>
          </a:p>
          <a:p>
            <a:r>
              <a:t>结构：功能说明→界面展示</a:t>
            </a:r>
          </a:p>
          <a:p>
            <a:r>
              <a:t>适用：软件功能、原型演示</a:t>
            </a:r>
          </a:p>
          <a:p>
            <a:r>
              <a:t>槽位：感知说明；1个主界面</a:t>
            </a:r>
          </a:p>
          <a:p>
            <a:r>
              <a:t>注意：截图不能代替性能验证。</a:t>
            </a:r>
          </a:p>
          <a:p>
            <a:r>
              <a:t>分组：系统架构、功能与应用</a:t>
            </a:r>
          </a:p>
          <a:p>
            <a:r>
              <a:t>来源：P39｜039-上海大学孙衍宁.pptx 原第39页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模板：TPL-P40｜任务规划与局部展开</a:t>
            </a:r>
          </a:p>
          <a:p>
            <a:r>
              <a:t>原型：T29｜功能说明与主界面演示</a:t>
            </a:r>
          </a:p>
          <a:p>
            <a:r>
              <a:t>关系：主次、映射</a:t>
            </a:r>
          </a:p>
          <a:p>
            <a:r>
              <a:t>结构：功能说明→界面展示</a:t>
            </a:r>
          </a:p>
          <a:p>
            <a:r>
              <a:t>适用：软件功能、原型演示</a:t>
            </a:r>
          </a:p>
          <a:p>
            <a:r>
              <a:t>槽位：规划说明；主界面；局部结果</a:t>
            </a:r>
          </a:p>
          <a:p>
            <a:r>
              <a:t>注意：截图不能代替性能验证。</a:t>
            </a:r>
          </a:p>
          <a:p>
            <a:r>
              <a:t>分组：系统架构、功能与应用</a:t>
            </a:r>
          </a:p>
          <a:p>
            <a:r>
              <a:t>来源：P40｜039-上海大学孙衍宁.pptx 原第40页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模板：TPL-W05｜三场景应用案例</a:t>
            </a:r>
          </a:p>
          <a:p>
            <a:r>
              <a:t>原型：T34｜同级维度与案例展开</a:t>
            </a:r>
          </a:p>
          <a:p>
            <a:r>
              <a:t>关系：并列、总分</a:t>
            </a:r>
          </a:p>
          <a:p>
            <a:r>
              <a:t>结构：1→3</a:t>
            </a:r>
          </a:p>
          <a:p>
            <a:r>
              <a:t>适用：研究意义、性能与应用</a:t>
            </a:r>
          </a:p>
          <a:p>
            <a:r>
              <a:t>槽位：技术说明；3个应用场景</a:t>
            </a:r>
          </a:p>
          <a:p>
            <a:r>
              <a:t>注意：各维度同级，避免硬凑流程箭头。</a:t>
            </a:r>
          </a:p>
          <a:p>
            <a:r>
              <a:t>分组：系统架构、功能与应用</a:t>
            </a:r>
          </a:p>
          <a:p>
            <a:r>
              <a:t>来源：W05｜030.png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模板：TPL-W07｜两类技术基础与四能力维度</a:t>
            </a:r>
          </a:p>
          <a:p>
            <a:r>
              <a:t>原型：T34｜同级维度与案例展开</a:t>
            </a:r>
          </a:p>
          <a:p>
            <a:r>
              <a:t>关系：并列、总分</a:t>
            </a:r>
          </a:p>
          <a:p>
            <a:r>
              <a:t>结构：2类技术→4项能力</a:t>
            </a:r>
          </a:p>
          <a:p>
            <a:r>
              <a:t>适用：研究意义、性能与应用</a:t>
            </a:r>
          </a:p>
          <a:p>
            <a:r>
              <a:t>槽位：2类技术基础；4项能力维度</a:t>
            </a:r>
          </a:p>
          <a:p>
            <a:r>
              <a:t>注意：各维度同级，避免硬凑流程箭头。</a:t>
            </a:r>
          </a:p>
          <a:p>
            <a:r>
              <a:t>分组：系统架构、功能与应用</a:t>
            </a:r>
          </a:p>
          <a:p>
            <a:r>
              <a:t>来源：W07｜032.png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模板：TPL-W08｜四能力与三支撑措施</a:t>
            </a:r>
          </a:p>
          <a:p>
            <a:r>
              <a:t>原型：T34｜同级维度与案例展开</a:t>
            </a:r>
          </a:p>
          <a:p>
            <a:r>
              <a:t>关系：并列、总分</a:t>
            </a:r>
          </a:p>
          <a:p>
            <a:r>
              <a:t>结构：4项能力＋3项支撑</a:t>
            </a:r>
          </a:p>
          <a:p>
            <a:r>
              <a:t>适用：研究意义、性能与应用</a:t>
            </a:r>
          </a:p>
          <a:p>
            <a:r>
              <a:t>槽位：4项能力；3项支撑措施</a:t>
            </a:r>
          </a:p>
          <a:p>
            <a:r>
              <a:t>注意：各维度同级，避免硬凑流程箭头。</a:t>
            </a:r>
          </a:p>
          <a:p>
            <a:r>
              <a:t>分组：系统架构、功能与应用</a:t>
            </a:r>
          </a:p>
          <a:p>
            <a:r>
              <a:t>来源：W08｜033.png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模板：TPL-W12｜三性能维度与共同收益</a:t>
            </a:r>
          </a:p>
          <a:p>
            <a:r>
              <a:t>原型：T34｜同级维度与案例展开</a:t>
            </a:r>
          </a:p>
          <a:p>
            <a:r>
              <a:t>关系：并列、总分</a:t>
            </a:r>
          </a:p>
          <a:p>
            <a:r>
              <a:t>结构：1→3→1</a:t>
            </a:r>
          </a:p>
          <a:p>
            <a:r>
              <a:t>适用：研究意义、性能与应用</a:t>
            </a:r>
          </a:p>
          <a:p>
            <a:r>
              <a:t>槽位：3项性能；测试条件；共同收益</a:t>
            </a:r>
          </a:p>
          <a:p>
            <a:r>
              <a:t>注意：各维度同级，避免硬凑流程箭头。</a:t>
            </a:r>
          </a:p>
          <a:p>
            <a:r>
              <a:t>分组：系统架构、功能与应用</a:t>
            </a:r>
          </a:p>
          <a:p>
            <a:r>
              <a:t>来源：W12｜037.png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模板：TPL-W11｜核心平台与五设备图册</a:t>
            </a:r>
          </a:p>
          <a:p>
            <a:r>
              <a:t>原型：T39｜资源平台与任务保障</a:t>
            </a:r>
          </a:p>
          <a:p>
            <a:r>
              <a:t>关系：映射、观点—证据</a:t>
            </a:r>
          </a:p>
          <a:p>
            <a:r>
              <a:t>结构：资源→能力→保障</a:t>
            </a:r>
          </a:p>
          <a:p>
            <a:r>
              <a:t>适用：研究条件、平台可行性</a:t>
            </a:r>
          </a:p>
          <a:p>
            <a:r>
              <a:t>槽位：核心平台；5项设备；支持任务</a:t>
            </a:r>
          </a:p>
          <a:p>
            <a:r>
              <a:t>注意：写明每项资源支持哪些任务。</a:t>
            </a:r>
          </a:p>
          <a:p>
            <a:r>
              <a:t>分组：支撑条件与代表成果</a:t>
            </a:r>
          </a:p>
          <a:p>
            <a:r>
              <a:t>来源：W11｜036.png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模板：TPL-W13｜资源能力表与共同保障</a:t>
            </a:r>
          </a:p>
          <a:p>
            <a:r>
              <a:t>原型：T39｜资源平台与任务保障</a:t>
            </a:r>
          </a:p>
          <a:p>
            <a:r>
              <a:t>关系：映射、观点—证据</a:t>
            </a:r>
          </a:p>
          <a:p>
            <a:r>
              <a:t>结构：5类资源→能力→共同保障</a:t>
            </a:r>
          </a:p>
          <a:p>
            <a:r>
              <a:t>适用：研究条件、平台可行性</a:t>
            </a:r>
          </a:p>
          <a:p>
            <a:r>
              <a:t>槽位：5类资源；能力表；2项共同保障</a:t>
            </a:r>
          </a:p>
          <a:p>
            <a:r>
              <a:t>注意：写明每项资源支持哪些任务。</a:t>
            </a:r>
          </a:p>
          <a:p>
            <a:r>
              <a:t>分组：支撑条件与代表成果</a:t>
            </a:r>
          </a:p>
          <a:p>
            <a:r>
              <a:t>来源：W13｜038.png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模板：TPL-W02｜成果摘要与代表作表</a:t>
            </a:r>
          </a:p>
          <a:p>
            <a:r>
              <a:t>原型：T40｜成果摘要与代表作清单</a:t>
            </a:r>
          </a:p>
          <a:p>
            <a:r>
              <a:t>关系：总分、观点—证据</a:t>
            </a:r>
          </a:p>
          <a:p>
            <a:r>
              <a:t>结构：成果摘要→代表作</a:t>
            </a:r>
          </a:p>
          <a:p>
            <a:r>
              <a:t>适用：成果汇报、代表论文清单</a:t>
            </a:r>
          </a:p>
          <a:p>
            <a:r>
              <a:t>槽位：成果摘要；7项代表作；年份与贡献</a:t>
            </a:r>
          </a:p>
          <a:p>
            <a:r>
              <a:t>注意：总量、选录与贡献身份口径一致。</a:t>
            </a:r>
          </a:p>
          <a:p>
            <a:r>
              <a:t>分组：支撑条件与代表成果</a:t>
            </a:r>
          </a:p>
          <a:p>
            <a:r>
              <a:t>来源：W02｜027.png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模板：TPL-W06｜关键技术框架与科学图组</a:t>
            </a:r>
          </a:p>
          <a:p>
            <a:r>
              <a:t>原型：T35｜主图与分点释义</a:t>
            </a:r>
          </a:p>
          <a:p>
            <a:r>
              <a:t>关系：主次、图文释义</a:t>
            </a:r>
          </a:p>
          <a:p>
            <a:r>
              <a:t>结构：主图＋分点说明</a:t>
            </a:r>
          </a:p>
          <a:p>
            <a:r>
              <a:t>适用：机制解释、发现与创新点</a:t>
            </a:r>
          </a:p>
          <a:p>
            <a:r>
              <a:t>槽位：核心技术框架；多图证据；应用价值</a:t>
            </a:r>
          </a:p>
          <a:p>
            <a:r>
              <a:t>注意：图像要直接支持邻近说明。</a:t>
            </a:r>
          </a:p>
          <a:p>
            <a:r>
              <a:t>分组：支撑条件与代表成果</a:t>
            </a:r>
          </a:p>
          <a:p>
            <a:r>
              <a:t>来源：W06｜031.png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模板：TPL-P42｜数据知识决策与执行闭环</a:t>
            </a:r>
          </a:p>
          <a:p>
            <a:r>
              <a:t>原型：T30｜中央决策与感知执行闭环</a:t>
            </a:r>
          </a:p>
          <a:p>
            <a:r>
              <a:t>关系：反馈、汇聚、发散</a:t>
            </a:r>
          </a:p>
          <a:p>
            <a:r>
              <a:t>结构：感知→决策→执行→反馈</a:t>
            </a:r>
          </a:p>
          <a:p>
            <a:r>
              <a:t>适用：闭环系统、智能执行</a:t>
            </a:r>
          </a:p>
          <a:p>
            <a:r>
              <a:t>槽位：数据、知识；决策核心；执行层；反馈</a:t>
            </a:r>
          </a:p>
          <a:p>
            <a:r>
              <a:t>注意：明确反馈量与下一轮影响。</a:t>
            </a:r>
          </a:p>
          <a:p>
            <a:r>
              <a:t>分组：总结与未来展望</a:t>
            </a:r>
          </a:p>
          <a:p>
            <a:r>
              <a:t>来源：P42｜039-上海大学孙衍宁.pptx 原第42页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模板：TPL-P43｜数字映射与智能应用协同</a:t>
            </a:r>
          </a:p>
          <a:p>
            <a:r>
              <a:t>原型：T31｜双系统映射与协同展望</a:t>
            </a:r>
          </a:p>
          <a:p>
            <a:r>
              <a:t>关系：映射、协同</a:t>
            </a:r>
          </a:p>
          <a:p>
            <a:r>
              <a:t>结构：系统A↔系统B</a:t>
            </a:r>
          </a:p>
          <a:p>
            <a:r>
              <a:t>适用：数字映射、系统协作</a:t>
            </a:r>
          </a:p>
          <a:p>
            <a:r>
              <a:t>槽位：数字系统；智能系统；双向交互</a:t>
            </a:r>
          </a:p>
          <a:p>
            <a:r>
              <a:t>注意：说明交换信息与各自职责。</a:t>
            </a:r>
          </a:p>
          <a:p>
            <a:r>
              <a:t>分组：总结与未来展望</a:t>
            </a:r>
          </a:p>
          <a:p>
            <a:r>
              <a:t>来源：P43｜039-上海大学孙衍宁.pptx 原第43页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模板：TPL-P44｜三项贡献与系统展望总结</a:t>
            </a:r>
          </a:p>
          <a:p>
            <a:r>
              <a:t>原型：T32｜研究贡献与系统价值收束</a:t>
            </a:r>
          </a:p>
          <a:p>
            <a:r>
              <a:t>关系：总—分—总</a:t>
            </a:r>
          </a:p>
          <a:p>
            <a:r>
              <a:t>结构：总问题→3项贡献→展望</a:t>
            </a:r>
          </a:p>
          <a:p>
            <a:r>
              <a:t>适用：研究总结、贡献归纳</a:t>
            </a:r>
          </a:p>
          <a:p>
            <a:r>
              <a:t>槽位：总体问题；3项贡献；系统价值；展望</a:t>
            </a:r>
          </a:p>
          <a:p>
            <a:r>
              <a:t>注意：已完成成果与未来计划分开。</a:t>
            </a:r>
          </a:p>
          <a:p>
            <a:r>
              <a:t>分组：总结与未来展望</a:t>
            </a:r>
          </a:p>
          <a:p>
            <a:r>
              <a:t>来源：P44｜039-上海大学孙衍宁.pptx 原第44页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模板：TPL-P45｜空白备用页一</a:t>
            </a:r>
          </a:p>
          <a:p>
            <a:r>
              <a:t>原型：无原型｜空白备用页</a:t>
            </a:r>
          </a:p>
          <a:p>
            <a:r>
              <a:t>关系：不适用</a:t>
            </a:r>
          </a:p>
          <a:p>
            <a:r>
              <a:t>结构：空白</a:t>
            </a:r>
          </a:p>
          <a:p>
            <a:r>
              <a:t>适用：备用页、自定义排版</a:t>
            </a:r>
          </a:p>
          <a:p>
            <a:r>
              <a:t>槽位：自由排版</a:t>
            </a:r>
          </a:p>
          <a:p>
            <a:r>
              <a:t>注意：不计入逻辑原型分类。</a:t>
            </a:r>
          </a:p>
          <a:p>
            <a:r>
              <a:t>分组：空白备用页</a:t>
            </a:r>
          </a:p>
          <a:p>
            <a:r>
              <a:t>来源：P45｜039-上海大学孙衍宁.pptx 原第45页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t>模板：TPL-P46｜空白备用页二</a:t>
            </a:r>
          </a:p>
          <a:p>
            <a:r>
              <a:t>原型：无原型｜空白备用页</a:t>
            </a:r>
          </a:p>
          <a:p>
            <a:r>
              <a:t>关系：不适用</a:t>
            </a:r>
          </a:p>
          <a:p>
            <a:r>
              <a:t>结构：空白</a:t>
            </a:r>
          </a:p>
          <a:p>
            <a:r>
              <a:t>适用：备用页、自定义排版</a:t>
            </a:r>
          </a:p>
          <a:p>
            <a:r>
              <a:t>槽位：自由排版</a:t>
            </a:r>
          </a:p>
          <a:p>
            <a:r>
              <a:t>注意：不计入逻辑原型分类。</a:t>
            </a:r>
          </a:p>
          <a:p>
            <a:r>
              <a:t>分组：空白备用页</a:t>
            </a:r>
          </a:p>
          <a:p>
            <a:r>
              <a:t>来源：P46｜039-上海大学孙衍宁.pptx 原第46页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4ffa87faa8784cb2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theme/theme2.xml" Id="R3cf8d62e8c624597"/><Relationship Type="http://schemas.openxmlformats.org/officeDocument/2006/relationships/slideLayout" Target="../slideLayouts/slideLayout1.xml" Id="R542187bf21e2475b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2187bf21e247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2a7043ed845e469f"/><Relationship Type="http://schemas.openxmlformats.org/officeDocument/2006/relationships/notesSlide" Target="../notesSlides/notesSlide1.xml" Id="R695236faf19542f0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97371d418fa74514"/><Relationship Type="http://schemas.openxmlformats.org/officeDocument/2006/relationships/notesSlide" Target="../notesSlides/notesSlide2.xml" Id="Rdc2a7249a8fd4cca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bcebef966f5a4e76"/><Relationship Type="http://schemas.openxmlformats.org/officeDocument/2006/relationships/notesSlide" Target="../notesSlides/notesSlide3.xml" Id="R01c093b1ee7f4e49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745349295a934fed"/><Relationship Type="http://schemas.openxmlformats.org/officeDocument/2006/relationships/notesSlide" Target="../notesSlides/notesSlide4.xml" Id="Rd45ea0b5b08a461a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cb15961a64a945fb"/><Relationship Type="http://schemas.openxmlformats.org/officeDocument/2006/relationships/notesSlide" Target="../notesSlides/notesSlide5.xml" Id="Rcec0119b9b8147a6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e01be334d67048c1"/><Relationship Type="http://schemas.openxmlformats.org/officeDocument/2006/relationships/notesSlide" Target="../notesSlides/notesSlide6.xml" Id="Raa448756fff645e5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3e0af0e5e4de44b2"/><Relationship Type="http://schemas.openxmlformats.org/officeDocument/2006/relationships/notesSlide" Target="../notesSlides/notesSlide7.xml" Id="Rf43311c48b2f4d01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be31a0d81a8e4e04"/><Relationship Type="http://schemas.openxmlformats.org/officeDocument/2006/relationships/notesSlide" Target="../notesSlides/notesSlide8.xml" Id="R9f90c9a3e92f4123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7968ef93e3e74365"/><Relationship Type="http://schemas.openxmlformats.org/officeDocument/2006/relationships/notesSlide" Target="../notesSlides/notesSlide9.xml" Id="Rc6b91eae69e845ea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cfe3f85ccd244ca5"/><Relationship Type="http://schemas.openxmlformats.org/officeDocument/2006/relationships/notesSlide" Target="../notesSlides/notesSlide10.xml" Id="R3d8f4ad67d91417b"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244ce27d715a4a13"/><Relationship Type="http://schemas.openxmlformats.org/officeDocument/2006/relationships/notesSlide" Target="../notesSlides/notesSlide11.xml" Id="Ra66b7beb1ac144fb"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aa11d7f5ad8b4f0f"/><Relationship Type="http://schemas.openxmlformats.org/officeDocument/2006/relationships/notesSlide" Target="../notesSlides/notesSlide12.xml" Id="R02d0c518eb7d4ded"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b3ee7f792935490b"/><Relationship Type="http://schemas.openxmlformats.org/officeDocument/2006/relationships/notesSlide" Target="../notesSlides/notesSlide13.xml" Id="R42a60dc243784084"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1f100e662551494d"/><Relationship Type="http://schemas.openxmlformats.org/officeDocument/2006/relationships/notesSlide" Target="../notesSlides/notesSlide14.xml" Id="R77117b74cfd0458d"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8e16b75522b1404e"/><Relationship Type="http://schemas.openxmlformats.org/officeDocument/2006/relationships/notesSlide" Target="../notesSlides/notesSlide15.xml" Id="Re437eb4681824299"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807190c2ba644ced"/><Relationship Type="http://schemas.openxmlformats.org/officeDocument/2006/relationships/notesSlide" Target="../notesSlides/notesSlide16.xml" Id="R3d78d7c56250459d"/></Relationships>
</file>

<file path=ppt/slides/_rels/slide17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98d1edff3fd1497f"/><Relationship Type="http://schemas.openxmlformats.org/officeDocument/2006/relationships/notesSlide" Target="../notesSlides/notesSlide17.xml" Id="Rac0ce2b592514643"/></Relationships>
</file>

<file path=ppt/slides/_rels/slide18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e1836d71036d4474"/><Relationship Type="http://schemas.openxmlformats.org/officeDocument/2006/relationships/notesSlide" Target="../notesSlides/notesSlide18.xml" Id="R365fa0e67e2e4602"/></Relationships>
</file>

<file path=ppt/slides/_rels/slide19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8aa7a89ca92e4a5e"/><Relationship Type="http://schemas.openxmlformats.org/officeDocument/2006/relationships/notesSlide" Target="../notesSlides/notesSlide19.xml" Id="Rdb7088d1029741b7"/></Relationships>
</file>

<file path=ppt/slides/_rels/slide20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ba3dc10d90ca4a63"/><Relationship Type="http://schemas.openxmlformats.org/officeDocument/2006/relationships/notesSlide" Target="../notesSlides/notesSlide20.xml" Id="R8b352b1cd3964ae4"/></Relationships>
</file>

<file path=ppt/slides/_rels/slide21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d740fc1b5bd5473d"/><Relationship Type="http://schemas.openxmlformats.org/officeDocument/2006/relationships/notesSlide" Target="../notesSlides/notesSlide21.xml" Id="R0d16eaff67f7458f"/></Relationships>
</file>

<file path=ppt/slides/_rels/slide22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3e0cb2424cda44d4"/><Relationship Type="http://schemas.openxmlformats.org/officeDocument/2006/relationships/notesSlide" Target="../notesSlides/notesSlide22.xml" Id="Rdbca67e8b6154a45"/></Relationships>
</file>

<file path=ppt/slides/_rels/slide23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58cd386c7daa44fa"/><Relationship Type="http://schemas.openxmlformats.org/officeDocument/2006/relationships/notesSlide" Target="../notesSlides/notesSlide23.xml" Id="R62d3287578d54930"/></Relationships>
</file>

<file path=ppt/slides/_rels/slide24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03fd74e22113466e"/><Relationship Type="http://schemas.openxmlformats.org/officeDocument/2006/relationships/notesSlide" Target="../notesSlides/notesSlide24.xml" Id="Rb87e3014bc9049e4"/></Relationships>
</file>

<file path=ppt/slides/_rels/slide25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de4bb5841bc14cd3"/><Relationship Type="http://schemas.openxmlformats.org/officeDocument/2006/relationships/notesSlide" Target="../notesSlides/notesSlide25.xml" Id="R760548ba803d43fd"/></Relationships>
</file>

<file path=ppt/slides/_rels/slide26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6239a8d73350464d"/><Relationship Type="http://schemas.openxmlformats.org/officeDocument/2006/relationships/notesSlide" Target="../notesSlides/notesSlide26.xml" Id="R7a8d6573ae574b3b"/></Relationships>
</file>

<file path=ppt/slides/_rels/slide27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a7ef7a408c614fc7"/><Relationship Type="http://schemas.openxmlformats.org/officeDocument/2006/relationships/notesSlide" Target="../notesSlides/notesSlide27.xml" Id="R00d4ccd5a660472a"/></Relationships>
</file>

<file path=ppt/slides/_rels/slide28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9eb2219b76c6413a"/><Relationship Type="http://schemas.openxmlformats.org/officeDocument/2006/relationships/notesSlide" Target="../notesSlides/notesSlide28.xml" Id="Rad0949618122469a"/></Relationships>
</file>

<file path=ppt/slides/_rels/slide29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fe574aa0984a4b0a"/><Relationship Type="http://schemas.openxmlformats.org/officeDocument/2006/relationships/notesSlide" Target="../notesSlides/notesSlide29.xml" Id="Racd9d1778fed4274"/></Relationships>
</file>

<file path=ppt/slides/_rels/slide30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a9941ae799234f9d"/><Relationship Type="http://schemas.openxmlformats.org/officeDocument/2006/relationships/notesSlide" Target="../notesSlides/notesSlide30.xml" Id="Re3c28d27256c408d"/></Relationships>
</file>

<file path=ppt/slides/_rels/slide31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9c66c9e0e31648c4"/><Relationship Type="http://schemas.openxmlformats.org/officeDocument/2006/relationships/notesSlide" Target="../notesSlides/notesSlide31.xml" Id="R39c696a5853d457b"/></Relationships>
</file>

<file path=ppt/slides/_rels/slide32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33a95c187c0f454d"/><Relationship Type="http://schemas.openxmlformats.org/officeDocument/2006/relationships/notesSlide" Target="../notesSlides/notesSlide32.xml" Id="R5a027af33b4c47dc"/></Relationships>
</file>

<file path=ppt/slides/_rels/slide33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31519fe7266a4043"/><Relationship Type="http://schemas.openxmlformats.org/officeDocument/2006/relationships/notesSlide" Target="../notesSlides/notesSlide33.xml" Id="R0974dfcb138541f4"/></Relationships>
</file>

<file path=ppt/slides/_rels/slide34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e3711a25e0ef4cb3"/><Relationship Type="http://schemas.openxmlformats.org/officeDocument/2006/relationships/notesSlide" Target="../notesSlides/notesSlide34.xml" Id="Rb97b029f0ecf421e"/></Relationships>
</file>

<file path=ppt/slides/_rels/slide35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437373358fc6494b"/><Relationship Type="http://schemas.openxmlformats.org/officeDocument/2006/relationships/notesSlide" Target="../notesSlides/notesSlide35.xml" Id="Rbdc3f6249fb946ae"/></Relationships>
</file>

<file path=ppt/slides/_rels/slide36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616713774e54496d"/><Relationship Type="http://schemas.openxmlformats.org/officeDocument/2006/relationships/notesSlide" Target="../notesSlides/notesSlide36.xml" Id="R2ff7451b45074618"/></Relationships>
</file>

<file path=ppt/slides/_rels/slide37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31cd51aebe9443fe"/><Relationship Type="http://schemas.openxmlformats.org/officeDocument/2006/relationships/notesSlide" Target="../notesSlides/notesSlide37.xml" Id="R890ce838c502494f"/></Relationships>
</file>

<file path=ppt/slides/_rels/slide38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1b01c89cc331420d"/><Relationship Type="http://schemas.openxmlformats.org/officeDocument/2006/relationships/notesSlide" Target="../notesSlides/notesSlide38.xml" Id="R7a7c75eaff9c49f6"/></Relationships>
</file>

<file path=ppt/slides/_rels/slide39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5293f920f13e4d15"/><Relationship Type="http://schemas.openxmlformats.org/officeDocument/2006/relationships/notesSlide" Target="../notesSlides/notesSlide39.xml" Id="Rc5cceec155fb4a88"/></Relationships>
</file>

<file path=ppt/slides/_rels/slide40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dedad3dd675a4ef6"/><Relationship Type="http://schemas.openxmlformats.org/officeDocument/2006/relationships/notesSlide" Target="../notesSlides/notesSlide40.xml" Id="Rd4efb68cf92341b3"/></Relationships>
</file>

<file path=ppt/slides/_rels/slide41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09ce93f9e0164350"/><Relationship Type="http://schemas.openxmlformats.org/officeDocument/2006/relationships/notesSlide" Target="../notesSlides/notesSlide41.xml" Id="R2c387bd37b1c4c09"/></Relationships>
</file>

<file path=ppt/slides/_rels/slide42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6df597f321634dad"/><Relationship Type="http://schemas.openxmlformats.org/officeDocument/2006/relationships/notesSlide" Target="../notesSlides/notesSlide42.xml" Id="Rdf6838b9567c4bcc"/></Relationships>
</file>

<file path=ppt/slides/_rels/slide43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e4cf91b1de134e80"/><Relationship Type="http://schemas.openxmlformats.org/officeDocument/2006/relationships/notesSlide" Target="../notesSlides/notesSlide43.xml" Id="R9b9005778b81487d"/></Relationships>
</file>

<file path=ppt/slides/_rels/slide44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d41482e95cd0437a"/><Relationship Type="http://schemas.openxmlformats.org/officeDocument/2006/relationships/notesSlide" Target="../notesSlides/notesSlide44.xml" Id="Rf96b529aaf9747a4"/></Relationships>
</file>

<file path=ppt/slides/_rels/slide45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6ab35e4698d24101"/><Relationship Type="http://schemas.openxmlformats.org/officeDocument/2006/relationships/notesSlide" Target="../notesSlides/notesSlide45.xml" Id="R2f1a31a663c64571"/></Relationships>
</file>

<file path=ppt/slides/_rels/slide46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1b5bc81ce00c4b8b"/><Relationship Type="http://schemas.openxmlformats.org/officeDocument/2006/relationships/notesSlide" Target="../notesSlides/notesSlide46.xml" Id="Ra67f87d613e54a2f"/></Relationships>
</file>

<file path=ppt/slides/_rels/slide47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5f293ed0d3f847d1"/><Relationship Type="http://schemas.openxmlformats.org/officeDocument/2006/relationships/notesSlide" Target="../notesSlides/notesSlide47.xml" Id="Re6526d387f8a412c"/></Relationships>
</file>

<file path=ppt/slides/_rels/slide48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a906a36bb1e44b71"/><Relationship Type="http://schemas.openxmlformats.org/officeDocument/2006/relationships/notesSlide" Target="../notesSlides/notesSlide48.xml" Id="R235233accfba4256"/></Relationships>
</file>

<file path=ppt/slides/_rels/slide49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0fd79d4ad7df4e0d"/><Relationship Type="http://schemas.openxmlformats.org/officeDocument/2006/relationships/notesSlide" Target="../notesSlides/notesSlide49.xml" Id="Rd0d2d6d008594872"/></Relationships>
</file>

<file path=ppt/slides/_rels/slide50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7ba674fd6d024b8f"/><Relationship Type="http://schemas.openxmlformats.org/officeDocument/2006/relationships/notesSlide" Target="../notesSlides/notesSlide50.xml" Id="Reefe3fbb7cf84ca0"/></Relationships>
</file>

<file path=ppt/slides/_rels/slide51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5ac5617bb2e849e0"/><Relationship Type="http://schemas.openxmlformats.org/officeDocument/2006/relationships/notesSlide" Target="../notesSlides/notesSlide51.xml" Id="R86b0306c35ac40dd"/></Relationships>
</file>

<file path=ppt/slides/_rels/slide52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1d3db5afa5804598"/><Relationship Type="http://schemas.openxmlformats.org/officeDocument/2006/relationships/notesSlide" Target="../notesSlides/notesSlide52.xml" Id="R8920984b258d4348"/></Relationships>
</file>

<file path=ppt/slides/_rels/slide53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b953b014149d40b6"/><Relationship Type="http://schemas.openxmlformats.org/officeDocument/2006/relationships/notesSlide" Target="../notesSlides/notesSlide53.xml" Id="R82e708bc6302453b"/></Relationships>
</file>

<file path=ppt/slides/_rels/slide54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61ed188a8eb64b70"/><Relationship Type="http://schemas.openxmlformats.org/officeDocument/2006/relationships/notesSlide" Target="../notesSlides/notesSlide54.xml" Id="R218337ece31d4584"/></Relationships>
</file>

<file path=ppt/slides/_rels/slide55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8c592d9dcfbd421e"/><Relationship Type="http://schemas.openxmlformats.org/officeDocument/2006/relationships/notesSlide" Target="../notesSlides/notesSlide55.xml" Id="Rd1ccda54c25b4b60"/></Relationships>
</file>

<file path=ppt/slides/_rels/slide56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4cedb98b6e374ca8"/><Relationship Type="http://schemas.openxmlformats.org/officeDocument/2006/relationships/notesSlide" Target="../notesSlides/notesSlide56.xml" Id="R815cb6f7b9df4c1d"/></Relationships>
</file>

<file path=ppt/slides/_rels/slide57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68008e978c3c43f8"/><Relationship Type="http://schemas.openxmlformats.org/officeDocument/2006/relationships/notesSlide" Target="../notesSlides/notesSlide57.xml" Id="R7fa67a857ea64d27"/></Relationships>
</file>

<file path=ppt/slides/_rels/slide58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2d9d689f2e7c4318"/><Relationship Type="http://schemas.openxmlformats.org/officeDocument/2006/relationships/notesSlide" Target="../notesSlides/notesSlide58.xml" Id="R481e47d044a44d10"/></Relationships>
</file>

<file path=ppt/slides/_rels/slide59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a83d0d2384ec4d56"/><Relationship Type="http://schemas.openxmlformats.org/officeDocument/2006/relationships/notesSlide" Target="../notesSlides/notesSlide59.xml" Id="Re5c22f0cdfc7488f"/></Relationships>
</file>

<file path=ppt/slides/_rels/slide60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3733876b25ae4f69"/><Relationship Type="http://schemas.openxmlformats.org/officeDocument/2006/relationships/notesSlide" Target="../notesSlides/notesSlide60.xml" Id="R4ac11b83141e49ac"/></Relationships>
</file>

<file path=ppt/slides/_rels/slide61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55a1ce7e0b45453c"/><Relationship Type="http://schemas.openxmlformats.org/officeDocument/2006/relationships/notesSlide" Target="../notesSlides/notesSlide61.xml" Id="R899e6f10682b4135"/></Relationships>
</file>

<file path=ppt/slides/_rels/slide62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8cc052de7a9a4b32"/><Relationship Type="http://schemas.openxmlformats.org/officeDocument/2006/relationships/notesSlide" Target="../notesSlides/notesSlide62.xml" Id="R1e6b5ab1838d4147"/></Relationships>
</file>

<file path=ppt/slides/_rels/slide63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83d8df46caea46de"/><Relationship Type="http://schemas.openxmlformats.org/officeDocument/2006/relationships/notesSlide" Target="../notesSlides/notesSlide63.xml" Id="R25f171945552454c"/></Relationships>
</file>

<file path=ppt/slides/_rels/slide64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cbbb9a33df1c4d69"/><Relationship Type="http://schemas.openxmlformats.org/officeDocument/2006/relationships/notesSlide" Target="../notesSlides/notesSlide64.xml" Id="Rf11dfddfce8649a1"/></Relationships>
</file>

<file path=ppt/slides/_rels/slide65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03e46ddae58349dd"/><Relationship Type="http://schemas.openxmlformats.org/officeDocument/2006/relationships/notesSlide" Target="../notesSlides/notesSlide65.xml" Id="Rcc1002bfbdfa456a"/></Relationships>
</file>

<file path=ppt/slides/_rels/slide66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c6059f1c0a3c4b9d"/><Relationship Type="http://schemas.openxmlformats.org/officeDocument/2006/relationships/notesSlide" Target="../notesSlides/notesSlide66.xml" Id="Rd02211dd00f74cdd"/></Relationships>
</file>

<file path=ppt/slides/_rels/slide67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e20c6bef30394697"/><Relationship Type="http://schemas.openxmlformats.org/officeDocument/2006/relationships/notesSlide" Target="../notesSlides/notesSlide67.xml" Id="Rd871c10d573945b4"/></Relationships>
</file>

<file path=ppt/slides/_rels/slide68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7d811658308d452d"/><Relationship Type="http://schemas.openxmlformats.org/officeDocument/2006/relationships/notesSlide" Target="../notesSlides/notesSlide68.xml" Id="Re06c8ea526414b7f"/></Relationships>
</file>

<file path=ppt/slides/_rels/slide69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5622aeaaa0eb4b37"/><Relationship Type="http://schemas.openxmlformats.org/officeDocument/2006/relationships/notesSlide" Target="../notesSlides/notesSlide69.xml" Id="Rd4cbb8d7eb0b4f80"/></Relationships>
</file>

<file path=ppt/slides/_rels/slide70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43ddaa08e4164604"/><Relationship Type="http://schemas.openxmlformats.org/officeDocument/2006/relationships/notesSlide" Target="../notesSlides/notesSlide70.xml" Id="R7691b3a14a1943b1"/></Relationships>
</file>

<file path=ppt/slides/_rels/slide71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bd513196fc764f6f"/><Relationship Type="http://schemas.openxmlformats.org/officeDocument/2006/relationships/notesSlide" Target="../notesSlides/notesSlide71.xml" Id="R183f5e454a8146c9"/></Relationships>
</file>

<file path=ppt/slides/_rels/slide72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cb16cdcd617f4a3d"/><Relationship Type="http://schemas.openxmlformats.org/officeDocument/2006/relationships/notesSlide" Target="../notesSlides/notesSlide72.xml" Id="Raf6a9c9709df48b8"/></Relationships>
</file>

<file path=ppt/slides/_rels/slide73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9a50acdc9b2b43bd"/><Relationship Type="http://schemas.openxmlformats.org/officeDocument/2006/relationships/notesSlide" Target="../notesSlides/notesSlide73.xml" Id="R97ad44dcc2844ccb"/></Relationships>
</file>

<file path=ppt/slides/_rels/slide74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34e3dc6727a54cda"/><Relationship Type="http://schemas.openxmlformats.org/officeDocument/2006/relationships/notesSlide" Target="../notesSlides/notesSlide74.xml" Id="Ref40fa30971a408d"/></Relationships>
</file>

<file path=ppt/slides/_rels/slide75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86158d6f30e04af2"/><Relationship Type="http://schemas.openxmlformats.org/officeDocument/2006/relationships/notesSlide" Target="../notesSlides/notesSlide75.xml" Id="R019356f1fe304fed"/></Relationships>
</file>

<file path=ppt/slides/_rels/slide76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d7718899ef144c59"/><Relationship Type="http://schemas.openxmlformats.org/officeDocument/2006/relationships/notesSlide" Target="../notesSlides/notesSlide76.xml" Id="R4ab3d0b82492442c"/></Relationships>
</file>

<file path=ppt/slides/_rels/slide77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a1e7a672021b4a50"/><Relationship Type="http://schemas.openxmlformats.org/officeDocument/2006/relationships/notesSlide" Target="../notesSlides/notesSlide77.xml" Id="Rbbbbe10833494a1f"/></Relationships>
</file>

<file path=ppt/slides/_rels/slide78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21213fbd87ba44dc"/><Relationship Type="http://schemas.openxmlformats.org/officeDocument/2006/relationships/notesSlide" Target="../notesSlides/notesSlide78.xml" Id="R4415e1cc666f4547"/></Relationships>
</file>

<file path=ppt/slides/_rels/slide79.xml.rels><?xml version="1.0" encoding="utf-8"?><Relationships xmlns="http://schemas.openxmlformats.org/package/2006/relationships"><Relationship Type="http://schemas.openxmlformats.org/officeDocument/2006/relationships/slideLayout" Target="../fromPNG/slideLayouts/slideLayout1.xml" Id="R8be215ad934f4ee0"/><Relationship Type="http://schemas.openxmlformats.org/officeDocument/2006/relationships/notesSlide" Target="../notesSlides/notesSlide79.xml" Id="R469523123b8c40a0"/></Relationships>
</file>

<file path=ppt/slides/_rels/slide80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cf55897b28524435"/><Relationship Type="http://schemas.openxmlformats.org/officeDocument/2006/relationships/notesSlide" Target="../notesSlides/notesSlide80.xml" Id="R9bd4bcd8a4ae4e8d"/></Relationships>
</file>

<file path=ppt/slides/_rels/slide81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52a8cf659e2c4ef9"/><Relationship Type="http://schemas.openxmlformats.org/officeDocument/2006/relationships/notesSlide" Target="../notesSlides/notesSlide81.xml" Id="Rcc6ed7aec32f46e8"/></Relationships>
</file>

<file path=ppt/slides/_rels/slide82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d6905f89cf2443d6"/><Relationship Type="http://schemas.openxmlformats.org/officeDocument/2006/relationships/notesSlide" Target="../notesSlides/notesSlide82.xml" Id="Rd031aa594cae4af5"/></Relationships>
</file>

<file path=ppt/slides/_rels/slide83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66b4d53a56274636"/><Relationship Type="http://schemas.openxmlformats.org/officeDocument/2006/relationships/notesSlide" Target="../notesSlides/notesSlide83.xml" Id="Rac95e3460d2b4801"/></Relationships>
</file>

<file path=ppt/slides/_rels/slide84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208f53d9184c48a9"/><Relationship Type="http://schemas.openxmlformats.org/officeDocument/2006/relationships/notesSlide" Target="../notesSlides/notesSlide84.xml" Id="Rf6d7d7bce8ab4bfb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文字-1-学术论坛／课题汇报">
            <a:extLst xmlns:a="http://schemas.openxmlformats.org/drawingml/2006/main">
              <a:ext uri="{FF2B5EF4-FFF2-40B4-BE49-F238E27FC236}">
                <a16:creationId xmlns:a16="http://schemas.microsoft.com/office/drawing/2014/main" id="{1700B9DA-2F3B-4B6D-84C2-FF704D3C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7675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学术论坛／课题汇报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C678E225-31CA-4CE6-8046-968B1064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0050" y="1104900"/>
            <a:ext cx="9601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" name="图片区-3">
            <a:extLst xmlns:a="http://schemas.openxmlformats.org/drawingml/2006/main">
              <a:ext uri="{FF2B5EF4-FFF2-40B4-BE49-F238E27FC236}">
                <a16:creationId xmlns:a16="http://schemas.microsoft.com/office/drawing/2014/main" id="{47F5E188-BA36-4607-96B1-2B0BD1FD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66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4" name="文字-4-填写研究主题与核心方法填">
            <a:extLst xmlns:a="http://schemas.openxmlformats.org/drawingml/2006/main">
              <a:ext uri="{FF2B5EF4-FFF2-40B4-BE49-F238E27FC236}">
                <a16:creationId xmlns:a16="http://schemas.microsoft.com/office/drawing/2014/main" id="{76DAAE90-6286-42F4-94E3-C4FCAAD7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99060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填写研究主题与核心方法</a:t>
            </a:r>
          </a:p>
          <a:p xmlns:a="http://schemas.openxmlformats.org/drawingml/2006/main">
            <a:pPr algn="ctr">
              <a:defRPr sz="36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填写研究对象或报告副标题</a:t>
            </a:r>
          </a:p>
        </p:txBody>
      </p:sp>
      <p:sp>
        <p:nvSpPr>
          <p:cNvPr id="5" name="结构-5">
            <a:extLst xmlns:a="http://schemas.openxmlformats.org/drawingml/2006/main">
              <a:ext uri="{FF2B5EF4-FFF2-40B4-BE49-F238E27FC236}">
                <a16:creationId xmlns:a16="http://schemas.microsoft.com/office/drawing/2014/main" id="{F76A10DB-3433-44C6-81C3-B1BB93F1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文字-6-汇报人：填写姓名">
            <a:extLst xmlns:a="http://schemas.openxmlformats.org/drawingml/2006/main">
              <a:ext uri="{FF2B5EF4-FFF2-40B4-BE49-F238E27FC236}">
                <a16:creationId xmlns:a16="http://schemas.microsoft.com/office/drawing/2014/main" id="{545A080F-C9E7-4EC0-82E5-DBC0D800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672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汇报人：填写姓名</a:t>
            </a:r>
          </a:p>
        </p:txBody>
      </p:sp>
      <p:sp>
        <p:nvSpPr>
          <p:cNvPr id="7" name="文字-7-填写实验室／研究团队填写">
            <a:extLst xmlns:a="http://schemas.openxmlformats.org/drawingml/2006/main">
              <a:ext uri="{FF2B5EF4-FFF2-40B4-BE49-F238E27FC236}">
                <a16:creationId xmlns:a16="http://schemas.microsoft.com/office/drawing/2014/main" id="{12F95C29-8170-4AAC-AA45-A7A11D9A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67350"/>
            <a:ext cx="8382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填写实验室／研究团队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填写学校、学院或单位</a:t>
            </a:r>
          </a:p>
        </p:txBody>
      </p:sp>
      <p:sp>
        <p:nvSpPr>
          <p:cNvPr id="8" name="文字-8-填写汇报日期">
            <a:extLst xmlns:a="http://schemas.openxmlformats.org/drawingml/2006/main">
              <a:ext uri="{FF2B5EF4-FFF2-40B4-BE49-F238E27FC236}">
                <a16:creationId xmlns:a16="http://schemas.microsoft.com/office/drawing/2014/main" id="{AA89A3E2-B78F-4FE6-982D-E8F7A585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362700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填写汇报日期</a:t>
            </a:r>
          </a:p>
        </p:txBody>
      </p:sp>
    </p:spTree>
    <p:extLst>
      <p:ext uri="{BB962C8B-B14F-4D97-AF65-F5344CB8AC3E}">
        <p14:creationId xmlns:p14="http://schemas.microsoft.com/office/powerpoint/2010/main" val="769159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结构-1">
            <a:extLst xmlns:a="http://schemas.openxmlformats.org/drawingml/2006/main">
              <a:ext uri="{FF2B5EF4-FFF2-40B4-BE49-F238E27FC236}">
                <a16:creationId xmlns:a16="http://schemas.microsoft.com/office/drawing/2014/main" id="{46127BBB-7CDB-4EA3-B367-2D13E7ED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480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428D"/>
              </a:gs>
              <a:gs pos="100000">
                <a:srgbClr val="80A8D4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目  录">
            <a:extLst xmlns:a="http://schemas.openxmlformats.org/drawingml/2006/main">
              <a:ext uri="{FF2B5EF4-FFF2-40B4-BE49-F238E27FC236}">
                <a16:creationId xmlns:a16="http://schemas.microsoft.com/office/drawing/2014/main" id="{E22837C8-E68F-47ED-875C-E761065B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38225"/>
            <a:ext cx="2971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  录</a:t>
            </a:r>
          </a:p>
        </p:txBody>
      </p:sp>
      <p:sp>
        <p:nvSpPr>
          <p:cNvPr id="3" name="文字-3-CONTENTS">
            <a:extLst xmlns:a="http://schemas.openxmlformats.org/drawingml/2006/main">
              <a:ext uri="{FF2B5EF4-FFF2-40B4-BE49-F238E27FC236}">
                <a16:creationId xmlns:a16="http://schemas.microsoft.com/office/drawing/2014/main" id="{B4300BF7-6C9F-4579-A93B-05627502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33575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4" name="图片区-4">
            <a:extLst xmlns:a="http://schemas.openxmlformats.org/drawingml/2006/main">
              <a:ext uri="{FF2B5EF4-FFF2-40B4-BE49-F238E27FC236}">
                <a16:creationId xmlns:a16="http://schemas.microsoft.com/office/drawing/2014/main" id="{F19A6EEF-E813-4B7C-AD38-BB1A34F9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390900"/>
            <a:ext cx="31623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5" name="图片区-5">
            <a:extLst xmlns:a="http://schemas.openxmlformats.org/drawingml/2006/main">
              <a:ext uri="{FF2B5EF4-FFF2-40B4-BE49-F238E27FC236}">
                <a16:creationId xmlns:a16="http://schemas.microsoft.com/office/drawing/2014/main" id="{C7310EF0-223E-495A-996D-5F1FCBE6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8125"/>
            <a:ext cx="876300" cy="790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5320EB7C-5DD9-4B11-983C-8FAC103F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714500"/>
            <a:ext cx="685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3F88"/>
            </a:solidFill>
            <a:prstDash val="solid"/>
          </a:ln>
        </p:spPr>
      </p:sp>
      <p:sp>
        <p:nvSpPr>
          <p:cNvPr id="7" name="文字-7-1">
            <a:extLst xmlns:a="http://schemas.openxmlformats.org/drawingml/2006/main">
              <a:ext uri="{FF2B5EF4-FFF2-40B4-BE49-F238E27FC236}">
                <a16:creationId xmlns:a16="http://schemas.microsoft.com/office/drawing/2014/main" id="{00CC45E3-366F-4A02-9B5A-0930C1FC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7907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文字-8-研究需求与关键科学问题">
            <a:extLst xmlns:a="http://schemas.openxmlformats.org/drawingml/2006/main">
              <a:ext uri="{FF2B5EF4-FFF2-40B4-BE49-F238E27FC236}">
                <a16:creationId xmlns:a16="http://schemas.microsoft.com/office/drawing/2014/main" id="{D74AA220-3B40-4009-9D37-0AE0940E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781175"/>
            <a:ext cx="6877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研究需求与关键科学问题</a:t>
            </a:r>
          </a:p>
        </p:txBody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22B4AB4A-E77B-401C-9B38-03720E8C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24175"/>
            <a:ext cx="685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3F88"/>
            </a:solidFill>
            <a:prstDash val="solid"/>
          </a:ln>
        </p:spPr>
      </p:sp>
      <p:sp>
        <p:nvSpPr>
          <p:cNvPr id="10" name="文字-10-2">
            <a:extLst xmlns:a="http://schemas.openxmlformats.org/drawingml/2006/main">
              <a:ext uri="{FF2B5EF4-FFF2-40B4-BE49-F238E27FC236}">
                <a16:creationId xmlns:a16="http://schemas.microsoft.com/office/drawing/2014/main" id="{3C6A6AC1-235E-41C7-881A-6141DAF7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0003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文字-11-研究方法与实验验证">
            <a:extLst xmlns:a="http://schemas.openxmlformats.org/drawingml/2006/main">
              <a:ext uri="{FF2B5EF4-FFF2-40B4-BE49-F238E27FC236}">
                <a16:creationId xmlns:a16="http://schemas.microsoft.com/office/drawing/2014/main" id="{96227C69-9348-4BFD-B9CA-EA18ABBF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990850"/>
            <a:ext cx="6877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研究方法与实验验证</a:t>
            </a:r>
          </a:p>
        </p:txBody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49B6A6AD-517B-4B3B-B4C7-2F1DBF6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33850"/>
            <a:ext cx="685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3F88"/>
            </a:solidFill>
            <a:prstDash val="solid"/>
          </a:ln>
        </p:spPr>
      </p:sp>
      <p:sp>
        <p:nvSpPr>
          <p:cNvPr id="13" name="文字-13-3">
            <a:extLst xmlns:a="http://schemas.openxmlformats.org/drawingml/2006/main">
              <a:ext uri="{FF2B5EF4-FFF2-40B4-BE49-F238E27FC236}">
                <a16:creationId xmlns:a16="http://schemas.microsoft.com/office/drawing/2014/main" id="{B9CAA783-A5A2-45FF-A69D-B6FC8D0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100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文字-14-原型系统与应用功能">
            <a:extLst xmlns:a="http://schemas.openxmlformats.org/drawingml/2006/main">
              <a:ext uri="{FF2B5EF4-FFF2-40B4-BE49-F238E27FC236}">
                <a16:creationId xmlns:a16="http://schemas.microsoft.com/office/drawing/2014/main" id="{7AC64954-89B6-41E5-B51D-9DDCDF84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200525"/>
            <a:ext cx="6877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原型系统与应用功能</a:t>
            </a:r>
          </a:p>
        </p:txBody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EF01BBAB-16C0-4BBF-AD16-E313F639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343525"/>
            <a:ext cx="685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3F88"/>
            </a:solidFill>
            <a:prstDash val="solid"/>
          </a:ln>
        </p:spPr>
      </p:sp>
      <p:sp>
        <p:nvSpPr>
          <p:cNvPr id="16" name="文字-16-4">
            <a:extLst xmlns:a="http://schemas.openxmlformats.org/drawingml/2006/main">
              <a:ext uri="{FF2B5EF4-FFF2-40B4-BE49-F238E27FC236}">
                <a16:creationId xmlns:a16="http://schemas.microsoft.com/office/drawing/2014/main" id="{FE09A889-D055-46A6-9AB0-934144C3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4197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文字-17-发展展望与研究方向">
            <a:extLst xmlns:a="http://schemas.openxmlformats.org/drawingml/2006/main">
              <a:ext uri="{FF2B5EF4-FFF2-40B4-BE49-F238E27FC236}">
                <a16:creationId xmlns:a16="http://schemas.microsoft.com/office/drawing/2014/main" id="{D5250CC4-60E0-4254-9A25-6C7D060F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10200"/>
            <a:ext cx="6877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发展展望与研究方向</a:t>
            </a:r>
          </a:p>
        </p:txBody>
      </p:sp>
    </p:spTree>
    <p:extLst>
      <p:ext uri="{BB962C8B-B14F-4D97-AF65-F5344CB8AC3E}">
        <p14:creationId xmlns:p14="http://schemas.microsoft.com/office/powerpoint/2010/main" val="454307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结构-1">
            <a:extLst xmlns:a="http://schemas.openxmlformats.org/drawingml/2006/main">
              <a:ext uri="{FF2B5EF4-FFF2-40B4-BE49-F238E27FC236}">
                <a16:creationId xmlns:a16="http://schemas.microsoft.com/office/drawing/2014/main" id="{E183F56C-1F9B-4659-87CE-49361D1D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48075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428D"/>
              </a:gs>
              <a:gs pos="100000">
                <a:srgbClr val="80A8D4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目  录">
            <a:extLst xmlns:a="http://schemas.openxmlformats.org/drawingml/2006/main">
              <a:ext uri="{FF2B5EF4-FFF2-40B4-BE49-F238E27FC236}">
                <a16:creationId xmlns:a16="http://schemas.microsoft.com/office/drawing/2014/main" id="{D7C7EB1A-073A-4BEF-8E7A-E6CEBB25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38225"/>
            <a:ext cx="29718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  录</a:t>
            </a:r>
          </a:p>
        </p:txBody>
      </p:sp>
      <p:sp>
        <p:nvSpPr>
          <p:cNvPr id="3" name="文字-3-CONTENTS">
            <a:extLst xmlns:a="http://schemas.openxmlformats.org/drawingml/2006/main">
              <a:ext uri="{FF2B5EF4-FFF2-40B4-BE49-F238E27FC236}">
                <a16:creationId xmlns:a16="http://schemas.microsoft.com/office/drawing/2014/main" id="{69B51FA4-D77B-44F6-B8EE-304632F3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933575"/>
            <a:ext cx="2971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4" name="图片区-4">
            <a:extLst xmlns:a="http://schemas.openxmlformats.org/drawingml/2006/main">
              <a:ext uri="{FF2B5EF4-FFF2-40B4-BE49-F238E27FC236}">
                <a16:creationId xmlns:a16="http://schemas.microsoft.com/office/drawing/2014/main" id="{57D5D0E1-9D2B-4875-A783-DB2DBA7F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390900"/>
            <a:ext cx="31623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5" name="图片区-5">
            <a:extLst xmlns:a="http://schemas.openxmlformats.org/drawingml/2006/main">
              <a:ext uri="{FF2B5EF4-FFF2-40B4-BE49-F238E27FC236}">
                <a16:creationId xmlns:a16="http://schemas.microsoft.com/office/drawing/2014/main" id="{906D74E3-B69D-4471-A66B-79B57AA5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8125"/>
            <a:ext cx="876300" cy="790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1A6CF09A-C86B-42CA-BEE3-602F9EA6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714500"/>
            <a:ext cx="685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3F88"/>
            </a:solidFill>
            <a:prstDash val="solid"/>
          </a:ln>
        </p:spPr>
      </p:sp>
      <p:sp>
        <p:nvSpPr>
          <p:cNvPr id="7" name="文字-7-1">
            <a:extLst xmlns:a="http://schemas.openxmlformats.org/drawingml/2006/main">
              <a:ext uri="{FF2B5EF4-FFF2-40B4-BE49-F238E27FC236}">
                <a16:creationId xmlns:a16="http://schemas.microsoft.com/office/drawing/2014/main" id="{DEF7D238-FFF0-4D70-9892-2A9EA8EA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7907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文字-8-研究需求与关键科学问题">
            <a:extLst xmlns:a="http://schemas.openxmlformats.org/drawingml/2006/main">
              <a:ext uri="{FF2B5EF4-FFF2-40B4-BE49-F238E27FC236}">
                <a16:creationId xmlns:a16="http://schemas.microsoft.com/office/drawing/2014/main" id="{E77EC5C8-AD77-4B98-B228-0C119960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781175"/>
            <a:ext cx="6877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研究需求与关键科学问题</a:t>
            </a:r>
          </a:p>
        </p:txBody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3DE7FB4E-F9A9-4D08-8588-0A52B252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24175"/>
            <a:ext cx="685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3F88"/>
            </a:solidFill>
            <a:prstDash val="solid"/>
          </a:ln>
        </p:spPr>
      </p:sp>
      <p:sp>
        <p:nvSpPr>
          <p:cNvPr id="10" name="文字-10-2">
            <a:extLst xmlns:a="http://schemas.openxmlformats.org/drawingml/2006/main">
              <a:ext uri="{FF2B5EF4-FFF2-40B4-BE49-F238E27FC236}">
                <a16:creationId xmlns:a16="http://schemas.microsoft.com/office/drawing/2014/main" id="{CEF1A6DD-0749-4E8A-8D81-F6243A86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00037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文字-11-研究方法与实验验证">
            <a:extLst xmlns:a="http://schemas.openxmlformats.org/drawingml/2006/main">
              <a:ext uri="{FF2B5EF4-FFF2-40B4-BE49-F238E27FC236}">
                <a16:creationId xmlns:a16="http://schemas.microsoft.com/office/drawing/2014/main" id="{E7597063-2B5D-4DB7-8D88-A718FFE4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990850"/>
            <a:ext cx="6877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研究方法与实验验证</a:t>
            </a:r>
          </a:p>
        </p:txBody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7D8E4B22-8EFC-412C-8355-1D16B4D5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33850"/>
            <a:ext cx="685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3F88"/>
            </a:solidFill>
            <a:prstDash val="solid"/>
          </a:ln>
        </p:spPr>
      </p:sp>
      <p:sp>
        <p:nvSpPr>
          <p:cNvPr id="13" name="文字-13-3">
            <a:extLst xmlns:a="http://schemas.openxmlformats.org/drawingml/2006/main">
              <a:ext uri="{FF2B5EF4-FFF2-40B4-BE49-F238E27FC236}">
                <a16:creationId xmlns:a16="http://schemas.microsoft.com/office/drawing/2014/main" id="{A17EAF74-B738-4C7A-BC65-29CF8E70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100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文字-14-原型系统与应用功能">
            <a:extLst xmlns:a="http://schemas.openxmlformats.org/drawingml/2006/main">
              <a:ext uri="{FF2B5EF4-FFF2-40B4-BE49-F238E27FC236}">
                <a16:creationId xmlns:a16="http://schemas.microsoft.com/office/drawing/2014/main" id="{CCDB85F4-66D1-4730-B490-475A0059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200525"/>
            <a:ext cx="6877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原型系统与应用功能</a:t>
            </a:r>
          </a:p>
        </p:txBody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2BF08CD5-CB11-420B-99A6-19B0753E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343525"/>
            <a:ext cx="6858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3F88"/>
            </a:solidFill>
            <a:prstDash val="solid"/>
          </a:ln>
        </p:spPr>
      </p:sp>
      <p:sp>
        <p:nvSpPr>
          <p:cNvPr id="16" name="文字-16-4">
            <a:extLst xmlns:a="http://schemas.openxmlformats.org/drawingml/2006/main">
              <a:ext uri="{FF2B5EF4-FFF2-40B4-BE49-F238E27FC236}">
                <a16:creationId xmlns:a16="http://schemas.microsoft.com/office/drawing/2014/main" id="{A1940704-4646-4DEB-907D-BEBB3CD0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419725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文字-17-发展展望与研究方向">
            <a:extLst xmlns:a="http://schemas.openxmlformats.org/drawingml/2006/main">
              <a:ext uri="{FF2B5EF4-FFF2-40B4-BE49-F238E27FC236}">
                <a16:creationId xmlns:a16="http://schemas.microsoft.com/office/drawing/2014/main" id="{29B5441C-477A-4D35-B6A0-360B89FD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10200"/>
            <a:ext cx="6877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发展展望与研究方向</a:t>
            </a:r>
          </a:p>
        </p:txBody>
      </p:sp>
    </p:spTree>
    <p:extLst>
      <p:ext uri="{BB962C8B-B14F-4D97-AF65-F5344CB8AC3E}">
        <p14:creationId xmlns:p14="http://schemas.microsoft.com/office/powerpoint/2010/main" val="1846629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结构-1">
            <a:extLst xmlns:a="http://schemas.openxmlformats.org/drawingml/2006/main">
              <a:ext uri="{FF2B5EF4-FFF2-40B4-BE49-F238E27FC236}">
                <a16:creationId xmlns:a16="http://schemas.microsoft.com/office/drawing/2014/main" id="{1D698C56-9296-4D00-B18F-3708A8F7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背景与发展阶段">
            <a:extLst xmlns:a="http://schemas.openxmlformats.org/drawingml/2006/main">
              <a:ext uri="{FF2B5EF4-FFF2-40B4-BE49-F238E27FC236}">
                <a16:creationId xmlns:a16="http://schemas.microsoft.com/office/drawing/2014/main" id="{068B41F1-40AD-4B5A-9A32-D81D195F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研究背景与发展阶段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9FFBE18C-CBC3-4A85-B354-DC5E60E7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5AD062FF-AB63-44B1-B345-7DAF4FB5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研究领域正在经历的阶">
            <a:extLst xmlns:a="http://schemas.openxmlformats.org/drawingml/2006/main">
              <a:ext uri="{FF2B5EF4-FFF2-40B4-BE49-F238E27FC236}">
                <a16:creationId xmlns:a16="http://schemas.microsoft.com/office/drawing/2014/main" id="{E0257003-7682-46E2-81EB-B85AC4A7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说明研究领域正在经历的阶段变化，突出关键转折与发展趋势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81D0BBE4-AF15-4964-B136-480838D5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76625"/>
            <a:ext cx="11334750" cy="333375"/>
          </a:xfrm>
          <a:custGeom xmlns:a="http://schemas.openxmlformats.org/drawingml/2006/main">
            <a:pathLst>
              <a:path w="11334750" h="333375">
                <a:moveTo>
                  <a:pt x="0" y="0"/>
                </a:moveTo>
                <a:lnTo>
                  <a:pt x="11163300" y="0"/>
                </a:lnTo>
                <a:lnTo>
                  <a:pt x="11334750" y="166688"/>
                </a:lnTo>
                <a:lnTo>
                  <a:pt x="11163300" y="333375"/>
                </a:lnTo>
                <a:lnTo>
                  <a:pt x="0" y="3333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7" name="文字-7-">
            <a:extLst xmlns:a="http://schemas.openxmlformats.org/drawingml/2006/main">
              <a:ext uri="{FF2B5EF4-FFF2-40B4-BE49-F238E27FC236}">
                <a16:creationId xmlns:a16="http://schemas.microsoft.com/office/drawing/2014/main" id="{FAEB445B-F815-4ACE-87A7-57D1BBBD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76625"/>
            <a:ext cx="11106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文字-8-阶段1">
            <a:extLst xmlns:a="http://schemas.openxmlformats.org/drawingml/2006/main">
              <a:ext uri="{FF2B5EF4-FFF2-40B4-BE49-F238E27FC236}">
                <a16:creationId xmlns:a16="http://schemas.microsoft.com/office/drawing/2014/main" id="{965C9A31-6FE1-468E-BC71-BAC17C97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147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阶段1</a:t>
            </a:r>
          </a:p>
        </p:txBody>
      </p:sp>
      <p:sp>
        <p:nvSpPr>
          <p:cNvPr id="9" name="连线-9">
            <a:extLst xmlns:a="http://schemas.openxmlformats.org/drawingml/2006/main">
              <a:ext uri="{FF2B5EF4-FFF2-40B4-BE49-F238E27FC236}">
                <a16:creationId xmlns:a16="http://schemas.microsoft.com/office/drawing/2014/main" id="{FC5521ED-FD9E-439E-BC45-C3C76DE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2724150"/>
            <a:ext cx="953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0" name="结构-10">
            <a:extLst xmlns:a="http://schemas.openxmlformats.org/drawingml/2006/main">
              <a:ext uri="{FF2B5EF4-FFF2-40B4-BE49-F238E27FC236}">
                <a16:creationId xmlns:a16="http://schemas.microsoft.com/office/drawing/2014/main" id="{F312BEAE-5552-4B1C-9EB8-3A8E2B6A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文字-11-关键事件填写进展">
            <a:extLst xmlns:a="http://schemas.openxmlformats.org/drawingml/2006/main">
              <a:ext uri="{FF2B5EF4-FFF2-40B4-BE49-F238E27FC236}">
                <a16:creationId xmlns:a16="http://schemas.microsoft.com/office/drawing/2014/main" id="{6962A09C-D354-4FAA-AB6A-554EF96D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019300"/>
            <a:ext cx="105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填写进展</a:t>
            </a:r>
          </a:p>
        </p:txBody>
      </p:sp>
      <p:sp>
        <p:nvSpPr>
          <p:cNvPr id="12" name="文字-12-阶段2">
            <a:extLst xmlns:a="http://schemas.openxmlformats.org/drawingml/2006/main">
              <a:ext uri="{FF2B5EF4-FFF2-40B4-BE49-F238E27FC236}">
                <a16:creationId xmlns:a16="http://schemas.microsoft.com/office/drawing/2014/main" id="{959CE37D-4916-4FB6-8986-972C7336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147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阶段2</a:t>
            </a:r>
          </a:p>
        </p:txBody>
      </p:sp>
      <p:sp>
        <p:nvSpPr>
          <p:cNvPr id="13" name="连线-13">
            <a:extLst xmlns:a="http://schemas.openxmlformats.org/drawingml/2006/main">
              <a:ext uri="{FF2B5EF4-FFF2-40B4-BE49-F238E27FC236}">
                <a16:creationId xmlns:a16="http://schemas.microsoft.com/office/drawing/2014/main" id="{2F8097A4-7662-4E84-B5EE-0FF63A9B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19275" y="3819525"/>
            <a:ext cx="953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4" name="结构-14">
            <a:extLst xmlns:a="http://schemas.openxmlformats.org/drawingml/2006/main">
              <a:ext uri="{FF2B5EF4-FFF2-40B4-BE49-F238E27FC236}">
                <a16:creationId xmlns:a16="http://schemas.microsoft.com/office/drawing/2014/main" id="{980A87E6-62ED-423C-A799-B9FC9A3F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91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文字-15-关键事件填写进展">
            <a:extLst xmlns:a="http://schemas.openxmlformats.org/drawingml/2006/main">
              <a:ext uri="{FF2B5EF4-FFF2-40B4-BE49-F238E27FC236}">
                <a16:creationId xmlns:a16="http://schemas.microsoft.com/office/drawing/2014/main" id="{0CAF78D6-8381-4236-9F7C-58E755C0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105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填写进展</a:t>
            </a:r>
          </a:p>
        </p:txBody>
      </p:sp>
      <p:sp>
        <p:nvSpPr>
          <p:cNvPr id="16" name="文字-16-阶段3">
            <a:extLst xmlns:a="http://schemas.openxmlformats.org/drawingml/2006/main">
              <a:ext uri="{FF2B5EF4-FFF2-40B4-BE49-F238E27FC236}">
                <a16:creationId xmlns:a16="http://schemas.microsoft.com/office/drawing/2014/main" id="{A527F2D4-6EC3-4F79-BFC1-5A9A4D88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5147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阶段3</a:t>
            </a:r>
          </a:p>
        </p:txBody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538F7788-3ABF-4B2D-A873-7AF378A3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90850" y="2724150"/>
            <a:ext cx="953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5DE1064D-2D18-405F-90F9-57EFD70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文字-19-关键事件填写进展">
            <a:extLst xmlns:a="http://schemas.openxmlformats.org/drawingml/2006/main">
              <a:ext uri="{FF2B5EF4-FFF2-40B4-BE49-F238E27FC236}">
                <a16:creationId xmlns:a16="http://schemas.microsoft.com/office/drawing/2014/main" id="{4B98C1BE-1180-4638-B36E-2046F195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019300"/>
            <a:ext cx="105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填写进展</a:t>
            </a:r>
          </a:p>
        </p:txBody>
      </p:sp>
      <p:sp>
        <p:nvSpPr>
          <p:cNvPr id="20" name="文字-20-阶段4">
            <a:extLst xmlns:a="http://schemas.openxmlformats.org/drawingml/2006/main">
              <a:ext uri="{FF2B5EF4-FFF2-40B4-BE49-F238E27FC236}">
                <a16:creationId xmlns:a16="http://schemas.microsoft.com/office/drawing/2014/main" id="{B65B38BB-1E72-44FF-A658-9F98A0F3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147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阶段4</a:t>
            </a:r>
          </a:p>
        </p:txBody>
      </p:sp>
      <p:sp>
        <p:nvSpPr>
          <p:cNvPr id="21" name="连线-21">
            <a:extLst xmlns:a="http://schemas.openxmlformats.org/drawingml/2006/main">
              <a:ext uri="{FF2B5EF4-FFF2-40B4-BE49-F238E27FC236}">
                <a16:creationId xmlns:a16="http://schemas.microsoft.com/office/drawing/2014/main" id="{BB0DB32C-E232-4463-9D1C-481A5DC2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62425" y="3819525"/>
            <a:ext cx="953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B3B079F3-E66B-4D70-BDC2-2348F43A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91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文字-23-关键事件填写进展">
            <a:extLst xmlns:a="http://schemas.openxmlformats.org/drawingml/2006/main">
              <a:ext uri="{FF2B5EF4-FFF2-40B4-BE49-F238E27FC236}">
                <a16:creationId xmlns:a16="http://schemas.microsoft.com/office/drawing/2014/main" id="{FE6297FB-0DAE-4736-BFFA-8B611663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76750"/>
            <a:ext cx="105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填写进展</a:t>
            </a:r>
          </a:p>
        </p:txBody>
      </p:sp>
      <p:sp>
        <p:nvSpPr>
          <p:cNvPr id="24" name="文字-24-阶段5">
            <a:extLst xmlns:a="http://schemas.openxmlformats.org/drawingml/2006/main">
              <a:ext uri="{FF2B5EF4-FFF2-40B4-BE49-F238E27FC236}">
                <a16:creationId xmlns:a16="http://schemas.microsoft.com/office/drawing/2014/main" id="{F4DFAD1A-52FF-4A12-A242-616333D2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5147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阶段5</a:t>
            </a:r>
          </a:p>
        </p:txBody>
      </p:sp>
      <p:sp>
        <p:nvSpPr>
          <p:cNvPr id="25" name="连线-25">
            <a:extLst xmlns:a="http://schemas.openxmlformats.org/drawingml/2006/main">
              <a:ext uri="{FF2B5EF4-FFF2-40B4-BE49-F238E27FC236}">
                <a16:creationId xmlns:a16="http://schemas.microsoft.com/office/drawing/2014/main" id="{9A959548-443A-4EAC-95A5-02672914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2724150"/>
            <a:ext cx="953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73DD61B8-9278-4428-9B30-51D125BB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文字-27-关键事件填写进展">
            <a:extLst xmlns:a="http://schemas.openxmlformats.org/drawingml/2006/main">
              <a:ext uri="{FF2B5EF4-FFF2-40B4-BE49-F238E27FC236}">
                <a16:creationId xmlns:a16="http://schemas.microsoft.com/office/drawing/2014/main" id="{FE3030C1-C318-43F6-9BEC-129252A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19300"/>
            <a:ext cx="105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填写进展</a:t>
            </a:r>
          </a:p>
        </p:txBody>
      </p:sp>
      <p:sp>
        <p:nvSpPr>
          <p:cNvPr id="28" name="文字-28-阶段6">
            <a:extLst xmlns:a="http://schemas.openxmlformats.org/drawingml/2006/main">
              <a:ext uri="{FF2B5EF4-FFF2-40B4-BE49-F238E27FC236}">
                <a16:creationId xmlns:a16="http://schemas.microsoft.com/office/drawing/2014/main" id="{97000082-7AAF-48C5-94FE-C995E992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147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阶段6</a:t>
            </a:r>
          </a:p>
        </p:txBody>
      </p:sp>
      <p:sp>
        <p:nvSpPr>
          <p:cNvPr id="29" name="连线-29">
            <a:extLst xmlns:a="http://schemas.openxmlformats.org/drawingml/2006/main">
              <a:ext uri="{FF2B5EF4-FFF2-40B4-BE49-F238E27FC236}">
                <a16:creationId xmlns:a16="http://schemas.microsoft.com/office/drawing/2014/main" id="{12EB7F25-3245-4357-8B42-22259F51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5575" y="3819525"/>
            <a:ext cx="953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0" name="结构-30">
            <a:extLst xmlns:a="http://schemas.openxmlformats.org/drawingml/2006/main">
              <a:ext uri="{FF2B5EF4-FFF2-40B4-BE49-F238E27FC236}">
                <a16:creationId xmlns:a16="http://schemas.microsoft.com/office/drawing/2014/main" id="{0128EC12-0788-4815-B0DB-00C212B8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文字-31-关键事件填写进展">
            <a:extLst xmlns:a="http://schemas.openxmlformats.org/drawingml/2006/main">
              <a:ext uri="{FF2B5EF4-FFF2-40B4-BE49-F238E27FC236}">
                <a16:creationId xmlns:a16="http://schemas.microsoft.com/office/drawing/2014/main" id="{0CB961A3-C06E-41E2-86B2-68B5959B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105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填写进展</a:t>
            </a:r>
          </a:p>
        </p:txBody>
      </p:sp>
      <p:sp>
        <p:nvSpPr>
          <p:cNvPr id="32" name="文字-32-阶段7">
            <a:extLst xmlns:a="http://schemas.openxmlformats.org/drawingml/2006/main">
              <a:ext uri="{FF2B5EF4-FFF2-40B4-BE49-F238E27FC236}">
                <a16:creationId xmlns:a16="http://schemas.microsoft.com/office/drawing/2014/main" id="{EB8C6232-C900-4D60-9DBD-8BA1F0B9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147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阶段7</a:t>
            </a:r>
          </a:p>
        </p:txBody>
      </p:sp>
      <p:sp>
        <p:nvSpPr>
          <p:cNvPr id="33" name="连线-33">
            <a:extLst xmlns:a="http://schemas.openxmlformats.org/drawingml/2006/main">
              <a:ext uri="{FF2B5EF4-FFF2-40B4-BE49-F238E27FC236}">
                <a16:creationId xmlns:a16="http://schemas.microsoft.com/office/drawing/2014/main" id="{DCBC7228-5F69-4F25-ADAD-CF201968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77150" y="2724150"/>
            <a:ext cx="953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ACFF51B2-D300-4458-85F5-884D043B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文字-35-关键事件填写进展">
            <a:extLst xmlns:a="http://schemas.openxmlformats.org/drawingml/2006/main">
              <a:ext uri="{FF2B5EF4-FFF2-40B4-BE49-F238E27FC236}">
                <a16:creationId xmlns:a16="http://schemas.microsoft.com/office/drawing/2014/main" id="{71CCFBB1-9FDC-4A0A-B410-E6F21DCC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19300"/>
            <a:ext cx="105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填写进展</a:t>
            </a:r>
          </a:p>
        </p:txBody>
      </p:sp>
      <p:sp>
        <p:nvSpPr>
          <p:cNvPr id="36" name="文字-36-阶段8">
            <a:extLst xmlns:a="http://schemas.openxmlformats.org/drawingml/2006/main">
              <a:ext uri="{FF2B5EF4-FFF2-40B4-BE49-F238E27FC236}">
                <a16:creationId xmlns:a16="http://schemas.microsoft.com/office/drawing/2014/main" id="{02B52748-49A3-4B0C-A0B7-FF011B6A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147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阶段8</a:t>
            </a:r>
          </a:p>
        </p:txBody>
      </p:sp>
      <p:sp>
        <p:nvSpPr>
          <p:cNvPr id="37" name="连线-37">
            <a:extLst xmlns:a="http://schemas.openxmlformats.org/drawingml/2006/main">
              <a:ext uri="{FF2B5EF4-FFF2-40B4-BE49-F238E27FC236}">
                <a16:creationId xmlns:a16="http://schemas.microsoft.com/office/drawing/2014/main" id="{42C32D5B-4B13-45B2-A463-D126E29A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48725" y="3819525"/>
            <a:ext cx="953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8" name="结构-38">
            <a:extLst xmlns:a="http://schemas.openxmlformats.org/drawingml/2006/main">
              <a:ext uri="{FF2B5EF4-FFF2-40B4-BE49-F238E27FC236}">
                <a16:creationId xmlns:a16="http://schemas.microsoft.com/office/drawing/2014/main" id="{4D02254B-80B0-4359-9ED5-46277105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91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文字-39-关键事件填写进展">
            <a:extLst xmlns:a="http://schemas.openxmlformats.org/drawingml/2006/main">
              <a:ext uri="{FF2B5EF4-FFF2-40B4-BE49-F238E27FC236}">
                <a16:creationId xmlns:a16="http://schemas.microsoft.com/office/drawing/2014/main" id="{1A908728-064A-4FBD-AD2B-60681EA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76750"/>
            <a:ext cx="105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填写进展</a:t>
            </a:r>
          </a:p>
        </p:txBody>
      </p:sp>
      <p:sp>
        <p:nvSpPr>
          <p:cNvPr id="40" name="文字-40-阶段9">
            <a:extLst xmlns:a="http://schemas.openxmlformats.org/drawingml/2006/main">
              <a:ext uri="{FF2B5EF4-FFF2-40B4-BE49-F238E27FC236}">
                <a16:creationId xmlns:a16="http://schemas.microsoft.com/office/drawing/2014/main" id="{7658CE27-03C8-46C0-99D6-6A7A3D2F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5147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阶段9</a:t>
            </a:r>
          </a:p>
        </p:txBody>
      </p:sp>
      <p:sp>
        <p:nvSpPr>
          <p:cNvPr id="41" name="连线-41">
            <a:extLst xmlns:a="http://schemas.openxmlformats.org/drawingml/2006/main">
              <a:ext uri="{FF2B5EF4-FFF2-40B4-BE49-F238E27FC236}">
                <a16:creationId xmlns:a16="http://schemas.microsoft.com/office/drawing/2014/main" id="{86462717-481E-4ED3-8918-C2702E3B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20300" y="2724150"/>
            <a:ext cx="953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42" name="结构-42">
            <a:extLst xmlns:a="http://schemas.openxmlformats.org/drawingml/2006/main">
              <a:ext uri="{FF2B5EF4-FFF2-40B4-BE49-F238E27FC236}">
                <a16:creationId xmlns:a16="http://schemas.microsoft.com/office/drawing/2014/main" id="{49CC968C-CADB-4EBC-B528-10CE87DE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95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文字-43-关键事件填写进展">
            <a:extLst xmlns:a="http://schemas.openxmlformats.org/drawingml/2006/main">
              <a:ext uri="{FF2B5EF4-FFF2-40B4-BE49-F238E27FC236}">
                <a16:creationId xmlns:a16="http://schemas.microsoft.com/office/drawing/2014/main" id="{FE6E7372-5EE9-4CA2-A68A-1801B86B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019300"/>
            <a:ext cx="105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填写进展</a:t>
            </a:r>
          </a:p>
        </p:txBody>
      </p:sp>
      <p:sp>
        <p:nvSpPr>
          <p:cNvPr id="44" name="文字-44-阶段10">
            <a:extLst xmlns:a="http://schemas.openxmlformats.org/drawingml/2006/main">
              <a:ext uri="{FF2B5EF4-FFF2-40B4-BE49-F238E27FC236}">
                <a16:creationId xmlns:a16="http://schemas.microsoft.com/office/drawing/2014/main" id="{2E31CE86-9BC5-4FB3-9B3C-024038A2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5147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阶段10</a:t>
            </a:r>
          </a:p>
        </p:txBody>
      </p:sp>
      <p:sp>
        <p:nvSpPr>
          <p:cNvPr id="45" name="连线-45">
            <a:extLst xmlns:a="http://schemas.openxmlformats.org/drawingml/2006/main">
              <a:ext uri="{FF2B5EF4-FFF2-40B4-BE49-F238E27FC236}">
                <a16:creationId xmlns:a16="http://schemas.microsoft.com/office/drawing/2014/main" id="{596C20DA-63F5-4455-A782-2BE7AD0C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91875" y="3819525"/>
            <a:ext cx="953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46" name="结构-46">
            <a:extLst xmlns:a="http://schemas.openxmlformats.org/drawingml/2006/main">
              <a:ext uri="{FF2B5EF4-FFF2-40B4-BE49-F238E27FC236}">
                <a16:creationId xmlns:a16="http://schemas.microsoft.com/office/drawing/2014/main" id="{D08447B2-5623-4F6E-9045-56405972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391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文字-47-关键事件填写进展">
            <a:extLst xmlns:a="http://schemas.openxmlformats.org/drawingml/2006/main">
              <a:ext uri="{FF2B5EF4-FFF2-40B4-BE49-F238E27FC236}">
                <a16:creationId xmlns:a16="http://schemas.microsoft.com/office/drawing/2014/main" id="{B9AB45B6-EF7E-483A-B5BD-51860354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476750"/>
            <a:ext cx="10572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关键事件</a:t>
            </a:r>
          </a:p>
          <a:p xmlns:a="http://schemas.openxmlformats.org/drawingml/2006/main">
            <a:pPr algn="ctr">
              <a:def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填写进展</a:t>
            </a:r>
          </a:p>
        </p:txBody>
      </p:sp>
      <p:sp>
        <p:nvSpPr>
          <p:cNvPr id="48" name="图片区-48">
            <a:extLst xmlns:a="http://schemas.openxmlformats.org/drawingml/2006/main">
              <a:ext uri="{FF2B5EF4-FFF2-40B4-BE49-F238E27FC236}">
                <a16:creationId xmlns:a16="http://schemas.microsoft.com/office/drawing/2014/main" id="{16880EC2-58E4-40C3-A792-ADDA90EB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05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49" name="图片区-49">
            <a:extLst xmlns:a="http://schemas.openxmlformats.org/drawingml/2006/main">
              <a:ext uri="{FF2B5EF4-FFF2-40B4-BE49-F238E27FC236}">
                <a16:creationId xmlns:a16="http://schemas.microsoft.com/office/drawing/2014/main" id="{010D1B9E-CD6A-4C09-BBB9-5FA4EFDD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466850"/>
            <a:ext cx="2562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50" name="图片区-50">
            <a:extLst xmlns:a="http://schemas.openxmlformats.org/drawingml/2006/main">
              <a:ext uri="{FF2B5EF4-FFF2-40B4-BE49-F238E27FC236}">
                <a16:creationId xmlns:a16="http://schemas.microsoft.com/office/drawing/2014/main" id="{D3394C92-CCC2-45A7-87F8-F9A67CE3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466850"/>
            <a:ext cx="2619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51" name="图片区-51">
            <a:extLst xmlns:a="http://schemas.openxmlformats.org/drawingml/2006/main">
              <a:ext uri="{FF2B5EF4-FFF2-40B4-BE49-F238E27FC236}">
                <a16:creationId xmlns:a16="http://schemas.microsoft.com/office/drawing/2014/main" id="{8640B26C-F982-4475-AD42-5AD49E41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72075"/>
            <a:ext cx="23431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52" name="图片区-52">
            <a:extLst xmlns:a="http://schemas.openxmlformats.org/drawingml/2006/main">
              <a:ext uri="{FF2B5EF4-FFF2-40B4-BE49-F238E27FC236}">
                <a16:creationId xmlns:a16="http://schemas.microsoft.com/office/drawing/2014/main" id="{7F773A0E-70A9-484B-BB4D-43C6763F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72075"/>
            <a:ext cx="30575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53" name="文字-53-概括发展趋势带来的研究需">
            <a:extLst xmlns:a="http://schemas.openxmlformats.org/drawingml/2006/main">
              <a:ext uri="{FF2B5EF4-FFF2-40B4-BE49-F238E27FC236}">
                <a16:creationId xmlns:a16="http://schemas.microsoft.com/office/drawing/2014/main" id="{A41FFBF0-BD00-48E8-8C01-F4B2ED9A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076950"/>
            <a:ext cx="11696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概括发展趋势带来的研究需求，以及本研究的切入点</a:t>
            </a:r>
          </a:p>
        </p:txBody>
      </p:sp>
    </p:spTree>
    <p:extLst>
      <p:ext uri="{BB962C8B-B14F-4D97-AF65-F5344CB8AC3E}">
        <p14:creationId xmlns:p14="http://schemas.microsoft.com/office/powerpoint/2010/main" val="266916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结构-1">
            <a:extLst xmlns:a="http://schemas.openxmlformats.org/drawingml/2006/main">
              <a:ext uri="{FF2B5EF4-FFF2-40B4-BE49-F238E27FC236}">
                <a16:creationId xmlns:a16="http://schemas.microsoft.com/office/drawing/2014/main" id="{EC57A531-560D-42F1-B74E-2436C150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对象与关键环节">
            <a:extLst xmlns:a="http://schemas.openxmlformats.org/drawingml/2006/main">
              <a:ext uri="{FF2B5EF4-FFF2-40B4-BE49-F238E27FC236}">
                <a16:creationId xmlns:a16="http://schemas.microsoft.com/office/drawing/2014/main" id="{6A6F1EF1-7FED-4B18-B14A-204B82BD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研究对象与关键环节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3538B3A9-B0C7-4CD0-A4CF-ECFFF1A8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C0E3B59B-3E46-4A1F-9A9E-8BFBD472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研究对象由哪些要素共">
            <a:extLst xmlns:a="http://schemas.openxmlformats.org/drawingml/2006/main">
              <a:ext uri="{FF2B5EF4-FFF2-40B4-BE49-F238E27FC236}">
                <a16:creationId xmlns:a16="http://schemas.microsoft.com/office/drawing/2014/main" id="{E373E751-6133-4395-AD1A-641F0FA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说明研究对象由哪些要素共同构成</a:t>
            </a:r>
          </a:p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突出规模、精度、流程或协同方面的复杂性</a:t>
            </a:r>
          </a:p>
        </p:txBody>
      </p:sp>
      <p:sp>
        <p:nvSpPr>
          <p:cNvPr id="6" name="图片区-6">
            <a:extLst xmlns:a="http://schemas.openxmlformats.org/drawingml/2006/main">
              <a:ext uri="{FF2B5EF4-FFF2-40B4-BE49-F238E27FC236}">
                <a16:creationId xmlns:a16="http://schemas.microsoft.com/office/drawing/2014/main" id="{73ABEA7D-69F6-4A74-985B-6102C2E1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0572750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7" name="文字-7-组成部分一">
            <a:extLst xmlns:a="http://schemas.openxmlformats.org/drawingml/2006/main">
              <a:ext uri="{FF2B5EF4-FFF2-40B4-BE49-F238E27FC236}">
                <a16:creationId xmlns:a16="http://schemas.microsoft.com/office/drawing/2014/main" id="{F4B86869-4CD4-45D4-A0B0-86814C96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19300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组成部分一</a:t>
            </a:r>
          </a:p>
        </p:txBody>
      </p:sp>
      <p:sp>
        <p:nvSpPr>
          <p:cNvPr id="8" name="连线-8">
            <a:extLst xmlns:a="http://schemas.openxmlformats.org/drawingml/2006/main">
              <a:ext uri="{FF2B5EF4-FFF2-40B4-BE49-F238E27FC236}">
                <a16:creationId xmlns:a16="http://schemas.microsoft.com/office/drawing/2014/main" id="{61BA458C-0313-45B9-BB29-78C41997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24025" y="2400300"/>
            <a:ext cx="41910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solid"/>
          </a:ln>
        </p:spPr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885CDCAA-42DE-4A93-A930-7E608A2F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598" y="3234317"/>
            <a:ext cx="85527" cy="118483"/>
          </a:xfrm>
          <a:custGeom xmlns:a="http://schemas.openxmlformats.org/drawingml/2006/main">
            <a:pathLst>
              <a:path w="85527" h="118483">
                <a:moveTo>
                  <a:pt x="85527" y="118483"/>
                </a:moveTo>
                <a:lnTo>
                  <a:pt x="82825" y="0"/>
                </a:lnTo>
                <a:lnTo>
                  <a:pt x="0" y="36443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0" name="文字-10-组成部分二">
            <a:extLst xmlns:a="http://schemas.openxmlformats.org/drawingml/2006/main">
              <a:ext uri="{FF2B5EF4-FFF2-40B4-BE49-F238E27FC236}">
                <a16:creationId xmlns:a16="http://schemas.microsoft.com/office/drawing/2014/main" id="{AA4C2B0D-1232-45D0-B46E-AD89F442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954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组成部分二</a:t>
            </a:r>
          </a:p>
        </p:txBody>
      </p:sp>
      <p:sp>
        <p:nvSpPr>
          <p:cNvPr id="11" name="连线-11">
            <a:extLst xmlns:a="http://schemas.openxmlformats.org/drawingml/2006/main">
              <a:ext uri="{FF2B5EF4-FFF2-40B4-BE49-F238E27FC236}">
                <a16:creationId xmlns:a16="http://schemas.microsoft.com/office/drawing/2014/main" id="{D8E4C1DD-61DB-4A2E-9F2B-E0880E25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143500" y="2276475"/>
            <a:ext cx="314325" cy="933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solid"/>
          </a:ln>
        </p:spPr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5417499F-D4D0-436A-9D81-A6AD82D5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578" y="3091676"/>
            <a:ext cx="85756" cy="118249"/>
          </a:xfrm>
          <a:custGeom xmlns:a="http://schemas.openxmlformats.org/drawingml/2006/main">
            <a:pathLst>
              <a:path w="85756" h="118249">
                <a:moveTo>
                  <a:pt x="7922" y="118249"/>
                </a:moveTo>
                <a:lnTo>
                  <a:pt x="85756" y="288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3" name="文字-13-组成部分三">
            <a:extLst xmlns:a="http://schemas.openxmlformats.org/drawingml/2006/main">
              <a:ext uri="{FF2B5EF4-FFF2-40B4-BE49-F238E27FC236}">
                <a16:creationId xmlns:a16="http://schemas.microsoft.com/office/drawing/2014/main" id="{9CB1B7FB-B800-4294-B2E2-1B401453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050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组成部分三</a:t>
            </a:r>
          </a:p>
        </p:txBody>
      </p:sp>
      <p:sp>
        <p:nvSpPr>
          <p:cNvPr id="14" name="连线-14">
            <a:extLst xmlns:a="http://schemas.openxmlformats.org/drawingml/2006/main">
              <a:ext uri="{FF2B5EF4-FFF2-40B4-BE49-F238E27FC236}">
                <a16:creationId xmlns:a16="http://schemas.microsoft.com/office/drawing/2014/main" id="{E2A122E5-0DD1-4531-BBEB-B98A8E78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191500" y="2886075"/>
            <a:ext cx="542925" cy="923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solid"/>
          </a:ln>
        </p:spPr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3BEEDA33-C648-4148-9D7B-330E9438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2639"/>
            <a:ext cx="94503" cy="117361"/>
          </a:xfrm>
          <a:custGeom xmlns:a="http://schemas.openxmlformats.org/drawingml/2006/main">
            <a:pathLst>
              <a:path w="94503" h="117361">
                <a:moveTo>
                  <a:pt x="0" y="117361"/>
                </a:moveTo>
                <a:lnTo>
                  <a:pt x="94503" y="45844"/>
                </a:lnTo>
                <a:lnTo>
                  <a:pt x="16488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6" name="文字-16-约束或风险一">
            <a:extLst xmlns:a="http://schemas.openxmlformats.org/drawingml/2006/main">
              <a:ext uri="{FF2B5EF4-FFF2-40B4-BE49-F238E27FC236}">
                <a16:creationId xmlns:a16="http://schemas.microsoft.com/office/drawing/2014/main" id="{F903776D-3D40-4BCB-9EA9-95E1A840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29175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约束或风险一</a:t>
            </a:r>
          </a:p>
        </p:txBody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6F19CD24-67CF-466E-ADA0-11A2035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28875" y="4438650"/>
            <a:ext cx="139065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solid"/>
          </a:ln>
        </p:spPr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C297EA7E-352B-4521-93D4-D0AFC376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123" y="4422456"/>
            <a:ext cx="117402" cy="87570"/>
          </a:xfrm>
          <a:custGeom xmlns:a="http://schemas.openxmlformats.org/drawingml/2006/main">
            <a:pathLst>
              <a:path w="117402" h="87570">
                <a:moveTo>
                  <a:pt x="117402" y="16194"/>
                </a:moveTo>
                <a:lnTo>
                  <a:pt x="0" y="0"/>
                </a:lnTo>
                <a:lnTo>
                  <a:pt x="22792" y="8757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9" name="文字-19-约束或风险二">
            <a:extLst xmlns:a="http://schemas.openxmlformats.org/drawingml/2006/main">
              <a:ext uri="{FF2B5EF4-FFF2-40B4-BE49-F238E27FC236}">
                <a16:creationId xmlns:a16="http://schemas.microsoft.com/office/drawing/2014/main" id="{6CDBDF3A-E38A-455D-9960-D4E42268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953000"/>
            <a:ext cx="1857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约束或风险二</a:t>
            </a:r>
          </a:p>
        </p:txBody>
      </p:sp>
      <p:sp>
        <p:nvSpPr>
          <p:cNvPr id="20" name="连线-20">
            <a:extLst xmlns:a="http://schemas.openxmlformats.org/drawingml/2006/main">
              <a:ext uri="{FF2B5EF4-FFF2-40B4-BE49-F238E27FC236}">
                <a16:creationId xmlns:a16="http://schemas.microsoft.com/office/drawing/2014/main" id="{E6CF6454-BE2E-4C24-BEB2-6410C8BE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524750" y="4391025"/>
            <a:ext cx="638175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solid"/>
          </a:ln>
        </p:spPr>
      </p:sp>
      <p:sp>
        <p:nvSpPr>
          <p:cNvPr id="21" name="结构-21">
            <a:extLst xmlns:a="http://schemas.openxmlformats.org/drawingml/2006/main">
              <a:ext uri="{FF2B5EF4-FFF2-40B4-BE49-F238E27FC236}">
                <a16:creationId xmlns:a16="http://schemas.microsoft.com/office/drawing/2014/main" id="{477E78E2-DBCD-4216-8AF1-87E3620D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91025"/>
            <a:ext cx="113061" cy="104962"/>
          </a:xfrm>
          <a:custGeom xmlns:a="http://schemas.openxmlformats.org/drawingml/2006/main">
            <a:pathLst>
              <a:path w="113061" h="104962">
                <a:moveTo>
                  <a:pt x="0" y="0"/>
                </a:moveTo>
                <a:lnTo>
                  <a:pt x="55031" y="104962"/>
                </a:lnTo>
                <a:lnTo>
                  <a:pt x="113061" y="35533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2" name="文字-22-规模指标：填写精度指标：">
            <a:extLst xmlns:a="http://schemas.openxmlformats.org/drawingml/2006/main">
              <a:ext uri="{FF2B5EF4-FFF2-40B4-BE49-F238E27FC236}">
                <a16:creationId xmlns:a16="http://schemas.microsoft.com/office/drawing/2014/main" id="{475CAA91-7C91-4EA7-948A-9E063150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33550"/>
            <a:ext cx="26574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规模指标：填写</a:t>
            </a:r>
          </a:p>
          <a:p xmlns:a="http://schemas.openxmlformats.org/drawingml/2006/main">
            <a:pPr algn="ctr">
              <a:def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精度指标：填写</a:t>
            </a:r>
          </a:p>
          <a:p xmlns:a="http://schemas.openxmlformats.org/drawingml/2006/main">
            <a:pPr algn="ctr">
              <a:def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复杂度：填写</a:t>
            </a:r>
          </a:p>
        </p:txBody>
      </p:sp>
      <p:sp>
        <p:nvSpPr>
          <p:cNvPr id="23" name="文字-23-说明局部结构、关键约束与">
            <a:extLst xmlns:a="http://schemas.openxmlformats.org/drawingml/2006/main">
              <a:ext uri="{FF2B5EF4-FFF2-40B4-BE49-F238E27FC236}">
                <a16:creationId xmlns:a16="http://schemas.microsoft.com/office/drawing/2014/main" id="{81BF89DF-5F3F-4E8D-95A6-33AAC378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说明局部结构、关键约束与整体性能之间的关系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2129961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文字-1-3.2 研究内容">
            <a:extLst xmlns:a="http://schemas.openxmlformats.org/drawingml/2006/main">
              <a:ext uri="{FF2B5EF4-FFF2-40B4-BE49-F238E27FC236}">
                <a16:creationId xmlns:a16="http://schemas.microsoft.com/office/drawing/2014/main" id="{0111A65F-6856-4C2F-A75C-E28B3C6D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3.2 研究内容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E1782232-13A8-4063-87C4-C27C0034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32F39790-8687-414F-9263-EC85FEBA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74420"/>
            <a:ext cx="11454390" cy="746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073E86"/>
            </a:solidFill>
            <a:prstDash val="solid"/>
          </a:ln>
        </p:spPr>
      </p:sp>
      <p:sp>
        <p:nvSpPr>
          <p:cNvPr id="4" name="文字-4-填写装置或结构名称">
            <a:extLst xmlns:a="http://schemas.openxmlformats.org/drawingml/2006/main">
              <a:ext uri="{FF2B5EF4-FFF2-40B4-BE49-F238E27FC236}">
                <a16:creationId xmlns:a16="http://schemas.microsoft.com/office/drawing/2014/main" id="{0D6F6635-87D4-4548-A061-3BD5E161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555" y="914400"/>
            <a:ext cx="3670888" cy="365760"/>
          </a:xfrm>
          <a:prstGeom xmlns:a="http://schemas.openxmlformats.org/drawingml/2006/main" prst="roundRect">
            <a:avLst>
              <a:gd name="adj" fmla="val 15940"/>
            </a:avLst>
          </a:prstGeom>
          <a:solidFill xmlns:a="http://schemas.openxmlformats.org/drawingml/2006/main">
            <a:srgbClr val="1979B5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装置或结构名称</a:t>
            </a:r>
          </a:p>
        </p:txBody>
      </p:sp>
      <p:sp>
        <p:nvSpPr>
          <p:cNvPr id="5" name="文字-5-说明关键组成及其共同形成的功">
            <a:extLst xmlns:a="http://schemas.openxmlformats.org/drawingml/2006/main">
              <a:ext uri="{FF2B5EF4-FFF2-40B4-BE49-F238E27FC236}">
                <a16:creationId xmlns:a16="http://schemas.microsoft.com/office/drawing/2014/main" id="{9BBDA649-6C2F-45EA-A6F5-E16E0F74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1356360"/>
            <a:ext cx="110888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关键组成及其共同形成的功能</a:t>
            </a:r>
          </a:p>
        </p:txBody>
      </p:sp>
      <p:sp>
        <p:nvSpPr>
          <p:cNvPr id="6" name="对象-6">
            <a:extLst xmlns:a="http://schemas.openxmlformats.org/drawingml/2006/main">
              <a:ext uri="{FF2B5EF4-FFF2-40B4-BE49-F238E27FC236}">
                <a16:creationId xmlns:a16="http://schemas.microsoft.com/office/drawing/2014/main" id="{BBA51AFC-1613-4A78-9A49-DA20EB93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072640"/>
            <a:ext cx="1957300" cy="399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7" name="图片区-1-装置外观">
            <a:extLst xmlns:a="http://schemas.openxmlformats.org/drawingml/2006/main">
              <a:ext uri="{FF2B5EF4-FFF2-40B4-BE49-F238E27FC236}">
                <a16:creationId xmlns:a16="http://schemas.microsoft.com/office/drawing/2014/main" id="{9C7139ED-998B-4C1C-9705-9536EA8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" y="2217420"/>
            <a:ext cx="1698357" cy="1493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8" name="文字-8-填写主要功能一">
            <a:extLst xmlns:a="http://schemas.openxmlformats.org/drawingml/2006/main">
              <a:ext uri="{FF2B5EF4-FFF2-40B4-BE49-F238E27FC236}">
                <a16:creationId xmlns:a16="http://schemas.microsoft.com/office/drawing/2014/main" id="{01A98332-4C10-4420-8ADF-8F0973DF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3878580"/>
            <a:ext cx="1713589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主要功能一</a:t>
            </a:r>
          </a:p>
        </p:txBody>
      </p:sp>
      <p:sp>
        <p:nvSpPr>
          <p:cNvPr id="9" name="对象-9">
            <a:extLst xmlns:a="http://schemas.openxmlformats.org/drawingml/2006/main">
              <a:ext uri="{FF2B5EF4-FFF2-40B4-BE49-F238E27FC236}">
                <a16:creationId xmlns:a16="http://schemas.microsoft.com/office/drawing/2014/main" id="{6935FE1C-1E17-4E82-BA50-965AE067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32" y="4579620"/>
            <a:ext cx="281790" cy="289560"/>
          </a:xfrm>
          <a:prstGeom xmlns:a="http://schemas.openxmlformats.org/drawingml/2006/main" prst="plus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文字-10-填写关键特性">
            <a:extLst xmlns:a="http://schemas.openxmlformats.org/drawingml/2006/main">
              <a:ext uri="{FF2B5EF4-FFF2-40B4-BE49-F238E27FC236}">
                <a16:creationId xmlns:a16="http://schemas.microsoft.com/office/drawing/2014/main" id="{A911B5B1-6935-4F8D-B408-077B7B81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" y="5105400"/>
            <a:ext cx="1713589" cy="632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关键特性</a:t>
            </a:r>
          </a:p>
        </p:txBody>
      </p:sp>
      <p:sp>
        <p:nvSpPr>
          <p:cNvPr id="11" name="对象-11">
            <a:extLst xmlns:a="http://schemas.openxmlformats.org/drawingml/2006/main">
              <a:ext uri="{FF2B5EF4-FFF2-40B4-BE49-F238E27FC236}">
                <a16:creationId xmlns:a16="http://schemas.microsoft.com/office/drawing/2014/main" id="{9BC1DCB4-22AE-4591-A877-0F2EFE84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983" y="2072640"/>
            <a:ext cx="1820212" cy="399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2" name="图片区-2-局部结构">
            <a:extLst xmlns:a="http://schemas.openxmlformats.org/drawingml/2006/main">
              <a:ext uri="{FF2B5EF4-FFF2-40B4-BE49-F238E27FC236}">
                <a16:creationId xmlns:a16="http://schemas.microsoft.com/office/drawing/2014/main" id="{C6C7803D-BADA-4C02-9CDB-DA6C9CCD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070" y="2217420"/>
            <a:ext cx="1538422" cy="1493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3" name="文字-13-填写主要功能二">
            <a:extLst xmlns:a="http://schemas.openxmlformats.org/drawingml/2006/main">
              <a:ext uri="{FF2B5EF4-FFF2-40B4-BE49-F238E27FC236}">
                <a16:creationId xmlns:a16="http://schemas.microsoft.com/office/drawing/2014/main" id="{551A90BB-9465-41FB-8B30-298FA011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070" y="3878580"/>
            <a:ext cx="1538422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主要功能二</a:t>
            </a:r>
          </a:p>
        </p:txBody>
      </p:sp>
      <p:sp>
        <p:nvSpPr>
          <p:cNvPr id="14" name="对象-14">
            <a:extLst xmlns:a="http://schemas.openxmlformats.org/drawingml/2006/main">
              <a:ext uri="{FF2B5EF4-FFF2-40B4-BE49-F238E27FC236}">
                <a16:creationId xmlns:a16="http://schemas.microsoft.com/office/drawing/2014/main" id="{AFE70A16-ED0D-4277-8BC6-FC0B82B1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194" y="4579620"/>
            <a:ext cx="281790" cy="289560"/>
          </a:xfrm>
          <a:prstGeom xmlns:a="http://schemas.openxmlformats.org/drawingml/2006/main" prst="plus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文字-15-填写辅助作用">
            <a:extLst xmlns:a="http://schemas.openxmlformats.org/drawingml/2006/main">
              <a:ext uri="{FF2B5EF4-FFF2-40B4-BE49-F238E27FC236}">
                <a16:creationId xmlns:a16="http://schemas.microsoft.com/office/drawing/2014/main" id="{5B737551-C979-45C8-92FD-3DE4D0D9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070" y="5105400"/>
            <a:ext cx="1538422" cy="632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辅助作用</a:t>
            </a:r>
          </a:p>
        </p:txBody>
      </p:sp>
      <p:sp>
        <p:nvSpPr>
          <p:cNvPr id="16" name="图片区-3-装置剖面一">
            <a:extLst xmlns:a="http://schemas.openxmlformats.org/drawingml/2006/main">
              <a:ext uri="{FF2B5EF4-FFF2-40B4-BE49-F238E27FC236}">
                <a16:creationId xmlns:a16="http://schemas.microsoft.com/office/drawing/2014/main" id="{0981E4C7-C97C-4ECA-A7C4-810FE0E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351" y="2697480"/>
            <a:ext cx="7219922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7" name="图片区-4-装置剖面二">
            <a:extLst xmlns:a="http://schemas.openxmlformats.org/drawingml/2006/main">
              <a:ext uri="{FF2B5EF4-FFF2-40B4-BE49-F238E27FC236}">
                <a16:creationId xmlns:a16="http://schemas.microsoft.com/office/drawing/2014/main" id="{109C6179-FAA0-4180-80D9-A1F27977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351" y="4701540"/>
            <a:ext cx="7219922" cy="94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8" name="文字-18-部件一">
            <a:extLst xmlns:a="http://schemas.openxmlformats.org/drawingml/2006/main">
              <a:ext uri="{FF2B5EF4-FFF2-40B4-BE49-F238E27FC236}">
                <a16:creationId xmlns:a16="http://schemas.microsoft.com/office/drawing/2014/main" id="{9F5ADC4A-38BB-4B2C-ADA8-6EA3CB0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286" y="2156460"/>
            <a:ext cx="12414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部件一</a:t>
            </a:r>
          </a:p>
        </p:txBody>
      </p:sp>
      <p:sp>
        <p:nvSpPr>
          <p:cNvPr id="19" name="连线-19">
            <a:extLst xmlns:a="http://schemas.openxmlformats.org/drawingml/2006/main">
              <a:ext uri="{FF2B5EF4-FFF2-40B4-BE49-F238E27FC236}">
                <a16:creationId xmlns:a16="http://schemas.microsoft.com/office/drawing/2014/main" id="{64A961D1-31E4-431D-9F82-3EE1FC76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08562" y="2514600"/>
            <a:ext cx="83776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7">
            <a:solidFill>
              <a:srgbClr val="777777"/>
            </a:solidFill>
            <a:prstDash val="solid"/>
          </a:ln>
        </p:spPr>
      </p:sp>
      <p:sp>
        <p:nvSpPr>
          <p:cNvPr id="20" name="连线-20">
            <a:extLst xmlns:a="http://schemas.openxmlformats.org/drawingml/2006/main">
              <a:ext uri="{FF2B5EF4-FFF2-40B4-BE49-F238E27FC236}">
                <a16:creationId xmlns:a16="http://schemas.microsoft.com/office/drawing/2014/main" id="{710B8831-1997-4DE8-8A8D-00948D45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92337" y="2621280"/>
            <a:ext cx="106624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7">
            <a:solidFill>
              <a:srgbClr val="777777"/>
            </a:solidFill>
            <a:prstDash val="solid"/>
          </a:ln>
        </p:spPr>
      </p:sp>
      <p:sp>
        <p:nvSpPr>
          <p:cNvPr id="21" name="结构-21">
            <a:extLst xmlns:a="http://schemas.openxmlformats.org/drawingml/2006/main">
              <a:ext uri="{FF2B5EF4-FFF2-40B4-BE49-F238E27FC236}">
                <a16:creationId xmlns:a16="http://schemas.microsoft.com/office/drawing/2014/main" id="{5DA4E1E0-8B84-45DD-8FC2-5473565A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889" y="2771955"/>
            <a:ext cx="78169" cy="108406"/>
          </a:xfrm>
          <a:custGeom xmlns:a="http://schemas.openxmlformats.org/drawingml/2006/main">
            <a:pathLst>
              <a:path w="102163" h="141680">
                <a:moveTo>
                  <a:pt x="100729" y="141680"/>
                </a:moveTo>
                <a:lnTo>
                  <a:pt x="102163" y="0"/>
                </a:lnTo>
                <a:lnTo>
                  <a:pt x="0" y="4209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22" name="文字-22-部件二">
            <a:extLst xmlns:a="http://schemas.openxmlformats.org/drawingml/2006/main">
              <a:ext uri="{FF2B5EF4-FFF2-40B4-BE49-F238E27FC236}">
                <a16:creationId xmlns:a16="http://schemas.microsoft.com/office/drawing/2014/main" id="{6FA07C92-4282-427A-8FD2-4F009600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005" y="2156460"/>
            <a:ext cx="12414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部件二</a:t>
            </a:r>
          </a:p>
        </p:txBody>
      </p:sp>
      <p:sp>
        <p:nvSpPr>
          <p:cNvPr id="23" name="连线-23">
            <a:extLst xmlns:a="http://schemas.openxmlformats.org/drawingml/2006/main">
              <a:ext uri="{FF2B5EF4-FFF2-40B4-BE49-F238E27FC236}">
                <a16:creationId xmlns:a16="http://schemas.microsoft.com/office/drawing/2014/main" id="{CC48CC64-22E7-473A-9179-5CE4A2F9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02281" y="2514600"/>
            <a:ext cx="83776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7">
            <a:solidFill>
              <a:srgbClr val="777777"/>
            </a:solidFill>
            <a:prstDash val="solid"/>
          </a:ln>
        </p:spPr>
      </p:sp>
      <p:sp>
        <p:nvSpPr>
          <p:cNvPr id="24" name="连线-24">
            <a:extLst xmlns:a="http://schemas.openxmlformats.org/drawingml/2006/main">
              <a:ext uri="{FF2B5EF4-FFF2-40B4-BE49-F238E27FC236}">
                <a16:creationId xmlns:a16="http://schemas.microsoft.com/office/drawing/2014/main" id="{0C4AAFBB-8EDE-410A-84A7-C1B67879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86057" y="2621280"/>
            <a:ext cx="106624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7">
            <a:solidFill>
              <a:srgbClr val="777777"/>
            </a:solidFill>
            <a:prstDash val="solid"/>
          </a:ln>
        </p:spPr>
      </p:sp>
      <p:sp>
        <p:nvSpPr>
          <p:cNvPr id="25" name="结构-25">
            <a:extLst xmlns:a="http://schemas.openxmlformats.org/drawingml/2006/main">
              <a:ext uri="{FF2B5EF4-FFF2-40B4-BE49-F238E27FC236}">
                <a16:creationId xmlns:a16="http://schemas.microsoft.com/office/drawing/2014/main" id="{562FA4AE-A335-428D-8D01-F3897899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608" y="2771955"/>
            <a:ext cx="78169" cy="108406"/>
          </a:xfrm>
          <a:custGeom xmlns:a="http://schemas.openxmlformats.org/drawingml/2006/main">
            <a:pathLst>
              <a:path w="102163" h="141680">
                <a:moveTo>
                  <a:pt x="100729" y="141680"/>
                </a:moveTo>
                <a:lnTo>
                  <a:pt x="102163" y="0"/>
                </a:lnTo>
                <a:lnTo>
                  <a:pt x="0" y="4209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26" name="文字-26-部件三">
            <a:extLst xmlns:a="http://schemas.openxmlformats.org/drawingml/2006/main">
              <a:ext uri="{FF2B5EF4-FFF2-40B4-BE49-F238E27FC236}">
                <a16:creationId xmlns:a16="http://schemas.microsoft.com/office/drawing/2014/main" id="{8DF59191-8FF5-4275-9DD3-97401BCF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724" y="2156460"/>
            <a:ext cx="12414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部件三</a:t>
            </a:r>
          </a:p>
        </p:txBody>
      </p:sp>
      <p:sp>
        <p:nvSpPr>
          <p:cNvPr id="27" name="连线-27">
            <a:extLst xmlns:a="http://schemas.openxmlformats.org/drawingml/2006/main">
              <a:ext uri="{FF2B5EF4-FFF2-40B4-BE49-F238E27FC236}">
                <a16:creationId xmlns:a16="http://schemas.microsoft.com/office/drawing/2014/main" id="{91C10AE7-4CD9-4C41-BF1C-4B8A15A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514600"/>
            <a:ext cx="83776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7">
            <a:solidFill>
              <a:srgbClr val="777777"/>
            </a:solidFill>
            <a:prstDash val="solid"/>
          </a:ln>
        </p:spPr>
      </p:sp>
      <p:sp>
        <p:nvSpPr>
          <p:cNvPr id="28" name="连线-28">
            <a:extLst xmlns:a="http://schemas.openxmlformats.org/drawingml/2006/main">
              <a:ext uri="{FF2B5EF4-FFF2-40B4-BE49-F238E27FC236}">
                <a16:creationId xmlns:a16="http://schemas.microsoft.com/office/drawing/2014/main" id="{8B0FD45E-6AD2-4678-9F2D-CFEA5A99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79775" y="2621280"/>
            <a:ext cx="106624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7">
            <a:solidFill>
              <a:srgbClr val="777777"/>
            </a:solidFill>
            <a:prstDash val="solid"/>
          </a:ln>
        </p:spPr>
      </p:sp>
      <p:sp>
        <p:nvSpPr>
          <p:cNvPr id="29" name="结构-29">
            <a:extLst xmlns:a="http://schemas.openxmlformats.org/drawingml/2006/main">
              <a:ext uri="{FF2B5EF4-FFF2-40B4-BE49-F238E27FC236}">
                <a16:creationId xmlns:a16="http://schemas.microsoft.com/office/drawing/2014/main" id="{C3322CC4-8CEB-459D-A271-085A72CC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27" y="2771955"/>
            <a:ext cx="78169" cy="108406"/>
          </a:xfrm>
          <a:custGeom xmlns:a="http://schemas.openxmlformats.org/drawingml/2006/main">
            <a:pathLst>
              <a:path w="102163" h="141680">
                <a:moveTo>
                  <a:pt x="100729" y="141680"/>
                </a:moveTo>
                <a:lnTo>
                  <a:pt x="102163" y="0"/>
                </a:lnTo>
                <a:lnTo>
                  <a:pt x="0" y="4209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30" name="文字-30-部件四">
            <a:extLst xmlns:a="http://schemas.openxmlformats.org/drawingml/2006/main">
              <a:ext uri="{FF2B5EF4-FFF2-40B4-BE49-F238E27FC236}">
                <a16:creationId xmlns:a16="http://schemas.microsoft.com/office/drawing/2014/main" id="{A69A84EC-7578-46E0-9BBC-7537E375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443" y="2156460"/>
            <a:ext cx="12414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部件四</a:t>
            </a:r>
          </a:p>
        </p:txBody>
      </p:sp>
      <p:sp>
        <p:nvSpPr>
          <p:cNvPr id="31" name="连线-31">
            <a:extLst xmlns:a="http://schemas.openxmlformats.org/drawingml/2006/main">
              <a:ext uri="{FF2B5EF4-FFF2-40B4-BE49-F238E27FC236}">
                <a16:creationId xmlns:a16="http://schemas.microsoft.com/office/drawing/2014/main" id="{4F93473C-5366-4075-BE5A-17D93E93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89719" y="2514600"/>
            <a:ext cx="83776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7">
            <a:solidFill>
              <a:srgbClr val="777777"/>
            </a:solidFill>
            <a:prstDash val="solid"/>
          </a:ln>
        </p:spPr>
      </p:sp>
      <p:sp>
        <p:nvSpPr>
          <p:cNvPr id="32" name="连线-32">
            <a:extLst xmlns:a="http://schemas.openxmlformats.org/drawingml/2006/main">
              <a:ext uri="{FF2B5EF4-FFF2-40B4-BE49-F238E27FC236}">
                <a16:creationId xmlns:a16="http://schemas.microsoft.com/office/drawing/2014/main" id="{6D7D9196-F46E-4593-B7E4-EDC87BED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73494" y="2621280"/>
            <a:ext cx="106624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7">
            <a:solidFill>
              <a:srgbClr val="777777"/>
            </a:solidFill>
            <a:prstDash val="solid"/>
          </a:ln>
        </p:spPr>
      </p:sp>
      <p:sp>
        <p:nvSpPr>
          <p:cNvPr id="33" name="结构-33">
            <a:extLst xmlns:a="http://schemas.openxmlformats.org/drawingml/2006/main">
              <a:ext uri="{FF2B5EF4-FFF2-40B4-BE49-F238E27FC236}">
                <a16:creationId xmlns:a16="http://schemas.microsoft.com/office/drawing/2014/main" id="{56CBFC22-030B-4760-8AE0-C73CF506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046" y="2771955"/>
            <a:ext cx="78169" cy="108406"/>
          </a:xfrm>
          <a:custGeom xmlns:a="http://schemas.openxmlformats.org/drawingml/2006/main">
            <a:pathLst>
              <a:path w="102163" h="141680">
                <a:moveTo>
                  <a:pt x="100729" y="141680"/>
                </a:moveTo>
                <a:lnTo>
                  <a:pt x="102163" y="0"/>
                </a:lnTo>
                <a:lnTo>
                  <a:pt x="0" y="4209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34" name="文字-34-部件五">
            <a:extLst xmlns:a="http://schemas.openxmlformats.org/drawingml/2006/main">
              <a:ext uri="{FF2B5EF4-FFF2-40B4-BE49-F238E27FC236}">
                <a16:creationId xmlns:a16="http://schemas.microsoft.com/office/drawing/2014/main" id="{951FCCDF-906D-4975-9A09-8CE61AC6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162" y="2156460"/>
            <a:ext cx="12414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部件五</a:t>
            </a:r>
          </a:p>
        </p:txBody>
      </p:sp>
      <p:sp>
        <p:nvSpPr>
          <p:cNvPr id="35" name="连线-35">
            <a:extLst xmlns:a="http://schemas.openxmlformats.org/drawingml/2006/main">
              <a:ext uri="{FF2B5EF4-FFF2-40B4-BE49-F238E27FC236}">
                <a16:creationId xmlns:a16="http://schemas.microsoft.com/office/drawing/2014/main" id="{89DFAE66-7B40-42F1-A2CC-196A7C01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83438" y="2514600"/>
            <a:ext cx="83776" cy="106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7">
            <a:solidFill>
              <a:srgbClr val="777777"/>
            </a:solidFill>
            <a:prstDash val="solid"/>
          </a:ln>
        </p:spPr>
      </p:sp>
      <p:sp>
        <p:nvSpPr>
          <p:cNvPr id="36" name="连线-36">
            <a:extLst xmlns:a="http://schemas.openxmlformats.org/drawingml/2006/main">
              <a:ext uri="{FF2B5EF4-FFF2-40B4-BE49-F238E27FC236}">
                <a16:creationId xmlns:a16="http://schemas.microsoft.com/office/drawing/2014/main" id="{07D68C7B-05F8-499A-BC1F-3F08D5E8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67214" y="2621280"/>
            <a:ext cx="106624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7">
            <a:solidFill>
              <a:srgbClr val="777777"/>
            </a:solidFill>
            <a:prstDash val="solid"/>
          </a:ln>
        </p:spPr>
      </p:sp>
      <p:sp>
        <p:nvSpPr>
          <p:cNvPr id="37" name="结构-37">
            <a:extLst xmlns:a="http://schemas.openxmlformats.org/drawingml/2006/main">
              <a:ext uri="{FF2B5EF4-FFF2-40B4-BE49-F238E27FC236}">
                <a16:creationId xmlns:a16="http://schemas.microsoft.com/office/drawing/2014/main" id="{BE5B4E4E-8661-485A-8AE5-B0614F4A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765" y="2771955"/>
            <a:ext cx="78169" cy="108406"/>
          </a:xfrm>
          <a:custGeom xmlns:a="http://schemas.openxmlformats.org/drawingml/2006/main">
            <a:pathLst>
              <a:path w="102163" h="141680">
                <a:moveTo>
                  <a:pt x="100729" y="141680"/>
                </a:moveTo>
                <a:lnTo>
                  <a:pt x="102163" y="0"/>
                </a:lnTo>
                <a:lnTo>
                  <a:pt x="0" y="42090"/>
                </a:lnTo>
                <a:close/>
              </a:path>
            </a:pathLst>
          </a:cu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</a:ln>
        </p:spPr>
      </p:sp>
      <p:sp>
        <p:nvSpPr>
          <p:cNvPr id="38" name="文字-38-功能说明一">
            <a:extLst xmlns:a="http://schemas.openxmlformats.org/drawingml/2006/main">
              <a:ext uri="{FF2B5EF4-FFF2-40B4-BE49-F238E27FC236}">
                <a16:creationId xmlns:a16="http://schemas.microsoft.com/office/drawing/2014/main" id="{DE030782-1D02-4659-8D1C-2ABE2946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054" y="4099560"/>
            <a:ext cx="2178162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功能说明一</a:t>
            </a:r>
          </a:p>
        </p:txBody>
      </p:sp>
      <p:sp>
        <p:nvSpPr>
          <p:cNvPr id="39" name="文字-39-功能说明二">
            <a:extLst xmlns:a="http://schemas.openxmlformats.org/drawingml/2006/main">
              <a:ext uri="{FF2B5EF4-FFF2-40B4-BE49-F238E27FC236}">
                <a16:creationId xmlns:a16="http://schemas.microsoft.com/office/drawing/2014/main" id="{0B2250B3-39C2-47A0-A5B4-D9EFD195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151" y="4099560"/>
            <a:ext cx="2178162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功能说明二</a:t>
            </a:r>
          </a:p>
        </p:txBody>
      </p:sp>
      <p:sp>
        <p:nvSpPr>
          <p:cNvPr id="40" name="文字-40-功能说明三">
            <a:extLst xmlns:a="http://schemas.openxmlformats.org/drawingml/2006/main">
              <a:ext uri="{FF2B5EF4-FFF2-40B4-BE49-F238E27FC236}">
                <a16:creationId xmlns:a16="http://schemas.microsoft.com/office/drawing/2014/main" id="{BAA51A9E-88A1-47E1-BC4F-0EFB4BDA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248" y="4099560"/>
            <a:ext cx="2178162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功能说明三</a:t>
            </a:r>
          </a:p>
        </p:txBody>
      </p:sp>
      <p:sp>
        <p:nvSpPr>
          <p:cNvPr id="41" name="连线-41">
            <a:extLst xmlns:a="http://schemas.openxmlformats.org/drawingml/2006/main">
              <a:ext uri="{FF2B5EF4-FFF2-40B4-BE49-F238E27FC236}">
                <a16:creationId xmlns:a16="http://schemas.microsoft.com/office/drawing/2014/main" id="{D518D5ED-2B92-4FEA-AAC8-C6570C34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38033" y="5463540"/>
            <a:ext cx="729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solid"/>
          </a:ln>
        </p:spPr>
      </p:sp>
      <p:sp>
        <p:nvSpPr>
          <p:cNvPr id="42" name="结构-42">
            <a:extLst xmlns:a="http://schemas.openxmlformats.org/drawingml/2006/main">
              <a:ext uri="{FF2B5EF4-FFF2-40B4-BE49-F238E27FC236}">
                <a16:creationId xmlns:a16="http://schemas.microsoft.com/office/drawing/2014/main" id="{76F7CB1F-BB14-49C2-A23B-A017941C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337" y="566166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43" name="文字-43-局部特征一">
            <a:extLst xmlns:a="http://schemas.openxmlformats.org/drawingml/2006/main">
              <a:ext uri="{FF2B5EF4-FFF2-40B4-BE49-F238E27FC236}">
                <a16:creationId xmlns:a16="http://schemas.microsoft.com/office/drawing/2014/main" id="{39BF26ED-D5D8-41E6-9C38-B670C46B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358" y="5806440"/>
            <a:ext cx="164504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局部特征一</a:t>
            </a:r>
          </a:p>
        </p:txBody>
      </p:sp>
      <p:sp>
        <p:nvSpPr>
          <p:cNvPr id="44" name="连线-44">
            <a:extLst xmlns:a="http://schemas.openxmlformats.org/drawingml/2006/main">
              <a:ext uri="{FF2B5EF4-FFF2-40B4-BE49-F238E27FC236}">
                <a16:creationId xmlns:a16="http://schemas.microsoft.com/office/drawing/2014/main" id="{A678B768-01CB-4D85-BEE6-C37EB7E2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27782" y="5463540"/>
            <a:ext cx="729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solid"/>
          </a:ln>
        </p:spPr>
      </p:sp>
      <p:sp>
        <p:nvSpPr>
          <p:cNvPr id="45" name="结构-45">
            <a:extLst xmlns:a="http://schemas.openxmlformats.org/drawingml/2006/main">
              <a:ext uri="{FF2B5EF4-FFF2-40B4-BE49-F238E27FC236}">
                <a16:creationId xmlns:a16="http://schemas.microsoft.com/office/drawing/2014/main" id="{523C4CAC-2B97-40D7-9415-29ABE390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086" y="566166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46" name="文字-46-局部特征二">
            <a:extLst xmlns:a="http://schemas.openxmlformats.org/drawingml/2006/main">
              <a:ext uri="{FF2B5EF4-FFF2-40B4-BE49-F238E27FC236}">
                <a16:creationId xmlns:a16="http://schemas.microsoft.com/office/drawing/2014/main" id="{96B18BF7-057B-42FD-A33A-743043B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07" y="5806440"/>
            <a:ext cx="164504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局部特征二</a:t>
            </a:r>
          </a:p>
        </p:txBody>
      </p:sp>
      <p:sp>
        <p:nvSpPr>
          <p:cNvPr id="47" name="连线-47">
            <a:extLst xmlns:a="http://schemas.openxmlformats.org/drawingml/2006/main">
              <a:ext uri="{FF2B5EF4-FFF2-40B4-BE49-F238E27FC236}">
                <a16:creationId xmlns:a16="http://schemas.microsoft.com/office/drawing/2014/main" id="{510D5589-1D52-4793-947F-43B21705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7530" y="5463540"/>
            <a:ext cx="729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solid"/>
          </a:ln>
        </p:spPr>
      </p:sp>
      <p:sp>
        <p:nvSpPr>
          <p:cNvPr id="48" name="结构-48">
            <a:extLst xmlns:a="http://schemas.openxmlformats.org/drawingml/2006/main">
              <a:ext uri="{FF2B5EF4-FFF2-40B4-BE49-F238E27FC236}">
                <a16:creationId xmlns:a16="http://schemas.microsoft.com/office/drawing/2014/main" id="{9D361323-18E1-4D2D-87B6-377557D3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1834" y="566166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49" name="文字-49-局部特征三">
            <a:extLst xmlns:a="http://schemas.openxmlformats.org/drawingml/2006/main">
              <a:ext uri="{FF2B5EF4-FFF2-40B4-BE49-F238E27FC236}">
                <a16:creationId xmlns:a16="http://schemas.microsoft.com/office/drawing/2014/main" id="{EFB1CD48-104D-4829-BF80-522FE5DA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855" y="5806440"/>
            <a:ext cx="164504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局部特征三</a:t>
            </a:r>
          </a:p>
        </p:txBody>
      </p:sp>
      <p:sp>
        <p:nvSpPr>
          <p:cNvPr id="50" name="连线-50">
            <a:extLst xmlns:a="http://schemas.openxmlformats.org/drawingml/2006/main">
              <a:ext uri="{FF2B5EF4-FFF2-40B4-BE49-F238E27FC236}">
                <a16:creationId xmlns:a16="http://schemas.microsoft.com/office/drawing/2014/main" id="{B907D34C-E4C1-4FBB-8A42-E8704F9F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07279" y="5463540"/>
            <a:ext cx="729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solid"/>
          </a:ln>
        </p:spPr>
      </p:sp>
      <p:sp>
        <p:nvSpPr>
          <p:cNvPr id="51" name="结构-51">
            <a:extLst xmlns:a="http://schemas.openxmlformats.org/drawingml/2006/main">
              <a:ext uri="{FF2B5EF4-FFF2-40B4-BE49-F238E27FC236}">
                <a16:creationId xmlns:a16="http://schemas.microsoft.com/office/drawing/2014/main" id="{EBCB0BF1-AD70-4EF8-85DC-01E1526D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583" y="566166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52" name="文字-52-局部特征四">
            <a:extLst xmlns:a="http://schemas.openxmlformats.org/drawingml/2006/main">
              <a:ext uri="{FF2B5EF4-FFF2-40B4-BE49-F238E27FC236}">
                <a16:creationId xmlns:a16="http://schemas.microsoft.com/office/drawing/2014/main" id="{B4AD0D35-4226-4825-8D52-D05AB63C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604" y="5806440"/>
            <a:ext cx="164504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局部特征四</a:t>
            </a:r>
          </a:p>
        </p:txBody>
      </p:sp>
      <p:sp>
        <p:nvSpPr>
          <p:cNvPr id="53" name="文字-53-填写装置或结构的共同应用价值">
            <a:extLst xmlns:a="http://schemas.openxmlformats.org/drawingml/2006/main">
              <a:ext uri="{FF2B5EF4-FFF2-40B4-BE49-F238E27FC236}">
                <a16:creationId xmlns:a16="http://schemas.microsoft.com/office/drawing/2014/main" id="{87913DEE-9286-421A-BAAD-D422AFA0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52" y="6332220"/>
            <a:ext cx="7615951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装置或结构的共同应用价值</a:t>
            </a:r>
          </a:p>
        </p:txBody>
      </p:sp>
    </p:spTree>
    <p:extLst>
      <p:ext uri="{BB962C8B-B14F-4D97-AF65-F5344CB8AC3E}">
        <p14:creationId xmlns:p14="http://schemas.microsoft.com/office/powerpoint/2010/main" val="11140824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文字-1-1.3 研究背景">
            <a:extLst xmlns:a="http://schemas.openxmlformats.org/drawingml/2006/main">
              <a:ext uri="{FF2B5EF4-FFF2-40B4-BE49-F238E27FC236}">
                <a16:creationId xmlns:a16="http://schemas.microsoft.com/office/drawing/2014/main" id="{EB228C1C-4BC1-4A2F-8D04-2AF6158D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1.3 研究背景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732D1614-F86D-49DE-B66F-77D7B8AA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说明研究对象的重要性及其应用">
            <a:extLst xmlns:a="http://schemas.openxmlformats.org/drawingml/2006/main">
              <a:ext uri="{FF2B5EF4-FFF2-40B4-BE49-F238E27FC236}">
                <a16:creationId xmlns:a16="http://schemas.microsoft.com/office/drawing/2014/main" id="{29532052-D828-41C9-9A53-B99FDC9F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22020"/>
            <a:ext cx="1145439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研究对象的重要性及其应用范围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现有方法的主要局限与改进需求</a:t>
            </a:r>
          </a:p>
        </p:txBody>
      </p:sp>
      <p:sp>
        <p:nvSpPr>
          <p:cNvPr id="4" name="文字-4-概括新方法为该领域带来的研究">
            <a:extLst xmlns:a="http://schemas.openxmlformats.org/drawingml/2006/main">
              <a:ext uri="{FF2B5EF4-FFF2-40B4-BE49-F238E27FC236}">
                <a16:creationId xmlns:a16="http://schemas.microsoft.com/office/drawing/2014/main" id="{00424D11-379C-4B32-8A71-C91A5FF7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943100"/>
            <a:ext cx="11454390" cy="472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新方法带来的研究机会</a:t>
            </a:r>
          </a:p>
        </p:txBody>
      </p:sp>
      <p:sp>
        <p:nvSpPr>
          <p:cNvPr id="5" name="结构-5">
            <a:extLst xmlns:a="http://schemas.openxmlformats.org/drawingml/2006/main">
              <a:ext uri="{FF2B5EF4-FFF2-40B4-BE49-F238E27FC236}">
                <a16:creationId xmlns:a16="http://schemas.microsoft.com/office/drawing/2014/main" id="{27C4717E-8D69-433B-ADAA-106E16C2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621280"/>
            <a:ext cx="6641109" cy="411480"/>
          </a:xfrm>
          <a:custGeom xmlns:a="http://schemas.openxmlformats.org/drawingml/2006/main">
            <a:pathLst>
              <a:path w="8679561" h="537782">
                <a:moveTo>
                  <a:pt x="0" y="0"/>
                </a:moveTo>
                <a:lnTo>
                  <a:pt x="8430720" y="0"/>
                </a:lnTo>
                <a:lnTo>
                  <a:pt x="8679561" y="268891"/>
                </a:lnTo>
                <a:lnTo>
                  <a:pt x="8430720" y="537782"/>
                </a:lnTo>
                <a:lnTo>
                  <a:pt x="0" y="537782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6" name="文字-6-1  技术特点与发展前景">
            <a:extLst xmlns:a="http://schemas.openxmlformats.org/drawingml/2006/main">
              <a:ext uri="{FF2B5EF4-FFF2-40B4-BE49-F238E27FC236}">
                <a16:creationId xmlns:a16="http://schemas.microsoft.com/office/drawing/2014/main" id="{B2D95047-EAF1-4F7F-8AAC-5F02E573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32" y="2621280"/>
            <a:ext cx="6412631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 技术特点与发展前景</a:t>
            </a:r>
          </a:p>
        </p:txBody>
      </p:sp>
      <p:sp>
        <p:nvSpPr>
          <p:cNvPr id="7" name="对象-7">
            <a:extLst xmlns:a="http://schemas.openxmlformats.org/drawingml/2006/main">
              <a:ext uri="{FF2B5EF4-FFF2-40B4-BE49-F238E27FC236}">
                <a16:creationId xmlns:a16="http://schemas.microsoft.com/office/drawing/2014/main" id="{8F84BFA4-CA1D-4F0D-B9F8-7188D254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3116580"/>
            <a:ext cx="6641109" cy="1264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文字-8-说明方法的主要特点说明相对于">
            <a:extLst xmlns:a="http://schemas.openxmlformats.org/drawingml/2006/main">
              <a:ext uri="{FF2B5EF4-FFF2-40B4-BE49-F238E27FC236}">
                <a16:creationId xmlns:a16="http://schemas.microsoft.com/office/drawing/2014/main" id="{3498B4F7-37F4-455B-B8E4-05C8EC1E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40" y="3238500"/>
            <a:ext cx="6306008" cy="1013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技术特点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相对已有工作的改进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适用范围与研究价值</a:t>
            </a:r>
          </a:p>
        </p:txBody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97E2CDC9-B0FB-4879-858A-CFA318FF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4495800"/>
            <a:ext cx="6641109" cy="411480"/>
          </a:xfrm>
          <a:custGeom xmlns:a="http://schemas.openxmlformats.org/drawingml/2006/main">
            <a:pathLst>
              <a:path w="8679561" h="537782">
                <a:moveTo>
                  <a:pt x="0" y="0"/>
                </a:moveTo>
                <a:lnTo>
                  <a:pt x="8430720" y="0"/>
                </a:lnTo>
                <a:lnTo>
                  <a:pt x="8679561" y="268891"/>
                </a:lnTo>
                <a:lnTo>
                  <a:pt x="8430720" y="537782"/>
                </a:lnTo>
                <a:lnTo>
                  <a:pt x="0" y="537782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10" name="文字-10-2  典型应用与研究价值">
            <a:extLst xmlns:a="http://schemas.openxmlformats.org/drawingml/2006/main">
              <a:ext uri="{FF2B5EF4-FFF2-40B4-BE49-F238E27FC236}">
                <a16:creationId xmlns:a16="http://schemas.microsoft.com/office/drawing/2014/main" id="{6EA02B08-FB16-489E-A734-4E43DF7D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32" y="4495800"/>
            <a:ext cx="6412631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 典型应用与研究价值</a:t>
            </a:r>
          </a:p>
        </p:txBody>
      </p:sp>
      <p:sp>
        <p:nvSpPr>
          <p:cNvPr id="11" name="对象-11">
            <a:extLst xmlns:a="http://schemas.openxmlformats.org/drawingml/2006/main">
              <a:ext uri="{FF2B5EF4-FFF2-40B4-BE49-F238E27FC236}">
                <a16:creationId xmlns:a16="http://schemas.microsoft.com/office/drawing/2014/main" id="{A036EFD0-4376-4ED0-BB4D-76EF02A3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4991100"/>
            <a:ext cx="6641109" cy="1264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文字-12-说明方法的主要特点说明相对于">
            <a:extLst xmlns:a="http://schemas.openxmlformats.org/drawingml/2006/main">
              <a:ext uri="{FF2B5EF4-FFF2-40B4-BE49-F238E27FC236}">
                <a16:creationId xmlns:a16="http://schemas.microsoft.com/office/drawing/2014/main" id="{633CDEFF-4118-4E0F-8BB0-DCB0ACE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40" y="5113020"/>
            <a:ext cx="6306008" cy="1013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典型应用对象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拟解决的实际问题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研究贡献与使用边界</a:t>
            </a:r>
          </a:p>
        </p:txBody>
      </p:sp>
      <p:sp>
        <p:nvSpPr>
          <p:cNvPr id="13" name="对象-13">
            <a:extLst xmlns:a="http://schemas.openxmlformats.org/drawingml/2006/main">
              <a:ext uri="{FF2B5EF4-FFF2-40B4-BE49-F238E27FC236}">
                <a16:creationId xmlns:a16="http://schemas.microsoft.com/office/drawing/2014/main" id="{E26CB411-14D1-4CB7-92AD-FCFAC378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472" y="2621280"/>
            <a:ext cx="4546723" cy="3634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4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F46D03B8-6627-4A25-B399-F20EF477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255" y="2781300"/>
            <a:ext cx="2018227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5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F1B7F170-1437-493F-A114-C2E51E59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337" y="2781300"/>
            <a:ext cx="2033459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6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A14DDCD2-3ACC-42EF-B079-349B9A71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255" y="4076700"/>
            <a:ext cx="4173542" cy="1973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07152961-A629-49D5-A4BD-356B25FD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7994" y="3467100"/>
            <a:ext cx="198015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1979B5"/>
            </a:solidFill>
            <a:prstDash val="solid"/>
          </a:ln>
        </p:spPr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DECD3844-30E8-46C2-A2AA-8653E0A1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153" y="3413760"/>
            <a:ext cx="121855" cy="106680"/>
          </a:xfrm>
          <a:custGeom xmlns:a="http://schemas.openxmlformats.org/drawingml/2006/main">
            <a:pathLst>
              <a:path w="159258" h="139425">
                <a:moveTo>
                  <a:pt x="159258" y="69712"/>
                </a:moveTo>
                <a:lnTo>
                  <a:pt x="0" y="0"/>
                </a:lnTo>
                <a:lnTo>
                  <a:pt x="0" y="139425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9" name="连线-19">
            <a:extLst xmlns:a="http://schemas.openxmlformats.org/drawingml/2006/main">
              <a:ext uri="{FF2B5EF4-FFF2-40B4-BE49-F238E27FC236}">
                <a16:creationId xmlns:a16="http://schemas.microsoft.com/office/drawing/2014/main" id="{C7D6A4B7-BB66-40C0-8068-AB757F17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47994" y="5326380"/>
            <a:ext cx="198015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1979B5"/>
            </a:solidFill>
            <a:prstDash val="solid"/>
          </a:ln>
        </p:spPr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48237FC7-021D-4956-BA52-0F57F6C0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153" y="5273040"/>
            <a:ext cx="121855" cy="106680"/>
          </a:xfrm>
          <a:custGeom xmlns:a="http://schemas.openxmlformats.org/drawingml/2006/main">
            <a:pathLst>
              <a:path w="159258" h="139425">
                <a:moveTo>
                  <a:pt x="159258" y="69712"/>
                </a:moveTo>
                <a:lnTo>
                  <a:pt x="0" y="0"/>
                </a:lnTo>
                <a:lnTo>
                  <a:pt x="0" y="139425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985765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字-1-1.1 科学意义">
            <a:extLst xmlns:a="http://schemas.openxmlformats.org/drawingml/2006/main">
              <a:ext uri="{FF2B5EF4-FFF2-40B4-BE49-F238E27FC236}">
                <a16:creationId xmlns:a16="http://schemas.microsoft.com/office/drawing/2014/main" id="{F1459C9D-047C-4D88-9E28-C99812FC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1.1 科学意义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ECD5796A-27B1-4CE1-9C6C-D7DE1057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E3654017-4923-4FAB-97A1-FF5CD80E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14400"/>
            <a:ext cx="11454390" cy="883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9BF5B285-DE44-49F0-B2D9-958421D3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26492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7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概括本研究的科学价值，以及与">
            <a:extLst xmlns:a="http://schemas.openxmlformats.org/drawingml/2006/main">
              <a:ext uri="{FF2B5EF4-FFF2-40B4-BE49-F238E27FC236}">
                <a16:creationId xmlns:a16="http://schemas.microsoft.com/office/drawing/2014/main" id="{C19C59B5-7F7C-4ECD-8E52-193E367F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75360"/>
            <a:ext cx="10814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本研究的科学价值，以及与应用需求的联系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74C66F66-05ED-4F65-94EA-C9B21AB7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935480"/>
            <a:ext cx="2772207" cy="403860"/>
          </a:xfrm>
          <a:custGeom xmlns:a="http://schemas.openxmlformats.org/drawingml/2006/main">
            <a:pathLst>
              <a:path w="3623120" h="527823">
                <a:moveTo>
                  <a:pt x="0" y="0"/>
                </a:moveTo>
                <a:lnTo>
                  <a:pt x="3374279" y="0"/>
                </a:lnTo>
                <a:lnTo>
                  <a:pt x="3623120" y="263911"/>
                </a:lnTo>
                <a:lnTo>
                  <a:pt x="3374279" y="527823"/>
                </a:lnTo>
                <a:lnTo>
                  <a:pt x="0" y="527823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7" name="文字-7-理论认知">
            <a:extLst xmlns:a="http://schemas.openxmlformats.org/drawingml/2006/main">
              <a:ext uri="{FF2B5EF4-FFF2-40B4-BE49-F238E27FC236}">
                <a16:creationId xmlns:a16="http://schemas.microsoft.com/office/drawing/2014/main" id="{52FBCF53-E5CB-429B-B154-0CE56653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32" y="1935480"/>
            <a:ext cx="254372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理论认知</a:t>
            </a:r>
          </a:p>
        </p:txBody>
      </p:sp>
      <p:sp>
        <p:nvSpPr>
          <p:cNvPr id="8" name="对象-8">
            <a:extLst xmlns:a="http://schemas.openxmlformats.org/drawingml/2006/main">
              <a:ext uri="{FF2B5EF4-FFF2-40B4-BE49-F238E27FC236}">
                <a16:creationId xmlns:a16="http://schemas.microsoft.com/office/drawing/2014/main" id="{04E29211-D74F-4465-AB84-6842EEC0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64" y="2476500"/>
            <a:ext cx="2619887" cy="3436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9" name="文字-9-填写该维度的研究意义">
            <a:extLst xmlns:a="http://schemas.openxmlformats.org/drawingml/2006/main">
              <a:ext uri="{FF2B5EF4-FFF2-40B4-BE49-F238E27FC236}">
                <a16:creationId xmlns:a16="http://schemas.microsoft.com/office/drawing/2014/main" id="{4458210A-BC64-4102-A6AC-F9489C9D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24" y="2628900"/>
            <a:ext cx="246756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该维度的研究意义</a:t>
            </a:r>
          </a:p>
        </p:txBody>
      </p:sp>
      <p:sp>
        <p:nvSpPr>
          <p:cNvPr id="10" name="连线-10">
            <a:extLst xmlns:a="http://schemas.openxmlformats.org/drawingml/2006/main">
              <a:ext uri="{FF2B5EF4-FFF2-40B4-BE49-F238E27FC236}">
                <a16:creationId xmlns:a16="http://schemas.microsoft.com/office/drawing/2014/main" id="{B09F0C0E-AC5D-47B8-8318-A86679D5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5363" y="3108960"/>
            <a:ext cx="22390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">
            <a:solidFill>
              <a:srgbClr val="B8C9DB"/>
            </a:solidFill>
            <a:prstDash val="solid"/>
          </a:ln>
        </p:spPr>
      </p:sp>
      <p:sp>
        <p:nvSpPr>
          <p:cNvPr id="11" name="文字-11-说明具体价值说明受益对象说明">
            <a:extLst xmlns:a="http://schemas.openxmlformats.org/drawingml/2006/main">
              <a:ext uri="{FF2B5EF4-FFF2-40B4-BE49-F238E27FC236}">
                <a16:creationId xmlns:a16="http://schemas.microsoft.com/office/drawing/2014/main" id="{6CE9FD1F-CCC6-489C-95BF-92E0F936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3246120"/>
            <a:ext cx="2391408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核心作用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支撑依据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</p:txBody>
      </p:sp>
      <p:sp>
        <p:nvSpPr>
          <p:cNvPr id="12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4077F188-AB5E-4630-9C4F-F70F06FA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35" y="4328160"/>
            <a:ext cx="2360945" cy="140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3" name="结构-13">
            <a:extLst xmlns:a="http://schemas.openxmlformats.org/drawingml/2006/main">
              <a:ext uri="{FF2B5EF4-FFF2-40B4-BE49-F238E27FC236}">
                <a16:creationId xmlns:a16="http://schemas.microsoft.com/office/drawing/2014/main" id="{0CB1C390-16CA-4E64-B6C0-1B256AEE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866" y="1935480"/>
            <a:ext cx="2772207" cy="403860"/>
          </a:xfrm>
          <a:custGeom xmlns:a="http://schemas.openxmlformats.org/drawingml/2006/main">
            <a:pathLst>
              <a:path w="3623120" h="527823">
                <a:moveTo>
                  <a:pt x="0" y="0"/>
                </a:moveTo>
                <a:lnTo>
                  <a:pt x="3374279" y="0"/>
                </a:lnTo>
                <a:lnTo>
                  <a:pt x="3623120" y="263911"/>
                </a:lnTo>
                <a:lnTo>
                  <a:pt x="3374279" y="527823"/>
                </a:lnTo>
                <a:lnTo>
                  <a:pt x="0" y="527823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14" name="文字-14-资源与方法">
            <a:extLst xmlns:a="http://schemas.openxmlformats.org/drawingml/2006/main">
              <a:ext uri="{FF2B5EF4-FFF2-40B4-BE49-F238E27FC236}">
                <a16:creationId xmlns:a16="http://schemas.microsoft.com/office/drawing/2014/main" id="{59080FEF-0BB1-43B5-900C-1E086094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93" y="1935480"/>
            <a:ext cx="254372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资源与方法</a:t>
            </a:r>
          </a:p>
        </p:txBody>
      </p:sp>
      <p:sp>
        <p:nvSpPr>
          <p:cNvPr id="15" name="对象-15">
            <a:extLst xmlns:a="http://schemas.openxmlformats.org/drawingml/2006/main">
              <a:ext uri="{FF2B5EF4-FFF2-40B4-BE49-F238E27FC236}">
                <a16:creationId xmlns:a16="http://schemas.microsoft.com/office/drawing/2014/main" id="{192C8987-1EF0-42E3-8AA0-1449F6BC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026" y="2476500"/>
            <a:ext cx="2619887" cy="3436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6" name="文字-16-填写该维度的研究意义">
            <a:extLst xmlns:a="http://schemas.openxmlformats.org/drawingml/2006/main">
              <a:ext uri="{FF2B5EF4-FFF2-40B4-BE49-F238E27FC236}">
                <a16:creationId xmlns:a16="http://schemas.microsoft.com/office/drawing/2014/main" id="{0728180B-3DC3-4CEA-8E0D-6927EA84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185" y="2628900"/>
            <a:ext cx="246756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该维度的研究意义</a:t>
            </a:r>
          </a:p>
        </p:txBody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42BFE1F8-80E1-4C81-B39C-24E2A013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9424" y="3108960"/>
            <a:ext cx="22390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">
            <a:solidFill>
              <a:srgbClr val="B8C9DB"/>
            </a:solidFill>
            <a:prstDash val="solid"/>
          </a:ln>
        </p:spPr>
      </p:sp>
      <p:sp>
        <p:nvSpPr>
          <p:cNvPr id="18" name="文字-18-说明具体价值说明受益对象说明">
            <a:extLst xmlns:a="http://schemas.openxmlformats.org/drawingml/2006/main">
              <a:ext uri="{FF2B5EF4-FFF2-40B4-BE49-F238E27FC236}">
                <a16:creationId xmlns:a16="http://schemas.microsoft.com/office/drawing/2014/main" id="{1F476B83-9808-4E2E-B7F8-B2250409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649" y="3246120"/>
            <a:ext cx="2391408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核心作用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支撑依据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</p:txBody>
      </p:sp>
      <p:sp>
        <p:nvSpPr>
          <p:cNvPr id="19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193FC0D2-A609-4130-B29D-4633D200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496" y="4328160"/>
            <a:ext cx="2360945" cy="140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76269D81-CDD2-4183-88C1-D3202CAB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28" y="1935480"/>
            <a:ext cx="2772207" cy="403860"/>
          </a:xfrm>
          <a:custGeom xmlns:a="http://schemas.openxmlformats.org/drawingml/2006/main">
            <a:pathLst>
              <a:path w="3623120" h="527823">
                <a:moveTo>
                  <a:pt x="0" y="0"/>
                </a:moveTo>
                <a:lnTo>
                  <a:pt x="3374279" y="0"/>
                </a:lnTo>
                <a:lnTo>
                  <a:pt x="3623120" y="263911"/>
                </a:lnTo>
                <a:lnTo>
                  <a:pt x="3374279" y="527823"/>
                </a:lnTo>
                <a:lnTo>
                  <a:pt x="0" y="527823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21" name="文字-21-工程安全">
            <a:extLst xmlns:a="http://schemas.openxmlformats.org/drawingml/2006/main">
              <a:ext uri="{FF2B5EF4-FFF2-40B4-BE49-F238E27FC236}">
                <a16:creationId xmlns:a16="http://schemas.microsoft.com/office/drawing/2014/main" id="{5023721C-208E-40D2-8929-E891D98D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855" y="1935480"/>
            <a:ext cx="254372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工程安全</a:t>
            </a:r>
          </a:p>
        </p:txBody>
      </p:sp>
      <p:sp>
        <p:nvSpPr>
          <p:cNvPr id="22" name="对象-22">
            <a:extLst xmlns:a="http://schemas.openxmlformats.org/drawingml/2006/main">
              <a:ext uri="{FF2B5EF4-FFF2-40B4-BE49-F238E27FC236}">
                <a16:creationId xmlns:a16="http://schemas.microsoft.com/office/drawing/2014/main" id="{673CE6EC-ABD0-4855-88EC-AB069F5D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87" y="2476500"/>
            <a:ext cx="2619887" cy="3436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23" name="文字-23-填写该维度的研究意义">
            <a:extLst xmlns:a="http://schemas.openxmlformats.org/drawingml/2006/main">
              <a:ext uri="{FF2B5EF4-FFF2-40B4-BE49-F238E27FC236}">
                <a16:creationId xmlns:a16="http://schemas.microsoft.com/office/drawing/2014/main" id="{DF2F030E-78A4-43AB-BF71-5B40BF75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247" y="2628900"/>
            <a:ext cx="246756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该维度的研究意义</a:t>
            </a:r>
          </a:p>
        </p:txBody>
      </p:sp>
      <p:sp>
        <p:nvSpPr>
          <p:cNvPr id="24" name="连线-24">
            <a:extLst xmlns:a="http://schemas.openxmlformats.org/drawingml/2006/main">
              <a:ext uri="{FF2B5EF4-FFF2-40B4-BE49-F238E27FC236}">
                <a16:creationId xmlns:a16="http://schemas.microsoft.com/office/drawing/2014/main" id="{6B83F939-9F07-452C-8F9C-B29DB3B4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23486" y="3108960"/>
            <a:ext cx="22390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">
            <a:solidFill>
              <a:srgbClr val="B8C9DB"/>
            </a:solidFill>
            <a:prstDash val="solid"/>
          </a:ln>
        </p:spPr>
      </p:sp>
      <p:sp>
        <p:nvSpPr>
          <p:cNvPr id="25" name="文字-25-说明具体价值说明受益对象说明">
            <a:extLst xmlns:a="http://schemas.openxmlformats.org/drawingml/2006/main">
              <a:ext uri="{FF2B5EF4-FFF2-40B4-BE49-F238E27FC236}">
                <a16:creationId xmlns:a16="http://schemas.microsoft.com/office/drawing/2014/main" id="{264FDD80-27C0-4B22-9D64-349EEAA3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710" y="3246120"/>
            <a:ext cx="2391408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核心作用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支撑依据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</p:txBody>
      </p:sp>
      <p:sp>
        <p:nvSpPr>
          <p:cNvPr id="26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7992FCE7-7551-4D97-967A-0C67762E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558" y="4328160"/>
            <a:ext cx="2360945" cy="140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7" name="结构-27">
            <a:extLst xmlns:a="http://schemas.openxmlformats.org/drawingml/2006/main">
              <a:ext uri="{FF2B5EF4-FFF2-40B4-BE49-F238E27FC236}">
                <a16:creationId xmlns:a16="http://schemas.microsoft.com/office/drawing/2014/main" id="{71187FC6-4F9B-468C-B238-8E1BA253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989" y="1935480"/>
            <a:ext cx="2772207" cy="403860"/>
          </a:xfrm>
          <a:custGeom xmlns:a="http://schemas.openxmlformats.org/drawingml/2006/main">
            <a:pathLst>
              <a:path w="3623120" h="527823">
                <a:moveTo>
                  <a:pt x="0" y="0"/>
                </a:moveTo>
                <a:lnTo>
                  <a:pt x="3374279" y="0"/>
                </a:lnTo>
                <a:lnTo>
                  <a:pt x="3623120" y="263911"/>
                </a:lnTo>
                <a:lnTo>
                  <a:pt x="3374279" y="527823"/>
                </a:lnTo>
                <a:lnTo>
                  <a:pt x="0" y="527823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28" name="文字-28-应用技术">
            <a:extLst xmlns:a="http://schemas.openxmlformats.org/drawingml/2006/main">
              <a:ext uri="{FF2B5EF4-FFF2-40B4-BE49-F238E27FC236}">
                <a16:creationId xmlns:a16="http://schemas.microsoft.com/office/drawing/2014/main" id="{742D94BF-62C3-4969-9537-77F394FC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917" y="1935480"/>
            <a:ext cx="2543728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应用技术</a:t>
            </a:r>
          </a:p>
        </p:txBody>
      </p:sp>
      <p:sp>
        <p:nvSpPr>
          <p:cNvPr id="29" name="对象-29">
            <a:extLst xmlns:a="http://schemas.openxmlformats.org/drawingml/2006/main">
              <a:ext uri="{FF2B5EF4-FFF2-40B4-BE49-F238E27FC236}">
                <a16:creationId xmlns:a16="http://schemas.microsoft.com/office/drawing/2014/main" id="{62C1097E-575D-4E98-842F-EF7BAA21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149" y="2476500"/>
            <a:ext cx="2619887" cy="3436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30" name="文字-30-填写该维度的研究意义">
            <a:extLst xmlns:a="http://schemas.openxmlformats.org/drawingml/2006/main">
              <a:ext uri="{FF2B5EF4-FFF2-40B4-BE49-F238E27FC236}">
                <a16:creationId xmlns:a16="http://schemas.microsoft.com/office/drawing/2014/main" id="{7067497C-46E3-4893-B08C-43404DB2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308" y="2628900"/>
            <a:ext cx="246756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该维度的研究意义</a:t>
            </a:r>
          </a:p>
        </p:txBody>
      </p:sp>
      <p:sp>
        <p:nvSpPr>
          <p:cNvPr id="31" name="连线-31">
            <a:extLst xmlns:a="http://schemas.openxmlformats.org/drawingml/2006/main">
              <a:ext uri="{FF2B5EF4-FFF2-40B4-BE49-F238E27FC236}">
                <a16:creationId xmlns:a16="http://schemas.microsoft.com/office/drawing/2014/main" id="{93315C11-AA4C-4CA2-9779-894C8E4E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17547" y="3108960"/>
            <a:ext cx="22390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">
            <a:solidFill>
              <a:srgbClr val="B8C9DB"/>
            </a:solidFill>
            <a:prstDash val="solid"/>
          </a:ln>
        </p:spPr>
      </p:sp>
      <p:sp>
        <p:nvSpPr>
          <p:cNvPr id="32" name="文字-32-说明具体价值说明受益对象说明">
            <a:extLst xmlns:a="http://schemas.openxmlformats.org/drawingml/2006/main">
              <a:ext uri="{FF2B5EF4-FFF2-40B4-BE49-F238E27FC236}">
                <a16:creationId xmlns:a16="http://schemas.microsoft.com/office/drawing/2014/main" id="{4F6C6C52-1BC9-4735-A4A7-742CA985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772" y="3246120"/>
            <a:ext cx="2391408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核心作用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支撑依据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</p:txBody>
      </p:sp>
      <p:sp>
        <p:nvSpPr>
          <p:cNvPr id="33" name="图片区-4-图片区">
            <a:extLst xmlns:a="http://schemas.openxmlformats.org/drawingml/2006/main">
              <a:ext uri="{FF2B5EF4-FFF2-40B4-BE49-F238E27FC236}">
                <a16:creationId xmlns:a16="http://schemas.microsoft.com/office/drawing/2014/main" id="{6AA7E145-C5EE-4038-88A2-5FBF13A7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6619" y="4328160"/>
            <a:ext cx="2360945" cy="140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4" name="文字-34-填写本研究对科学认识与实际应">
            <a:extLst xmlns:a="http://schemas.openxmlformats.org/drawingml/2006/main">
              <a:ext uri="{FF2B5EF4-FFF2-40B4-BE49-F238E27FC236}">
                <a16:creationId xmlns:a16="http://schemas.microsoft.com/office/drawing/2014/main" id="{67AE0FC0-9FA6-472E-B5A7-9C2F43A3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164580"/>
            <a:ext cx="1145439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四个维度共同说明研究的必要性与价值</a:t>
            </a:r>
          </a:p>
        </p:txBody>
      </p:sp>
    </p:spTree>
    <p:extLst>
      <p:ext uri="{BB962C8B-B14F-4D97-AF65-F5344CB8AC3E}">
        <p14:creationId xmlns:p14="http://schemas.microsoft.com/office/powerpoint/2010/main" val="19374314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文字-1-2.1 研究背景与前沿热点">
            <a:extLst xmlns:a="http://schemas.openxmlformats.org/drawingml/2006/main">
              <a:ext uri="{FF2B5EF4-FFF2-40B4-BE49-F238E27FC236}">
                <a16:creationId xmlns:a16="http://schemas.microsoft.com/office/drawing/2014/main" id="{036E3E4B-E953-4B99-815E-93C32FE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2.1 研究背景与前沿热点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7E4817D7-CD80-4AE2-8B2B-7AA01269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填写本领域需要实现的关键目标">
            <a:extLst xmlns:a="http://schemas.openxmlformats.org/drawingml/2006/main">
              <a:ext uri="{FF2B5EF4-FFF2-40B4-BE49-F238E27FC236}">
                <a16:creationId xmlns:a16="http://schemas.microsoft.com/office/drawing/2014/main" id="{094C686A-DF16-4875-A227-0F4BD6B3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84" y="899160"/>
            <a:ext cx="9946432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本领域需要实现的关键目标</a:t>
            </a:r>
          </a:p>
        </p:txBody>
      </p:sp>
      <p:sp>
        <p:nvSpPr>
          <p:cNvPr id="4" name="文字-4-说明需要解决的问题、研究对象">
            <a:extLst xmlns:a="http://schemas.openxmlformats.org/drawingml/2006/main">
              <a:ext uri="{FF2B5EF4-FFF2-40B4-BE49-F238E27FC236}">
                <a16:creationId xmlns:a16="http://schemas.microsoft.com/office/drawing/2014/main" id="{C26F0981-6342-4781-8BC8-768B89D7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424940"/>
            <a:ext cx="11454390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需要解决的问题、研究对象与方法切入点</a:t>
            </a:r>
          </a:p>
          <a:p xmlns:a="http://schemas.openxmlformats.org/drawingml/2006/main">
            <a:pPr algn="l">
              <a:buNone/>
              <a:def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该问题与本研究的联系</a:t>
            </a:r>
          </a:p>
        </p:txBody>
      </p:sp>
      <p:sp>
        <p:nvSpPr>
          <p:cNvPr id="5" name="对象-5">
            <a:extLst xmlns:a="http://schemas.openxmlformats.org/drawingml/2006/main">
              <a:ext uri="{FF2B5EF4-FFF2-40B4-BE49-F238E27FC236}">
                <a16:creationId xmlns:a16="http://schemas.microsoft.com/office/drawing/2014/main" id="{23643BB8-3EC2-41AC-B4AA-D2704C47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1" y="2423160"/>
            <a:ext cx="784443" cy="1272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文字-6-系">
            <a:extLst xmlns:a="http://schemas.openxmlformats.org/drawingml/2006/main">
              <a:ext uri="{FF2B5EF4-FFF2-40B4-BE49-F238E27FC236}">
                <a16:creationId xmlns:a16="http://schemas.microsoft.com/office/drawing/2014/main" id="{478B902A-CA6D-4DB8-ACDD-E25959EB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1" y="2484882"/>
            <a:ext cx="784443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</a:t>
            </a:r>
          </a:p>
        </p:txBody>
      </p:sp>
      <p:sp>
        <p:nvSpPr>
          <p:cNvPr id="7" name="文字-7-统">
            <a:extLst xmlns:a="http://schemas.openxmlformats.org/drawingml/2006/main">
              <a:ext uri="{FF2B5EF4-FFF2-40B4-BE49-F238E27FC236}">
                <a16:creationId xmlns:a16="http://schemas.microsoft.com/office/drawing/2014/main" id="{1D3C3AAC-1F86-4B88-9305-3FB91562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1" y="2772156"/>
            <a:ext cx="784443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</a:t>
            </a:r>
          </a:p>
        </p:txBody>
      </p:sp>
      <p:sp>
        <p:nvSpPr>
          <p:cNvPr id="8" name="文字-8-集">
            <a:extLst xmlns:a="http://schemas.openxmlformats.org/drawingml/2006/main">
              <a:ext uri="{FF2B5EF4-FFF2-40B4-BE49-F238E27FC236}">
                <a16:creationId xmlns:a16="http://schemas.microsoft.com/office/drawing/2014/main" id="{F7F7D0CA-F943-41B4-BFAE-B9EA52CB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1" y="3059430"/>
            <a:ext cx="784443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</a:t>
            </a:r>
          </a:p>
        </p:txBody>
      </p:sp>
      <p:sp>
        <p:nvSpPr>
          <p:cNvPr id="9" name="文字-9-成">
            <a:extLst xmlns:a="http://schemas.openxmlformats.org/drawingml/2006/main">
              <a:ext uri="{FF2B5EF4-FFF2-40B4-BE49-F238E27FC236}">
                <a16:creationId xmlns:a16="http://schemas.microsoft.com/office/drawing/2014/main" id="{80BA4C50-C63F-4E76-A2DB-35FC45EC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1" y="3346704"/>
            <a:ext cx="784443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</a:t>
            </a:r>
          </a:p>
        </p:txBody>
      </p:sp>
      <p:sp>
        <p:nvSpPr>
          <p:cNvPr id="10" name="文字-10-方法启发">
            <a:extLst xmlns:a="http://schemas.openxmlformats.org/drawingml/2006/main">
              <a:ext uri="{FF2B5EF4-FFF2-40B4-BE49-F238E27FC236}">
                <a16:creationId xmlns:a16="http://schemas.microsoft.com/office/drawing/2014/main" id="{4220BDEE-EB3E-4FF9-B7FF-780902EB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94" y="2537460"/>
            <a:ext cx="310730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方法启发</a:t>
            </a:r>
          </a:p>
        </p:txBody>
      </p:sp>
      <p:sp>
        <p:nvSpPr>
          <p:cNvPr id="11" name="文字-11-填写该要素的具体内容及其在系">
            <a:extLst xmlns:a="http://schemas.openxmlformats.org/drawingml/2006/main">
              <a:ext uri="{FF2B5EF4-FFF2-40B4-BE49-F238E27FC236}">
                <a16:creationId xmlns:a16="http://schemas.microsoft.com/office/drawing/2014/main" id="{7CCE74C1-9340-4689-B669-A9ADFA25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494" y="2971800"/>
            <a:ext cx="3107308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要素内容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在系统中的作用</a:t>
            </a:r>
          </a:p>
        </p:txBody>
      </p:sp>
      <p:sp>
        <p:nvSpPr>
          <p:cNvPr id="12" name="连线-12">
            <a:extLst xmlns:a="http://schemas.openxmlformats.org/drawingml/2006/main">
              <a:ext uri="{FF2B5EF4-FFF2-40B4-BE49-F238E27FC236}">
                <a16:creationId xmlns:a16="http://schemas.microsoft.com/office/drawing/2014/main" id="{DCDFC6BD-3A3C-411D-BBE2-810320E7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11882" y="3169920"/>
            <a:ext cx="26655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AC111A"/>
            </a:solidFill>
            <a:prstDash val="solid"/>
          </a:ln>
        </p:spPr>
      </p:sp>
      <p:sp>
        <p:nvSpPr>
          <p:cNvPr id="13" name="结构-13">
            <a:extLst xmlns:a="http://schemas.openxmlformats.org/drawingml/2006/main">
              <a:ext uri="{FF2B5EF4-FFF2-40B4-BE49-F238E27FC236}">
                <a16:creationId xmlns:a16="http://schemas.microsoft.com/office/drawing/2014/main" id="{3B5B4E7D-068C-442C-9F8C-B7CFE384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201" y="3120390"/>
            <a:ext cx="114239" cy="99060"/>
          </a:xfrm>
          <a:custGeom xmlns:a="http://schemas.openxmlformats.org/drawingml/2006/main">
            <a:pathLst>
              <a:path w="149304" h="129466">
                <a:moveTo>
                  <a:pt x="149304" y="64733"/>
                </a:moveTo>
                <a:lnTo>
                  <a:pt x="0" y="0"/>
                </a:lnTo>
                <a:lnTo>
                  <a:pt x="0" y="129466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14" name="文字-14-材料或对象">
            <a:extLst xmlns:a="http://schemas.openxmlformats.org/drawingml/2006/main">
              <a:ext uri="{FF2B5EF4-FFF2-40B4-BE49-F238E27FC236}">
                <a16:creationId xmlns:a16="http://schemas.microsoft.com/office/drawing/2014/main" id="{E1B86B31-D593-4DD3-B4D8-97EB3C32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216" y="2537460"/>
            <a:ext cx="310730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材料或对象</a:t>
            </a:r>
          </a:p>
        </p:txBody>
      </p:sp>
      <p:sp>
        <p:nvSpPr>
          <p:cNvPr id="15" name="文字-15-填写该要素的具体内容及其在系">
            <a:extLst xmlns:a="http://schemas.openxmlformats.org/drawingml/2006/main">
              <a:ext uri="{FF2B5EF4-FFF2-40B4-BE49-F238E27FC236}">
                <a16:creationId xmlns:a16="http://schemas.microsoft.com/office/drawing/2014/main" id="{23637614-D118-438F-B02D-2DD52FA5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216" y="2971800"/>
            <a:ext cx="3107308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要素内容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在系统中的作用</a:t>
            </a:r>
          </a:p>
        </p:txBody>
      </p:sp>
      <p:sp>
        <p:nvSpPr>
          <p:cNvPr id="16" name="连线-16">
            <a:extLst xmlns:a="http://schemas.openxmlformats.org/drawingml/2006/main">
              <a:ext uri="{FF2B5EF4-FFF2-40B4-BE49-F238E27FC236}">
                <a16:creationId xmlns:a16="http://schemas.microsoft.com/office/drawing/2014/main" id="{690652BA-B6CF-4E8F-8BF6-FF0F2B59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7604" y="3169920"/>
            <a:ext cx="26655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AC111A"/>
            </a:solidFill>
            <a:prstDash val="solid"/>
          </a:ln>
        </p:spPr>
      </p:sp>
      <p:sp>
        <p:nvSpPr>
          <p:cNvPr id="17" name="结构-17">
            <a:extLst xmlns:a="http://schemas.openxmlformats.org/drawingml/2006/main">
              <a:ext uri="{FF2B5EF4-FFF2-40B4-BE49-F238E27FC236}">
                <a16:creationId xmlns:a16="http://schemas.microsoft.com/office/drawing/2014/main" id="{E46BAF32-022B-4316-B1C6-3BE10B0B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922" y="3120390"/>
            <a:ext cx="114239" cy="99060"/>
          </a:xfrm>
          <a:custGeom xmlns:a="http://schemas.openxmlformats.org/drawingml/2006/main">
            <a:pathLst>
              <a:path w="149304" h="129466">
                <a:moveTo>
                  <a:pt x="149304" y="64733"/>
                </a:moveTo>
                <a:lnTo>
                  <a:pt x="0" y="0"/>
                </a:lnTo>
                <a:lnTo>
                  <a:pt x="0" y="129466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18" name="文字-18-功能调控">
            <a:extLst xmlns:a="http://schemas.openxmlformats.org/drawingml/2006/main">
              <a:ext uri="{FF2B5EF4-FFF2-40B4-BE49-F238E27FC236}">
                <a16:creationId xmlns:a16="http://schemas.microsoft.com/office/drawing/2014/main" id="{F68156ED-23B6-4CC4-8294-F272D609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938" y="2537460"/>
            <a:ext cx="310730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功能调控</a:t>
            </a:r>
          </a:p>
        </p:txBody>
      </p:sp>
      <p:sp>
        <p:nvSpPr>
          <p:cNvPr id="19" name="文字-19-填写该要素的具体内容及其在系">
            <a:extLst xmlns:a="http://schemas.openxmlformats.org/drawingml/2006/main">
              <a:ext uri="{FF2B5EF4-FFF2-40B4-BE49-F238E27FC236}">
                <a16:creationId xmlns:a16="http://schemas.microsoft.com/office/drawing/2014/main" id="{7E9E5C4F-803B-402E-8B48-D9636A22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938" y="2971800"/>
            <a:ext cx="3107308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要素内容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在系统中的作用</a:t>
            </a:r>
          </a:p>
        </p:txBody>
      </p:sp>
      <p:sp>
        <p:nvSpPr>
          <p:cNvPr id="20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8A0A0336-2ED0-4132-8EC0-6CF70BAC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3962400"/>
            <a:ext cx="4013606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1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276B637E-4199-4148-80C7-0BF94D5E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821" y="3962400"/>
            <a:ext cx="3998374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2" name="文字-22-填写机理或对象名称">
            <a:extLst xmlns:a="http://schemas.openxmlformats.org/drawingml/2006/main">
              <a:ext uri="{FF2B5EF4-FFF2-40B4-BE49-F238E27FC236}">
                <a16:creationId xmlns:a16="http://schemas.microsoft.com/office/drawing/2014/main" id="{83CF1363-7EBE-4C0C-B7F3-E3157AEC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172200"/>
            <a:ext cx="4013606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机理或对象名称</a:t>
            </a:r>
          </a:p>
        </p:txBody>
      </p:sp>
      <p:sp>
        <p:nvSpPr>
          <p:cNvPr id="23" name="文字-23-填写材料或系统名称">
            <a:extLst xmlns:a="http://schemas.openxmlformats.org/drawingml/2006/main">
              <a:ext uri="{FF2B5EF4-FFF2-40B4-BE49-F238E27FC236}">
                <a16:creationId xmlns:a16="http://schemas.microsoft.com/office/drawing/2014/main" id="{1DDADDB3-D86C-4C82-904A-0AB2CA7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821" y="6172200"/>
            <a:ext cx="3998374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材料或系统名称</a:t>
            </a:r>
          </a:p>
        </p:txBody>
      </p:sp>
      <p:sp>
        <p:nvSpPr>
          <p:cNvPr id="24" name="文字-24-填写工艺特点与实现要求">
            <a:extLst xmlns:a="http://schemas.openxmlformats.org/drawingml/2006/main">
              <a:ext uri="{FF2B5EF4-FFF2-40B4-BE49-F238E27FC236}">
                <a16:creationId xmlns:a16="http://schemas.microsoft.com/office/drawing/2014/main" id="{E93A73EA-76C8-493A-A1F3-65F1CDF4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201" y="4229100"/>
            <a:ext cx="2871214" cy="891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C111A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工艺特点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与实现要求</a:t>
            </a:r>
          </a:p>
        </p:txBody>
      </p:sp>
      <p:sp>
        <p:nvSpPr>
          <p:cNvPr id="25" name="文字-25-填写工程属性与应用价值">
            <a:extLst xmlns:a="http://schemas.openxmlformats.org/drawingml/2006/main">
              <a:ext uri="{FF2B5EF4-FFF2-40B4-BE49-F238E27FC236}">
                <a16:creationId xmlns:a16="http://schemas.microsoft.com/office/drawing/2014/main" id="{CC151438-FECF-4924-8CEF-9E979D62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4201" y="5372100"/>
            <a:ext cx="2871214" cy="891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C111A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工程属性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与应用价值</a:t>
            </a:r>
          </a:p>
        </p:txBody>
      </p:sp>
    </p:spTree>
    <p:extLst>
      <p:ext uri="{BB962C8B-B14F-4D97-AF65-F5344CB8AC3E}">
        <p14:creationId xmlns:p14="http://schemas.microsoft.com/office/powerpoint/2010/main" val="13544206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文字-1-2  研究背景与意义">
            <a:extLst xmlns:a="http://schemas.openxmlformats.org/drawingml/2006/main">
              <a:ext uri="{FF2B5EF4-FFF2-40B4-BE49-F238E27FC236}">
                <a16:creationId xmlns:a16="http://schemas.microsoft.com/office/drawing/2014/main" id="{E5B4BD2E-B4E2-4B70-8A4B-62AC174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  研究背景与意义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E9E07EC2-A6FD-4E79-BB99-D9CED616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668E72F1-23F4-45BE-8D10-B9B8D73B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22020"/>
            <a:ext cx="11454390" cy="845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A5943EF6-8769-4E54-A28C-2C03AABA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25349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7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说明研究对象的核心问题与拟研">
            <a:extLst xmlns:a="http://schemas.openxmlformats.org/drawingml/2006/main">
              <a:ext uri="{FF2B5EF4-FFF2-40B4-BE49-F238E27FC236}">
                <a16:creationId xmlns:a16="http://schemas.microsoft.com/office/drawing/2014/main" id="{C6CB1006-0112-4058-823D-75B9FBD0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82980"/>
            <a:ext cx="108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研究对象的核心问题与拟研究的作用规律</a:t>
            </a:r>
          </a:p>
        </p:txBody>
      </p:sp>
      <p:sp>
        <p:nvSpPr>
          <p:cNvPr id="6" name="对象-6">
            <a:extLst xmlns:a="http://schemas.openxmlformats.org/drawingml/2006/main">
              <a:ext uri="{FF2B5EF4-FFF2-40B4-BE49-F238E27FC236}">
                <a16:creationId xmlns:a16="http://schemas.microsoft.com/office/drawing/2014/main" id="{3CE9843C-DB5D-4D80-AAFB-7072D61F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019300"/>
            <a:ext cx="5605340" cy="418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7" name="文字-7-需求依据">
            <a:extLst xmlns:a="http://schemas.openxmlformats.org/drawingml/2006/main">
              <a:ext uri="{FF2B5EF4-FFF2-40B4-BE49-F238E27FC236}">
                <a16:creationId xmlns:a16="http://schemas.microsoft.com/office/drawing/2014/main" id="{56E830E5-9509-4EEA-873F-9D3E3FF3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019300"/>
            <a:ext cx="1485111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需求依据</a:t>
            </a:r>
          </a:p>
        </p:txBody>
      </p:sp>
      <p:sp>
        <p:nvSpPr>
          <p:cNvPr id="8" name="文字-8-说明应用或工程需求及其对研究">
            <a:extLst xmlns:a="http://schemas.openxmlformats.org/drawingml/2006/main">
              <a:ext uri="{FF2B5EF4-FFF2-40B4-BE49-F238E27FC236}">
                <a16:creationId xmlns:a16="http://schemas.microsoft.com/office/drawing/2014/main" id="{A2D17D33-0CD8-4C62-A236-297744D5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154" y="2026920"/>
            <a:ext cx="3861287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应用或工程需求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对研究提出的要求</a:t>
            </a:r>
          </a:p>
        </p:txBody>
      </p:sp>
      <p:sp>
        <p:nvSpPr>
          <p:cNvPr id="9" name="图片区-1-需求依据图">
            <a:extLst xmlns:a="http://schemas.openxmlformats.org/drawingml/2006/main">
              <a:ext uri="{FF2B5EF4-FFF2-40B4-BE49-F238E27FC236}">
                <a16:creationId xmlns:a16="http://schemas.microsoft.com/office/drawing/2014/main" id="{841CD835-F539-4169-BDB7-D31E557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2933700"/>
            <a:ext cx="5270239" cy="2385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0" name="文字-10-填写需求依据与本研究的联系">
            <a:extLst xmlns:a="http://schemas.openxmlformats.org/drawingml/2006/main">
              <a:ext uri="{FF2B5EF4-FFF2-40B4-BE49-F238E27FC236}">
                <a16:creationId xmlns:a16="http://schemas.microsoft.com/office/drawing/2014/main" id="{4C357B9D-AB46-494C-8EAA-0D21E766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5516880"/>
            <a:ext cx="527023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需求依据与本研究的联系</a:t>
            </a:r>
          </a:p>
        </p:txBody>
      </p:sp>
      <p:sp>
        <p:nvSpPr>
          <p:cNvPr id="11" name="对象-11">
            <a:extLst xmlns:a="http://schemas.openxmlformats.org/drawingml/2006/main">
              <a:ext uri="{FF2B5EF4-FFF2-40B4-BE49-F238E27FC236}">
                <a16:creationId xmlns:a16="http://schemas.microsoft.com/office/drawing/2014/main" id="{E719D48D-A8F6-46F9-97ED-74653FB1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855" y="2019300"/>
            <a:ext cx="5605340" cy="418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2" name="文字-12-技术发展">
            <a:extLst xmlns:a="http://schemas.openxmlformats.org/drawingml/2006/main">
              <a:ext uri="{FF2B5EF4-FFF2-40B4-BE49-F238E27FC236}">
                <a16:creationId xmlns:a16="http://schemas.microsoft.com/office/drawing/2014/main" id="{B0A41CCB-19D0-4340-A719-6FE0081D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855" y="2019300"/>
            <a:ext cx="1485111" cy="739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技术发展</a:t>
            </a:r>
          </a:p>
        </p:txBody>
      </p:sp>
      <p:sp>
        <p:nvSpPr>
          <p:cNvPr id="13" name="文字-13-说明技术发展的趋势以及当前仍">
            <a:extLst xmlns:a="http://schemas.openxmlformats.org/drawingml/2006/main">
              <a:ext uri="{FF2B5EF4-FFF2-40B4-BE49-F238E27FC236}">
                <a16:creationId xmlns:a16="http://schemas.microsoft.com/office/drawing/2014/main" id="{81EA15F7-00F6-45D7-B1CA-5B29040A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205" y="2026920"/>
            <a:ext cx="3861287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技术发展趋势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当前存在的瓶颈</a:t>
            </a:r>
          </a:p>
        </p:txBody>
      </p:sp>
      <p:sp>
        <p:nvSpPr>
          <p:cNvPr id="14" name="图片区-2-技术趋势图">
            <a:extLst xmlns:a="http://schemas.openxmlformats.org/drawingml/2006/main">
              <a:ext uri="{FF2B5EF4-FFF2-40B4-BE49-F238E27FC236}">
                <a16:creationId xmlns:a16="http://schemas.microsoft.com/office/drawing/2014/main" id="{0186E1CC-1EAB-4FEC-92CC-3F23A67E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406" y="2933700"/>
            <a:ext cx="5270239" cy="2385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5" name="文字-15-填写需要突破的关键技术问题">
            <a:extLst xmlns:a="http://schemas.openxmlformats.org/drawingml/2006/main">
              <a:ext uri="{FF2B5EF4-FFF2-40B4-BE49-F238E27FC236}">
                <a16:creationId xmlns:a16="http://schemas.microsoft.com/office/drawing/2014/main" id="{3ECD9174-3586-412F-8983-53D1219B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406" y="5516880"/>
            <a:ext cx="5270239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需要突破的关键技术问题</a:t>
            </a:r>
          </a:p>
        </p:txBody>
      </p:sp>
    </p:spTree>
    <p:extLst>
      <p:ext uri="{BB962C8B-B14F-4D97-AF65-F5344CB8AC3E}">
        <p14:creationId xmlns:p14="http://schemas.microsoft.com/office/powerpoint/2010/main" val="18177417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文字-1-1.1 立项依据">
            <a:extLst xmlns:a="http://schemas.openxmlformats.org/drawingml/2006/main">
              <a:ext uri="{FF2B5EF4-FFF2-40B4-BE49-F238E27FC236}">
                <a16:creationId xmlns:a16="http://schemas.microsoft.com/office/drawing/2014/main" id="{2F7FDDB0-C151-426A-8E0A-6BA03AB7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1.1 立项依据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666E8BBA-C459-49DA-ADA0-57D423A3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B91DB06D-0C0D-4A0D-8D5C-4E728A68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14400"/>
            <a:ext cx="11454390" cy="563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4ECF2343-4428-4902-88CD-36E5C1F6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10490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研究背景与紧迫性：填写本领域">
            <a:extLst xmlns:a="http://schemas.openxmlformats.org/drawingml/2006/main">
              <a:ext uri="{FF2B5EF4-FFF2-40B4-BE49-F238E27FC236}">
                <a16:creationId xmlns:a16="http://schemas.microsoft.com/office/drawing/2014/main" id="{9B2D4118-8482-41A7-944E-02AA658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75360"/>
            <a:ext cx="1081465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研究背景与紧迫性：填写本领域的需求与发展背景</a:t>
            </a:r>
          </a:p>
        </p:txBody>
      </p:sp>
      <p:sp>
        <p:nvSpPr>
          <p:cNvPr id="6" name="文字-6-核心挑战">
            <a:extLst xmlns:a="http://schemas.openxmlformats.org/drawingml/2006/main">
              <a:ext uri="{FF2B5EF4-FFF2-40B4-BE49-F238E27FC236}">
                <a16:creationId xmlns:a16="http://schemas.microsoft.com/office/drawing/2014/main" id="{004D4A80-46E5-4533-90D3-473FFB90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623060"/>
            <a:ext cx="104338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7" name="文字-7-说明现有方法的共同瓶颈，以及">
            <a:extLst xmlns:a="http://schemas.openxmlformats.org/drawingml/2006/main">
              <a:ext uri="{FF2B5EF4-FFF2-40B4-BE49-F238E27FC236}">
                <a16:creationId xmlns:a16="http://schemas.microsoft.com/office/drawing/2014/main" id="{C5D7C9B1-F142-45ED-AC41-34FF980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893" y="1676400"/>
            <a:ext cx="1008352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研究需求与现有能力之间的关键差距</a:t>
            </a:r>
          </a:p>
        </p:txBody>
      </p:sp>
      <p:sp>
        <p:nvSpPr>
          <p:cNvPr id="8" name="对象-8">
            <a:extLst xmlns:a="http://schemas.openxmlformats.org/drawingml/2006/main">
              <a:ext uri="{FF2B5EF4-FFF2-40B4-BE49-F238E27FC236}">
                <a16:creationId xmlns:a16="http://schemas.microsoft.com/office/drawing/2014/main" id="{F08A920D-5B0E-4CF9-9C72-B14FC018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827020"/>
            <a:ext cx="5803355" cy="3223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2C4B8C8C-82F2-4BC9-BF16-DDCB81EA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674620"/>
            <a:ext cx="2916909" cy="373380"/>
          </a:xfrm>
          <a:custGeom xmlns:a="http://schemas.openxmlformats.org/drawingml/2006/main">
            <a:pathLst>
              <a:path w="3812238" h="487987">
                <a:moveTo>
                  <a:pt x="0" y="0"/>
                </a:moveTo>
                <a:lnTo>
                  <a:pt x="3563398" y="0"/>
                </a:lnTo>
                <a:lnTo>
                  <a:pt x="3812238" y="243993"/>
                </a:lnTo>
                <a:lnTo>
                  <a:pt x="3563398" y="487987"/>
                </a:lnTo>
                <a:lnTo>
                  <a:pt x="0" y="487987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10" name="文字-10-学科前沿与研究基础">
            <a:extLst xmlns:a="http://schemas.openxmlformats.org/drawingml/2006/main">
              <a:ext uri="{FF2B5EF4-FFF2-40B4-BE49-F238E27FC236}">
                <a16:creationId xmlns:a16="http://schemas.microsoft.com/office/drawing/2014/main" id="{27841037-4FA2-4EEA-B9EA-D991E03D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32" y="2674620"/>
            <a:ext cx="2688431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学科前沿与研究基础</a:t>
            </a:r>
          </a:p>
        </p:txBody>
      </p:sp>
      <p:sp>
        <p:nvSpPr>
          <p:cNvPr id="11" name="文字-11-研究方向一">
            <a:extLst xmlns:a="http://schemas.openxmlformats.org/drawingml/2006/main">
              <a:ext uri="{FF2B5EF4-FFF2-40B4-BE49-F238E27FC236}">
                <a16:creationId xmlns:a16="http://schemas.microsoft.com/office/drawing/2014/main" id="{7BAC6A53-FE06-466C-AA51-E9376F67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3154680"/>
            <a:ext cx="2513264" cy="350520"/>
          </a:xfrm>
          <a:prstGeom xmlns:a="http://schemas.openxmlformats.org/drawingml/2006/main" prst="roundRect">
            <a:avLst>
              <a:gd name="adj" fmla="val 1663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研究方向一</a:t>
            </a:r>
          </a:p>
        </p:txBody>
      </p:sp>
      <p:sp>
        <p:nvSpPr>
          <p:cNvPr id="12" name="文字-12-填写已有理论或技术基础">
            <a:extLst xmlns:a="http://schemas.openxmlformats.org/drawingml/2006/main">
              <a:ext uri="{FF2B5EF4-FFF2-40B4-BE49-F238E27FC236}">
                <a16:creationId xmlns:a16="http://schemas.microsoft.com/office/drawing/2014/main" id="{1757230B-1B55-4948-A04A-60118DE0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3627120"/>
            <a:ext cx="25132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研究基础与主要特点</a:t>
            </a:r>
          </a:p>
        </p:txBody>
      </p:sp>
      <p:sp>
        <p:nvSpPr>
          <p:cNvPr id="13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51911254-7324-4E69-A5DB-0B190CE1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4107180"/>
            <a:ext cx="2513264" cy="1440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4" name="文字-14-填写该方向的主要贡献">
            <a:extLst xmlns:a="http://schemas.openxmlformats.org/drawingml/2006/main">
              <a:ext uri="{FF2B5EF4-FFF2-40B4-BE49-F238E27FC236}">
                <a16:creationId xmlns:a16="http://schemas.microsoft.com/office/drawing/2014/main" id="{CBB7D074-8AE1-457B-B0E0-C2DA9F31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5646420"/>
            <a:ext cx="251326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对本研究的支撑作用</a:t>
            </a:r>
          </a:p>
        </p:txBody>
      </p:sp>
      <p:sp>
        <p:nvSpPr>
          <p:cNvPr id="15" name="文字-15-研究方向二">
            <a:extLst xmlns:a="http://schemas.openxmlformats.org/drawingml/2006/main">
              <a:ext uri="{FF2B5EF4-FFF2-40B4-BE49-F238E27FC236}">
                <a16:creationId xmlns:a16="http://schemas.microsoft.com/office/drawing/2014/main" id="{B6327395-E2FE-492A-B3C5-0FC2E3A0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93" y="3154680"/>
            <a:ext cx="2513264" cy="350520"/>
          </a:xfrm>
          <a:prstGeom xmlns:a="http://schemas.openxmlformats.org/drawingml/2006/main" prst="roundRect">
            <a:avLst>
              <a:gd name="adj" fmla="val 1663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研究方向二</a:t>
            </a:r>
          </a:p>
        </p:txBody>
      </p:sp>
      <p:sp>
        <p:nvSpPr>
          <p:cNvPr id="16" name="文字-16-填写已有理论或技术基础">
            <a:extLst xmlns:a="http://schemas.openxmlformats.org/drawingml/2006/main">
              <a:ext uri="{FF2B5EF4-FFF2-40B4-BE49-F238E27FC236}">
                <a16:creationId xmlns:a16="http://schemas.microsoft.com/office/drawing/2014/main" id="{700C4C6B-F964-4745-B355-B43FE4E1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93" y="3627120"/>
            <a:ext cx="25132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研究基础与主要特点</a:t>
            </a:r>
          </a:p>
        </p:txBody>
      </p:sp>
      <p:sp>
        <p:nvSpPr>
          <p:cNvPr id="17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0344A8C2-A9DF-4217-A93F-B8935735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93" y="4107180"/>
            <a:ext cx="2513264" cy="1440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8" name="文字-18-填写该方向的主要贡献">
            <a:extLst xmlns:a="http://schemas.openxmlformats.org/drawingml/2006/main">
              <a:ext uri="{FF2B5EF4-FFF2-40B4-BE49-F238E27FC236}">
                <a16:creationId xmlns:a16="http://schemas.microsoft.com/office/drawing/2014/main" id="{8BA674F8-E768-44B8-B323-70FE5F4E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93" y="5646420"/>
            <a:ext cx="2513264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对本研究的支撑作用</a:t>
            </a:r>
          </a:p>
        </p:txBody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CB28FA46-D775-47E0-B6F0-DEAE040B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2" y="2979420"/>
            <a:ext cx="2170546" cy="396240"/>
          </a:xfrm>
          <a:custGeom xmlns:a="http://schemas.openxmlformats.org/drawingml/2006/main">
            <a:pathLst>
              <a:path w="2836783" h="517864">
                <a:moveTo>
                  <a:pt x="0" y="0"/>
                </a:moveTo>
                <a:lnTo>
                  <a:pt x="2587943" y="0"/>
                </a:lnTo>
                <a:lnTo>
                  <a:pt x="2836783" y="258932"/>
                </a:lnTo>
                <a:lnTo>
                  <a:pt x="2587943" y="517864"/>
                </a:lnTo>
                <a:lnTo>
                  <a:pt x="0" y="517864"/>
                </a:lnTo>
                <a:close/>
              </a:path>
            </a:pathLst>
          </a:cu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</p:sp>
      <p:sp>
        <p:nvSpPr>
          <p:cNvPr id="20" name="文字-20-架构问题">
            <a:extLst xmlns:a="http://schemas.openxmlformats.org/drawingml/2006/main">
              <a:ext uri="{FF2B5EF4-FFF2-40B4-BE49-F238E27FC236}">
                <a16:creationId xmlns:a16="http://schemas.microsoft.com/office/drawing/2014/main" id="{781A3475-753E-44CD-B2B3-625DCF09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49" y="2979420"/>
            <a:ext cx="1942067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架构问题</a:t>
            </a:r>
          </a:p>
        </p:txBody>
      </p:sp>
      <p:sp>
        <p:nvSpPr>
          <p:cNvPr id="21" name="文字-21-填写问题的具体表现">
            <a:extLst xmlns:a="http://schemas.openxmlformats.org/drawingml/2006/main">
              <a:ext uri="{FF2B5EF4-FFF2-40B4-BE49-F238E27FC236}">
                <a16:creationId xmlns:a16="http://schemas.microsoft.com/office/drawing/2014/main" id="{D8615A2A-ECFE-4EAC-83DC-6B288D68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102" y="3413760"/>
            <a:ext cx="2018227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关键限制与改进方向</a:t>
            </a:r>
          </a:p>
        </p:txBody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19751E28-1D2E-4A9D-8D84-9B547168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2" y="3977640"/>
            <a:ext cx="2170546" cy="396240"/>
          </a:xfrm>
          <a:custGeom xmlns:a="http://schemas.openxmlformats.org/drawingml/2006/main">
            <a:pathLst>
              <a:path w="2836783" h="517864">
                <a:moveTo>
                  <a:pt x="0" y="0"/>
                </a:moveTo>
                <a:lnTo>
                  <a:pt x="2587943" y="0"/>
                </a:lnTo>
                <a:lnTo>
                  <a:pt x="2836783" y="258932"/>
                </a:lnTo>
                <a:lnTo>
                  <a:pt x="2587943" y="517864"/>
                </a:lnTo>
                <a:lnTo>
                  <a:pt x="0" y="517864"/>
                </a:lnTo>
                <a:close/>
              </a:path>
            </a:pathLst>
          </a:cu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</p:sp>
      <p:sp>
        <p:nvSpPr>
          <p:cNvPr id="23" name="文字-23-协同问题">
            <a:extLst xmlns:a="http://schemas.openxmlformats.org/drawingml/2006/main">
              <a:ext uri="{FF2B5EF4-FFF2-40B4-BE49-F238E27FC236}">
                <a16:creationId xmlns:a16="http://schemas.microsoft.com/office/drawing/2014/main" id="{DC4A5A0E-AD4A-4A22-829D-03B08367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49" y="3977640"/>
            <a:ext cx="1942067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协同问题</a:t>
            </a:r>
          </a:p>
        </p:txBody>
      </p:sp>
      <p:sp>
        <p:nvSpPr>
          <p:cNvPr id="24" name="文字-24-填写问题的具体表现">
            <a:extLst xmlns:a="http://schemas.openxmlformats.org/drawingml/2006/main">
              <a:ext uri="{FF2B5EF4-FFF2-40B4-BE49-F238E27FC236}">
                <a16:creationId xmlns:a16="http://schemas.microsoft.com/office/drawing/2014/main" id="{0F887961-B857-40E7-ACE6-204DF6D1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102" y="4411980"/>
            <a:ext cx="2018227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关键限制与改进方向</a:t>
            </a:r>
          </a:p>
        </p:txBody>
      </p:sp>
      <p:sp>
        <p:nvSpPr>
          <p:cNvPr id="25" name="结构-25">
            <a:extLst xmlns:a="http://schemas.openxmlformats.org/drawingml/2006/main">
              <a:ext uri="{FF2B5EF4-FFF2-40B4-BE49-F238E27FC236}">
                <a16:creationId xmlns:a16="http://schemas.microsoft.com/office/drawing/2014/main" id="{C380A5A0-6189-4E0C-8B5A-B44EE2AE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2" y="4975860"/>
            <a:ext cx="2170546" cy="396240"/>
          </a:xfrm>
          <a:custGeom xmlns:a="http://schemas.openxmlformats.org/drawingml/2006/main">
            <a:pathLst>
              <a:path w="2836783" h="517864">
                <a:moveTo>
                  <a:pt x="0" y="0"/>
                </a:moveTo>
                <a:lnTo>
                  <a:pt x="2587943" y="0"/>
                </a:lnTo>
                <a:lnTo>
                  <a:pt x="2836783" y="258932"/>
                </a:lnTo>
                <a:lnTo>
                  <a:pt x="2587943" y="517864"/>
                </a:lnTo>
                <a:lnTo>
                  <a:pt x="0" y="517864"/>
                </a:lnTo>
                <a:close/>
              </a:path>
            </a:pathLst>
          </a:cu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</p:sp>
      <p:sp>
        <p:nvSpPr>
          <p:cNvPr id="26" name="文字-26-功能问题">
            <a:extLst xmlns:a="http://schemas.openxmlformats.org/drawingml/2006/main">
              <a:ext uri="{FF2B5EF4-FFF2-40B4-BE49-F238E27FC236}">
                <a16:creationId xmlns:a16="http://schemas.microsoft.com/office/drawing/2014/main" id="{5FC45D34-CACE-4AEA-9D48-D600030E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949" y="4975860"/>
            <a:ext cx="1942067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功能问题</a:t>
            </a:r>
          </a:p>
        </p:txBody>
      </p:sp>
      <p:sp>
        <p:nvSpPr>
          <p:cNvPr id="27" name="文字-27-填写问题的具体表现">
            <a:extLst xmlns:a="http://schemas.openxmlformats.org/drawingml/2006/main">
              <a:ext uri="{FF2B5EF4-FFF2-40B4-BE49-F238E27FC236}">
                <a16:creationId xmlns:a16="http://schemas.microsoft.com/office/drawing/2014/main" id="{7A985C43-4DBB-4404-9173-63D50147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102" y="5410200"/>
            <a:ext cx="2018227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关键限制与改进方向</a:t>
            </a:r>
          </a:p>
        </p:txBody>
      </p:sp>
      <p:sp>
        <p:nvSpPr>
          <p:cNvPr id="28" name="对象-28">
            <a:extLst xmlns:a="http://schemas.openxmlformats.org/drawingml/2006/main">
              <a:ext uri="{FF2B5EF4-FFF2-40B4-BE49-F238E27FC236}">
                <a16:creationId xmlns:a16="http://schemas.microsoft.com/office/drawing/2014/main" id="{393E109D-26C8-4088-A23D-15BC674B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583" y="2781300"/>
            <a:ext cx="3061612" cy="3246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29" name="文字-29-关键问题与研究目标">
            <a:extLst xmlns:a="http://schemas.openxmlformats.org/drawingml/2006/main">
              <a:ext uri="{FF2B5EF4-FFF2-40B4-BE49-F238E27FC236}">
                <a16:creationId xmlns:a16="http://schemas.microsoft.com/office/drawing/2014/main" id="{50093F80-C40E-45F7-AD53-87B93682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742" y="2781300"/>
            <a:ext cx="290929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关键问题与研究目标</a:t>
            </a:r>
          </a:p>
        </p:txBody>
      </p:sp>
      <p:sp>
        <p:nvSpPr>
          <p:cNvPr id="30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C853B4DA-9C61-4257-A288-5ECEC83F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518" y="3276600"/>
            <a:ext cx="2734126" cy="1798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1" name="文字-31-填写研究目标与预期突破">
            <a:extLst xmlns:a="http://schemas.openxmlformats.org/drawingml/2006/main">
              <a:ext uri="{FF2B5EF4-FFF2-40B4-BE49-F238E27FC236}">
                <a16:creationId xmlns:a16="http://schemas.microsoft.com/office/drawing/2014/main" id="{CB422000-E597-4FEB-ADEC-6A00F214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6750" y="5189220"/>
            <a:ext cx="2726511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预期结果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与验证目标</a:t>
            </a:r>
          </a:p>
        </p:txBody>
      </p:sp>
      <p:sp>
        <p:nvSpPr>
          <p:cNvPr id="32" name="文字-32-填写两条研究路径结合后的总体">
            <a:extLst xmlns:a="http://schemas.openxmlformats.org/drawingml/2006/main">
              <a:ext uri="{FF2B5EF4-FFF2-40B4-BE49-F238E27FC236}">
                <a16:creationId xmlns:a16="http://schemas.microsoft.com/office/drawing/2014/main" id="{20A98EAC-BAC8-449D-B8AA-53ED33CD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187440"/>
            <a:ext cx="1145439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两条研究路径结合后的总体目标</a:t>
            </a:r>
          </a:p>
        </p:txBody>
      </p:sp>
    </p:spTree>
    <p:extLst>
      <p:ext uri="{BB962C8B-B14F-4D97-AF65-F5344CB8AC3E}">
        <p14:creationId xmlns:p14="http://schemas.microsoft.com/office/powerpoint/2010/main" val="20791991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结构-1">
            <a:extLst xmlns:a="http://schemas.openxmlformats.org/drawingml/2006/main">
              <a:ext uri="{FF2B5EF4-FFF2-40B4-BE49-F238E27FC236}">
                <a16:creationId xmlns:a16="http://schemas.microsoft.com/office/drawing/2014/main" id="{1988C4BA-10B5-4998-929D-315952A6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模式的发展与演进">
            <a:extLst xmlns:a="http://schemas.openxmlformats.org/drawingml/2006/main">
              <a:ext uri="{FF2B5EF4-FFF2-40B4-BE49-F238E27FC236}">
                <a16:creationId xmlns:a16="http://schemas.microsoft.com/office/drawing/2014/main" id="{94461E4D-C359-4890-A0D8-218C4354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研究模式的发展与演进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F373DA24-06F6-442E-BFA7-087AA363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文字-4-阶段一：模式名称">
            <a:extLst xmlns:a="http://schemas.openxmlformats.org/drawingml/2006/main">
              <a:ext uri="{FF2B5EF4-FFF2-40B4-BE49-F238E27FC236}">
                <a16:creationId xmlns:a16="http://schemas.microsoft.com/office/drawing/2014/main" id="{849C7023-00AC-4A0C-964A-FCBCAA9C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阶段一：模式名称</a:t>
            </a:r>
          </a:p>
        </p:txBody>
      </p:sp>
      <p:sp>
        <p:nvSpPr>
          <p:cNvPr id="5" name="图片区-5">
            <a:extLst xmlns:a="http://schemas.openxmlformats.org/drawingml/2006/main">
              <a:ext uri="{FF2B5EF4-FFF2-40B4-BE49-F238E27FC236}">
                <a16:creationId xmlns:a16="http://schemas.microsoft.com/office/drawing/2014/main" id="{975622CF-2A8B-4B23-8827-69A156CF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33718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6" name="文字-6-填写该阶段的关键特征">
            <a:extLst xmlns:a="http://schemas.openxmlformats.org/drawingml/2006/main">
              <a:ext uri="{FF2B5EF4-FFF2-40B4-BE49-F238E27FC236}">
                <a16:creationId xmlns:a16="http://schemas.microsoft.com/office/drawing/2014/main" id="{F796A8DD-464A-4FE8-8CFA-B7AE8AF9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3371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填写该阶段的关键特征</a:t>
            </a:r>
          </a:p>
        </p:txBody>
      </p:sp>
      <p:sp>
        <p:nvSpPr>
          <p:cNvPr id="7" name="图片区-7">
            <a:extLst xmlns:a="http://schemas.openxmlformats.org/drawingml/2006/main">
              <a:ext uri="{FF2B5EF4-FFF2-40B4-BE49-F238E27FC236}">
                <a16:creationId xmlns:a16="http://schemas.microsoft.com/office/drawing/2014/main" id="{5CAA654E-082E-4DE6-A690-3941746C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33718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8" name="文字-8-填写对应研究模式">
            <a:extLst xmlns:a="http://schemas.openxmlformats.org/drawingml/2006/main">
              <a:ext uri="{FF2B5EF4-FFF2-40B4-BE49-F238E27FC236}">
                <a16:creationId xmlns:a16="http://schemas.microsoft.com/office/drawing/2014/main" id="{42D856BC-E9A3-4D06-8DFD-C61B90B5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3371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填写对应研究模式</a:t>
            </a:r>
          </a:p>
        </p:txBody>
      </p:sp>
      <p:sp>
        <p:nvSpPr>
          <p:cNvPr id="9" name="连线-9">
            <a:extLst xmlns:a="http://schemas.openxmlformats.org/drawingml/2006/main">
              <a:ext uri="{FF2B5EF4-FFF2-40B4-BE49-F238E27FC236}">
                <a16:creationId xmlns:a16="http://schemas.microsoft.com/office/drawing/2014/main" id="{1607B459-55C4-4083-9CE7-9CDDFA50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2286000"/>
            <a:ext cx="352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10" name="结构-10">
            <a:extLst xmlns:a="http://schemas.openxmlformats.org/drawingml/2006/main">
              <a:ext uri="{FF2B5EF4-FFF2-40B4-BE49-F238E27FC236}">
                <a16:creationId xmlns:a16="http://schemas.microsoft.com/office/drawing/2014/main" id="{08CD0F66-5728-418C-B5BC-1249792D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28850"/>
            <a:ext cx="133350" cy="114300"/>
          </a:xfrm>
          <a:custGeom xmlns:a="http://schemas.openxmlformats.org/drawingml/2006/main"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1" name="连线-11">
            <a:extLst xmlns:a="http://schemas.openxmlformats.org/drawingml/2006/main">
              <a:ext uri="{FF2B5EF4-FFF2-40B4-BE49-F238E27FC236}">
                <a16:creationId xmlns:a16="http://schemas.microsoft.com/office/drawing/2014/main" id="{4B714057-E47A-4875-A433-B62A08C8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5019675"/>
            <a:ext cx="352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B69B4BE4-94DD-4E25-8D01-51F1CA4A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62525"/>
            <a:ext cx="133350" cy="114300"/>
          </a:xfrm>
          <a:custGeom xmlns:a="http://schemas.openxmlformats.org/drawingml/2006/main"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3" name="文字-13-阶段二：模式名称">
            <a:extLst xmlns:a="http://schemas.openxmlformats.org/drawingml/2006/main">
              <a:ext uri="{FF2B5EF4-FFF2-40B4-BE49-F238E27FC236}">
                <a16:creationId xmlns:a16="http://schemas.microsoft.com/office/drawing/2014/main" id="{1D471304-A23D-43A7-A6C1-71A0FB6A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0096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阶段二：模式名称</a:t>
            </a:r>
          </a:p>
        </p:txBody>
      </p:sp>
      <p:sp>
        <p:nvSpPr>
          <p:cNvPr id="14" name="图片区-14">
            <a:extLst xmlns:a="http://schemas.openxmlformats.org/drawingml/2006/main">
              <a:ext uri="{FF2B5EF4-FFF2-40B4-BE49-F238E27FC236}">
                <a16:creationId xmlns:a16="http://schemas.microsoft.com/office/drawing/2014/main" id="{E1ED27D0-890C-4C25-8BA8-DEC55EC1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476375"/>
            <a:ext cx="33718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5" name="文字-15-填写该阶段的关键特征">
            <a:extLst xmlns:a="http://schemas.openxmlformats.org/drawingml/2006/main">
              <a:ext uri="{FF2B5EF4-FFF2-40B4-BE49-F238E27FC236}">
                <a16:creationId xmlns:a16="http://schemas.microsoft.com/office/drawing/2014/main" id="{EAA9CCD8-64BD-4606-ACFA-E681EA35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14675"/>
            <a:ext cx="3371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填写该阶段的关键特征</a:t>
            </a:r>
          </a:p>
        </p:txBody>
      </p:sp>
      <p:sp>
        <p:nvSpPr>
          <p:cNvPr id="16" name="图片区-16">
            <a:extLst xmlns:a="http://schemas.openxmlformats.org/drawingml/2006/main">
              <a:ext uri="{FF2B5EF4-FFF2-40B4-BE49-F238E27FC236}">
                <a16:creationId xmlns:a16="http://schemas.microsoft.com/office/drawing/2014/main" id="{F6ECF260-0DAB-4A2C-9A01-36559405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29100"/>
            <a:ext cx="33718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7" name="文字-17-填写对应研究模式">
            <a:extLst xmlns:a="http://schemas.openxmlformats.org/drawingml/2006/main">
              <a:ext uri="{FF2B5EF4-FFF2-40B4-BE49-F238E27FC236}">
                <a16:creationId xmlns:a16="http://schemas.microsoft.com/office/drawing/2014/main" id="{EDC4176D-947A-45B5-977D-27A73384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6057900"/>
            <a:ext cx="3371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填写对应研究模式</a:t>
            </a:r>
          </a:p>
        </p:txBody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EE3DFD1F-499B-4FF9-A00A-79783E11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96225" y="2286000"/>
            <a:ext cx="352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2F64BCEF-9C01-4029-8637-6948FC11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28850"/>
            <a:ext cx="133350" cy="114300"/>
          </a:xfrm>
          <a:custGeom xmlns:a="http://schemas.openxmlformats.org/drawingml/2006/main"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0" name="连线-20">
            <a:extLst xmlns:a="http://schemas.openxmlformats.org/drawingml/2006/main">
              <a:ext uri="{FF2B5EF4-FFF2-40B4-BE49-F238E27FC236}">
                <a16:creationId xmlns:a16="http://schemas.microsoft.com/office/drawing/2014/main" id="{8100E2C5-8F6D-49A6-B150-0754F75F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96225" y="5019675"/>
            <a:ext cx="352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21" name="结构-21">
            <a:extLst xmlns:a="http://schemas.openxmlformats.org/drawingml/2006/main">
              <a:ext uri="{FF2B5EF4-FFF2-40B4-BE49-F238E27FC236}">
                <a16:creationId xmlns:a16="http://schemas.microsoft.com/office/drawing/2014/main" id="{6C01740B-AF1E-4451-BED0-9F33B2AA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62525"/>
            <a:ext cx="133350" cy="114300"/>
          </a:xfrm>
          <a:custGeom xmlns:a="http://schemas.openxmlformats.org/drawingml/2006/main"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2" name="文字-22-阶段三：模式名称">
            <a:extLst xmlns:a="http://schemas.openxmlformats.org/drawingml/2006/main">
              <a:ext uri="{FF2B5EF4-FFF2-40B4-BE49-F238E27FC236}">
                <a16:creationId xmlns:a16="http://schemas.microsoft.com/office/drawing/2014/main" id="{D9A823D9-159B-4573-BF37-BA19CD1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009650"/>
            <a:ext cx="3371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阶段三：模式名称</a:t>
            </a:r>
          </a:p>
        </p:txBody>
      </p:sp>
      <p:sp>
        <p:nvSpPr>
          <p:cNvPr id="23" name="图片区-23">
            <a:extLst xmlns:a="http://schemas.openxmlformats.org/drawingml/2006/main">
              <a:ext uri="{FF2B5EF4-FFF2-40B4-BE49-F238E27FC236}">
                <a16:creationId xmlns:a16="http://schemas.microsoft.com/office/drawing/2014/main" id="{1E6D1B19-17F0-4F91-BB81-6BBDF5F1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76375"/>
            <a:ext cx="337185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4" name="文字-24-填写该阶段的关键特征">
            <a:extLst xmlns:a="http://schemas.openxmlformats.org/drawingml/2006/main">
              <a:ext uri="{FF2B5EF4-FFF2-40B4-BE49-F238E27FC236}">
                <a16:creationId xmlns:a16="http://schemas.microsoft.com/office/drawing/2014/main" id="{588ED201-858B-4C18-A13B-A3CAD4A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14675"/>
            <a:ext cx="3371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填写该阶段的关键特征</a:t>
            </a:r>
          </a:p>
        </p:txBody>
      </p:sp>
      <p:sp>
        <p:nvSpPr>
          <p:cNvPr id="25" name="图片区-25">
            <a:extLst xmlns:a="http://schemas.openxmlformats.org/drawingml/2006/main">
              <a:ext uri="{FF2B5EF4-FFF2-40B4-BE49-F238E27FC236}">
                <a16:creationId xmlns:a16="http://schemas.microsoft.com/office/drawing/2014/main" id="{6F9313BE-6B61-49D9-8C8D-F92BAAC1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3718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6" name="文字-26-填写对应研究模式">
            <a:extLst xmlns:a="http://schemas.openxmlformats.org/drawingml/2006/main">
              <a:ext uri="{FF2B5EF4-FFF2-40B4-BE49-F238E27FC236}">
                <a16:creationId xmlns:a16="http://schemas.microsoft.com/office/drawing/2014/main" id="{5AD53C76-98AA-441D-8A09-EDCBE776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057900"/>
            <a:ext cx="3371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填写对应研究模式</a:t>
            </a:r>
          </a:p>
        </p:txBody>
      </p:sp>
      <p:sp>
        <p:nvSpPr>
          <p:cNvPr id="27" name="文字-27-说明参照领域的演进规律，">
            <a:extLst xmlns:a="http://schemas.openxmlformats.org/drawingml/2006/main">
              <a:ext uri="{FF2B5EF4-FFF2-40B4-BE49-F238E27FC236}">
                <a16:creationId xmlns:a16="http://schemas.microsoft.com/office/drawing/2014/main" id="{3012D9F0-60D1-4028-8B1B-3B0AF243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说明参照领域的演进规律，及其对本领域转型的启示</a:t>
            </a:r>
          </a:p>
        </p:txBody>
      </p:sp>
    </p:spTree>
    <p:extLst>
      <p:ext uri="{BB962C8B-B14F-4D97-AF65-F5344CB8AC3E}">
        <p14:creationId xmlns:p14="http://schemas.microsoft.com/office/powerpoint/2010/main" val="6374443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结构-1">
            <a:extLst xmlns:a="http://schemas.openxmlformats.org/drawingml/2006/main">
              <a:ext uri="{FF2B5EF4-FFF2-40B4-BE49-F238E27FC236}">
                <a16:creationId xmlns:a16="http://schemas.microsoft.com/office/drawing/2014/main" id="{C875C102-2F35-487F-9083-23686286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系统模式与功能单元">
            <a:extLst xmlns:a="http://schemas.openxmlformats.org/drawingml/2006/main">
              <a:ext uri="{FF2B5EF4-FFF2-40B4-BE49-F238E27FC236}">
                <a16:creationId xmlns:a16="http://schemas.microsoft.com/office/drawing/2014/main" id="{E93088BC-668F-4B33-AAA1-4F962B88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系统模式与功能单元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017048C7-1F86-4A5D-A6BD-777710F2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72200545-C8AC-48EA-A516-D2635173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新模式如何把任务组织">
            <a:extLst xmlns:a="http://schemas.openxmlformats.org/drawingml/2006/main">
              <a:ext uri="{FF2B5EF4-FFF2-40B4-BE49-F238E27FC236}">
                <a16:creationId xmlns:a16="http://schemas.microsoft.com/office/drawing/2014/main" id="{B74FF0C5-1394-40BC-9656-9F78BFA5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说明新模式如何把任务组织为相对独立、又能相互协作的功能单元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F1CE5181-7162-4471-9CAB-6DC2710C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00250"/>
            <a:ext cx="3209925" cy="4467225"/>
          </a:xfrm>
          <a:prstGeom xmlns:a="http://schemas.openxmlformats.org/drawingml/2006/main" prst="roundRect">
            <a:avLst>
              <a:gd name="adj" fmla="val 237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7" name="文字-7-原有组织方式">
            <a:extLst xmlns:a="http://schemas.openxmlformats.org/drawingml/2006/main">
              <a:ext uri="{FF2B5EF4-FFF2-40B4-BE49-F238E27FC236}">
                <a16:creationId xmlns:a16="http://schemas.microsoft.com/office/drawing/2014/main" id="{E1100494-F375-474C-AC16-88148B8B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28670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原有组织方式</a:t>
            </a:r>
          </a:p>
        </p:txBody>
      </p:sp>
      <p:sp>
        <p:nvSpPr>
          <p:cNvPr id="8" name="图片区-8">
            <a:extLst xmlns:a="http://schemas.openxmlformats.org/drawingml/2006/main">
              <a:ext uri="{FF2B5EF4-FFF2-40B4-BE49-F238E27FC236}">
                <a16:creationId xmlns:a16="http://schemas.microsoft.com/office/drawing/2014/main" id="{8FDA65FE-EAD1-41A2-950F-089BCF06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390775"/>
            <a:ext cx="2847975" cy="3343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文字-9-说明任务耦合与流程限制">
            <a:extLst xmlns:a="http://schemas.openxmlformats.org/drawingml/2006/main">
              <a:ext uri="{FF2B5EF4-FFF2-40B4-BE49-F238E27FC236}">
                <a16:creationId xmlns:a16="http://schemas.microsoft.com/office/drawing/2014/main" id="{2756D3A0-880A-4AC0-B948-7A3EFBAB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48350"/>
            <a:ext cx="2981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说明任务耦合与流程限制</a:t>
            </a:r>
          </a:p>
        </p:txBody>
      </p:sp>
      <p:sp>
        <p:nvSpPr>
          <p:cNvPr id="10" name="结构-10">
            <a:extLst xmlns:a="http://schemas.openxmlformats.org/drawingml/2006/main">
              <a:ext uri="{FF2B5EF4-FFF2-40B4-BE49-F238E27FC236}">
                <a16:creationId xmlns:a16="http://schemas.microsoft.com/office/drawing/2014/main" id="{FA0D5013-CCEF-404A-86B3-6AFD28D6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76450"/>
            <a:ext cx="2457450" cy="1933575"/>
          </a:xfrm>
          <a:prstGeom xmlns:a="http://schemas.openxmlformats.org/drawingml/2006/main" prst="roundRect">
            <a:avLst>
              <a:gd name="adj" fmla="val 394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solid"/>
          </a:ln>
        </p:spPr>
      </p:sp>
      <p:sp>
        <p:nvSpPr>
          <p:cNvPr id="11" name="文字-11-功能单元1">
            <a:extLst xmlns:a="http://schemas.openxmlformats.org/drawingml/2006/main">
              <a:ext uri="{FF2B5EF4-FFF2-40B4-BE49-F238E27FC236}">
                <a16:creationId xmlns:a16="http://schemas.microsoft.com/office/drawing/2014/main" id="{99C26B97-FBF2-4AEC-AA16-0F8E21AF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05000"/>
            <a:ext cx="2114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功能单元1</a:t>
            </a:r>
          </a:p>
        </p:txBody>
      </p:sp>
      <p:sp>
        <p:nvSpPr>
          <p:cNvPr id="12" name="图片区-12">
            <a:extLst xmlns:a="http://schemas.openxmlformats.org/drawingml/2006/main">
              <a:ext uri="{FF2B5EF4-FFF2-40B4-BE49-F238E27FC236}">
                <a16:creationId xmlns:a16="http://schemas.microsoft.com/office/drawing/2014/main" id="{DFB8E61B-3323-4AF9-B194-F1191916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371725"/>
            <a:ext cx="2209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3" name="文字-13-说明本单元承担的任务及与">
            <a:extLst xmlns:a="http://schemas.openxmlformats.org/drawingml/2006/main">
              <a:ext uri="{FF2B5EF4-FFF2-40B4-BE49-F238E27FC236}">
                <a16:creationId xmlns:a16="http://schemas.microsoft.com/office/drawing/2014/main" id="{DC9BE202-994A-437F-8156-BF52A4FA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67100"/>
            <a:ext cx="228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说明本单元承担的任务</a:t>
            </a:r>
          </a:p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及与其他单元的接口</a:t>
            </a:r>
          </a:p>
        </p:txBody>
      </p:sp>
      <p:sp>
        <p:nvSpPr>
          <p:cNvPr id="14" name="结构-14">
            <a:extLst xmlns:a="http://schemas.openxmlformats.org/drawingml/2006/main">
              <a:ext uri="{FF2B5EF4-FFF2-40B4-BE49-F238E27FC236}">
                <a16:creationId xmlns:a16="http://schemas.microsoft.com/office/drawing/2014/main" id="{83074B4C-A929-419F-BFE2-E0AC9F11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2457450" cy="1933575"/>
          </a:xfrm>
          <a:prstGeom xmlns:a="http://schemas.openxmlformats.org/drawingml/2006/main" prst="roundRect">
            <a:avLst>
              <a:gd name="adj" fmla="val 394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solid"/>
          </a:ln>
        </p:spPr>
      </p:sp>
      <p:sp>
        <p:nvSpPr>
          <p:cNvPr id="15" name="文字-15-功能单元2">
            <a:extLst xmlns:a="http://schemas.openxmlformats.org/drawingml/2006/main">
              <a:ext uri="{FF2B5EF4-FFF2-40B4-BE49-F238E27FC236}">
                <a16:creationId xmlns:a16="http://schemas.microsoft.com/office/drawing/2014/main" id="{C05E4840-C187-4F3B-B601-5EC48078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05000"/>
            <a:ext cx="2114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功能单元2</a:t>
            </a:r>
          </a:p>
        </p:txBody>
      </p:sp>
      <p:sp>
        <p:nvSpPr>
          <p:cNvPr id="16" name="图片区-16">
            <a:extLst xmlns:a="http://schemas.openxmlformats.org/drawingml/2006/main">
              <a:ext uri="{FF2B5EF4-FFF2-40B4-BE49-F238E27FC236}">
                <a16:creationId xmlns:a16="http://schemas.microsoft.com/office/drawing/2014/main" id="{B0373BFC-03B6-4C5E-B430-A358A627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71725"/>
            <a:ext cx="2209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7" name="文字-17-说明本单元承担的任务及与">
            <a:extLst xmlns:a="http://schemas.openxmlformats.org/drawingml/2006/main">
              <a:ext uri="{FF2B5EF4-FFF2-40B4-BE49-F238E27FC236}">
                <a16:creationId xmlns:a16="http://schemas.microsoft.com/office/drawing/2014/main" id="{EC49EC2F-0F58-498A-A78F-BBF15330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467100"/>
            <a:ext cx="228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说明本单元承担的任务</a:t>
            </a:r>
          </a:p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及与其他单元的接口</a:t>
            </a:r>
          </a:p>
        </p:txBody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C18EF9AB-3A8C-44DC-A765-0E86216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76450"/>
            <a:ext cx="2457450" cy="1933575"/>
          </a:xfrm>
          <a:prstGeom xmlns:a="http://schemas.openxmlformats.org/drawingml/2006/main" prst="roundRect">
            <a:avLst>
              <a:gd name="adj" fmla="val 394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solid"/>
          </a:ln>
        </p:spPr>
      </p:sp>
      <p:sp>
        <p:nvSpPr>
          <p:cNvPr id="19" name="文字-19-功能单元3">
            <a:extLst xmlns:a="http://schemas.openxmlformats.org/drawingml/2006/main">
              <a:ext uri="{FF2B5EF4-FFF2-40B4-BE49-F238E27FC236}">
                <a16:creationId xmlns:a16="http://schemas.microsoft.com/office/drawing/2014/main" id="{ACA5F9C3-ADA4-4D0E-AAB1-3BCF2408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05000"/>
            <a:ext cx="2114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功能单元3</a:t>
            </a:r>
          </a:p>
        </p:txBody>
      </p:sp>
      <p:sp>
        <p:nvSpPr>
          <p:cNvPr id="20" name="图片区-20">
            <a:extLst xmlns:a="http://schemas.openxmlformats.org/drawingml/2006/main">
              <a:ext uri="{FF2B5EF4-FFF2-40B4-BE49-F238E27FC236}">
                <a16:creationId xmlns:a16="http://schemas.microsoft.com/office/drawing/2014/main" id="{F1C21704-87E2-4B0E-8926-42EA24DC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371725"/>
            <a:ext cx="2209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1" name="文字-21-说明本单元承担的任务及与">
            <a:extLst xmlns:a="http://schemas.openxmlformats.org/drawingml/2006/main">
              <a:ext uri="{FF2B5EF4-FFF2-40B4-BE49-F238E27FC236}">
                <a16:creationId xmlns:a16="http://schemas.microsoft.com/office/drawing/2014/main" id="{79F42786-799B-4048-B364-0F262ADE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67100"/>
            <a:ext cx="228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说明本单元承担的任务</a:t>
            </a:r>
          </a:p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及与其他单元的接口</a:t>
            </a:r>
          </a:p>
        </p:txBody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0A2A820C-425D-4671-8EE5-9C21F732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2457450" cy="1933575"/>
          </a:xfrm>
          <a:prstGeom xmlns:a="http://schemas.openxmlformats.org/drawingml/2006/main" prst="roundRect">
            <a:avLst>
              <a:gd name="adj" fmla="val 394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solid"/>
          </a:ln>
        </p:spPr>
      </p:sp>
      <p:sp>
        <p:nvSpPr>
          <p:cNvPr id="23" name="文字-23-功能单元4">
            <a:extLst xmlns:a="http://schemas.openxmlformats.org/drawingml/2006/main">
              <a:ext uri="{FF2B5EF4-FFF2-40B4-BE49-F238E27FC236}">
                <a16:creationId xmlns:a16="http://schemas.microsoft.com/office/drawing/2014/main" id="{2FF4B206-B0EC-4278-BF12-4955EFF2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57700"/>
            <a:ext cx="2114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功能单元4</a:t>
            </a:r>
          </a:p>
        </p:txBody>
      </p:sp>
      <p:sp>
        <p:nvSpPr>
          <p:cNvPr id="24" name="图片区-24">
            <a:extLst xmlns:a="http://schemas.openxmlformats.org/drawingml/2006/main">
              <a:ext uri="{FF2B5EF4-FFF2-40B4-BE49-F238E27FC236}">
                <a16:creationId xmlns:a16="http://schemas.microsoft.com/office/drawing/2014/main" id="{5B258206-4DC2-480D-A9AB-59DDEE45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24425"/>
            <a:ext cx="2209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5" name="文字-25-说明本单元承担的任务及与">
            <a:extLst xmlns:a="http://schemas.openxmlformats.org/drawingml/2006/main">
              <a:ext uri="{FF2B5EF4-FFF2-40B4-BE49-F238E27FC236}">
                <a16:creationId xmlns:a16="http://schemas.microsoft.com/office/drawing/2014/main" id="{4D08E907-75CA-40DA-85CE-3B4B0AE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019800"/>
            <a:ext cx="228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说明本单元承担的任务</a:t>
            </a:r>
          </a:p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及与其他单元的接口</a:t>
            </a:r>
          </a:p>
        </p:txBody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20A44CC1-BA56-466E-B75B-5D6002DE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2457450" cy="1933575"/>
          </a:xfrm>
          <a:prstGeom xmlns:a="http://schemas.openxmlformats.org/drawingml/2006/main" prst="roundRect">
            <a:avLst>
              <a:gd name="adj" fmla="val 394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solid"/>
          </a:ln>
        </p:spPr>
      </p:sp>
      <p:sp>
        <p:nvSpPr>
          <p:cNvPr id="27" name="文字-27-功能单元5">
            <a:extLst xmlns:a="http://schemas.openxmlformats.org/drawingml/2006/main">
              <a:ext uri="{FF2B5EF4-FFF2-40B4-BE49-F238E27FC236}">
                <a16:creationId xmlns:a16="http://schemas.microsoft.com/office/drawing/2014/main" id="{E48B50DD-6B42-44A2-A353-95C31385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2114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功能单元5</a:t>
            </a:r>
          </a:p>
        </p:txBody>
      </p:sp>
      <p:sp>
        <p:nvSpPr>
          <p:cNvPr id="28" name="图片区-28">
            <a:extLst xmlns:a="http://schemas.openxmlformats.org/drawingml/2006/main">
              <a:ext uri="{FF2B5EF4-FFF2-40B4-BE49-F238E27FC236}">
                <a16:creationId xmlns:a16="http://schemas.microsoft.com/office/drawing/2014/main" id="{326A3B7F-003F-4B42-9D3B-69FFCF31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24425"/>
            <a:ext cx="2209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9" name="文字-29-说明本单元承担的任务及与">
            <a:extLst xmlns:a="http://schemas.openxmlformats.org/drawingml/2006/main">
              <a:ext uri="{FF2B5EF4-FFF2-40B4-BE49-F238E27FC236}">
                <a16:creationId xmlns:a16="http://schemas.microsoft.com/office/drawing/2014/main" id="{4BC76F86-0CD6-46A4-A859-88BF7C23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019800"/>
            <a:ext cx="228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说明本单元承担的任务</a:t>
            </a:r>
          </a:p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及与其他单元的接口</a:t>
            </a:r>
          </a:p>
        </p:txBody>
      </p:sp>
      <p:sp>
        <p:nvSpPr>
          <p:cNvPr id="30" name="结构-30">
            <a:extLst xmlns:a="http://schemas.openxmlformats.org/drawingml/2006/main">
              <a:ext uri="{FF2B5EF4-FFF2-40B4-BE49-F238E27FC236}">
                <a16:creationId xmlns:a16="http://schemas.microsoft.com/office/drawing/2014/main" id="{B56CE85B-7F09-4C62-B71D-C2EB4578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29150"/>
            <a:ext cx="2457450" cy="1933575"/>
          </a:xfrm>
          <a:prstGeom xmlns:a="http://schemas.openxmlformats.org/drawingml/2006/main" prst="roundRect">
            <a:avLst>
              <a:gd name="adj" fmla="val 394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solid"/>
          </a:ln>
        </p:spPr>
      </p:sp>
      <p:sp>
        <p:nvSpPr>
          <p:cNvPr id="31" name="文字-31-功能单元6">
            <a:extLst xmlns:a="http://schemas.openxmlformats.org/drawingml/2006/main">
              <a:ext uri="{FF2B5EF4-FFF2-40B4-BE49-F238E27FC236}">
                <a16:creationId xmlns:a16="http://schemas.microsoft.com/office/drawing/2014/main" id="{40F7F559-6539-4731-AE06-53EB8BAA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57700"/>
            <a:ext cx="2114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功能单元6</a:t>
            </a:r>
          </a:p>
        </p:txBody>
      </p:sp>
      <p:sp>
        <p:nvSpPr>
          <p:cNvPr id="32" name="图片区-32">
            <a:extLst xmlns:a="http://schemas.openxmlformats.org/drawingml/2006/main">
              <a:ext uri="{FF2B5EF4-FFF2-40B4-BE49-F238E27FC236}">
                <a16:creationId xmlns:a16="http://schemas.microsoft.com/office/drawing/2014/main" id="{3A3EEE59-4DB5-44FC-BEC2-0A5924DA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924425"/>
            <a:ext cx="22098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33" name="文字-33-说明本单元承担的任务及与">
            <a:extLst xmlns:a="http://schemas.openxmlformats.org/drawingml/2006/main">
              <a:ext uri="{FF2B5EF4-FFF2-40B4-BE49-F238E27FC236}">
                <a16:creationId xmlns:a16="http://schemas.microsoft.com/office/drawing/2014/main" id="{432F66E9-FC85-4743-8CDC-295415AB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6019800"/>
            <a:ext cx="228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说明本单元承担的任务</a:t>
            </a:r>
          </a:p>
          <a:p xmlns:a="http://schemas.openxmlformats.org/drawingml/2006/main">
            <a:pPr algn="ctr">
              <a:def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及与其他单元的接口</a:t>
            </a:r>
          </a:p>
        </p:txBody>
      </p:sp>
      <p:sp>
        <p:nvSpPr>
          <p:cNvPr id="34" name="文字-34-填写单元之间共享的资源、">
            <a:extLst xmlns:a="http://schemas.openxmlformats.org/drawingml/2006/main">
              <a:ext uri="{FF2B5EF4-FFF2-40B4-BE49-F238E27FC236}">
                <a16:creationId xmlns:a16="http://schemas.microsoft.com/office/drawing/2014/main" id="{E2631357-9A13-43F2-A2A4-6FA2B655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0025"/>
            <a:ext cx="7820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填写单元之间共享的资源、载体或协同方式</a:t>
            </a:r>
          </a:p>
        </p:txBody>
      </p:sp>
    </p:spTree>
    <p:extLst>
      <p:ext uri="{BB962C8B-B14F-4D97-AF65-F5344CB8AC3E}">
        <p14:creationId xmlns:p14="http://schemas.microsoft.com/office/powerpoint/2010/main" val="10249736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结构-1">
            <a:extLst xmlns:a="http://schemas.openxmlformats.org/drawingml/2006/main">
              <a:ext uri="{FF2B5EF4-FFF2-40B4-BE49-F238E27FC236}">
                <a16:creationId xmlns:a16="http://schemas.microsoft.com/office/drawing/2014/main" id="{2552D12A-AC08-4FEC-99D6-8052FDE0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二：知识约束与增">
            <a:extLst xmlns:a="http://schemas.openxmlformats.org/drawingml/2006/main">
              <a:ext uri="{FF2B5EF4-FFF2-40B4-BE49-F238E27FC236}">
                <a16:creationId xmlns:a16="http://schemas.microsoft.com/office/drawing/2014/main" id="{3C1A21C5-6BF2-4992-8383-F3B7D102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研究进展二：知识约束与增强推理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45B3E4EE-8CB9-4EF4-A337-701DD796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B5DF3868-E8AB-4C45-8D86-0EDBFEEF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现有工作方式的局限，">
            <a:extLst xmlns:a="http://schemas.openxmlformats.org/drawingml/2006/main">
              <a:ext uri="{FF2B5EF4-FFF2-40B4-BE49-F238E27FC236}">
                <a16:creationId xmlns:a16="http://schemas.microsoft.com/office/drawing/2014/main" id="{1115A3AB-A264-47FD-B7DD-D67BFD2D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说明现有工作方式的局限，以及辅助生成、自主设计等阶段的能力差异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07CB4844-F291-4960-BFB1-39833BD7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00275"/>
            <a:ext cx="3743325" cy="4295775"/>
          </a:xfrm>
          <a:prstGeom xmlns:a="http://schemas.openxmlformats.org/drawingml/2006/main" prst="roundRect">
            <a:avLst>
              <a:gd name="adj" fmla="val 20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7" name="文字-7-阶段一：人工主导">
            <a:extLst xmlns:a="http://schemas.openxmlformats.org/drawingml/2006/main">
              <a:ext uri="{FF2B5EF4-FFF2-40B4-BE49-F238E27FC236}">
                <a16:creationId xmlns:a16="http://schemas.microsoft.com/office/drawing/2014/main" id="{AFD8CA01-0A33-41FD-90DA-63BEE983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3400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阶段一：人工主导</a:t>
            </a:r>
          </a:p>
        </p:txBody>
      </p:sp>
      <p:sp>
        <p:nvSpPr>
          <p:cNvPr id="8" name="文字-8-人员／目标输入">
            <a:extLst xmlns:a="http://schemas.openxmlformats.org/drawingml/2006/main">
              <a:ext uri="{FF2B5EF4-FFF2-40B4-BE49-F238E27FC236}">
                <a16:creationId xmlns:a16="http://schemas.microsoft.com/office/drawing/2014/main" id="{E58372C8-F860-4749-9F8D-FBA8EABD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2047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人员／目标输入</a:t>
            </a:r>
          </a:p>
        </p:txBody>
      </p:sp>
      <p:sp>
        <p:nvSpPr>
          <p:cNvPr id="9" name="文字-9-规划与设计系统">
            <a:extLst xmlns:a="http://schemas.openxmlformats.org/drawingml/2006/main">
              <a:ext uri="{FF2B5EF4-FFF2-40B4-BE49-F238E27FC236}">
                <a16:creationId xmlns:a16="http://schemas.microsoft.com/office/drawing/2014/main" id="{B5BBC033-FDF9-40EB-B71A-D111A137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0"/>
            <a:ext cx="3114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规划与设计系统</a:t>
            </a:r>
          </a:p>
        </p:txBody>
      </p:sp>
      <p:sp>
        <p:nvSpPr>
          <p:cNvPr id="10" name="连线-10">
            <a:extLst xmlns:a="http://schemas.openxmlformats.org/drawingml/2006/main">
              <a:ext uri="{FF2B5EF4-FFF2-40B4-BE49-F238E27FC236}">
                <a16:creationId xmlns:a16="http://schemas.microsoft.com/office/drawing/2014/main" id="{0C3E1E4E-EEAE-4BCD-B2C1-85E9068B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14550" y="3114675"/>
            <a:ext cx="953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92D62"/>
            </a:solidFill>
            <a:prstDash val="solid"/>
          </a:ln>
        </p:spPr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47E0AF41-DFD2-41FF-AF97-8E0EC371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3819525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F0C0746A-5BD9-49FF-B788-FA73362C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171825" cy="923925"/>
          </a:xfrm>
          <a:prstGeom xmlns:a="http://schemas.openxmlformats.org/drawingml/2006/main" prst="roundRect">
            <a:avLst>
              <a:gd name="adj" fmla="val 824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13" name="文字-13-知识与数据基础">
            <a:extLst xmlns:a="http://schemas.openxmlformats.org/drawingml/2006/main">
              <a:ext uri="{FF2B5EF4-FFF2-40B4-BE49-F238E27FC236}">
                <a16:creationId xmlns:a16="http://schemas.microsoft.com/office/drawing/2014/main" id="{EDA91FC6-880B-4A2A-8BDF-E660AC56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知识与数据基础</a:t>
            </a:r>
          </a:p>
        </p:txBody>
      </p:sp>
      <p:sp>
        <p:nvSpPr>
          <p:cNvPr id="14" name="文字-14-文档">
            <a:extLst xmlns:a="http://schemas.openxmlformats.org/drawingml/2006/main">
              <a:ext uri="{FF2B5EF4-FFF2-40B4-BE49-F238E27FC236}">
                <a16:creationId xmlns:a16="http://schemas.microsoft.com/office/drawing/2014/main" id="{0F958E84-3AEF-41BF-8703-A44C5552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1495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文档</a:t>
            </a:r>
          </a:p>
        </p:txBody>
      </p:sp>
      <p:sp>
        <p:nvSpPr>
          <p:cNvPr id="15" name="文字-15-案例">
            <a:extLst xmlns:a="http://schemas.openxmlformats.org/drawingml/2006/main">
              <a:ext uri="{FF2B5EF4-FFF2-40B4-BE49-F238E27FC236}">
                <a16:creationId xmlns:a16="http://schemas.microsoft.com/office/drawing/2014/main" id="{66746229-8114-419B-9D04-0DC06D78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1495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6" name="文字-16-规范">
            <a:extLst xmlns:a="http://schemas.openxmlformats.org/drawingml/2006/main">
              <a:ext uri="{FF2B5EF4-FFF2-40B4-BE49-F238E27FC236}">
                <a16:creationId xmlns:a16="http://schemas.microsoft.com/office/drawing/2014/main" id="{FFEAFD01-9856-411B-9F16-7624A63F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1495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17" name="文字-17-输出：填写本阶段产物">
            <a:extLst xmlns:a="http://schemas.openxmlformats.org/drawingml/2006/main">
              <a:ext uri="{FF2B5EF4-FFF2-40B4-BE49-F238E27FC236}">
                <a16:creationId xmlns:a16="http://schemas.microsoft.com/office/drawing/2014/main" id="{6FDCCBC1-A461-4ED5-A25B-187A7F3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34075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输出：填写本阶段产物</a:t>
            </a:r>
          </a:p>
        </p:txBody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AE966CFC-CB69-418B-81D0-D2C9A1AD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90975" y="4029075"/>
            <a:ext cx="219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92D62"/>
            </a:solidFill>
            <a:prstDash val="solid"/>
          </a:ln>
        </p:spPr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06061693-EA5A-471A-AB5F-DB207A55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967163"/>
            <a:ext cx="142875" cy="123825"/>
          </a:xfrm>
          <a:custGeom xmlns:a="http://schemas.openxmlformats.org/drawingml/2006/main">
            <a:pathLst>
              <a:path w="142875" h="123825">
                <a:moveTo>
                  <a:pt x="142875" y="61913"/>
                </a:move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2767103F-F91E-48CB-AC5C-B13FAD54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00275"/>
            <a:ext cx="3743325" cy="4295775"/>
          </a:xfrm>
          <a:prstGeom xmlns:a="http://schemas.openxmlformats.org/drawingml/2006/main" prst="roundRect">
            <a:avLst>
              <a:gd name="adj" fmla="val 20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21" name="文字-21-阶段二：辅助生成">
            <a:extLst xmlns:a="http://schemas.openxmlformats.org/drawingml/2006/main">
              <a:ext uri="{FF2B5EF4-FFF2-40B4-BE49-F238E27FC236}">
                <a16:creationId xmlns:a16="http://schemas.microsoft.com/office/drawing/2014/main" id="{628FBB5F-C429-478C-84B9-FE602CDF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28825"/>
            <a:ext cx="3400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阶段二：辅助生成</a:t>
            </a:r>
          </a:p>
        </p:txBody>
      </p:sp>
      <p:sp>
        <p:nvSpPr>
          <p:cNvPr id="22" name="文字-22-人员／目标输入">
            <a:extLst xmlns:a="http://schemas.openxmlformats.org/drawingml/2006/main">
              <a:ext uri="{FF2B5EF4-FFF2-40B4-BE49-F238E27FC236}">
                <a16:creationId xmlns:a16="http://schemas.microsoft.com/office/drawing/2014/main" id="{7FBE185D-2E6A-42E0-A9D7-3BE2820A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09850"/>
            <a:ext cx="2047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人员／目标输入</a:t>
            </a:r>
          </a:p>
        </p:txBody>
      </p:sp>
      <p:sp>
        <p:nvSpPr>
          <p:cNvPr id="23" name="文字-23-辅助模型">
            <a:extLst xmlns:a="http://schemas.openxmlformats.org/drawingml/2006/main">
              <a:ext uri="{FF2B5EF4-FFF2-40B4-BE49-F238E27FC236}">
                <a16:creationId xmlns:a16="http://schemas.microsoft.com/office/drawing/2014/main" id="{F55A4ED3-7075-4521-862E-4F5D620A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09950"/>
            <a:ext cx="2524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辅助模型</a:t>
            </a:r>
          </a:p>
        </p:txBody>
      </p:sp>
      <p:sp>
        <p:nvSpPr>
          <p:cNvPr id="24" name="连线-24">
            <a:extLst xmlns:a="http://schemas.openxmlformats.org/drawingml/2006/main">
              <a:ext uri="{FF2B5EF4-FFF2-40B4-BE49-F238E27FC236}">
                <a16:creationId xmlns:a16="http://schemas.microsoft.com/office/drawing/2014/main" id="{776E8C95-0971-468B-AFC9-BFDEF888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6475" y="31146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92D62"/>
            </a:solidFill>
            <a:prstDash val="solid"/>
          </a:ln>
        </p:spPr>
      </p:sp>
      <p:sp>
        <p:nvSpPr>
          <p:cNvPr id="25" name="结构-25">
            <a:extLst xmlns:a="http://schemas.openxmlformats.org/drawingml/2006/main">
              <a:ext uri="{FF2B5EF4-FFF2-40B4-BE49-F238E27FC236}">
                <a16:creationId xmlns:a16="http://schemas.microsoft.com/office/drawing/2014/main" id="{584292E7-6991-4DF3-A2FD-06BD4566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3228975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6472EC88-3C59-43FC-981F-07785148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457700"/>
            <a:ext cx="3171825" cy="923925"/>
          </a:xfrm>
          <a:prstGeom xmlns:a="http://schemas.openxmlformats.org/drawingml/2006/main" prst="roundRect">
            <a:avLst>
              <a:gd name="adj" fmla="val 824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27" name="文字-27-知识与数据基础">
            <a:extLst xmlns:a="http://schemas.openxmlformats.org/drawingml/2006/main">
              <a:ext uri="{FF2B5EF4-FFF2-40B4-BE49-F238E27FC236}">
                <a16:creationId xmlns:a16="http://schemas.microsoft.com/office/drawing/2014/main" id="{056AC2B5-AA6C-4F84-AC66-456C513E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148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知识与数据基础</a:t>
            </a:r>
          </a:p>
        </p:txBody>
      </p:sp>
      <p:sp>
        <p:nvSpPr>
          <p:cNvPr id="28" name="文字-28-文档">
            <a:extLst xmlns:a="http://schemas.openxmlformats.org/drawingml/2006/main">
              <a:ext uri="{FF2B5EF4-FFF2-40B4-BE49-F238E27FC236}">
                <a16:creationId xmlns:a16="http://schemas.microsoft.com/office/drawing/2014/main" id="{B5AAC30F-27C9-483E-8638-48084067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1490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文档</a:t>
            </a:r>
          </a:p>
        </p:txBody>
      </p:sp>
      <p:sp>
        <p:nvSpPr>
          <p:cNvPr id="29" name="文字-29-案例">
            <a:extLst xmlns:a="http://schemas.openxmlformats.org/drawingml/2006/main">
              <a:ext uri="{FF2B5EF4-FFF2-40B4-BE49-F238E27FC236}">
                <a16:creationId xmlns:a16="http://schemas.microsoft.com/office/drawing/2014/main" id="{96F6BE67-5EA5-4ABC-A818-1C8271D7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1490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30" name="文字-30-规范">
            <a:extLst xmlns:a="http://schemas.openxmlformats.org/drawingml/2006/main">
              <a:ext uri="{FF2B5EF4-FFF2-40B4-BE49-F238E27FC236}">
                <a16:creationId xmlns:a16="http://schemas.microsoft.com/office/drawing/2014/main" id="{2970D7A8-15E9-4EEC-82F5-D2F85558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1490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31" name="连线-31">
            <a:extLst xmlns:a="http://schemas.openxmlformats.org/drawingml/2006/main">
              <a:ext uri="{FF2B5EF4-FFF2-40B4-BE49-F238E27FC236}">
                <a16:creationId xmlns:a16="http://schemas.microsoft.com/office/drawing/2014/main" id="{904DE0C9-50FF-4F0A-BFA2-A89F44DA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86475" y="40576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D62"/>
            </a:solidFill>
            <a:prstDash val="solid"/>
          </a:ln>
        </p:spPr>
      </p:sp>
      <p:sp>
        <p:nvSpPr>
          <p:cNvPr id="32" name="结构-32">
            <a:extLst xmlns:a="http://schemas.openxmlformats.org/drawingml/2006/main">
              <a:ext uri="{FF2B5EF4-FFF2-40B4-BE49-F238E27FC236}">
                <a16:creationId xmlns:a16="http://schemas.microsoft.com/office/drawing/2014/main" id="{5B3A66DB-BC1A-40E3-B042-C39660C2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33" name="文字-33-输出：填写本阶段产物">
            <a:extLst xmlns:a="http://schemas.openxmlformats.org/drawingml/2006/main">
              <a:ext uri="{FF2B5EF4-FFF2-40B4-BE49-F238E27FC236}">
                <a16:creationId xmlns:a16="http://schemas.microsoft.com/office/drawing/2014/main" id="{78A95046-6E01-4A84-9708-EC42540C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934075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输出：填写本阶段产物</a:t>
            </a:r>
          </a:p>
        </p:txBody>
      </p:sp>
      <p:sp>
        <p:nvSpPr>
          <p:cNvPr id="34" name="连线-34">
            <a:extLst xmlns:a="http://schemas.openxmlformats.org/drawingml/2006/main">
              <a:ext uri="{FF2B5EF4-FFF2-40B4-BE49-F238E27FC236}">
                <a16:creationId xmlns:a16="http://schemas.microsoft.com/office/drawing/2014/main" id="{3812CA84-900C-4B87-AE74-D151553F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2900" y="4029075"/>
            <a:ext cx="219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92D62"/>
            </a:solidFill>
            <a:prstDash val="solid"/>
          </a:ln>
        </p:spPr>
      </p:sp>
      <p:sp>
        <p:nvSpPr>
          <p:cNvPr id="35" name="结构-35">
            <a:extLst xmlns:a="http://schemas.openxmlformats.org/drawingml/2006/main">
              <a:ext uri="{FF2B5EF4-FFF2-40B4-BE49-F238E27FC236}">
                <a16:creationId xmlns:a16="http://schemas.microsoft.com/office/drawing/2014/main" id="{0900786D-5165-49CA-82D9-3696EC84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67163"/>
            <a:ext cx="142875" cy="123825"/>
          </a:xfrm>
          <a:custGeom xmlns:a="http://schemas.openxmlformats.org/drawingml/2006/main">
            <a:pathLst>
              <a:path w="142875" h="123825">
                <a:moveTo>
                  <a:pt x="142875" y="61913"/>
                </a:move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36" name="结构-36">
            <a:extLst xmlns:a="http://schemas.openxmlformats.org/drawingml/2006/main">
              <a:ext uri="{FF2B5EF4-FFF2-40B4-BE49-F238E27FC236}">
                <a16:creationId xmlns:a16="http://schemas.microsoft.com/office/drawing/2014/main" id="{307A68C6-D650-4851-9832-31D6F6AC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743325" cy="4295775"/>
          </a:xfrm>
          <a:prstGeom xmlns:a="http://schemas.openxmlformats.org/drawingml/2006/main" prst="roundRect">
            <a:avLst>
              <a:gd name="adj" fmla="val 20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solid"/>
          </a:ln>
        </p:spPr>
      </p:sp>
      <p:sp>
        <p:nvSpPr>
          <p:cNvPr id="37" name="文字-37-阶段三：自主设计">
            <a:extLst xmlns:a="http://schemas.openxmlformats.org/drawingml/2006/main">
              <a:ext uri="{FF2B5EF4-FFF2-40B4-BE49-F238E27FC236}">
                <a16:creationId xmlns:a16="http://schemas.microsoft.com/office/drawing/2014/main" id="{BD1657B1-94AF-481F-A91E-76C65F97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28825"/>
            <a:ext cx="3400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阶段三：自主设计</a:t>
            </a:r>
          </a:p>
        </p:txBody>
      </p:sp>
      <p:sp>
        <p:nvSpPr>
          <p:cNvPr id="38" name="文字-38-人员／目标输入">
            <a:extLst xmlns:a="http://schemas.openxmlformats.org/drawingml/2006/main">
              <a:ext uri="{FF2B5EF4-FFF2-40B4-BE49-F238E27FC236}">
                <a16:creationId xmlns:a16="http://schemas.microsoft.com/office/drawing/2014/main" id="{8E2B4002-C559-4BD9-A35C-2AAB945E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47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人员／目标输入</a:t>
            </a:r>
          </a:p>
        </p:txBody>
      </p:sp>
      <p:sp>
        <p:nvSpPr>
          <p:cNvPr id="39" name="文字-39-智能系统">
            <a:extLst xmlns:a="http://schemas.openxmlformats.org/drawingml/2006/main">
              <a:ext uri="{FF2B5EF4-FFF2-40B4-BE49-F238E27FC236}">
                <a16:creationId xmlns:a16="http://schemas.microsoft.com/office/drawing/2014/main" id="{470FCF80-F5A6-4C75-8A87-A242CB11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2524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智能系统</a:t>
            </a:r>
          </a:p>
        </p:txBody>
      </p:sp>
      <p:sp>
        <p:nvSpPr>
          <p:cNvPr id="40" name="连线-40">
            <a:extLst xmlns:a="http://schemas.openxmlformats.org/drawingml/2006/main">
              <a:ext uri="{FF2B5EF4-FFF2-40B4-BE49-F238E27FC236}">
                <a16:creationId xmlns:a16="http://schemas.microsoft.com/office/drawing/2014/main" id="{B97A06D4-BB78-4CA0-8472-3F74B35C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31146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C88"/>
            </a:solidFill>
            <a:prstDash val="solid"/>
          </a:ln>
        </p:spPr>
      </p:sp>
      <p:sp>
        <p:nvSpPr>
          <p:cNvPr id="41" name="结构-41">
            <a:extLst xmlns:a="http://schemas.openxmlformats.org/drawingml/2006/main">
              <a:ext uri="{FF2B5EF4-FFF2-40B4-BE49-F238E27FC236}">
                <a16:creationId xmlns:a16="http://schemas.microsoft.com/office/drawing/2014/main" id="{AD8EB7DE-513B-4581-A339-9AE9CCDF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13" y="3228975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</a:ln>
        </p:spPr>
      </p:sp>
      <p:sp>
        <p:nvSpPr>
          <p:cNvPr id="42" name="文字-42-记忆">
            <a:extLst xmlns:a="http://schemas.openxmlformats.org/drawingml/2006/main">
              <a:ext uri="{FF2B5EF4-FFF2-40B4-BE49-F238E27FC236}">
                <a16:creationId xmlns:a16="http://schemas.microsoft.com/office/drawing/2014/main" id="{FE0E94BB-7AFC-4CFA-8A03-D894D7CC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1447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43" name="文字-43-工具">
            <a:extLst xmlns:a="http://schemas.openxmlformats.org/drawingml/2006/main">
              <a:ext uri="{FF2B5EF4-FFF2-40B4-BE49-F238E27FC236}">
                <a16:creationId xmlns:a16="http://schemas.microsoft.com/office/drawing/2014/main" id="{6A3A2BBB-321F-488C-B451-FE81A247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33850"/>
            <a:ext cx="1447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44" name="文字-44-分解">
            <a:extLst xmlns:a="http://schemas.openxmlformats.org/drawingml/2006/main">
              <a:ext uri="{FF2B5EF4-FFF2-40B4-BE49-F238E27FC236}">
                <a16:creationId xmlns:a16="http://schemas.microsoft.com/office/drawing/2014/main" id="{2FE2B3C3-CB56-4810-8B89-220BC23E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76750"/>
            <a:ext cx="1447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分解</a:t>
            </a:r>
          </a:p>
        </p:txBody>
      </p:sp>
      <p:sp>
        <p:nvSpPr>
          <p:cNvPr id="45" name="文字-45-反馈">
            <a:extLst xmlns:a="http://schemas.openxmlformats.org/drawingml/2006/main">
              <a:ext uri="{FF2B5EF4-FFF2-40B4-BE49-F238E27FC236}">
                <a16:creationId xmlns:a16="http://schemas.microsoft.com/office/drawing/2014/main" id="{0435EC18-E281-448E-88B4-1C35F648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76750"/>
            <a:ext cx="1447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46" name="结构-46">
            <a:extLst xmlns:a="http://schemas.openxmlformats.org/drawingml/2006/main">
              <a:ext uri="{FF2B5EF4-FFF2-40B4-BE49-F238E27FC236}">
                <a16:creationId xmlns:a16="http://schemas.microsoft.com/office/drawing/2014/main" id="{3797E04F-A8C1-4FC8-B767-2BD0ECF8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3171825" cy="923925"/>
          </a:xfrm>
          <a:prstGeom xmlns:a="http://schemas.openxmlformats.org/drawingml/2006/main" prst="roundRect">
            <a:avLst>
              <a:gd name="adj" fmla="val 824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dash"/>
          </a:ln>
        </p:spPr>
      </p:sp>
      <p:sp>
        <p:nvSpPr>
          <p:cNvPr id="47" name="文字-47-知识与数据基础">
            <a:extLst xmlns:a="http://schemas.openxmlformats.org/drawingml/2006/main">
              <a:ext uri="{FF2B5EF4-FFF2-40B4-BE49-F238E27FC236}">
                <a16:creationId xmlns:a16="http://schemas.microsoft.com/office/drawing/2014/main" id="{477863D0-1874-4491-AD56-D63ED92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577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知识与数据基础</a:t>
            </a:r>
          </a:p>
        </p:txBody>
      </p:sp>
      <p:sp>
        <p:nvSpPr>
          <p:cNvPr id="48" name="文字-48-文档">
            <a:extLst xmlns:a="http://schemas.openxmlformats.org/drawingml/2006/main">
              <a:ext uri="{FF2B5EF4-FFF2-40B4-BE49-F238E27FC236}">
                <a16:creationId xmlns:a16="http://schemas.microsoft.com/office/drawing/2014/main" id="{0150DC24-9434-4500-AA02-043E5671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457825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文档</a:t>
            </a:r>
          </a:p>
        </p:txBody>
      </p:sp>
      <p:sp>
        <p:nvSpPr>
          <p:cNvPr id="49" name="文字-49-案例">
            <a:extLst xmlns:a="http://schemas.openxmlformats.org/drawingml/2006/main">
              <a:ext uri="{FF2B5EF4-FFF2-40B4-BE49-F238E27FC236}">
                <a16:creationId xmlns:a16="http://schemas.microsoft.com/office/drawing/2014/main" id="{94CD2437-5C9F-454F-94B7-193693E7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57825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50" name="文字-50-规范">
            <a:extLst xmlns:a="http://schemas.openxmlformats.org/drawingml/2006/main">
              <a:ext uri="{FF2B5EF4-FFF2-40B4-BE49-F238E27FC236}">
                <a16:creationId xmlns:a16="http://schemas.microsoft.com/office/drawing/2014/main" id="{4CCDB13B-7A71-44B2-ABE3-94D43A6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5457825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51" name="文字-51-输出：填写本阶段产物">
            <a:extLst xmlns:a="http://schemas.openxmlformats.org/drawingml/2006/main">
              <a:ext uri="{FF2B5EF4-FFF2-40B4-BE49-F238E27FC236}">
                <a16:creationId xmlns:a16="http://schemas.microsoft.com/office/drawing/2014/main" id="{A3C30FBF-3632-461F-912C-86156BBE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934075"/>
            <a:ext cx="3209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输出：填写本阶段产物</a:t>
            </a:r>
          </a:p>
        </p:txBody>
      </p:sp>
    </p:spTree>
    <p:extLst>
      <p:ext uri="{BB962C8B-B14F-4D97-AF65-F5344CB8AC3E}">
        <p14:creationId xmlns:p14="http://schemas.microsoft.com/office/powerpoint/2010/main" val="17825408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结构-1">
            <a:extLst xmlns:a="http://schemas.openxmlformats.org/drawingml/2006/main">
              <a:ext uri="{FF2B5EF4-FFF2-40B4-BE49-F238E27FC236}">
                <a16:creationId xmlns:a16="http://schemas.microsoft.com/office/drawing/2014/main" id="{31EAAF22-FEF4-4A19-A69A-92C1DD4D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二：知识约束与增">
            <a:extLst xmlns:a="http://schemas.openxmlformats.org/drawingml/2006/main">
              <a:ext uri="{FF2B5EF4-FFF2-40B4-BE49-F238E27FC236}">
                <a16:creationId xmlns:a16="http://schemas.microsoft.com/office/drawing/2014/main" id="{7E613D40-17A5-4C8F-95A5-91613718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研究进展二：知识约束与增强推理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FB57F0ED-4E6E-4BA4-9AEB-BDD7711B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A2E44C6E-3AD3-4229-9825-6B3BBD7C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现有工作方式的局限，">
            <a:extLst xmlns:a="http://schemas.openxmlformats.org/drawingml/2006/main">
              <a:ext uri="{FF2B5EF4-FFF2-40B4-BE49-F238E27FC236}">
                <a16:creationId xmlns:a16="http://schemas.microsoft.com/office/drawing/2014/main" id="{FF679509-D059-489F-8DE7-9A85123C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说明现有工作方式的局限，以及辅助生成、自主设计等阶段的能力差异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45C6EC1B-2613-4F4B-94A1-BBEAC0C3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200275"/>
            <a:ext cx="3743325" cy="3819525"/>
          </a:xfrm>
          <a:prstGeom xmlns:a="http://schemas.openxmlformats.org/drawingml/2006/main" prst="roundRect">
            <a:avLst>
              <a:gd name="adj" fmla="val 20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7" name="文字-7-阶段一：人工主导">
            <a:extLst xmlns:a="http://schemas.openxmlformats.org/drawingml/2006/main">
              <a:ext uri="{FF2B5EF4-FFF2-40B4-BE49-F238E27FC236}">
                <a16:creationId xmlns:a16="http://schemas.microsoft.com/office/drawing/2014/main" id="{52D28965-55F7-4A81-A6FB-260AB4B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8825"/>
            <a:ext cx="3400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阶段一：人工主导</a:t>
            </a:r>
          </a:p>
        </p:txBody>
      </p:sp>
      <p:sp>
        <p:nvSpPr>
          <p:cNvPr id="8" name="文字-8-人员／目标输入">
            <a:extLst xmlns:a="http://schemas.openxmlformats.org/drawingml/2006/main">
              <a:ext uri="{FF2B5EF4-FFF2-40B4-BE49-F238E27FC236}">
                <a16:creationId xmlns:a16="http://schemas.microsoft.com/office/drawing/2014/main" id="{628D3FE0-DA9C-412A-9CB8-C3524705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2047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人员／目标输入</a:t>
            </a:r>
          </a:p>
        </p:txBody>
      </p:sp>
      <p:sp>
        <p:nvSpPr>
          <p:cNvPr id="9" name="文字-9-规划与设计系统">
            <a:extLst xmlns:a="http://schemas.openxmlformats.org/drawingml/2006/main">
              <a:ext uri="{FF2B5EF4-FFF2-40B4-BE49-F238E27FC236}">
                <a16:creationId xmlns:a16="http://schemas.microsoft.com/office/drawing/2014/main" id="{EF578E9F-201A-4810-B059-A6FBE644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0"/>
            <a:ext cx="3114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规划与设计系统</a:t>
            </a:r>
          </a:p>
        </p:txBody>
      </p:sp>
      <p:sp>
        <p:nvSpPr>
          <p:cNvPr id="10" name="连线-10">
            <a:extLst xmlns:a="http://schemas.openxmlformats.org/drawingml/2006/main">
              <a:ext uri="{FF2B5EF4-FFF2-40B4-BE49-F238E27FC236}">
                <a16:creationId xmlns:a16="http://schemas.microsoft.com/office/drawing/2014/main" id="{EA7F8126-994E-464A-A37A-EC03CDAA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14550" y="3114675"/>
            <a:ext cx="953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92D62"/>
            </a:solidFill>
            <a:prstDash val="solid"/>
          </a:ln>
        </p:spPr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3A2EC7FD-1924-4BA1-9F20-4CD805C7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3819525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EBAE8E00-1D06-49F7-8805-B3661069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171825" cy="923925"/>
          </a:xfrm>
          <a:prstGeom xmlns:a="http://schemas.openxmlformats.org/drawingml/2006/main" prst="roundRect">
            <a:avLst>
              <a:gd name="adj" fmla="val 824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13" name="文字-13-知识与数据基础">
            <a:extLst xmlns:a="http://schemas.openxmlformats.org/drawingml/2006/main">
              <a:ext uri="{FF2B5EF4-FFF2-40B4-BE49-F238E27FC236}">
                <a16:creationId xmlns:a16="http://schemas.microsoft.com/office/drawing/2014/main" id="{8916B1B9-58B9-4D6D-AE49-FD720C8B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知识与数据基础</a:t>
            </a:r>
          </a:p>
        </p:txBody>
      </p:sp>
      <p:sp>
        <p:nvSpPr>
          <p:cNvPr id="14" name="文字-14-文档">
            <a:extLst xmlns:a="http://schemas.openxmlformats.org/drawingml/2006/main">
              <a:ext uri="{FF2B5EF4-FFF2-40B4-BE49-F238E27FC236}">
                <a16:creationId xmlns:a16="http://schemas.microsoft.com/office/drawing/2014/main" id="{0DC834F2-AFA3-49B8-80B8-4F964A2A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1495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文档</a:t>
            </a:r>
          </a:p>
        </p:txBody>
      </p:sp>
      <p:sp>
        <p:nvSpPr>
          <p:cNvPr id="15" name="文字-15-案例">
            <a:extLst xmlns:a="http://schemas.openxmlformats.org/drawingml/2006/main">
              <a:ext uri="{FF2B5EF4-FFF2-40B4-BE49-F238E27FC236}">
                <a16:creationId xmlns:a16="http://schemas.microsoft.com/office/drawing/2014/main" id="{3811F748-903A-4799-BACC-218EA5DA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1495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6" name="文字-16-规范">
            <a:extLst xmlns:a="http://schemas.openxmlformats.org/drawingml/2006/main">
              <a:ext uri="{FF2B5EF4-FFF2-40B4-BE49-F238E27FC236}">
                <a16:creationId xmlns:a16="http://schemas.microsoft.com/office/drawing/2014/main" id="{CC7486C1-485D-404D-8AEF-B967FC2C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1495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846A38E5-18DF-4864-8038-78E12A39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90975" y="4029075"/>
            <a:ext cx="219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92D62"/>
            </a:solidFill>
            <a:prstDash val="solid"/>
          </a:ln>
        </p:spPr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B2ED3A2A-7588-4410-B55B-516EF628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967163"/>
            <a:ext cx="142875" cy="123825"/>
          </a:xfrm>
          <a:custGeom xmlns:a="http://schemas.openxmlformats.org/drawingml/2006/main">
            <a:pathLst>
              <a:path w="142875" h="123825">
                <a:moveTo>
                  <a:pt x="142875" y="61913"/>
                </a:move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AA6C5B75-5BAA-4862-A81C-EB36C6F3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00275"/>
            <a:ext cx="3743325" cy="3819525"/>
          </a:xfrm>
          <a:prstGeom xmlns:a="http://schemas.openxmlformats.org/drawingml/2006/main" prst="roundRect">
            <a:avLst>
              <a:gd name="adj" fmla="val 20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20" name="文字-20-阶段二：辅助生成">
            <a:extLst xmlns:a="http://schemas.openxmlformats.org/drawingml/2006/main">
              <a:ext uri="{FF2B5EF4-FFF2-40B4-BE49-F238E27FC236}">
                <a16:creationId xmlns:a16="http://schemas.microsoft.com/office/drawing/2014/main" id="{0D640EB2-3D63-4FA4-A9B6-C772A1CA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28825"/>
            <a:ext cx="3400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阶段二：辅助生成</a:t>
            </a:r>
          </a:p>
        </p:txBody>
      </p:sp>
      <p:sp>
        <p:nvSpPr>
          <p:cNvPr id="21" name="文字-21-人员／目标输入">
            <a:extLst xmlns:a="http://schemas.openxmlformats.org/drawingml/2006/main">
              <a:ext uri="{FF2B5EF4-FFF2-40B4-BE49-F238E27FC236}">
                <a16:creationId xmlns:a16="http://schemas.microsoft.com/office/drawing/2014/main" id="{DE6CA912-47AB-48EE-9908-BBD78638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609850"/>
            <a:ext cx="2047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人员／目标输入</a:t>
            </a:r>
          </a:p>
        </p:txBody>
      </p:sp>
      <p:sp>
        <p:nvSpPr>
          <p:cNvPr id="22" name="文字-22-辅助模型">
            <a:extLst xmlns:a="http://schemas.openxmlformats.org/drawingml/2006/main">
              <a:ext uri="{FF2B5EF4-FFF2-40B4-BE49-F238E27FC236}">
                <a16:creationId xmlns:a16="http://schemas.microsoft.com/office/drawing/2014/main" id="{9F08CA4E-FE4C-4198-8AAC-491047B2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409950"/>
            <a:ext cx="2524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辅助模型</a:t>
            </a:r>
          </a:p>
        </p:txBody>
      </p:sp>
      <p:sp>
        <p:nvSpPr>
          <p:cNvPr id="23" name="连线-23">
            <a:extLst xmlns:a="http://schemas.openxmlformats.org/drawingml/2006/main">
              <a:ext uri="{FF2B5EF4-FFF2-40B4-BE49-F238E27FC236}">
                <a16:creationId xmlns:a16="http://schemas.microsoft.com/office/drawing/2014/main" id="{E09ABE1A-8925-4361-81DD-6D149DD9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86475" y="31146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92D62"/>
            </a:solidFill>
            <a:prstDash val="solid"/>
          </a:ln>
        </p:spPr>
      </p:sp>
      <p:sp>
        <p:nvSpPr>
          <p:cNvPr id="24" name="结构-24">
            <a:extLst xmlns:a="http://schemas.openxmlformats.org/drawingml/2006/main">
              <a:ext uri="{FF2B5EF4-FFF2-40B4-BE49-F238E27FC236}">
                <a16:creationId xmlns:a16="http://schemas.microsoft.com/office/drawing/2014/main" id="{E3D05AA7-0765-4FA3-8CD8-DD437E12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3228975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25" name="结构-25">
            <a:extLst xmlns:a="http://schemas.openxmlformats.org/drawingml/2006/main">
              <a:ext uri="{FF2B5EF4-FFF2-40B4-BE49-F238E27FC236}">
                <a16:creationId xmlns:a16="http://schemas.microsoft.com/office/drawing/2014/main" id="{F8D5FC83-18E5-4E8F-9ECE-5794360D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457700"/>
            <a:ext cx="3171825" cy="923925"/>
          </a:xfrm>
          <a:prstGeom xmlns:a="http://schemas.openxmlformats.org/drawingml/2006/main" prst="roundRect">
            <a:avLst>
              <a:gd name="adj" fmla="val 824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26" name="文字-26-知识与数据基础">
            <a:extLst xmlns:a="http://schemas.openxmlformats.org/drawingml/2006/main">
              <a:ext uri="{FF2B5EF4-FFF2-40B4-BE49-F238E27FC236}">
                <a16:creationId xmlns:a16="http://schemas.microsoft.com/office/drawing/2014/main" id="{924AF36E-AA4D-41F2-803B-34FBC1FA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148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知识与数据基础</a:t>
            </a:r>
          </a:p>
        </p:txBody>
      </p:sp>
      <p:sp>
        <p:nvSpPr>
          <p:cNvPr id="27" name="文字-27-文档">
            <a:extLst xmlns:a="http://schemas.openxmlformats.org/drawingml/2006/main">
              <a:ext uri="{FF2B5EF4-FFF2-40B4-BE49-F238E27FC236}">
                <a16:creationId xmlns:a16="http://schemas.microsoft.com/office/drawing/2014/main" id="{26F8F3CC-AC07-4F84-BC68-7B01BEA5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1490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文档</a:t>
            </a:r>
          </a:p>
        </p:txBody>
      </p:sp>
      <p:sp>
        <p:nvSpPr>
          <p:cNvPr id="28" name="文字-28-案例">
            <a:extLst xmlns:a="http://schemas.openxmlformats.org/drawingml/2006/main">
              <a:ext uri="{FF2B5EF4-FFF2-40B4-BE49-F238E27FC236}">
                <a16:creationId xmlns:a16="http://schemas.microsoft.com/office/drawing/2014/main" id="{FE114E41-87E9-4C53-9753-46AA3065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1490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9" name="文字-29-规范">
            <a:extLst xmlns:a="http://schemas.openxmlformats.org/drawingml/2006/main">
              <a:ext uri="{FF2B5EF4-FFF2-40B4-BE49-F238E27FC236}">
                <a16:creationId xmlns:a16="http://schemas.microsoft.com/office/drawing/2014/main" id="{7A8190AB-8FFB-46F5-8A1C-AC26F296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14900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30" name="连线-30">
            <a:extLst xmlns:a="http://schemas.openxmlformats.org/drawingml/2006/main">
              <a:ext uri="{FF2B5EF4-FFF2-40B4-BE49-F238E27FC236}">
                <a16:creationId xmlns:a16="http://schemas.microsoft.com/office/drawing/2014/main" id="{1420A369-A896-48F9-9483-30866B69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86475" y="4057650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92D62"/>
            </a:solidFill>
            <a:prstDash val="solid"/>
          </a:ln>
        </p:spPr>
      </p:sp>
      <p:sp>
        <p:nvSpPr>
          <p:cNvPr id="31" name="结构-31">
            <a:extLst xmlns:a="http://schemas.openxmlformats.org/drawingml/2006/main">
              <a:ext uri="{FF2B5EF4-FFF2-40B4-BE49-F238E27FC236}">
                <a16:creationId xmlns:a16="http://schemas.microsoft.com/office/drawing/2014/main" id="{375935AA-593F-4FDC-97B9-4DC4E25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32" name="连线-32">
            <a:extLst xmlns:a="http://schemas.openxmlformats.org/drawingml/2006/main">
              <a:ext uri="{FF2B5EF4-FFF2-40B4-BE49-F238E27FC236}">
                <a16:creationId xmlns:a16="http://schemas.microsoft.com/office/drawing/2014/main" id="{5C37881B-04D1-4190-BC29-082779A3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62900" y="4029075"/>
            <a:ext cx="219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92D62"/>
            </a:solidFill>
            <a:prstDash val="solid"/>
          </a:ln>
        </p:spPr>
      </p:sp>
      <p:sp>
        <p:nvSpPr>
          <p:cNvPr id="33" name="结构-33">
            <a:extLst xmlns:a="http://schemas.openxmlformats.org/drawingml/2006/main">
              <a:ext uri="{FF2B5EF4-FFF2-40B4-BE49-F238E27FC236}">
                <a16:creationId xmlns:a16="http://schemas.microsoft.com/office/drawing/2014/main" id="{652F4AF5-A963-4D10-B9AE-D4D12D4E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67163"/>
            <a:ext cx="142875" cy="123825"/>
          </a:xfrm>
          <a:custGeom xmlns:a="http://schemas.openxmlformats.org/drawingml/2006/main">
            <a:pathLst>
              <a:path w="142875" h="123825">
                <a:moveTo>
                  <a:pt x="142875" y="61913"/>
                </a:move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19BF2FDC-19EA-4873-BFC3-79DDF322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743325" cy="3819525"/>
          </a:xfrm>
          <a:prstGeom xmlns:a="http://schemas.openxmlformats.org/drawingml/2006/main" prst="roundRect">
            <a:avLst>
              <a:gd name="adj" fmla="val 203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solid"/>
          </a:ln>
        </p:spPr>
      </p:sp>
      <p:sp>
        <p:nvSpPr>
          <p:cNvPr id="35" name="文字-35-阶段三：自主设计">
            <a:extLst xmlns:a="http://schemas.openxmlformats.org/drawingml/2006/main">
              <a:ext uri="{FF2B5EF4-FFF2-40B4-BE49-F238E27FC236}">
                <a16:creationId xmlns:a16="http://schemas.microsoft.com/office/drawing/2014/main" id="{E13D8F19-D155-4ABD-854E-DD48BEBE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28825"/>
            <a:ext cx="3400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阶段三：自主设计</a:t>
            </a:r>
          </a:p>
        </p:txBody>
      </p:sp>
      <p:sp>
        <p:nvSpPr>
          <p:cNvPr id="36" name="文字-36-人员／目标输入">
            <a:extLst xmlns:a="http://schemas.openxmlformats.org/drawingml/2006/main">
              <a:ext uri="{FF2B5EF4-FFF2-40B4-BE49-F238E27FC236}">
                <a16:creationId xmlns:a16="http://schemas.microsoft.com/office/drawing/2014/main" id="{4B78BD6E-500F-4821-A667-47731607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047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人员／目标输入</a:t>
            </a:r>
          </a:p>
        </p:txBody>
      </p:sp>
      <p:sp>
        <p:nvSpPr>
          <p:cNvPr id="37" name="文字-37-智能系统">
            <a:extLst xmlns:a="http://schemas.openxmlformats.org/drawingml/2006/main">
              <a:ext uri="{FF2B5EF4-FFF2-40B4-BE49-F238E27FC236}">
                <a16:creationId xmlns:a16="http://schemas.microsoft.com/office/drawing/2014/main" id="{FF9EEF89-A6D0-4595-8A33-2B779E24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2524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智能系统</a:t>
            </a:r>
          </a:p>
        </p:txBody>
      </p:sp>
      <p:sp>
        <p:nvSpPr>
          <p:cNvPr id="38" name="连线-38">
            <a:extLst xmlns:a="http://schemas.openxmlformats.org/drawingml/2006/main">
              <a:ext uri="{FF2B5EF4-FFF2-40B4-BE49-F238E27FC236}">
                <a16:creationId xmlns:a16="http://schemas.microsoft.com/office/drawing/2014/main" id="{FA203C71-51FA-4E2B-B14F-2C16FC89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58400" y="3114675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7C88"/>
            </a:solidFill>
            <a:prstDash val="solid"/>
          </a:ln>
        </p:spPr>
      </p:sp>
      <p:sp>
        <p:nvSpPr>
          <p:cNvPr id="39" name="结构-39">
            <a:extLst xmlns:a="http://schemas.openxmlformats.org/drawingml/2006/main">
              <a:ext uri="{FF2B5EF4-FFF2-40B4-BE49-F238E27FC236}">
                <a16:creationId xmlns:a16="http://schemas.microsoft.com/office/drawing/2014/main" id="{2A8D7431-FFD9-478F-AC03-6084C3AB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13" y="3228975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</a:ln>
        </p:spPr>
      </p:sp>
      <p:sp>
        <p:nvSpPr>
          <p:cNvPr id="40" name="文字-40-记忆">
            <a:extLst xmlns:a="http://schemas.openxmlformats.org/drawingml/2006/main">
              <a:ext uri="{FF2B5EF4-FFF2-40B4-BE49-F238E27FC236}">
                <a16:creationId xmlns:a16="http://schemas.microsoft.com/office/drawing/2014/main" id="{411C3A29-60EE-4EA2-BD05-DE590C8E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1447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41" name="文字-41-工具">
            <a:extLst xmlns:a="http://schemas.openxmlformats.org/drawingml/2006/main">
              <a:ext uri="{FF2B5EF4-FFF2-40B4-BE49-F238E27FC236}">
                <a16:creationId xmlns:a16="http://schemas.microsoft.com/office/drawing/2014/main" id="{718B3C68-EC47-406A-B6E5-3EFF1969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33850"/>
            <a:ext cx="1447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42" name="文字-42-分解">
            <a:extLst xmlns:a="http://schemas.openxmlformats.org/drawingml/2006/main">
              <a:ext uri="{FF2B5EF4-FFF2-40B4-BE49-F238E27FC236}">
                <a16:creationId xmlns:a16="http://schemas.microsoft.com/office/drawing/2014/main" id="{1CBE452A-BA12-4CAC-902D-29027802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76750"/>
            <a:ext cx="1447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分解</a:t>
            </a:r>
          </a:p>
        </p:txBody>
      </p:sp>
      <p:sp>
        <p:nvSpPr>
          <p:cNvPr id="43" name="文字-43-反馈">
            <a:extLst xmlns:a="http://schemas.openxmlformats.org/drawingml/2006/main">
              <a:ext uri="{FF2B5EF4-FFF2-40B4-BE49-F238E27FC236}">
                <a16:creationId xmlns:a16="http://schemas.microsoft.com/office/drawing/2014/main" id="{87DD9B66-BCDB-485A-B1E5-7EA195A5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76750"/>
            <a:ext cx="1447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44" name="结构-44">
            <a:extLst xmlns:a="http://schemas.openxmlformats.org/drawingml/2006/main">
              <a:ext uri="{FF2B5EF4-FFF2-40B4-BE49-F238E27FC236}">
                <a16:creationId xmlns:a16="http://schemas.microsoft.com/office/drawing/2014/main" id="{C2E473B5-44F9-4369-AB45-2B25831A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3171825" cy="923925"/>
          </a:xfrm>
          <a:prstGeom xmlns:a="http://schemas.openxmlformats.org/drawingml/2006/main" prst="roundRect">
            <a:avLst>
              <a:gd name="adj" fmla="val 824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dash"/>
          </a:ln>
        </p:spPr>
      </p:sp>
      <p:sp>
        <p:nvSpPr>
          <p:cNvPr id="45" name="文字-45-知识与数据基础">
            <a:extLst xmlns:a="http://schemas.openxmlformats.org/drawingml/2006/main">
              <a:ext uri="{FF2B5EF4-FFF2-40B4-BE49-F238E27FC236}">
                <a16:creationId xmlns:a16="http://schemas.microsoft.com/office/drawing/2014/main" id="{7364FE61-A75A-47D7-B700-CC6F07C4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577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知识与数据基础</a:t>
            </a:r>
          </a:p>
        </p:txBody>
      </p:sp>
      <p:sp>
        <p:nvSpPr>
          <p:cNvPr id="46" name="文字-46-文档">
            <a:extLst xmlns:a="http://schemas.openxmlformats.org/drawingml/2006/main">
              <a:ext uri="{FF2B5EF4-FFF2-40B4-BE49-F238E27FC236}">
                <a16:creationId xmlns:a16="http://schemas.microsoft.com/office/drawing/2014/main" id="{73D92839-7C93-4AE2-9637-BD230CA5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457825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文档</a:t>
            </a:r>
          </a:p>
        </p:txBody>
      </p:sp>
      <p:sp>
        <p:nvSpPr>
          <p:cNvPr id="47" name="文字-47-案例">
            <a:extLst xmlns:a="http://schemas.openxmlformats.org/drawingml/2006/main">
              <a:ext uri="{FF2B5EF4-FFF2-40B4-BE49-F238E27FC236}">
                <a16:creationId xmlns:a16="http://schemas.microsoft.com/office/drawing/2014/main" id="{2D926F95-F62D-4345-A811-DEC6F77B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457825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48" name="文字-48-规范">
            <a:extLst xmlns:a="http://schemas.openxmlformats.org/drawingml/2006/main">
              <a:ext uri="{FF2B5EF4-FFF2-40B4-BE49-F238E27FC236}">
                <a16:creationId xmlns:a16="http://schemas.microsoft.com/office/drawing/2014/main" id="{50B8ADDD-4835-496C-ABC1-75B7863F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5457825"/>
            <a:ext cx="828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49" name="文字-49-填写三阶段对比揭示的共同">
            <a:extLst xmlns:a="http://schemas.openxmlformats.org/drawingml/2006/main">
              <a:ext uri="{FF2B5EF4-FFF2-40B4-BE49-F238E27FC236}">
                <a16:creationId xmlns:a16="http://schemas.microsoft.com/office/drawing/2014/main" id="{36F6A5AC-363B-4365-9809-DAB3A0E5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153150"/>
            <a:ext cx="11696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填写三阶段对比揭示的共同基础或关键研究条件</a:t>
            </a:r>
          </a:p>
        </p:txBody>
      </p:sp>
    </p:spTree>
    <p:extLst>
      <p:ext uri="{BB962C8B-B14F-4D97-AF65-F5344CB8AC3E}">
        <p14:creationId xmlns:p14="http://schemas.microsoft.com/office/powerpoint/2010/main" val="1095493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结构-1">
            <a:extLst xmlns:a="http://schemas.openxmlformats.org/drawingml/2006/main">
              <a:ext uri="{FF2B5EF4-FFF2-40B4-BE49-F238E27FC236}">
                <a16:creationId xmlns:a16="http://schemas.microsoft.com/office/drawing/2014/main" id="{5FB89CA6-BA7D-410F-9ECE-A4BDE3C2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现有模式面临的挑战">
            <a:extLst xmlns:a="http://schemas.openxmlformats.org/drawingml/2006/main">
              <a:ext uri="{FF2B5EF4-FFF2-40B4-BE49-F238E27FC236}">
                <a16:creationId xmlns:a16="http://schemas.microsoft.com/office/drawing/2014/main" id="{19D55724-B50D-4C25-97B7-16B78C27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现有模式面临的挑战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F4E120E6-024E-44D6-A2AD-B9691332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F1E17326-7F48-4E5F-93C2-92E9EBEC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总体问题与约束条件，">
            <a:extLst xmlns:a="http://schemas.openxmlformats.org/drawingml/2006/main">
              <a:ext uri="{FF2B5EF4-FFF2-40B4-BE49-F238E27FC236}">
                <a16:creationId xmlns:a16="http://schemas.microsoft.com/office/drawing/2014/main" id="{593AB8CE-6096-451C-BAB4-A11D3C1B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说明总体问题与约束条件，概括现有模式难以满足的研究要求</a:t>
            </a:r>
          </a:p>
        </p:txBody>
      </p:sp>
      <p:sp>
        <p:nvSpPr>
          <p:cNvPr id="6" name="文字-6-挑战一：任务或组织复杂">
            <a:extLst xmlns:a="http://schemas.openxmlformats.org/drawingml/2006/main">
              <a:ext uri="{FF2B5EF4-FFF2-40B4-BE49-F238E27FC236}">
                <a16:creationId xmlns:a16="http://schemas.microsoft.com/office/drawing/2014/main" id="{04BB2393-712A-4098-BC7F-145A991F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895475"/>
            <a:ext cx="5448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挑战一：任务或组织复杂</a:t>
            </a:r>
          </a:p>
        </p:txBody>
      </p:sp>
      <p:sp>
        <p:nvSpPr>
          <p:cNvPr id="7" name="图片区-7">
            <a:extLst xmlns:a="http://schemas.openxmlformats.org/drawingml/2006/main">
              <a:ext uri="{FF2B5EF4-FFF2-40B4-BE49-F238E27FC236}">
                <a16:creationId xmlns:a16="http://schemas.microsoft.com/office/drawing/2014/main" id="{506D3A43-0268-4251-AEB7-30DBC5B6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81250"/>
            <a:ext cx="40005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8" name="文字-8-特征一特征二特征三">
            <a:extLst xmlns:a="http://schemas.openxmlformats.org/drawingml/2006/main">
              <a:ext uri="{FF2B5EF4-FFF2-40B4-BE49-F238E27FC236}">
                <a16:creationId xmlns:a16="http://schemas.microsoft.com/office/drawing/2014/main" id="{E6B26629-34A7-489C-BD3A-ED966C35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33650"/>
            <a:ext cx="13525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特征一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特征二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特征三</a:t>
            </a:r>
          </a:p>
        </p:txBody>
      </p:sp>
      <p:sp>
        <p:nvSpPr>
          <p:cNvPr id="9" name="文字-9-说明挑战的具体表现">
            <a:extLst xmlns:a="http://schemas.openxmlformats.org/drawingml/2006/main">
              <a:ext uri="{FF2B5EF4-FFF2-40B4-BE49-F238E27FC236}">
                <a16:creationId xmlns:a16="http://schemas.microsoft.com/office/drawing/2014/main" id="{A2CFA6EB-5BAF-49CE-A5C8-79BDF59F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说明挑战的具体表现</a:t>
            </a:r>
          </a:p>
        </p:txBody>
      </p:sp>
      <p:sp>
        <p:nvSpPr>
          <p:cNvPr id="10" name="文字-10-挑战二：填写核心难点">
            <a:extLst xmlns:a="http://schemas.openxmlformats.org/drawingml/2006/main">
              <a:ext uri="{FF2B5EF4-FFF2-40B4-BE49-F238E27FC236}">
                <a16:creationId xmlns:a16="http://schemas.microsoft.com/office/drawing/2014/main" id="{FB221AEE-BBD1-4B36-ACF8-982A5AF2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895475"/>
            <a:ext cx="583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挑战二：填写核心难点</a:t>
            </a:r>
          </a:p>
        </p:txBody>
      </p:sp>
      <p:sp>
        <p:nvSpPr>
          <p:cNvPr id="11" name="图片区-11">
            <a:extLst xmlns:a="http://schemas.openxmlformats.org/drawingml/2006/main">
              <a:ext uri="{FF2B5EF4-FFF2-40B4-BE49-F238E27FC236}">
                <a16:creationId xmlns:a16="http://schemas.microsoft.com/office/drawing/2014/main" id="{4393ADD5-E59D-45E6-834E-1912B113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81250"/>
            <a:ext cx="387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2" name="图片区-12">
            <a:extLst xmlns:a="http://schemas.openxmlformats.org/drawingml/2006/main">
              <a:ext uri="{FF2B5EF4-FFF2-40B4-BE49-F238E27FC236}">
                <a16:creationId xmlns:a16="http://schemas.microsoft.com/office/drawing/2014/main" id="{C959F02B-ED32-4889-A875-63288F16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8478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3" name="文字-13-填写影响或限制">
            <a:extLst xmlns:a="http://schemas.openxmlformats.org/drawingml/2006/main">
              <a:ext uri="{FF2B5EF4-FFF2-40B4-BE49-F238E27FC236}">
                <a16:creationId xmlns:a16="http://schemas.microsoft.com/office/drawing/2014/main" id="{E1D5580A-A762-42DA-BE84-68D6C009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4861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填写影响或限制</a:t>
            </a:r>
          </a:p>
        </p:txBody>
      </p:sp>
      <p:sp>
        <p:nvSpPr>
          <p:cNvPr id="14" name="连线-14">
            <a:extLst xmlns:a="http://schemas.openxmlformats.org/drawingml/2006/main">
              <a:ext uri="{FF2B5EF4-FFF2-40B4-BE49-F238E27FC236}">
                <a16:creationId xmlns:a16="http://schemas.microsoft.com/office/drawing/2014/main" id="{2ACFE3A6-7BBA-4AEF-8FF7-16C85E44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43575" y="2933700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C0E2E564-1206-4C3B-8474-84073D6A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81313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6" name="文字-16-挑战三：填写核心难点">
            <a:extLst xmlns:a="http://schemas.openxmlformats.org/drawingml/2006/main">
              <a:ext uri="{FF2B5EF4-FFF2-40B4-BE49-F238E27FC236}">
                <a16:creationId xmlns:a16="http://schemas.microsoft.com/office/drawing/2014/main" id="{F0F8C000-92F1-4B24-B117-40870D13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05300"/>
            <a:ext cx="5838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挑战三：填写核心难点</a:t>
            </a:r>
          </a:p>
        </p:txBody>
      </p:sp>
      <p:sp>
        <p:nvSpPr>
          <p:cNvPr id="17" name="图片区-17">
            <a:extLst xmlns:a="http://schemas.openxmlformats.org/drawingml/2006/main">
              <a:ext uri="{FF2B5EF4-FFF2-40B4-BE49-F238E27FC236}">
                <a16:creationId xmlns:a16="http://schemas.microsoft.com/office/drawing/2014/main" id="{A86578A0-24E3-45CB-8F20-2AB4D9F0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791075"/>
            <a:ext cx="387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8" name="图片区-18">
            <a:extLst xmlns:a="http://schemas.openxmlformats.org/drawingml/2006/main">
              <a:ext uri="{FF2B5EF4-FFF2-40B4-BE49-F238E27FC236}">
                <a16:creationId xmlns:a16="http://schemas.microsoft.com/office/drawing/2014/main" id="{11C55708-AAE1-42C3-8BCC-552D3BEA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791075"/>
            <a:ext cx="18478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9" name="文字-19-填写影响或限制">
            <a:extLst xmlns:a="http://schemas.openxmlformats.org/drawingml/2006/main">
              <a:ext uri="{FF2B5EF4-FFF2-40B4-BE49-F238E27FC236}">
                <a16:creationId xmlns:a16="http://schemas.microsoft.com/office/drawing/2014/main" id="{48492612-9B6F-445D-94BA-A32F60F8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5895975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填写影响或限制</a:t>
            </a:r>
          </a:p>
        </p:txBody>
      </p:sp>
      <p:sp>
        <p:nvSpPr>
          <p:cNvPr id="20" name="连线-20">
            <a:extLst xmlns:a="http://schemas.openxmlformats.org/drawingml/2006/main">
              <a:ext uri="{FF2B5EF4-FFF2-40B4-BE49-F238E27FC236}">
                <a16:creationId xmlns:a16="http://schemas.microsoft.com/office/drawing/2014/main" id="{7B750A25-2013-461B-9DC7-CEACAB9C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43575" y="5343525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21" name="结构-21">
            <a:extLst xmlns:a="http://schemas.openxmlformats.org/drawingml/2006/main">
              <a:ext uri="{FF2B5EF4-FFF2-40B4-BE49-F238E27FC236}">
                <a16:creationId xmlns:a16="http://schemas.microsoft.com/office/drawing/2014/main" id="{92E68D2B-C4B5-4728-921D-DAE8EA1C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91138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374872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结构-1">
            <a:extLst xmlns:a="http://schemas.openxmlformats.org/drawingml/2006/main">
              <a:ext uri="{FF2B5EF4-FFF2-40B4-BE49-F238E27FC236}">
                <a16:creationId xmlns:a16="http://schemas.microsoft.com/office/drawing/2014/main" id="{669F64F2-4794-4F37-9CFE-D173F248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关键科学问题">
            <a:extLst xmlns:a="http://schemas.openxmlformats.org/drawingml/2006/main">
              <a:ext uri="{FF2B5EF4-FFF2-40B4-BE49-F238E27FC236}">
                <a16:creationId xmlns:a16="http://schemas.microsoft.com/office/drawing/2014/main" id="{010BD8A2-F40A-4669-AB1C-D318B86A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关键科学问题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E968D6AE-C95A-465E-9171-B52CDF74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23D8449C-DDE5-4625-BCF6-4188FF70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用一句话提出三个相互关联">
            <a:extLst xmlns:a="http://schemas.openxmlformats.org/drawingml/2006/main">
              <a:ext uri="{FF2B5EF4-FFF2-40B4-BE49-F238E27FC236}">
                <a16:creationId xmlns:a16="http://schemas.microsoft.com/office/drawing/2014/main" id="{B8CDFE3F-C46B-463B-A83B-E27FFFDD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用一句话提出三个相互关联的研究问题，建立后续研究内容的对应关系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ECE4711B-A892-4D6B-A7FC-B27BDB9B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943100"/>
            <a:ext cx="3790950" cy="448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7" name="文字-7-问题一：任务关系与重构">
            <a:extLst xmlns:a="http://schemas.openxmlformats.org/drawingml/2006/main">
              <a:ext uri="{FF2B5EF4-FFF2-40B4-BE49-F238E27FC236}">
                <a16:creationId xmlns:a16="http://schemas.microsoft.com/office/drawing/2014/main" id="{20E8417A-EA01-4132-B671-B3A0AB72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028825"/>
            <a:ext cx="3638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问题一：任务关系与重构</a:t>
            </a:r>
          </a:p>
        </p:txBody>
      </p:sp>
      <p:sp>
        <p:nvSpPr>
          <p:cNvPr id="8" name="结构-8">
            <a:extLst xmlns:a="http://schemas.openxmlformats.org/drawingml/2006/main">
              <a:ext uri="{FF2B5EF4-FFF2-40B4-BE49-F238E27FC236}">
                <a16:creationId xmlns:a16="http://schemas.microsoft.com/office/drawing/2014/main" id="{FA944958-30EE-4A08-A17F-128AAD7E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647950"/>
            <a:ext cx="3562350" cy="352425"/>
          </a:xfrm>
          <a:custGeom xmlns:a="http://schemas.openxmlformats.org/drawingml/2006/main">
            <a:pathLst>
              <a:path w="3562350" h="352425">
                <a:moveTo>
                  <a:pt x="0" y="0"/>
                </a:moveTo>
                <a:lnTo>
                  <a:pt x="3390900" y="0"/>
                </a:lnTo>
                <a:lnTo>
                  <a:pt x="3562350" y="176213"/>
                </a:lnTo>
                <a:lnTo>
                  <a:pt x="3390900" y="352425"/>
                </a:lnTo>
                <a:lnTo>
                  <a:pt x="0" y="352425"/>
                </a:lnTo>
                <a:close/>
              </a:path>
            </a:pathLst>
          </a:cu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</a:ln>
        </p:spPr>
      </p:sp>
      <p:sp>
        <p:nvSpPr>
          <p:cNvPr id="9" name="文字-9-条件变化   机制问题 ">
            <a:extLst xmlns:a="http://schemas.openxmlformats.org/drawingml/2006/main">
              <a:ext uri="{FF2B5EF4-FFF2-40B4-BE49-F238E27FC236}">
                <a16:creationId xmlns:a16="http://schemas.microsoft.com/office/drawing/2014/main" id="{1A836D2C-96E4-4090-8933-5F48CCA1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479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条件变化   机制问题   结果影响</a:t>
            </a:r>
          </a:p>
        </p:txBody>
      </p:sp>
      <p:sp>
        <p:nvSpPr>
          <p:cNvPr id="10" name="图片区-10">
            <a:extLst xmlns:a="http://schemas.openxmlformats.org/drawingml/2006/main">
              <a:ext uri="{FF2B5EF4-FFF2-40B4-BE49-F238E27FC236}">
                <a16:creationId xmlns:a16="http://schemas.microsoft.com/office/drawing/2014/main" id="{7575784E-5A9E-48B7-AB53-4D95365C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33725"/>
            <a:ext cx="16002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1" name="图片区-11">
            <a:extLst xmlns:a="http://schemas.openxmlformats.org/drawingml/2006/main">
              <a:ext uri="{FF2B5EF4-FFF2-40B4-BE49-F238E27FC236}">
                <a16:creationId xmlns:a16="http://schemas.microsoft.com/office/drawing/2014/main" id="{F69C9F2F-8744-4A91-B677-E4961452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33725"/>
            <a:ext cx="1657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2" name="文字-12-核心机制或研究对象">
            <a:extLst xmlns:a="http://schemas.openxmlformats.org/drawingml/2006/main">
              <a:ext uri="{FF2B5EF4-FFF2-40B4-BE49-F238E27FC236}">
                <a16:creationId xmlns:a16="http://schemas.microsoft.com/office/drawing/2014/main" id="{EC72CFA4-9991-4E25-893D-91225A1F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62475"/>
            <a:ext cx="236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核心机制或研究对象</a:t>
            </a:r>
          </a:p>
        </p:txBody>
      </p:sp>
      <p:sp>
        <p:nvSpPr>
          <p:cNvPr id="13" name="连线-13">
            <a:extLst xmlns:a="http://schemas.openxmlformats.org/drawingml/2006/main">
              <a:ext uri="{FF2B5EF4-FFF2-40B4-BE49-F238E27FC236}">
                <a16:creationId xmlns:a16="http://schemas.microsoft.com/office/drawing/2014/main" id="{5872255D-91DB-4ECA-A95D-89793447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000" y="4457700"/>
            <a:ext cx="56197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4" name="结构-14">
            <a:extLst xmlns:a="http://schemas.openxmlformats.org/drawingml/2006/main">
              <a:ext uri="{FF2B5EF4-FFF2-40B4-BE49-F238E27FC236}">
                <a16:creationId xmlns:a16="http://schemas.microsoft.com/office/drawing/2014/main" id="{74891755-2829-43BA-A656-E3079048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105" y="4510421"/>
            <a:ext cx="121870" cy="93019"/>
          </a:xfrm>
          <a:custGeom xmlns:a="http://schemas.openxmlformats.org/drawingml/2006/main">
            <a:pathLst>
              <a:path w="121870" h="93019">
                <a:moveTo>
                  <a:pt x="121870" y="71104"/>
                </a:moveTo>
                <a:lnTo>
                  <a:pt x="20496" y="0"/>
                </a:lnTo>
                <a:lnTo>
                  <a:pt x="0" y="93019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5" name="连线-15">
            <a:extLst xmlns:a="http://schemas.openxmlformats.org/drawingml/2006/main">
              <a:ext uri="{FF2B5EF4-FFF2-40B4-BE49-F238E27FC236}">
                <a16:creationId xmlns:a16="http://schemas.microsoft.com/office/drawing/2014/main" id="{A17819DC-A81E-4991-A88B-829A1B0D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581275" y="4457700"/>
            <a:ext cx="40005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6" name="结构-16">
            <a:extLst xmlns:a="http://schemas.openxmlformats.org/drawingml/2006/main">
              <a:ext uri="{FF2B5EF4-FFF2-40B4-BE49-F238E27FC236}">
                <a16:creationId xmlns:a16="http://schemas.microsoft.com/office/drawing/2014/main" id="{C526328A-2342-4E9A-8D73-7ABC4FF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502233"/>
            <a:ext cx="123271" cy="90991"/>
          </a:xfrm>
          <a:custGeom xmlns:a="http://schemas.openxmlformats.org/drawingml/2006/main">
            <a:pathLst>
              <a:path w="123271" h="90991">
                <a:moveTo>
                  <a:pt x="0" y="79292"/>
                </a:moveTo>
                <a:lnTo>
                  <a:pt x="123271" y="90991"/>
                </a:lnTo>
                <a:lnTo>
                  <a:pt x="95107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7" name="文字-17-填写研究问题的内涵说明拟">
            <a:extLst xmlns:a="http://schemas.openxmlformats.org/drawingml/2006/main">
              <a:ext uri="{FF2B5EF4-FFF2-40B4-BE49-F238E27FC236}">
                <a16:creationId xmlns:a16="http://schemas.microsoft.com/office/drawing/2014/main" id="{463AB8DB-2FBF-4298-9BDF-371E8A7A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276850"/>
            <a:ext cx="3409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填写研究问题的内涵</a:t>
            </a:r>
          </a:p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说明拟采用的研究切入点</a:t>
            </a:r>
          </a:p>
        </p:txBody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72C99B13-BBD5-43E3-B57D-78FEED40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4095750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0F33226A-FE63-47F5-83A8-E8984C71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43363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CFC196DD-48FD-4DB8-8C5D-A60AF985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43100"/>
            <a:ext cx="3790950" cy="448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21" name="文字-21-问题二：多源状态与风险">
            <a:extLst xmlns:a="http://schemas.openxmlformats.org/drawingml/2006/main">
              <a:ext uri="{FF2B5EF4-FFF2-40B4-BE49-F238E27FC236}">
                <a16:creationId xmlns:a16="http://schemas.microsoft.com/office/drawing/2014/main" id="{8A2BF968-5046-4FDC-853B-D17FD331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28825"/>
            <a:ext cx="3638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问题二：多源状态与风险</a:t>
            </a:r>
          </a:p>
        </p:txBody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AB1EA2DE-003F-43B8-AFEE-7EF047B9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47950"/>
            <a:ext cx="3562350" cy="352425"/>
          </a:xfrm>
          <a:custGeom xmlns:a="http://schemas.openxmlformats.org/drawingml/2006/main">
            <a:pathLst>
              <a:path w="3562350" h="352425">
                <a:moveTo>
                  <a:pt x="0" y="0"/>
                </a:moveTo>
                <a:lnTo>
                  <a:pt x="3390900" y="0"/>
                </a:lnTo>
                <a:lnTo>
                  <a:pt x="3562350" y="176213"/>
                </a:lnTo>
                <a:lnTo>
                  <a:pt x="3390900" y="352425"/>
                </a:lnTo>
                <a:lnTo>
                  <a:pt x="0" y="352425"/>
                </a:lnTo>
                <a:close/>
              </a:path>
            </a:pathLst>
          </a:cu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</a:ln>
        </p:spPr>
      </p:sp>
      <p:sp>
        <p:nvSpPr>
          <p:cNvPr id="23" name="文字-23-条件变化   机制问题 ">
            <a:extLst xmlns:a="http://schemas.openxmlformats.org/drawingml/2006/main">
              <a:ext uri="{FF2B5EF4-FFF2-40B4-BE49-F238E27FC236}">
                <a16:creationId xmlns:a16="http://schemas.microsoft.com/office/drawing/2014/main" id="{2300B054-1997-4163-884A-561CBEC8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条件变化   机制问题   结果影响</a:t>
            </a:r>
          </a:p>
        </p:txBody>
      </p:sp>
      <p:sp>
        <p:nvSpPr>
          <p:cNvPr id="24" name="图片区-24">
            <a:extLst xmlns:a="http://schemas.openxmlformats.org/drawingml/2006/main">
              <a:ext uri="{FF2B5EF4-FFF2-40B4-BE49-F238E27FC236}">
                <a16:creationId xmlns:a16="http://schemas.microsoft.com/office/drawing/2014/main" id="{B3DFC9F0-1BE2-48F1-BFF3-391AA1E3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33725"/>
            <a:ext cx="16002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5" name="图片区-25">
            <a:extLst xmlns:a="http://schemas.openxmlformats.org/drawingml/2006/main">
              <a:ext uri="{FF2B5EF4-FFF2-40B4-BE49-F238E27FC236}">
                <a16:creationId xmlns:a16="http://schemas.microsoft.com/office/drawing/2014/main" id="{13299467-693B-4B00-B0DA-03C63383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133725"/>
            <a:ext cx="1657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6" name="文字-26-核心机制或研究对象">
            <a:extLst xmlns:a="http://schemas.openxmlformats.org/drawingml/2006/main">
              <a:ext uri="{FF2B5EF4-FFF2-40B4-BE49-F238E27FC236}">
                <a16:creationId xmlns:a16="http://schemas.microsoft.com/office/drawing/2014/main" id="{82E4B824-FB44-4FC1-9F9B-EF0C9BB9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562475"/>
            <a:ext cx="236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核心机制或研究对象</a:t>
            </a:r>
          </a:p>
        </p:txBody>
      </p:sp>
      <p:sp>
        <p:nvSpPr>
          <p:cNvPr id="27" name="连线-27">
            <a:extLst xmlns:a="http://schemas.openxmlformats.org/drawingml/2006/main">
              <a:ext uri="{FF2B5EF4-FFF2-40B4-BE49-F238E27FC236}">
                <a16:creationId xmlns:a16="http://schemas.microsoft.com/office/drawing/2014/main" id="{9C05B317-6891-4910-8EA6-10EB7E0B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33975" y="4457700"/>
            <a:ext cx="56197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8" name="结构-28">
            <a:extLst xmlns:a="http://schemas.openxmlformats.org/drawingml/2006/main">
              <a:ext uri="{FF2B5EF4-FFF2-40B4-BE49-F238E27FC236}">
                <a16:creationId xmlns:a16="http://schemas.microsoft.com/office/drawing/2014/main" id="{640F8FA0-BA27-4973-AF94-BA07E9C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080" y="4510421"/>
            <a:ext cx="121870" cy="93019"/>
          </a:xfrm>
          <a:custGeom xmlns:a="http://schemas.openxmlformats.org/drawingml/2006/main">
            <a:pathLst>
              <a:path w="121870" h="93019">
                <a:moveTo>
                  <a:pt x="121870" y="71104"/>
                </a:moveTo>
                <a:lnTo>
                  <a:pt x="20496" y="0"/>
                </a:lnTo>
                <a:lnTo>
                  <a:pt x="0" y="93019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9" name="连线-29">
            <a:extLst xmlns:a="http://schemas.openxmlformats.org/drawingml/2006/main">
              <a:ext uri="{FF2B5EF4-FFF2-40B4-BE49-F238E27FC236}">
                <a16:creationId xmlns:a16="http://schemas.microsoft.com/office/drawing/2014/main" id="{35465EEF-4C82-435F-A1BC-1FACE46F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572250" y="4457700"/>
            <a:ext cx="40005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0" name="结构-30">
            <a:extLst xmlns:a="http://schemas.openxmlformats.org/drawingml/2006/main">
              <a:ext uri="{FF2B5EF4-FFF2-40B4-BE49-F238E27FC236}">
                <a16:creationId xmlns:a16="http://schemas.microsoft.com/office/drawing/2014/main" id="{E020A1F2-5398-4825-9CE7-A13344BD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02233"/>
            <a:ext cx="123271" cy="90991"/>
          </a:xfrm>
          <a:custGeom xmlns:a="http://schemas.openxmlformats.org/drawingml/2006/main">
            <a:pathLst>
              <a:path w="123271" h="90991">
                <a:moveTo>
                  <a:pt x="0" y="79292"/>
                </a:moveTo>
                <a:lnTo>
                  <a:pt x="123271" y="90991"/>
                </a:lnTo>
                <a:lnTo>
                  <a:pt x="95107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1" name="文字-31-填写研究问题的内涵说明拟">
            <a:extLst xmlns:a="http://schemas.openxmlformats.org/drawingml/2006/main">
              <a:ext uri="{FF2B5EF4-FFF2-40B4-BE49-F238E27FC236}">
                <a16:creationId xmlns:a16="http://schemas.microsoft.com/office/drawing/2014/main" id="{2BB39FF3-2AAF-4222-A156-9BF61C43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76850"/>
            <a:ext cx="3409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填写研究问题的内涵</a:t>
            </a:r>
          </a:p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说明拟采用的研究切入点</a:t>
            </a:r>
          </a:p>
        </p:txBody>
      </p:sp>
      <p:sp>
        <p:nvSpPr>
          <p:cNvPr id="32" name="连线-32">
            <a:extLst xmlns:a="http://schemas.openxmlformats.org/drawingml/2006/main">
              <a:ext uri="{FF2B5EF4-FFF2-40B4-BE49-F238E27FC236}">
                <a16:creationId xmlns:a16="http://schemas.microsoft.com/office/drawing/2014/main" id="{38963226-9C1B-4094-90A1-A2A38525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10525" y="4095750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33" name="结构-33">
            <a:extLst xmlns:a="http://schemas.openxmlformats.org/drawingml/2006/main">
              <a:ext uri="{FF2B5EF4-FFF2-40B4-BE49-F238E27FC236}">
                <a16:creationId xmlns:a16="http://schemas.microsoft.com/office/drawing/2014/main" id="{20FC4BC9-0F8F-46C1-AD78-1ED893B6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043363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EDBA67FB-7175-4587-82B9-80C5BCC6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943100"/>
            <a:ext cx="3790950" cy="448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35" name="文字-35-问题三：异常响应与决策">
            <a:extLst xmlns:a="http://schemas.openxmlformats.org/drawingml/2006/main">
              <a:ext uri="{FF2B5EF4-FFF2-40B4-BE49-F238E27FC236}">
                <a16:creationId xmlns:a16="http://schemas.microsoft.com/office/drawing/2014/main" id="{C4A2CA1B-10FF-4E94-BEE4-0889B8F0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28825"/>
            <a:ext cx="3638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问题三：异常响应与决策</a:t>
            </a:r>
          </a:p>
        </p:txBody>
      </p:sp>
      <p:sp>
        <p:nvSpPr>
          <p:cNvPr id="36" name="结构-36">
            <a:extLst xmlns:a="http://schemas.openxmlformats.org/drawingml/2006/main">
              <a:ext uri="{FF2B5EF4-FFF2-40B4-BE49-F238E27FC236}">
                <a16:creationId xmlns:a16="http://schemas.microsoft.com/office/drawing/2014/main" id="{8802E4AD-AED6-4AA7-A8F1-CE724CFB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647950"/>
            <a:ext cx="3562350" cy="352425"/>
          </a:xfrm>
          <a:custGeom xmlns:a="http://schemas.openxmlformats.org/drawingml/2006/main">
            <a:pathLst>
              <a:path w="3562350" h="352425">
                <a:moveTo>
                  <a:pt x="0" y="0"/>
                </a:moveTo>
                <a:lnTo>
                  <a:pt x="3390900" y="0"/>
                </a:lnTo>
                <a:lnTo>
                  <a:pt x="3562350" y="176213"/>
                </a:lnTo>
                <a:lnTo>
                  <a:pt x="3390900" y="352425"/>
                </a:lnTo>
                <a:lnTo>
                  <a:pt x="0" y="352425"/>
                </a:lnTo>
                <a:close/>
              </a:path>
            </a:pathLst>
          </a:cu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</a:ln>
        </p:spPr>
      </p:sp>
      <p:sp>
        <p:nvSpPr>
          <p:cNvPr id="37" name="文字-37-条件变化   机制问题 ">
            <a:extLst xmlns:a="http://schemas.openxmlformats.org/drawingml/2006/main">
              <a:ext uri="{FF2B5EF4-FFF2-40B4-BE49-F238E27FC236}">
                <a16:creationId xmlns:a16="http://schemas.microsoft.com/office/drawing/2014/main" id="{F4C4C82F-0448-4683-9C2F-5B1D100E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条件变化   机制问题   结果影响</a:t>
            </a:r>
          </a:p>
        </p:txBody>
      </p:sp>
      <p:sp>
        <p:nvSpPr>
          <p:cNvPr id="38" name="图片区-38">
            <a:extLst xmlns:a="http://schemas.openxmlformats.org/drawingml/2006/main">
              <a:ext uri="{FF2B5EF4-FFF2-40B4-BE49-F238E27FC236}">
                <a16:creationId xmlns:a16="http://schemas.microsoft.com/office/drawing/2014/main" id="{0FD1E3E8-9683-4F76-98C1-F174B472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33725"/>
            <a:ext cx="16002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39" name="图片区-39">
            <a:extLst xmlns:a="http://schemas.openxmlformats.org/drawingml/2006/main">
              <a:ext uri="{FF2B5EF4-FFF2-40B4-BE49-F238E27FC236}">
                <a16:creationId xmlns:a16="http://schemas.microsoft.com/office/drawing/2014/main" id="{3ACD9998-08BD-4E03-A8D7-1F518252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33725"/>
            <a:ext cx="16573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40" name="文字-40-核心机制或研究对象">
            <a:extLst xmlns:a="http://schemas.openxmlformats.org/drawingml/2006/main">
              <a:ext uri="{FF2B5EF4-FFF2-40B4-BE49-F238E27FC236}">
                <a16:creationId xmlns:a16="http://schemas.microsoft.com/office/drawing/2014/main" id="{FCD4EDD2-EF0A-49CD-99AE-43D524F3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475"/>
            <a:ext cx="2362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核心机制或研究对象</a:t>
            </a:r>
          </a:p>
        </p:txBody>
      </p:sp>
      <p:sp>
        <p:nvSpPr>
          <p:cNvPr id="41" name="连线-41">
            <a:extLst xmlns:a="http://schemas.openxmlformats.org/drawingml/2006/main">
              <a:ext uri="{FF2B5EF4-FFF2-40B4-BE49-F238E27FC236}">
                <a16:creationId xmlns:a16="http://schemas.microsoft.com/office/drawing/2014/main" id="{6984AE23-73F9-410D-8549-83933FF7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24950" y="4457700"/>
            <a:ext cx="56197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42" name="结构-42">
            <a:extLst xmlns:a="http://schemas.openxmlformats.org/drawingml/2006/main">
              <a:ext uri="{FF2B5EF4-FFF2-40B4-BE49-F238E27FC236}">
                <a16:creationId xmlns:a16="http://schemas.microsoft.com/office/drawing/2014/main" id="{4267B43D-A300-4962-82BC-0E3DF133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55" y="4510421"/>
            <a:ext cx="121870" cy="93019"/>
          </a:xfrm>
          <a:custGeom xmlns:a="http://schemas.openxmlformats.org/drawingml/2006/main">
            <a:pathLst>
              <a:path w="121870" h="93019">
                <a:moveTo>
                  <a:pt x="121870" y="71104"/>
                </a:moveTo>
                <a:lnTo>
                  <a:pt x="20496" y="0"/>
                </a:lnTo>
                <a:lnTo>
                  <a:pt x="0" y="93019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3" name="连线-43">
            <a:extLst xmlns:a="http://schemas.openxmlformats.org/drawingml/2006/main">
              <a:ext uri="{FF2B5EF4-FFF2-40B4-BE49-F238E27FC236}">
                <a16:creationId xmlns:a16="http://schemas.microsoft.com/office/drawing/2014/main" id="{78A203B4-ADC7-4B7B-B2C1-B3271574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563225" y="4457700"/>
            <a:ext cx="40005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44" name="结构-44">
            <a:extLst xmlns:a="http://schemas.openxmlformats.org/drawingml/2006/main">
              <a:ext uri="{FF2B5EF4-FFF2-40B4-BE49-F238E27FC236}">
                <a16:creationId xmlns:a16="http://schemas.microsoft.com/office/drawing/2014/main" id="{BC06DF84-C698-41CB-99A0-A8C9630F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4502233"/>
            <a:ext cx="123271" cy="90991"/>
          </a:xfrm>
          <a:custGeom xmlns:a="http://schemas.openxmlformats.org/drawingml/2006/main">
            <a:pathLst>
              <a:path w="123271" h="90991">
                <a:moveTo>
                  <a:pt x="0" y="79292"/>
                </a:moveTo>
                <a:lnTo>
                  <a:pt x="123271" y="90991"/>
                </a:lnTo>
                <a:lnTo>
                  <a:pt x="95107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5" name="文字-45-填写研究问题的内涵说明拟">
            <a:extLst xmlns:a="http://schemas.openxmlformats.org/drawingml/2006/main">
              <a:ext uri="{FF2B5EF4-FFF2-40B4-BE49-F238E27FC236}">
                <a16:creationId xmlns:a16="http://schemas.microsoft.com/office/drawing/2014/main" id="{2262B5EA-B6FC-4546-BB49-7170EC4F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276850"/>
            <a:ext cx="34099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填写研究问题的内涵</a:t>
            </a:r>
          </a:p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说明拟采用的研究切入点</a:t>
            </a:r>
          </a:p>
        </p:txBody>
      </p:sp>
    </p:spTree>
    <p:extLst>
      <p:ext uri="{BB962C8B-B14F-4D97-AF65-F5344CB8AC3E}">
        <p14:creationId xmlns:p14="http://schemas.microsoft.com/office/powerpoint/2010/main" val="18945243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文字-1-2.1 研究问题">
            <a:extLst xmlns:a="http://schemas.openxmlformats.org/drawingml/2006/main">
              <a:ext uri="{FF2B5EF4-FFF2-40B4-BE49-F238E27FC236}">
                <a16:creationId xmlns:a16="http://schemas.microsoft.com/office/drawing/2014/main" id="{1FD93107-E995-4CE2-9E1F-63428838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2.1 研究问题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A97877E3-8DBB-49AB-8FAB-1C624166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填写本研究需要回答的总体科学">
            <a:extLst xmlns:a="http://schemas.openxmlformats.org/drawingml/2006/main">
              <a:ext uri="{FF2B5EF4-FFF2-40B4-BE49-F238E27FC236}">
                <a16:creationId xmlns:a16="http://schemas.microsoft.com/office/drawing/2014/main" id="{F2533CC3-B8D5-4DE3-9ACA-A4A3DFBF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44880"/>
            <a:ext cx="1145439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本研究需要回答的总体科学问题</a:t>
            </a:r>
          </a:p>
        </p:txBody>
      </p:sp>
      <p:sp>
        <p:nvSpPr>
          <p:cNvPr id="4" name="文字-4-机制解析">
            <a:extLst xmlns:a="http://schemas.openxmlformats.org/drawingml/2006/main">
              <a:ext uri="{FF2B5EF4-FFF2-40B4-BE49-F238E27FC236}">
                <a16:creationId xmlns:a16="http://schemas.microsoft.com/office/drawing/2014/main" id="{80033FDE-E95F-452C-BA95-01C66F20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722120"/>
            <a:ext cx="1690741" cy="62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机制解析</a:t>
            </a:r>
          </a:p>
        </p:txBody>
      </p:sp>
      <p:sp>
        <p:nvSpPr>
          <p:cNvPr id="5" name="文字-5-说明现象背后的关键过程及其相">
            <a:extLst xmlns:a="http://schemas.openxmlformats.org/drawingml/2006/main">
              <a:ext uri="{FF2B5EF4-FFF2-40B4-BE49-F238E27FC236}">
                <a16:creationId xmlns:a16="http://schemas.microsoft.com/office/drawing/2014/main" id="{2871A4D1-0D01-4182-8879-7951D60A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329" y="1661160"/>
            <a:ext cx="9443779" cy="815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围绕核心问题，建立研究对象、方法与验证路径的联系</a:t>
            </a:r>
          </a:p>
        </p:txBody>
      </p:sp>
      <p:sp>
        <p:nvSpPr>
          <p:cNvPr id="6" name="对象-6">
            <a:extLst xmlns:a="http://schemas.openxmlformats.org/drawingml/2006/main">
              <a:ext uri="{FF2B5EF4-FFF2-40B4-BE49-F238E27FC236}">
                <a16:creationId xmlns:a16="http://schemas.microsoft.com/office/drawing/2014/main" id="{8444A77D-01D1-40A3-819B-8183505D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720340"/>
            <a:ext cx="744078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7" name="文字-7-研究对象与验证思路">
            <a:extLst xmlns:a="http://schemas.openxmlformats.org/drawingml/2006/main">
              <a:ext uri="{FF2B5EF4-FFF2-40B4-BE49-F238E27FC236}">
                <a16:creationId xmlns:a16="http://schemas.microsoft.com/office/drawing/2014/main" id="{3231C0AD-0AEC-44A6-B630-64F955F5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24" y="2872740"/>
            <a:ext cx="7136146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研究对象与验证思路</a:t>
            </a:r>
          </a:p>
        </p:txBody>
      </p:sp>
      <p:sp>
        <p:nvSpPr>
          <p:cNvPr id="8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B26EDCCE-47D6-45A6-91C9-4551D616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35" y="3390900"/>
            <a:ext cx="3213932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9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55311715-208A-4653-903B-4B052F04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085" y="3390900"/>
            <a:ext cx="3427178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0" name="文字-10-填写研究对象与核心特征">
            <a:extLst xmlns:a="http://schemas.openxmlformats.org/drawingml/2006/main">
              <a:ext uri="{FF2B5EF4-FFF2-40B4-BE49-F238E27FC236}">
                <a16:creationId xmlns:a16="http://schemas.microsoft.com/office/drawing/2014/main" id="{4B092573-FB03-47CB-B4C8-85EDE8EE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35" y="5242560"/>
            <a:ext cx="3213932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研究对象与核心特征</a:t>
            </a:r>
          </a:p>
        </p:txBody>
      </p:sp>
      <p:sp>
        <p:nvSpPr>
          <p:cNvPr id="11" name="文字-11-填写干预方案或验证方法">
            <a:extLst xmlns:a="http://schemas.openxmlformats.org/drawingml/2006/main">
              <a:ext uri="{FF2B5EF4-FFF2-40B4-BE49-F238E27FC236}">
                <a16:creationId xmlns:a16="http://schemas.microsoft.com/office/drawing/2014/main" id="{76017631-5EB4-4D61-9AB4-3AEBADD4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085" y="5242560"/>
            <a:ext cx="3427178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干预方案或验证方法</a:t>
            </a:r>
          </a:p>
        </p:txBody>
      </p:sp>
      <p:sp>
        <p:nvSpPr>
          <p:cNvPr id="12" name="文字-12-说明需识别的关键因素">
            <a:extLst xmlns:a="http://schemas.openxmlformats.org/drawingml/2006/main">
              <a:ext uri="{FF2B5EF4-FFF2-40B4-BE49-F238E27FC236}">
                <a16:creationId xmlns:a16="http://schemas.microsoft.com/office/drawing/2014/main" id="{7A1A732E-7CAA-47E1-B0EA-B350A98A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67" y="5715000"/>
            <a:ext cx="319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需识别的关键因素</a:t>
            </a:r>
          </a:p>
        </p:txBody>
      </p:sp>
      <p:sp>
        <p:nvSpPr>
          <p:cNvPr id="13" name="连线-13">
            <a:extLst xmlns:a="http://schemas.openxmlformats.org/drawingml/2006/main">
              <a:ext uri="{FF2B5EF4-FFF2-40B4-BE49-F238E27FC236}">
                <a16:creationId xmlns:a16="http://schemas.microsoft.com/office/drawing/2014/main" id="{5F1550E1-E749-49B1-AA9B-EC0D6B06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34062" y="5928360"/>
            <a:ext cx="274175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6440">
            <a:solidFill>
              <a:srgbClr val="1979B5"/>
            </a:solidFill>
            <a:prstDash val="solid"/>
          </a:ln>
        </p:spPr>
      </p:sp>
      <p:sp>
        <p:nvSpPr>
          <p:cNvPr id="14" name="结构-14">
            <a:extLst xmlns:a="http://schemas.openxmlformats.org/drawingml/2006/main">
              <a:ext uri="{FF2B5EF4-FFF2-40B4-BE49-F238E27FC236}">
                <a16:creationId xmlns:a16="http://schemas.microsoft.com/office/drawing/2014/main" id="{1688D30A-4998-48F6-92E2-146BFBA1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765" y="5871210"/>
            <a:ext cx="129471" cy="114300"/>
          </a:xfrm>
          <a:custGeom xmlns:a="http://schemas.openxmlformats.org/drawingml/2006/main">
            <a:pathLst>
              <a:path w="169212" h="149384">
                <a:moveTo>
                  <a:pt x="169212" y="74692"/>
                </a:moveTo>
                <a:lnTo>
                  <a:pt x="0" y="0"/>
                </a:lnTo>
                <a:lnTo>
                  <a:pt x="0" y="149384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5" name="文字-15-说明需验证的作用与边界">
            <a:extLst xmlns:a="http://schemas.openxmlformats.org/drawingml/2006/main">
              <a:ext uri="{FF2B5EF4-FFF2-40B4-BE49-F238E27FC236}">
                <a16:creationId xmlns:a16="http://schemas.microsoft.com/office/drawing/2014/main" id="{D3D3E609-7E9E-4974-B151-853995C3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396" y="5715000"/>
            <a:ext cx="333578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需验证的作用与边界</a:t>
            </a:r>
          </a:p>
        </p:txBody>
      </p:sp>
      <p:sp>
        <p:nvSpPr>
          <p:cNvPr id="16" name="文字-16-验证问题一">
            <a:extLst xmlns:a="http://schemas.openxmlformats.org/drawingml/2006/main">
              <a:ext uri="{FF2B5EF4-FFF2-40B4-BE49-F238E27FC236}">
                <a16:creationId xmlns:a16="http://schemas.microsoft.com/office/drawing/2014/main" id="{94CF75A3-9DE3-4677-A117-51DAC059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20" y="2781300"/>
            <a:ext cx="3617577" cy="312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验证问题一</a:t>
            </a:r>
          </a:p>
        </p:txBody>
      </p:sp>
      <p:sp>
        <p:nvSpPr>
          <p:cNvPr id="17" name="文字-17-填写具体问题与判断依据">
            <a:extLst xmlns:a="http://schemas.openxmlformats.org/drawingml/2006/main">
              <a:ext uri="{FF2B5EF4-FFF2-40B4-BE49-F238E27FC236}">
                <a16:creationId xmlns:a16="http://schemas.microsoft.com/office/drawing/2014/main" id="{D895AE45-501F-499B-A8D4-4755558F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20" y="3108960"/>
            <a:ext cx="3617577" cy="632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验证内容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判据与预期结果</a:t>
            </a:r>
          </a:p>
        </p:txBody>
      </p:sp>
      <p:sp>
        <p:nvSpPr>
          <p:cNvPr id="18" name="文字-18-验证问题二">
            <a:extLst xmlns:a="http://schemas.openxmlformats.org/drawingml/2006/main">
              <a:ext uri="{FF2B5EF4-FFF2-40B4-BE49-F238E27FC236}">
                <a16:creationId xmlns:a16="http://schemas.microsoft.com/office/drawing/2014/main" id="{9A108341-C717-40A0-A7DA-EEFAF610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20" y="3863340"/>
            <a:ext cx="3617577" cy="312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验证问题二</a:t>
            </a:r>
          </a:p>
        </p:txBody>
      </p:sp>
      <p:sp>
        <p:nvSpPr>
          <p:cNvPr id="19" name="文字-19-填写具体问题与判断依据">
            <a:extLst xmlns:a="http://schemas.openxmlformats.org/drawingml/2006/main">
              <a:ext uri="{FF2B5EF4-FFF2-40B4-BE49-F238E27FC236}">
                <a16:creationId xmlns:a16="http://schemas.microsoft.com/office/drawing/2014/main" id="{79C7D77F-7E1D-4B1C-B2F4-3B6C07CA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20" y="4191000"/>
            <a:ext cx="3617577" cy="632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验证内容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判据与预期结果</a:t>
            </a:r>
          </a:p>
        </p:txBody>
      </p:sp>
      <p:sp>
        <p:nvSpPr>
          <p:cNvPr id="20" name="文字-20-验证问题三">
            <a:extLst xmlns:a="http://schemas.openxmlformats.org/drawingml/2006/main">
              <a:ext uri="{FF2B5EF4-FFF2-40B4-BE49-F238E27FC236}">
                <a16:creationId xmlns:a16="http://schemas.microsoft.com/office/drawing/2014/main" id="{A58D1287-AEEB-4228-91A7-4862E4C0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20" y="4945380"/>
            <a:ext cx="3617577" cy="312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验证问题三</a:t>
            </a:r>
          </a:p>
        </p:txBody>
      </p:sp>
      <p:sp>
        <p:nvSpPr>
          <p:cNvPr id="21" name="文字-21-填写具体问题与判断依据">
            <a:extLst xmlns:a="http://schemas.openxmlformats.org/drawingml/2006/main">
              <a:ext uri="{FF2B5EF4-FFF2-40B4-BE49-F238E27FC236}">
                <a16:creationId xmlns:a16="http://schemas.microsoft.com/office/drawing/2014/main" id="{73A65220-5E22-4F7D-BDA3-0453A054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20" y="5273040"/>
            <a:ext cx="3617577" cy="632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验证内容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判据与预期结果</a:t>
            </a:r>
          </a:p>
        </p:txBody>
      </p:sp>
      <p:sp>
        <p:nvSpPr>
          <p:cNvPr id="22" name="文字-22-填写研究应聚焦的关键环节">
            <a:extLst xmlns:a="http://schemas.openxmlformats.org/drawingml/2006/main">
              <a:ext uri="{FF2B5EF4-FFF2-40B4-BE49-F238E27FC236}">
                <a16:creationId xmlns:a16="http://schemas.microsoft.com/office/drawing/2014/main" id="{B8684359-74DB-4B2A-840B-B47FBC5E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292" y="6141720"/>
            <a:ext cx="382320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形成可验证的研究结论</a:t>
            </a:r>
          </a:p>
        </p:txBody>
      </p:sp>
    </p:spTree>
    <p:extLst>
      <p:ext uri="{BB962C8B-B14F-4D97-AF65-F5344CB8AC3E}">
        <p14:creationId xmlns:p14="http://schemas.microsoft.com/office/powerpoint/2010/main" val="1692003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文字-1-填写研究对象的复杂性与关键问">
            <a:extLst xmlns:a="http://schemas.openxmlformats.org/drawingml/2006/main">
              <a:ext uri="{FF2B5EF4-FFF2-40B4-BE49-F238E27FC236}">
                <a16:creationId xmlns:a16="http://schemas.microsoft.com/office/drawing/2014/main" id="{BFD55E01-5B3D-4876-8DDF-EAB24B0E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396240"/>
            <a:ext cx="1145439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研究对象的复杂性与关键问题</a:t>
            </a:r>
          </a:p>
        </p:txBody>
      </p:sp>
      <p:sp>
        <p:nvSpPr>
          <p:cNvPr id="2" name="对象-2">
            <a:extLst xmlns:a="http://schemas.openxmlformats.org/drawingml/2006/main">
              <a:ext uri="{FF2B5EF4-FFF2-40B4-BE49-F238E27FC236}">
                <a16:creationId xmlns:a16="http://schemas.microsoft.com/office/drawing/2014/main" id="{CC1D2286-4CCA-4F5C-8769-9A15740F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0"/>
            <a:ext cx="11454390" cy="2827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B9490"/>
            </a:solidFill>
            <a:prstDash val="solid"/>
          </a:ln>
        </p:spPr>
      </p:sp>
      <p:sp>
        <p:nvSpPr>
          <p:cNvPr id="3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5F5B67C5-8BCE-4876-AA2F-DB4ADCA8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" y="1211580"/>
            <a:ext cx="2467569" cy="2522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4" name="连线-4">
            <a:extLst xmlns:a="http://schemas.openxmlformats.org/drawingml/2006/main">
              <a:ext uri="{FF2B5EF4-FFF2-40B4-BE49-F238E27FC236}">
                <a16:creationId xmlns:a16="http://schemas.microsoft.com/office/drawing/2014/main" id="{E002AC02-C3C7-4A50-B5F8-09F106B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64851" y="2415540"/>
            <a:ext cx="479805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0">
            <a:solidFill>
              <a:srgbClr val="1979B5"/>
            </a:solidFill>
            <a:prstDash val="solid"/>
          </a:ln>
        </p:spPr>
      </p:sp>
      <p:sp>
        <p:nvSpPr>
          <p:cNvPr id="5" name="结构-5">
            <a:extLst xmlns:a="http://schemas.openxmlformats.org/drawingml/2006/main">
              <a:ext uri="{FF2B5EF4-FFF2-40B4-BE49-F238E27FC236}">
                <a16:creationId xmlns:a16="http://schemas.microsoft.com/office/drawing/2014/main" id="{FB354263-9E3A-448E-AF4C-AB3C9E34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05" y="2339340"/>
            <a:ext cx="167551" cy="152400"/>
          </a:xfrm>
          <a:custGeom xmlns:a="http://schemas.openxmlformats.org/drawingml/2006/main">
            <a:pathLst>
              <a:path w="218980" h="199178">
                <a:moveTo>
                  <a:pt x="218980" y="99589"/>
                </a:moveTo>
                <a:lnTo>
                  <a:pt x="0" y="0"/>
                </a:lnTo>
                <a:lnTo>
                  <a:pt x="0" y="199178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6" name="文字-6-问题一">
            <a:extLst xmlns:a="http://schemas.openxmlformats.org/drawingml/2006/main">
              <a:ext uri="{FF2B5EF4-FFF2-40B4-BE49-F238E27FC236}">
                <a16:creationId xmlns:a16="http://schemas.microsoft.com/office/drawing/2014/main" id="{5357C68E-7AA6-494A-9A81-DE1D0840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79" y="1249680"/>
            <a:ext cx="211723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90AAB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问题一</a:t>
            </a:r>
          </a:p>
        </p:txBody>
      </p:sp>
      <p:sp>
        <p:nvSpPr>
          <p:cNvPr id="7" name="文字-7-问题二">
            <a:extLst xmlns:a="http://schemas.openxmlformats.org/drawingml/2006/main">
              <a:ext uri="{FF2B5EF4-FFF2-40B4-BE49-F238E27FC236}">
                <a16:creationId xmlns:a16="http://schemas.microsoft.com/office/drawing/2014/main" id="{8EF962FD-2C28-4994-B3E4-E65BDFF0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79" y="2080260"/>
            <a:ext cx="211723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90AAB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问题二</a:t>
            </a:r>
          </a:p>
        </p:txBody>
      </p:sp>
      <p:sp>
        <p:nvSpPr>
          <p:cNvPr id="8" name="文字-8-问题三">
            <a:extLst xmlns:a="http://schemas.openxmlformats.org/drawingml/2006/main">
              <a:ext uri="{FF2B5EF4-FFF2-40B4-BE49-F238E27FC236}">
                <a16:creationId xmlns:a16="http://schemas.microsoft.com/office/drawing/2014/main" id="{DE3505D3-C15F-4C30-BAB2-7B5EE292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279" y="2910840"/>
            <a:ext cx="211723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90AAB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问题三</a:t>
            </a:r>
          </a:p>
        </p:txBody>
      </p:sp>
      <p:sp>
        <p:nvSpPr>
          <p:cNvPr id="9" name="连线-9">
            <a:extLst xmlns:a="http://schemas.openxmlformats.org/drawingml/2006/main">
              <a:ext uri="{FF2B5EF4-FFF2-40B4-BE49-F238E27FC236}">
                <a16:creationId xmlns:a16="http://schemas.microsoft.com/office/drawing/2014/main" id="{B9AA4615-91F0-4D0C-BA23-3E7F501D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21826" y="2415540"/>
            <a:ext cx="38841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0">
            <a:solidFill>
              <a:srgbClr val="1979B5"/>
            </a:solidFill>
            <a:prstDash val="solid"/>
          </a:ln>
        </p:spPr>
      </p:sp>
      <p:sp>
        <p:nvSpPr>
          <p:cNvPr id="10" name="结构-10">
            <a:extLst xmlns:a="http://schemas.openxmlformats.org/drawingml/2006/main">
              <a:ext uri="{FF2B5EF4-FFF2-40B4-BE49-F238E27FC236}">
                <a16:creationId xmlns:a16="http://schemas.microsoft.com/office/drawing/2014/main" id="{988C6BBD-5AEA-4E91-829F-F49CF690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2689" y="2339340"/>
            <a:ext cx="167551" cy="152400"/>
          </a:xfrm>
          <a:custGeom xmlns:a="http://schemas.openxmlformats.org/drawingml/2006/main">
            <a:pathLst>
              <a:path w="218980" h="199178">
                <a:moveTo>
                  <a:pt x="218980" y="99589"/>
                </a:moveTo>
                <a:lnTo>
                  <a:pt x="0" y="0"/>
                </a:lnTo>
                <a:lnTo>
                  <a:pt x="0" y="199178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22040343-79C4-48D3-8B89-B677B970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862" y="1516380"/>
            <a:ext cx="1843060" cy="1844040"/>
          </a:xfrm>
          <a:custGeom xmlns:a="http://schemas.openxmlformats.org/drawingml/2006/main">
            <a:pathLst>
              <a:path w="2408777" h="2410058">
                <a:moveTo>
                  <a:pt x="2407127" y="1268095"/>
                </a:moveTo>
                <a:lnTo>
                  <a:pt x="2399800" y="1351885"/>
                </a:lnTo>
                <a:lnTo>
                  <a:pt x="2386649" y="1434959"/>
                </a:lnTo>
                <a:lnTo>
                  <a:pt x="2367739" y="1516913"/>
                </a:lnTo>
                <a:lnTo>
                  <a:pt x="2343160" y="1597348"/>
                </a:lnTo>
                <a:lnTo>
                  <a:pt x="2313034" y="1675871"/>
                </a:lnTo>
                <a:lnTo>
                  <a:pt x="2277507" y="1752101"/>
                </a:lnTo>
                <a:lnTo>
                  <a:pt x="2236751" y="1825665"/>
                </a:lnTo>
                <a:lnTo>
                  <a:pt x="2190966" y="1896205"/>
                </a:lnTo>
                <a:lnTo>
                  <a:pt x="2140374" y="1963378"/>
                </a:lnTo>
                <a:lnTo>
                  <a:pt x="2085223" y="2026857"/>
                </a:lnTo>
                <a:lnTo>
                  <a:pt x="2025780" y="2086331"/>
                </a:lnTo>
                <a:lnTo>
                  <a:pt x="1962335" y="2141512"/>
                </a:lnTo>
                <a:lnTo>
                  <a:pt x="1895198" y="2192131"/>
                </a:lnTo>
                <a:lnTo>
                  <a:pt x="1824695" y="2237940"/>
                </a:lnTo>
                <a:lnTo>
                  <a:pt x="1751170" y="2278718"/>
                </a:lnTo>
                <a:lnTo>
                  <a:pt x="1674981" y="2314264"/>
                </a:lnTo>
                <a:lnTo>
                  <a:pt x="1596499" y="2344406"/>
                </a:lnTo>
                <a:lnTo>
                  <a:pt x="1516107" y="2368997"/>
                </a:lnTo>
                <a:lnTo>
                  <a:pt x="1434197" y="2387918"/>
                </a:lnTo>
                <a:lnTo>
                  <a:pt x="1351167" y="2401076"/>
                </a:lnTo>
                <a:lnTo>
                  <a:pt x="1267421" y="2408406"/>
                </a:lnTo>
                <a:lnTo>
                  <a:pt x="1267421" y="2408406"/>
                </a:lnTo>
                <a:lnTo>
                  <a:pt x="1234603" y="1781854"/>
                </a:lnTo>
                <a:lnTo>
                  <a:pt x="1274745" y="1778341"/>
                </a:lnTo>
                <a:lnTo>
                  <a:pt x="1314545" y="1772034"/>
                </a:lnTo>
                <a:lnTo>
                  <a:pt x="1353808" y="1762964"/>
                </a:lnTo>
                <a:lnTo>
                  <a:pt x="1392342" y="1751177"/>
                </a:lnTo>
                <a:lnTo>
                  <a:pt x="1429962" y="1736728"/>
                </a:lnTo>
                <a:lnTo>
                  <a:pt x="1466482" y="1719690"/>
                </a:lnTo>
                <a:lnTo>
                  <a:pt x="1501725" y="1700143"/>
                </a:lnTo>
                <a:lnTo>
                  <a:pt x="1535520" y="1678185"/>
                </a:lnTo>
                <a:lnTo>
                  <a:pt x="1567702" y="1653922"/>
                </a:lnTo>
                <a:lnTo>
                  <a:pt x="1598113" y="1627471"/>
                </a:lnTo>
                <a:lnTo>
                  <a:pt x="1626607" y="1598963"/>
                </a:lnTo>
                <a:lnTo>
                  <a:pt x="1653043" y="1568535"/>
                </a:lnTo>
                <a:lnTo>
                  <a:pt x="1677293" y="1536337"/>
                </a:lnTo>
                <a:lnTo>
                  <a:pt x="1699240" y="1502524"/>
                </a:lnTo>
                <a:lnTo>
                  <a:pt x="1718776" y="1467262"/>
                </a:lnTo>
                <a:lnTo>
                  <a:pt x="1735806" y="1430722"/>
                </a:lnTo>
                <a:lnTo>
                  <a:pt x="1750246" y="1393083"/>
                </a:lnTo>
                <a:lnTo>
                  <a:pt x="1762028" y="1354527"/>
                </a:lnTo>
                <a:lnTo>
                  <a:pt x="1771092" y="1315243"/>
                </a:lnTo>
                <a:lnTo>
                  <a:pt x="1777396" y="1275423"/>
                </a:lnTo>
                <a:lnTo>
                  <a:pt x="1780908" y="1235259"/>
                </a:lnTo>
                <a:close/>
              </a:path>
            </a:pathLst>
          </a:custGeom>
          <a:solidFill xmlns:a="http://schemas.openxmlformats.org/drawingml/2006/main">
            <a:srgbClr val="64884C"/>
          </a:solidFill>
          <a:ln xmlns:a="http://schemas.openxmlformats.org/drawingml/2006/main" w="0">
            <a:noFill/>
          </a:ln>
        </p:spPr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9EC3D713-E822-470B-8ADC-CF233EDD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862" y="1516380"/>
            <a:ext cx="1843060" cy="1844040"/>
          </a:xfrm>
          <a:custGeom xmlns:a="http://schemas.openxmlformats.org/drawingml/2006/main">
            <a:pathLst>
              <a:path w="2408777" h="2410058">
                <a:moveTo>
                  <a:pt x="1141356" y="2408406"/>
                </a:moveTo>
                <a:lnTo>
                  <a:pt x="1057611" y="2401076"/>
                </a:lnTo>
                <a:lnTo>
                  <a:pt x="974580" y="2387918"/>
                </a:lnTo>
                <a:lnTo>
                  <a:pt x="892670" y="2368997"/>
                </a:lnTo>
                <a:lnTo>
                  <a:pt x="812278" y="2344406"/>
                </a:lnTo>
                <a:lnTo>
                  <a:pt x="733796" y="2314264"/>
                </a:lnTo>
                <a:lnTo>
                  <a:pt x="657608" y="2278718"/>
                </a:lnTo>
                <a:lnTo>
                  <a:pt x="584083" y="2237940"/>
                </a:lnTo>
                <a:lnTo>
                  <a:pt x="513580" y="2192131"/>
                </a:lnTo>
                <a:lnTo>
                  <a:pt x="446442" y="2141512"/>
                </a:lnTo>
                <a:lnTo>
                  <a:pt x="382998" y="2086331"/>
                </a:lnTo>
                <a:lnTo>
                  <a:pt x="323555" y="2026857"/>
                </a:lnTo>
                <a:lnTo>
                  <a:pt x="268403" y="1963378"/>
                </a:lnTo>
                <a:lnTo>
                  <a:pt x="217811" y="1896205"/>
                </a:lnTo>
                <a:lnTo>
                  <a:pt x="172026" y="1825665"/>
                </a:lnTo>
                <a:lnTo>
                  <a:pt x="131271" y="1752101"/>
                </a:lnTo>
                <a:lnTo>
                  <a:pt x="95743" y="1675871"/>
                </a:lnTo>
                <a:lnTo>
                  <a:pt x="65617" y="1597348"/>
                </a:lnTo>
                <a:lnTo>
                  <a:pt x="41039" y="1516913"/>
                </a:lnTo>
                <a:lnTo>
                  <a:pt x="22128" y="1434959"/>
                </a:lnTo>
                <a:lnTo>
                  <a:pt x="8977" y="1351885"/>
                </a:lnTo>
                <a:lnTo>
                  <a:pt x="1651" y="1268095"/>
                </a:lnTo>
                <a:lnTo>
                  <a:pt x="1651" y="1268095"/>
                </a:lnTo>
                <a:lnTo>
                  <a:pt x="627870" y="1235259"/>
                </a:lnTo>
                <a:lnTo>
                  <a:pt x="631382" y="1275423"/>
                </a:lnTo>
                <a:lnTo>
                  <a:pt x="637685" y="1315243"/>
                </a:lnTo>
                <a:lnTo>
                  <a:pt x="646750" y="1354527"/>
                </a:lnTo>
                <a:lnTo>
                  <a:pt x="658531" y="1393083"/>
                </a:lnTo>
                <a:lnTo>
                  <a:pt x="672972" y="1430722"/>
                </a:lnTo>
                <a:lnTo>
                  <a:pt x="690001" y="1467262"/>
                </a:lnTo>
                <a:lnTo>
                  <a:pt x="709537" y="1502524"/>
                </a:lnTo>
                <a:lnTo>
                  <a:pt x="731484" y="1536337"/>
                </a:lnTo>
                <a:lnTo>
                  <a:pt x="755734" y="1568535"/>
                </a:lnTo>
                <a:lnTo>
                  <a:pt x="782171" y="1598963"/>
                </a:lnTo>
                <a:lnTo>
                  <a:pt x="810664" y="1627471"/>
                </a:lnTo>
                <a:lnTo>
                  <a:pt x="841076" y="1653922"/>
                </a:lnTo>
                <a:lnTo>
                  <a:pt x="873257" y="1678185"/>
                </a:lnTo>
                <a:lnTo>
                  <a:pt x="907052" y="1700143"/>
                </a:lnTo>
                <a:lnTo>
                  <a:pt x="942295" y="1719690"/>
                </a:lnTo>
                <a:lnTo>
                  <a:pt x="978816" y="1736728"/>
                </a:lnTo>
                <a:lnTo>
                  <a:pt x="1016435" y="1751177"/>
                </a:lnTo>
                <a:lnTo>
                  <a:pt x="1054970" y="1762964"/>
                </a:lnTo>
                <a:lnTo>
                  <a:pt x="1094233" y="1772034"/>
                </a:lnTo>
                <a:lnTo>
                  <a:pt x="1134032" y="1778341"/>
                </a:lnTo>
                <a:lnTo>
                  <a:pt x="1174175" y="1781854"/>
                </a:lnTo>
                <a:close/>
              </a:path>
            </a:pathLst>
          </a:custGeom>
          <a:solidFill xmlns:a="http://schemas.openxmlformats.org/drawingml/2006/main">
            <a:srgbClr val="64884C"/>
          </a:solidFill>
          <a:ln xmlns:a="http://schemas.openxmlformats.org/drawingml/2006/main" w="0">
            <a:noFill/>
          </a:ln>
        </p:spPr>
      </p:sp>
      <p:sp>
        <p:nvSpPr>
          <p:cNvPr id="13" name="结构-13">
            <a:extLst xmlns:a="http://schemas.openxmlformats.org/drawingml/2006/main">
              <a:ext uri="{FF2B5EF4-FFF2-40B4-BE49-F238E27FC236}">
                <a16:creationId xmlns:a16="http://schemas.microsoft.com/office/drawing/2014/main" id="{E8F6C9E1-7BB7-4CEC-858F-D9B51B32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862" y="1516380"/>
            <a:ext cx="1843060" cy="1844040"/>
          </a:xfrm>
          <a:custGeom xmlns:a="http://schemas.openxmlformats.org/drawingml/2006/main">
            <a:pathLst>
              <a:path w="2408777" h="2410058">
                <a:moveTo>
                  <a:pt x="1651" y="1141963"/>
                </a:moveTo>
                <a:lnTo>
                  <a:pt x="8977" y="1058173"/>
                </a:lnTo>
                <a:lnTo>
                  <a:pt x="22128" y="975099"/>
                </a:lnTo>
                <a:lnTo>
                  <a:pt x="41039" y="893144"/>
                </a:lnTo>
                <a:lnTo>
                  <a:pt x="65617" y="812710"/>
                </a:lnTo>
                <a:lnTo>
                  <a:pt x="95743" y="734187"/>
                </a:lnTo>
                <a:lnTo>
                  <a:pt x="131271" y="657957"/>
                </a:lnTo>
                <a:lnTo>
                  <a:pt x="172026" y="584393"/>
                </a:lnTo>
                <a:lnTo>
                  <a:pt x="217811" y="513853"/>
                </a:lnTo>
                <a:lnTo>
                  <a:pt x="268403" y="446680"/>
                </a:lnTo>
                <a:lnTo>
                  <a:pt x="323555" y="383201"/>
                </a:lnTo>
                <a:lnTo>
                  <a:pt x="382998" y="323727"/>
                </a:lnTo>
                <a:lnTo>
                  <a:pt x="446442" y="268546"/>
                </a:lnTo>
                <a:lnTo>
                  <a:pt x="513580" y="217927"/>
                </a:lnTo>
                <a:lnTo>
                  <a:pt x="584083" y="172118"/>
                </a:lnTo>
                <a:lnTo>
                  <a:pt x="657608" y="131340"/>
                </a:lnTo>
                <a:lnTo>
                  <a:pt x="733796" y="95794"/>
                </a:lnTo>
                <a:lnTo>
                  <a:pt x="812278" y="65652"/>
                </a:lnTo>
                <a:lnTo>
                  <a:pt x="892670" y="41060"/>
                </a:lnTo>
                <a:lnTo>
                  <a:pt x="974580" y="22140"/>
                </a:lnTo>
                <a:lnTo>
                  <a:pt x="1057611" y="8982"/>
                </a:lnTo>
                <a:lnTo>
                  <a:pt x="1141356" y="1651"/>
                </a:lnTo>
                <a:lnTo>
                  <a:pt x="1141356" y="1651"/>
                </a:lnTo>
                <a:lnTo>
                  <a:pt x="1174175" y="628203"/>
                </a:lnTo>
                <a:lnTo>
                  <a:pt x="1134032" y="631717"/>
                </a:lnTo>
                <a:lnTo>
                  <a:pt x="1094233" y="638024"/>
                </a:lnTo>
                <a:lnTo>
                  <a:pt x="1054970" y="647094"/>
                </a:lnTo>
                <a:lnTo>
                  <a:pt x="1016435" y="658881"/>
                </a:lnTo>
                <a:lnTo>
                  <a:pt x="978816" y="673330"/>
                </a:lnTo>
                <a:lnTo>
                  <a:pt x="942295" y="690368"/>
                </a:lnTo>
                <a:lnTo>
                  <a:pt x="907052" y="709914"/>
                </a:lnTo>
                <a:lnTo>
                  <a:pt x="873257" y="731873"/>
                </a:lnTo>
                <a:lnTo>
                  <a:pt x="841076" y="756136"/>
                </a:lnTo>
                <a:lnTo>
                  <a:pt x="810664" y="782586"/>
                </a:lnTo>
                <a:lnTo>
                  <a:pt x="782171" y="811095"/>
                </a:lnTo>
                <a:lnTo>
                  <a:pt x="755734" y="841523"/>
                </a:lnTo>
                <a:lnTo>
                  <a:pt x="731484" y="873721"/>
                </a:lnTo>
                <a:lnTo>
                  <a:pt x="709537" y="907534"/>
                </a:lnTo>
                <a:lnTo>
                  <a:pt x="690001" y="942796"/>
                </a:lnTo>
                <a:lnTo>
                  <a:pt x="672972" y="979336"/>
                </a:lnTo>
                <a:lnTo>
                  <a:pt x="658531" y="1016975"/>
                </a:lnTo>
                <a:lnTo>
                  <a:pt x="646750" y="1055531"/>
                </a:lnTo>
                <a:lnTo>
                  <a:pt x="637685" y="1094814"/>
                </a:lnTo>
                <a:lnTo>
                  <a:pt x="631382" y="1134635"/>
                </a:lnTo>
                <a:lnTo>
                  <a:pt x="627870" y="1174799"/>
                </a:lnTo>
                <a:close/>
              </a:path>
            </a:pathLst>
          </a:custGeom>
          <a:solidFill xmlns:a="http://schemas.openxmlformats.org/drawingml/2006/main">
            <a:srgbClr val="64884C"/>
          </a:solidFill>
          <a:ln xmlns:a="http://schemas.openxmlformats.org/drawingml/2006/main" w="0">
            <a:noFill/>
          </a:ln>
        </p:spPr>
      </p:sp>
      <p:sp>
        <p:nvSpPr>
          <p:cNvPr id="14" name="结构-14">
            <a:extLst xmlns:a="http://schemas.openxmlformats.org/drawingml/2006/main">
              <a:ext uri="{FF2B5EF4-FFF2-40B4-BE49-F238E27FC236}">
                <a16:creationId xmlns:a16="http://schemas.microsoft.com/office/drawing/2014/main" id="{33F4B93C-A85F-472E-B1B0-2397B664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862" y="1516380"/>
            <a:ext cx="1843060" cy="1844040"/>
          </a:xfrm>
          <a:custGeom xmlns:a="http://schemas.openxmlformats.org/drawingml/2006/main">
            <a:pathLst>
              <a:path w="2408777" h="2410058">
                <a:moveTo>
                  <a:pt x="1267421" y="1651"/>
                </a:moveTo>
                <a:lnTo>
                  <a:pt x="1351167" y="8982"/>
                </a:lnTo>
                <a:lnTo>
                  <a:pt x="1434197" y="22140"/>
                </a:lnTo>
                <a:lnTo>
                  <a:pt x="1516107" y="41060"/>
                </a:lnTo>
                <a:lnTo>
                  <a:pt x="1596499" y="65652"/>
                </a:lnTo>
                <a:lnTo>
                  <a:pt x="1674981" y="95794"/>
                </a:lnTo>
                <a:lnTo>
                  <a:pt x="1751170" y="131340"/>
                </a:lnTo>
                <a:lnTo>
                  <a:pt x="1824695" y="172118"/>
                </a:lnTo>
                <a:lnTo>
                  <a:pt x="1895198" y="217927"/>
                </a:lnTo>
                <a:lnTo>
                  <a:pt x="1962335" y="268546"/>
                </a:lnTo>
                <a:lnTo>
                  <a:pt x="2025780" y="323727"/>
                </a:lnTo>
                <a:lnTo>
                  <a:pt x="2085223" y="383201"/>
                </a:lnTo>
                <a:lnTo>
                  <a:pt x="2140374" y="446680"/>
                </a:lnTo>
                <a:lnTo>
                  <a:pt x="2190966" y="513853"/>
                </a:lnTo>
                <a:lnTo>
                  <a:pt x="2236751" y="584393"/>
                </a:lnTo>
                <a:lnTo>
                  <a:pt x="2277507" y="657957"/>
                </a:lnTo>
                <a:lnTo>
                  <a:pt x="2313034" y="734187"/>
                </a:lnTo>
                <a:lnTo>
                  <a:pt x="2343160" y="812710"/>
                </a:lnTo>
                <a:lnTo>
                  <a:pt x="2367739" y="893144"/>
                </a:lnTo>
                <a:lnTo>
                  <a:pt x="2386649" y="975099"/>
                </a:lnTo>
                <a:lnTo>
                  <a:pt x="2399800" y="1058173"/>
                </a:lnTo>
                <a:lnTo>
                  <a:pt x="2407127" y="1141963"/>
                </a:lnTo>
                <a:lnTo>
                  <a:pt x="2407127" y="1141963"/>
                </a:lnTo>
                <a:lnTo>
                  <a:pt x="1780908" y="1174799"/>
                </a:lnTo>
                <a:lnTo>
                  <a:pt x="1777396" y="1134635"/>
                </a:lnTo>
                <a:lnTo>
                  <a:pt x="1771092" y="1094814"/>
                </a:lnTo>
                <a:lnTo>
                  <a:pt x="1762028" y="1055531"/>
                </a:lnTo>
                <a:lnTo>
                  <a:pt x="1750246" y="1016975"/>
                </a:lnTo>
                <a:lnTo>
                  <a:pt x="1735806" y="979336"/>
                </a:lnTo>
                <a:lnTo>
                  <a:pt x="1718776" y="942796"/>
                </a:lnTo>
                <a:lnTo>
                  <a:pt x="1699240" y="907534"/>
                </a:lnTo>
                <a:lnTo>
                  <a:pt x="1677293" y="873721"/>
                </a:lnTo>
                <a:lnTo>
                  <a:pt x="1653043" y="841523"/>
                </a:lnTo>
                <a:lnTo>
                  <a:pt x="1626607" y="811095"/>
                </a:lnTo>
                <a:lnTo>
                  <a:pt x="1598113" y="782586"/>
                </a:lnTo>
                <a:lnTo>
                  <a:pt x="1567702" y="756136"/>
                </a:lnTo>
                <a:lnTo>
                  <a:pt x="1535520" y="731873"/>
                </a:lnTo>
                <a:lnTo>
                  <a:pt x="1501725" y="709914"/>
                </a:lnTo>
                <a:lnTo>
                  <a:pt x="1466482" y="690368"/>
                </a:lnTo>
                <a:lnTo>
                  <a:pt x="1429962" y="673330"/>
                </a:lnTo>
                <a:lnTo>
                  <a:pt x="1392342" y="658881"/>
                </a:lnTo>
                <a:lnTo>
                  <a:pt x="1353808" y="647094"/>
                </a:lnTo>
                <a:lnTo>
                  <a:pt x="1314545" y="638024"/>
                </a:lnTo>
                <a:lnTo>
                  <a:pt x="1274745" y="631717"/>
                </a:lnTo>
                <a:lnTo>
                  <a:pt x="1234603" y="628203"/>
                </a:lnTo>
                <a:close/>
              </a:path>
            </a:pathLst>
          </a:custGeom>
          <a:solidFill xmlns:a="http://schemas.openxmlformats.org/drawingml/2006/main">
            <a:srgbClr val="64884C"/>
          </a:solidFill>
          <a:ln xmlns:a="http://schemas.openxmlformats.org/drawingml/2006/main" w="0">
            <a:noFill/>
          </a:ln>
        </p:spPr>
      </p:sp>
      <p:sp>
        <p:nvSpPr>
          <p:cNvPr id="15" name="文字-15-关键技术">
            <a:extLst xmlns:a="http://schemas.openxmlformats.org/drawingml/2006/main">
              <a:ext uri="{FF2B5EF4-FFF2-40B4-BE49-F238E27FC236}">
                <a16:creationId xmlns:a16="http://schemas.microsoft.com/office/drawing/2014/main" id="{43449EA6-A3A5-4003-98F8-B3B5324F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052" y="2004060"/>
            <a:ext cx="898682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7A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</a:t>
            </a:r>
          </a:p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16" name="文字-16-结构问题">
            <a:extLst xmlns:a="http://schemas.openxmlformats.org/drawingml/2006/main">
              <a:ext uri="{FF2B5EF4-FFF2-40B4-BE49-F238E27FC236}">
                <a16:creationId xmlns:a16="http://schemas.microsoft.com/office/drawing/2014/main" id="{F80CD78F-0D8E-4B62-BED6-537EDCC0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945" y="2087880"/>
            <a:ext cx="990073" cy="899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8CA06C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7" name="文字-17-表示问题">
            <a:extLst xmlns:a="http://schemas.openxmlformats.org/drawingml/2006/main">
              <a:ext uri="{FF2B5EF4-FFF2-40B4-BE49-F238E27FC236}">
                <a16:creationId xmlns:a16="http://schemas.microsoft.com/office/drawing/2014/main" id="{BB8BED3F-1A65-48E5-9B6A-DB89D7BC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330" y="2087880"/>
            <a:ext cx="990073" cy="899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8CA06C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rPr>
              <a:t>表示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8" name="文字-18-验证问题">
            <a:extLst xmlns:a="http://schemas.openxmlformats.org/drawingml/2006/main">
              <a:ext uri="{FF2B5EF4-FFF2-40B4-BE49-F238E27FC236}">
                <a16:creationId xmlns:a16="http://schemas.microsoft.com/office/drawing/2014/main" id="{9CAABC6D-B2C1-42B9-B1C4-8CDE2A16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3715" y="2087880"/>
            <a:ext cx="990073" cy="899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8CA06C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4884C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9" name="文字-19-说明问题间的联系">
            <a:extLst xmlns:a="http://schemas.openxmlformats.org/drawingml/2006/main">
              <a:ext uri="{FF2B5EF4-FFF2-40B4-BE49-F238E27FC236}">
                <a16:creationId xmlns:a16="http://schemas.microsoft.com/office/drawing/2014/main" id="{AB7C06B5-AD3C-4729-AC3A-D747C7B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865" y="1310640"/>
            <a:ext cx="3206315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64884C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问题间的关联</a:t>
            </a:r>
          </a:p>
        </p:txBody>
      </p:sp>
      <p:sp>
        <p:nvSpPr>
          <p:cNvPr id="20" name="文字-20-说明验证要求与边界">
            <a:extLst xmlns:a="http://schemas.openxmlformats.org/drawingml/2006/main">
              <a:ext uri="{FF2B5EF4-FFF2-40B4-BE49-F238E27FC236}">
                <a16:creationId xmlns:a16="http://schemas.microsoft.com/office/drawing/2014/main" id="{8EAEC645-0CD0-4627-B93D-2A2464AC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865" y="3215640"/>
            <a:ext cx="3206315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64884C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验证要求与适用边界</a:t>
            </a:r>
          </a:p>
        </p:txBody>
      </p:sp>
      <p:sp>
        <p:nvSpPr>
          <p:cNvPr id="21" name="对象-21">
            <a:extLst xmlns:a="http://schemas.openxmlformats.org/drawingml/2006/main">
              <a:ext uri="{FF2B5EF4-FFF2-40B4-BE49-F238E27FC236}">
                <a16:creationId xmlns:a16="http://schemas.microsoft.com/office/drawing/2014/main" id="{93F5B659-366E-44A8-B952-72638326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4152900"/>
            <a:ext cx="11454390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B9490"/>
            </a:solidFill>
            <a:prstDash val="solid"/>
          </a:ln>
        </p:spPr>
      </p:sp>
      <p:sp>
        <p:nvSpPr>
          <p:cNvPr id="22" name="文字-22-数据资源一">
            <a:extLst xmlns:a="http://schemas.openxmlformats.org/drawingml/2006/main">
              <a:ext uri="{FF2B5EF4-FFF2-40B4-BE49-F238E27FC236}">
                <a16:creationId xmlns:a16="http://schemas.microsoft.com/office/drawing/2014/main" id="{B07B1941-6CD7-4F96-81C3-FBB3C0E4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08" y="4282440"/>
            <a:ext cx="1317559" cy="46482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64884C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数据资源一</a:t>
            </a:r>
          </a:p>
        </p:txBody>
      </p:sp>
      <p:sp>
        <p:nvSpPr>
          <p:cNvPr id="23" name="文字-23-数据资源二">
            <a:extLst xmlns:a="http://schemas.openxmlformats.org/drawingml/2006/main">
              <a:ext uri="{FF2B5EF4-FFF2-40B4-BE49-F238E27FC236}">
                <a16:creationId xmlns:a16="http://schemas.microsoft.com/office/drawing/2014/main" id="{F93789AC-965A-4A45-89A7-C2408D90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08" y="4892040"/>
            <a:ext cx="1317559" cy="46482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64884C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数据资源二</a:t>
            </a:r>
          </a:p>
        </p:txBody>
      </p:sp>
      <p:sp>
        <p:nvSpPr>
          <p:cNvPr id="24" name="文字-24-数据资源三">
            <a:extLst xmlns:a="http://schemas.openxmlformats.org/drawingml/2006/main">
              <a:ext uri="{FF2B5EF4-FFF2-40B4-BE49-F238E27FC236}">
                <a16:creationId xmlns:a16="http://schemas.microsoft.com/office/drawing/2014/main" id="{98587675-46B0-479D-9945-CE5DBF2D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08" y="5501640"/>
            <a:ext cx="1317559" cy="46482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64884C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数据资源三</a:t>
            </a:r>
          </a:p>
        </p:txBody>
      </p:sp>
      <p:sp>
        <p:nvSpPr>
          <p:cNvPr id="25" name="文字-25-填写方法构建与功能分析">
            <a:extLst xmlns:a="http://schemas.openxmlformats.org/drawingml/2006/main">
              <a:ext uri="{FF2B5EF4-FFF2-40B4-BE49-F238E27FC236}">
                <a16:creationId xmlns:a16="http://schemas.microsoft.com/office/drawing/2014/main" id="{80FE7147-9DB5-4B72-944C-88910D7A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626" y="4320540"/>
            <a:ext cx="2718894" cy="579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90AAB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方法构建与功能分析</a:t>
            </a:r>
          </a:p>
        </p:txBody>
      </p:sp>
      <p:sp>
        <p:nvSpPr>
          <p:cNvPr id="26" name="文字-26-方法与多源信息融合">
            <a:extLst xmlns:a="http://schemas.openxmlformats.org/drawingml/2006/main">
              <a:ext uri="{FF2B5EF4-FFF2-40B4-BE49-F238E27FC236}">
                <a16:creationId xmlns:a16="http://schemas.microsoft.com/office/drawing/2014/main" id="{3894793F-DF1A-457D-A89E-2144BB6D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626" y="5029200"/>
            <a:ext cx="2718894" cy="434340"/>
          </a:xfrm>
          <a:prstGeom xmlns:a="http://schemas.openxmlformats.org/drawingml/2006/main" prst="roundRect">
            <a:avLst>
              <a:gd name="adj" fmla="val 13424"/>
            </a:avLst>
          </a:prstGeom>
          <a:solidFill xmlns:a="http://schemas.openxmlformats.org/drawingml/2006/main">
            <a:srgbClr val="AC111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方法与多源信息融合</a:t>
            </a:r>
          </a:p>
        </p:txBody>
      </p:sp>
      <p:sp>
        <p:nvSpPr>
          <p:cNvPr id="27" name="文字-27-说明所揭示的规律或作用">
            <a:extLst xmlns:a="http://schemas.openxmlformats.org/drawingml/2006/main">
              <a:ext uri="{FF2B5EF4-FFF2-40B4-BE49-F238E27FC236}">
                <a16:creationId xmlns:a16="http://schemas.microsoft.com/office/drawing/2014/main" id="{9B96F128-9079-480C-8610-58C998D2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626" y="5646420"/>
            <a:ext cx="2718894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64884C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所揭示的规律或作用</a:t>
            </a:r>
          </a:p>
        </p:txBody>
      </p:sp>
      <p:sp>
        <p:nvSpPr>
          <p:cNvPr id="28" name="文字-28-研究模型">
            <a:extLst xmlns:a="http://schemas.openxmlformats.org/drawingml/2006/main">
              <a:ext uri="{FF2B5EF4-FFF2-40B4-BE49-F238E27FC236}">
                <a16:creationId xmlns:a16="http://schemas.microsoft.com/office/drawing/2014/main" id="{4B859D1A-D692-43E1-9B76-09D5AE1A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390" y="4846320"/>
            <a:ext cx="1317559" cy="1318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  <a:p xmlns:a="http://schemas.openxmlformats.org/drawingml/2006/main">
            <a:pPr algn="ctr">
              <a:buNone/>
              <a:defRPr sz="21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29" name="连线-29">
            <a:extLst xmlns:a="http://schemas.openxmlformats.org/drawingml/2006/main">
              <a:ext uri="{FF2B5EF4-FFF2-40B4-BE49-F238E27FC236}">
                <a16:creationId xmlns:a16="http://schemas.microsoft.com/office/drawing/2014/main" id="{2750DBD9-318B-4AD5-810D-08684825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85064" y="5318760"/>
            <a:ext cx="167551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6440">
            <a:solidFill>
              <a:srgbClr val="1979B5"/>
            </a:solidFill>
            <a:prstDash val="solid"/>
          </a:ln>
        </p:spPr>
      </p:sp>
      <p:sp>
        <p:nvSpPr>
          <p:cNvPr id="30" name="结构-30">
            <a:extLst xmlns:a="http://schemas.openxmlformats.org/drawingml/2006/main">
              <a:ext uri="{FF2B5EF4-FFF2-40B4-BE49-F238E27FC236}">
                <a16:creationId xmlns:a16="http://schemas.microsoft.com/office/drawing/2014/main" id="{11B2F01F-A404-4A5B-9EFD-B5FDC8A0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144" y="5261610"/>
            <a:ext cx="129471" cy="114300"/>
          </a:xfrm>
          <a:custGeom xmlns:a="http://schemas.openxmlformats.org/drawingml/2006/main">
            <a:pathLst>
              <a:path w="169212" h="149384">
                <a:moveTo>
                  <a:pt x="169212" y="74692"/>
                </a:moveTo>
                <a:lnTo>
                  <a:pt x="0" y="0"/>
                </a:lnTo>
                <a:lnTo>
                  <a:pt x="0" y="149384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31" name="对象-31">
            <a:extLst xmlns:a="http://schemas.openxmlformats.org/drawingml/2006/main">
              <a:ext uri="{FF2B5EF4-FFF2-40B4-BE49-F238E27FC236}">
                <a16:creationId xmlns:a16="http://schemas.microsoft.com/office/drawing/2014/main" id="{614B42B0-BBC6-4541-8510-DC5015A0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44" y="4328160"/>
            <a:ext cx="555965" cy="181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文字-32-研">
            <a:extLst xmlns:a="http://schemas.openxmlformats.org/drawingml/2006/main">
              <a:ext uri="{FF2B5EF4-FFF2-40B4-BE49-F238E27FC236}">
                <a16:creationId xmlns:a16="http://schemas.microsoft.com/office/drawing/2014/main" id="{74D081C5-2FF2-4F58-8555-5E2CA1D7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44" y="4328160"/>
            <a:ext cx="555965" cy="20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</a:t>
            </a:r>
          </a:p>
        </p:txBody>
      </p:sp>
      <p:sp>
        <p:nvSpPr>
          <p:cNvPr id="33" name="文字-33-究">
            <a:extLst xmlns:a="http://schemas.openxmlformats.org/drawingml/2006/main">
              <a:ext uri="{FF2B5EF4-FFF2-40B4-BE49-F238E27FC236}">
                <a16:creationId xmlns:a16="http://schemas.microsoft.com/office/drawing/2014/main" id="{0FF92123-C2D0-4F60-BAA3-8098B57A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44" y="4529667"/>
            <a:ext cx="555965" cy="20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究</a:t>
            </a:r>
          </a:p>
        </p:txBody>
      </p:sp>
      <p:sp>
        <p:nvSpPr>
          <p:cNvPr id="34" name="文字-34-方">
            <a:extLst xmlns:a="http://schemas.openxmlformats.org/drawingml/2006/main">
              <a:ext uri="{FF2B5EF4-FFF2-40B4-BE49-F238E27FC236}">
                <a16:creationId xmlns:a16="http://schemas.microsoft.com/office/drawing/2014/main" id="{581CA780-C37A-4926-BAC4-61E5BDC9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44" y="4731174"/>
            <a:ext cx="555965" cy="20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方</a:t>
            </a:r>
          </a:p>
        </p:txBody>
      </p:sp>
      <p:sp>
        <p:nvSpPr>
          <p:cNvPr id="35" name="文字-35-法">
            <a:extLst xmlns:a="http://schemas.openxmlformats.org/drawingml/2006/main">
              <a:ext uri="{FF2B5EF4-FFF2-40B4-BE49-F238E27FC236}">
                <a16:creationId xmlns:a16="http://schemas.microsoft.com/office/drawing/2014/main" id="{9D3DB4C5-389A-4BD8-95FC-8ECDF50D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44" y="4932680"/>
            <a:ext cx="555965" cy="20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法</a:t>
            </a:r>
          </a:p>
        </p:txBody>
      </p:sp>
      <p:sp>
        <p:nvSpPr>
          <p:cNvPr id="36" name="文字-36-与">
            <a:extLst xmlns:a="http://schemas.openxmlformats.org/drawingml/2006/main">
              <a:ext uri="{FF2B5EF4-FFF2-40B4-BE49-F238E27FC236}">
                <a16:creationId xmlns:a16="http://schemas.microsoft.com/office/drawing/2014/main" id="{FEBCFE59-AD5D-4833-9980-146ACE4E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44" y="5134187"/>
            <a:ext cx="555965" cy="20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与</a:t>
            </a:r>
          </a:p>
        </p:txBody>
      </p:sp>
      <p:sp>
        <p:nvSpPr>
          <p:cNvPr id="37" name="文字-37-模">
            <a:extLst xmlns:a="http://schemas.openxmlformats.org/drawingml/2006/main">
              <a:ext uri="{FF2B5EF4-FFF2-40B4-BE49-F238E27FC236}">
                <a16:creationId xmlns:a16="http://schemas.microsoft.com/office/drawing/2014/main" id="{FD230FF6-694B-42FE-BD57-BE162F49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44" y="5335694"/>
            <a:ext cx="555965" cy="20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模</a:t>
            </a:r>
          </a:p>
        </p:txBody>
      </p:sp>
      <p:sp>
        <p:nvSpPr>
          <p:cNvPr id="38" name="文字-38-型">
            <a:extLst xmlns:a="http://schemas.openxmlformats.org/drawingml/2006/main">
              <a:ext uri="{FF2B5EF4-FFF2-40B4-BE49-F238E27FC236}">
                <a16:creationId xmlns:a16="http://schemas.microsoft.com/office/drawing/2014/main" id="{B9E274E6-C195-43EB-8A9F-9A1AAFDB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44" y="5537200"/>
            <a:ext cx="555965" cy="20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型</a:t>
            </a:r>
          </a:p>
        </p:txBody>
      </p:sp>
      <p:sp>
        <p:nvSpPr>
          <p:cNvPr id="39" name="文字-39-构">
            <a:extLst xmlns:a="http://schemas.openxmlformats.org/drawingml/2006/main">
              <a:ext uri="{FF2B5EF4-FFF2-40B4-BE49-F238E27FC236}">
                <a16:creationId xmlns:a16="http://schemas.microsoft.com/office/drawing/2014/main" id="{EA319E28-E36D-42C6-A467-D8457A28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44" y="5738707"/>
            <a:ext cx="555965" cy="20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构</a:t>
            </a:r>
          </a:p>
        </p:txBody>
      </p:sp>
      <p:sp>
        <p:nvSpPr>
          <p:cNvPr id="40" name="文字-40-建">
            <a:extLst xmlns:a="http://schemas.openxmlformats.org/drawingml/2006/main">
              <a:ext uri="{FF2B5EF4-FFF2-40B4-BE49-F238E27FC236}">
                <a16:creationId xmlns:a16="http://schemas.microsoft.com/office/drawing/2014/main" id="{A8CC6B89-BECC-4394-8819-F324006C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0044" y="5940213"/>
            <a:ext cx="555965" cy="20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建</a:t>
            </a:r>
          </a:p>
        </p:txBody>
      </p:sp>
      <p:sp>
        <p:nvSpPr>
          <p:cNvPr id="41" name="连线-41">
            <a:extLst xmlns:a="http://schemas.openxmlformats.org/drawingml/2006/main">
              <a:ext uri="{FF2B5EF4-FFF2-40B4-BE49-F238E27FC236}">
                <a16:creationId xmlns:a16="http://schemas.microsoft.com/office/drawing/2014/main" id="{42EC60E1-E111-46F7-A0E7-CD2781BC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5480" y="5273040"/>
            <a:ext cx="23609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AC111A"/>
            </a:solidFill>
            <a:prstDash val="dash"/>
          </a:ln>
        </p:spPr>
      </p:sp>
      <p:sp>
        <p:nvSpPr>
          <p:cNvPr id="42" name="结构-42">
            <a:extLst xmlns:a="http://schemas.openxmlformats.org/drawingml/2006/main">
              <a:ext uri="{FF2B5EF4-FFF2-40B4-BE49-F238E27FC236}">
                <a16:creationId xmlns:a16="http://schemas.microsoft.com/office/drawing/2014/main" id="{0BF5303E-9284-4FEF-B729-6F503127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7335" y="5223510"/>
            <a:ext cx="114239" cy="99060"/>
          </a:xfrm>
          <a:custGeom xmlns:a="http://schemas.openxmlformats.org/drawingml/2006/main">
            <a:pathLst>
              <a:path w="149304" h="129466">
                <a:moveTo>
                  <a:pt x="149304" y="64733"/>
                </a:moveTo>
                <a:lnTo>
                  <a:pt x="0" y="0"/>
                </a:lnTo>
                <a:lnTo>
                  <a:pt x="0" y="129466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43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F4D1D20A-3913-4218-B2C1-F3EBE26F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582" y="4373880"/>
            <a:ext cx="2528496" cy="1379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44" name="文字-44-填写模型或系统名称">
            <a:extLst xmlns:a="http://schemas.openxmlformats.org/drawingml/2006/main">
              <a:ext uri="{FF2B5EF4-FFF2-40B4-BE49-F238E27FC236}">
                <a16:creationId xmlns:a16="http://schemas.microsoft.com/office/drawing/2014/main" id="{C17BFCEE-C071-48AC-A729-BB0A5F09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582" y="5821680"/>
            <a:ext cx="2528496" cy="32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模型或系统名称</a:t>
            </a:r>
          </a:p>
        </p:txBody>
      </p:sp>
      <p:sp>
        <p:nvSpPr>
          <p:cNvPr id="45" name="连线-45">
            <a:extLst xmlns:a="http://schemas.openxmlformats.org/drawingml/2006/main">
              <a:ext uri="{FF2B5EF4-FFF2-40B4-BE49-F238E27FC236}">
                <a16:creationId xmlns:a16="http://schemas.microsoft.com/office/drawing/2014/main" id="{C5EB01EE-0304-4002-8D2D-FD2A235D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300005" y="5273040"/>
            <a:ext cx="289406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AC111A"/>
            </a:solidFill>
            <a:prstDash val="dash"/>
          </a:ln>
        </p:spPr>
      </p:sp>
      <p:sp>
        <p:nvSpPr>
          <p:cNvPr id="46" name="结构-46">
            <a:extLst xmlns:a="http://schemas.openxmlformats.org/drawingml/2006/main">
              <a:ext uri="{FF2B5EF4-FFF2-40B4-BE49-F238E27FC236}">
                <a16:creationId xmlns:a16="http://schemas.microsoft.com/office/drawing/2014/main" id="{274382D3-A573-4BB7-A12C-52CA2792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171" y="5223510"/>
            <a:ext cx="114239" cy="99060"/>
          </a:xfrm>
          <a:custGeom xmlns:a="http://schemas.openxmlformats.org/drawingml/2006/main">
            <a:pathLst>
              <a:path w="149304" h="129466">
                <a:moveTo>
                  <a:pt x="149304" y="64733"/>
                </a:moveTo>
                <a:lnTo>
                  <a:pt x="0" y="0"/>
                </a:lnTo>
                <a:lnTo>
                  <a:pt x="0" y="129466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47" name="对象-47">
            <a:extLst xmlns:a="http://schemas.openxmlformats.org/drawingml/2006/main">
              <a:ext uri="{FF2B5EF4-FFF2-40B4-BE49-F238E27FC236}">
                <a16:creationId xmlns:a16="http://schemas.microsoft.com/office/drawing/2014/main" id="{A69003E2-470D-4BBF-8492-2CA3B87D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8419" y="4328160"/>
            <a:ext cx="875834" cy="1813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文字-50-研">
            <a:extLst xmlns:a="http://schemas.openxmlformats.org/drawingml/2006/main">
              <a:ext uri="{FF2B5EF4-FFF2-40B4-BE49-F238E27FC236}">
                <a16:creationId xmlns:a16="http://schemas.microsoft.com/office/drawing/2014/main" id="{4D61B315-8FF5-4FE2-BB1D-207EDEE1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6482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研</a:t>
            </a:r>
          </a:p>
        </p:txBody>
      </p:sp>
      <p:sp>
        <p:nvSpPr>
          <p:cNvPr id="51" name="文字-51-究">
            <a:extLst xmlns:a="http://schemas.openxmlformats.org/drawingml/2006/main">
              <a:ext uri="{FF2B5EF4-FFF2-40B4-BE49-F238E27FC236}">
                <a16:creationId xmlns:a16="http://schemas.microsoft.com/office/drawing/2014/main" id="{D2FF1929-D2EA-427D-9B36-75D400D3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339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究</a:t>
            </a:r>
          </a:p>
        </p:txBody>
      </p:sp>
      <p:sp>
        <p:nvSpPr>
          <p:cNvPr id="52" name="文字-52-产">
            <a:extLst xmlns:a="http://schemas.openxmlformats.org/drawingml/2006/main">
              <a:ext uri="{FF2B5EF4-FFF2-40B4-BE49-F238E27FC236}">
                <a16:creationId xmlns:a16="http://schemas.microsoft.com/office/drawing/2014/main" id="{2B7DD604-013D-441B-BFDA-244F337C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197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产</a:t>
            </a:r>
          </a:p>
        </p:txBody>
      </p:sp>
      <p:sp>
        <p:nvSpPr>
          <p:cNvPr id="53" name="文字-53-出">
            <a:extLst xmlns:a="http://schemas.openxmlformats.org/drawingml/2006/main">
              <a:ext uri="{FF2B5EF4-FFF2-40B4-BE49-F238E27FC236}">
                <a16:creationId xmlns:a16="http://schemas.microsoft.com/office/drawing/2014/main" id="{A0245247-4B61-4AB9-8F4C-C1366396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5054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出</a:t>
            </a:r>
          </a:p>
        </p:txBody>
      </p:sp>
    </p:spTree>
    <p:extLst>
      <p:ext uri="{BB962C8B-B14F-4D97-AF65-F5344CB8AC3E}">
        <p14:creationId xmlns:p14="http://schemas.microsoft.com/office/powerpoint/2010/main" val="6125088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文字-1-填写研究主题与关键性能目标">
            <a:extLst xmlns:a="http://schemas.openxmlformats.org/drawingml/2006/main">
              <a:ext uri="{FF2B5EF4-FFF2-40B4-BE49-F238E27FC236}">
                <a16:creationId xmlns:a16="http://schemas.microsoft.com/office/drawing/2014/main" id="{9AAE5675-A845-45F3-B0E1-391AD8C3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416" y="472440"/>
            <a:ext cx="9413315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研究主题与关键性能目标</a:t>
            </a:r>
          </a:p>
        </p:txBody>
      </p:sp>
      <p:sp>
        <p:nvSpPr>
          <p:cNvPr id="2" name="文字-2-总体需求与关键问题">
            <a:extLst xmlns:a="http://schemas.openxmlformats.org/drawingml/2006/main">
              <a:ext uri="{FF2B5EF4-FFF2-40B4-BE49-F238E27FC236}">
                <a16:creationId xmlns:a16="http://schemas.microsoft.com/office/drawing/2014/main" id="{0AEC5429-9D6A-446C-8E05-737B7292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21080"/>
            <a:ext cx="1606966" cy="792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总体需求</a:t>
            </a:r>
          </a:p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与关键问题</a:t>
            </a:r>
          </a:p>
        </p:txBody>
      </p:sp>
      <p:sp>
        <p:nvSpPr>
          <p:cNvPr id="3" name="文字-3-构筑方法与实现过程">
            <a:extLst xmlns:a="http://schemas.openxmlformats.org/drawingml/2006/main">
              <a:ext uri="{FF2B5EF4-FFF2-40B4-BE49-F238E27FC236}">
                <a16:creationId xmlns:a16="http://schemas.microsoft.com/office/drawing/2014/main" id="{FEF5A5A8-7A28-4760-824A-3C90F56E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3246120"/>
            <a:ext cx="1606966" cy="792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构筑方法</a:t>
            </a:r>
          </a:p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与实现过程</a:t>
            </a:r>
          </a:p>
        </p:txBody>
      </p:sp>
      <p:sp>
        <p:nvSpPr>
          <p:cNvPr id="4" name="文字-4-作用机理与调控策略">
            <a:extLst xmlns:a="http://schemas.openxmlformats.org/drawingml/2006/main">
              <a:ext uri="{FF2B5EF4-FFF2-40B4-BE49-F238E27FC236}">
                <a16:creationId xmlns:a16="http://schemas.microsoft.com/office/drawing/2014/main" id="{DE73873D-F343-49D8-982A-F0EA8CD1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5471160"/>
            <a:ext cx="1606966" cy="792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作用机理</a:t>
            </a:r>
          </a:p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与调控策略</a:t>
            </a:r>
          </a:p>
        </p:txBody>
      </p:sp>
      <p:sp>
        <p:nvSpPr>
          <p:cNvPr id="5" name="连线-5">
            <a:extLst xmlns:a="http://schemas.openxmlformats.org/drawingml/2006/main">
              <a:ext uri="{FF2B5EF4-FFF2-40B4-BE49-F238E27FC236}">
                <a16:creationId xmlns:a16="http://schemas.microsoft.com/office/drawing/2014/main" id="{959FEB90-F145-4404-AD41-3C850362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3247" y="2042160"/>
            <a:ext cx="729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592">
            <a:solidFill>
              <a:srgbClr val="1979B5"/>
            </a:solidFill>
            <a:prstDash val="solid"/>
          </a:ln>
        </p:spPr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1B485DA6-6A92-41D9-8BD9-93A94A1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96" y="2948940"/>
            <a:ext cx="144703" cy="160020"/>
          </a:xfrm>
          <a:custGeom xmlns:a="http://schemas.openxmlformats.org/drawingml/2006/main">
            <a:pathLst>
              <a:path w="189119" h="209137">
                <a:moveTo>
                  <a:pt x="94559" y="209137"/>
                </a:moveTo>
                <a:lnTo>
                  <a:pt x="1891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7" name="连线-7">
            <a:extLst xmlns:a="http://schemas.openxmlformats.org/drawingml/2006/main">
              <a:ext uri="{FF2B5EF4-FFF2-40B4-BE49-F238E27FC236}">
                <a16:creationId xmlns:a16="http://schemas.microsoft.com/office/drawing/2014/main" id="{80AC9E70-1297-49DA-88A3-EEE5D582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3247" y="4305300"/>
            <a:ext cx="729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592">
            <a:solidFill>
              <a:srgbClr val="1979B5"/>
            </a:solidFill>
            <a:prstDash val="solid"/>
          </a:ln>
        </p:spPr>
      </p:sp>
      <p:sp>
        <p:nvSpPr>
          <p:cNvPr id="8" name="结构-8">
            <a:extLst xmlns:a="http://schemas.openxmlformats.org/drawingml/2006/main">
              <a:ext uri="{FF2B5EF4-FFF2-40B4-BE49-F238E27FC236}">
                <a16:creationId xmlns:a16="http://schemas.microsoft.com/office/drawing/2014/main" id="{3C3A6A7C-3CB9-4954-BD00-76CEA8AB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96" y="5173980"/>
            <a:ext cx="144703" cy="160020"/>
          </a:xfrm>
          <a:custGeom xmlns:a="http://schemas.openxmlformats.org/drawingml/2006/main">
            <a:pathLst>
              <a:path w="189119" h="209137">
                <a:moveTo>
                  <a:pt x="94559" y="209137"/>
                </a:moveTo>
                <a:lnTo>
                  <a:pt x="1891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9" name="对象-9">
            <a:extLst xmlns:a="http://schemas.openxmlformats.org/drawingml/2006/main">
              <a:ext uri="{FF2B5EF4-FFF2-40B4-BE49-F238E27FC236}">
                <a16:creationId xmlns:a16="http://schemas.microsoft.com/office/drawing/2014/main" id="{A20DF979-4327-46E9-841C-F8A92CC4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416" y="1059180"/>
            <a:ext cx="9413315" cy="2156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C9B2B2"/>
            </a:solidFill>
            <a:prstDash val="solid"/>
          </a:ln>
        </p:spPr>
      </p:sp>
      <p:sp>
        <p:nvSpPr>
          <p:cNvPr id="10" name="文字-10-说明总体目标及拟采用的核心研">
            <a:extLst xmlns:a="http://schemas.openxmlformats.org/drawingml/2006/main">
              <a:ext uri="{FF2B5EF4-FFF2-40B4-BE49-F238E27FC236}">
                <a16:creationId xmlns:a16="http://schemas.microsoft.com/office/drawing/2014/main" id="{72D1B7E4-C4E2-4D68-B5BD-4A302D41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23" y="1150620"/>
            <a:ext cx="9192453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总体目标与核心研究思路</a:t>
            </a:r>
          </a:p>
        </p:txBody>
      </p:sp>
      <p:sp>
        <p:nvSpPr>
          <p:cNvPr id="11" name="文字-11-需求一">
            <a:extLst xmlns:a="http://schemas.openxmlformats.org/drawingml/2006/main">
              <a:ext uri="{FF2B5EF4-FFF2-40B4-BE49-F238E27FC236}">
                <a16:creationId xmlns:a16="http://schemas.microsoft.com/office/drawing/2014/main" id="{B8FC7D1F-2E0C-486A-B7E8-7A1D387A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19" y="1600200"/>
            <a:ext cx="959610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需求一</a:t>
            </a:r>
          </a:p>
        </p:txBody>
      </p:sp>
      <p:sp>
        <p:nvSpPr>
          <p:cNvPr id="12" name="文字-12-需求二">
            <a:extLst xmlns:a="http://schemas.openxmlformats.org/drawingml/2006/main">
              <a:ext uri="{FF2B5EF4-FFF2-40B4-BE49-F238E27FC236}">
                <a16:creationId xmlns:a16="http://schemas.microsoft.com/office/drawing/2014/main" id="{B6F17F5B-8203-4F72-A997-0F26D5F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19" y="2065020"/>
            <a:ext cx="959610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需求二</a:t>
            </a:r>
          </a:p>
        </p:txBody>
      </p:sp>
      <p:sp>
        <p:nvSpPr>
          <p:cNvPr id="13" name="文字-13-需求三">
            <a:extLst xmlns:a="http://schemas.openxmlformats.org/drawingml/2006/main">
              <a:ext uri="{FF2B5EF4-FFF2-40B4-BE49-F238E27FC236}">
                <a16:creationId xmlns:a16="http://schemas.microsoft.com/office/drawing/2014/main" id="{69D1F31A-A6FA-40AE-B945-33A07E94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19" y="2529840"/>
            <a:ext cx="959610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需求三</a:t>
            </a:r>
          </a:p>
        </p:txBody>
      </p:sp>
      <p:sp>
        <p:nvSpPr>
          <p:cNvPr id="14" name="文字-14-设计原则一">
            <a:extLst xmlns:a="http://schemas.openxmlformats.org/drawingml/2006/main">
              <a:ext uri="{FF2B5EF4-FFF2-40B4-BE49-F238E27FC236}">
                <a16:creationId xmlns:a16="http://schemas.microsoft.com/office/drawing/2014/main" id="{57560450-BEF3-40DB-9486-2D18118B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816" y="1600200"/>
            <a:ext cx="156127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设计原则一</a:t>
            </a:r>
          </a:p>
        </p:txBody>
      </p:sp>
      <p:sp>
        <p:nvSpPr>
          <p:cNvPr id="15" name="文字-15-说明设计要求说明可靠条件">
            <a:extLst xmlns:a="http://schemas.openxmlformats.org/drawingml/2006/main">
              <a:ext uri="{FF2B5EF4-FFF2-40B4-BE49-F238E27FC236}">
                <a16:creationId xmlns:a16="http://schemas.microsoft.com/office/drawing/2014/main" id="{A072873E-B6E4-4008-9AC3-511C4CC7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0816" y="2087880"/>
            <a:ext cx="1561270" cy="891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设计要求</a:t>
            </a:r>
          </a:p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可靠条件</a:t>
            </a:r>
          </a:p>
        </p:txBody>
      </p:sp>
      <p:sp>
        <p:nvSpPr>
          <p:cNvPr id="16" name="文字-16-设计原则二">
            <a:extLst xmlns:a="http://schemas.openxmlformats.org/drawingml/2006/main">
              <a:ext uri="{FF2B5EF4-FFF2-40B4-BE49-F238E27FC236}">
                <a16:creationId xmlns:a16="http://schemas.microsoft.com/office/drawing/2014/main" id="{9114744E-850B-4E65-BD7C-6732E04A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405" y="1600200"/>
            <a:ext cx="156127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设计原则二</a:t>
            </a:r>
          </a:p>
        </p:txBody>
      </p:sp>
      <p:sp>
        <p:nvSpPr>
          <p:cNvPr id="17" name="文字-17-说明集成要求说明适用工况">
            <a:extLst xmlns:a="http://schemas.openxmlformats.org/drawingml/2006/main">
              <a:ext uri="{FF2B5EF4-FFF2-40B4-BE49-F238E27FC236}">
                <a16:creationId xmlns:a16="http://schemas.microsoft.com/office/drawing/2014/main" id="{0D7CA20E-1AAA-4315-8451-FE2EAF17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405" y="2087880"/>
            <a:ext cx="1561270" cy="891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集成要求</a:t>
            </a:r>
          </a:p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适用工况</a:t>
            </a:r>
          </a:p>
        </p:txBody>
      </p:sp>
      <p:sp>
        <p:nvSpPr>
          <p:cNvPr id="18" name="文字-18-单元一">
            <a:extLst xmlns:a="http://schemas.openxmlformats.org/drawingml/2006/main">
              <a:ext uri="{FF2B5EF4-FFF2-40B4-BE49-F238E27FC236}">
                <a16:creationId xmlns:a16="http://schemas.microsoft.com/office/drawing/2014/main" id="{9946F3B9-6193-4D25-A6C9-6874AEA9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624" y="1600200"/>
            <a:ext cx="1271864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6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662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628E"/>
                </a:solidFill>
                <a:latin typeface="Microsoft YaHei"/>
                <a:ea typeface="Microsoft YaHei"/>
                <a:cs typeface="Microsoft YaHei"/>
              </a:rPr>
              <a:t>单元一</a:t>
            </a:r>
          </a:p>
        </p:txBody>
      </p:sp>
      <p:sp>
        <p:nvSpPr>
          <p:cNvPr id="22" name="文字-22-单元二">
            <a:extLst xmlns:a="http://schemas.openxmlformats.org/drawingml/2006/main">
              <a:ext uri="{FF2B5EF4-FFF2-40B4-BE49-F238E27FC236}">
                <a16:creationId xmlns:a16="http://schemas.microsoft.com/office/drawing/2014/main" id="{A667E074-2231-4081-828E-113808F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343" y="1600200"/>
            <a:ext cx="1271864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6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662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628E"/>
                </a:solidFill>
                <a:latin typeface="Microsoft YaHei"/>
                <a:ea typeface="Microsoft YaHei"/>
                <a:cs typeface="Microsoft YaHei"/>
              </a:rPr>
              <a:t>单元二</a:t>
            </a:r>
          </a:p>
        </p:txBody>
      </p:sp>
      <p:sp>
        <p:nvSpPr>
          <p:cNvPr id="26" name="文字-26-单元三">
            <a:extLst xmlns:a="http://schemas.openxmlformats.org/drawingml/2006/main">
              <a:ext uri="{FF2B5EF4-FFF2-40B4-BE49-F238E27FC236}">
                <a16:creationId xmlns:a16="http://schemas.microsoft.com/office/drawing/2014/main" id="{1D8F809D-9D42-40B5-97AD-92DDD815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063" y="1600200"/>
            <a:ext cx="1271864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F6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662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6628E"/>
                </a:solidFill>
                <a:latin typeface="Microsoft YaHei"/>
                <a:ea typeface="Microsoft YaHei"/>
                <a:cs typeface="Microsoft YaHei"/>
              </a:rPr>
              <a:t>单元三</a:t>
            </a:r>
          </a:p>
        </p:txBody>
      </p:sp>
      <p:sp>
        <p:nvSpPr>
          <p:cNvPr id="30" name="文字-30-填写一体化实现方案">
            <a:extLst xmlns:a="http://schemas.openxmlformats.org/drawingml/2006/main">
              <a:ext uri="{FF2B5EF4-FFF2-40B4-BE49-F238E27FC236}">
                <a16:creationId xmlns:a16="http://schemas.microsoft.com/office/drawing/2014/main" id="{8C49E680-BDA6-4504-A934-385FF08A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110" y="2506980"/>
            <a:ext cx="3823208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0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rPr>
              <a:t>一体化实现方案</a:t>
            </a:r>
          </a:p>
        </p:txBody>
      </p:sp>
      <p:sp>
        <p:nvSpPr>
          <p:cNvPr id="31" name="文字-31-说明围绕关键问题开展的构筑与">
            <a:extLst xmlns:a="http://schemas.openxmlformats.org/drawingml/2006/main">
              <a:ext uri="{FF2B5EF4-FFF2-40B4-BE49-F238E27FC236}">
                <a16:creationId xmlns:a16="http://schemas.microsoft.com/office/drawing/2014/main" id="{C9AF8E45-8E8D-4CDD-9F99-A197F4BA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416" y="3390900"/>
            <a:ext cx="9413315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关键问题 → 构筑方法 → 机制研究</a:t>
            </a:r>
          </a:p>
        </p:txBody>
      </p:sp>
      <p:sp>
        <p:nvSpPr>
          <p:cNvPr id="32" name="对象-32">
            <a:extLst xmlns:a="http://schemas.openxmlformats.org/drawingml/2006/main">
              <a:ext uri="{FF2B5EF4-FFF2-40B4-BE49-F238E27FC236}">
                <a16:creationId xmlns:a16="http://schemas.microsoft.com/office/drawing/2014/main" id="{020B8176-F31D-46E1-8451-A81B00F9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416" y="3970020"/>
            <a:ext cx="9413315" cy="2034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C9B2B2"/>
            </a:solidFill>
            <a:prstDash val="solid"/>
          </a:ln>
        </p:spPr>
      </p:sp>
      <p:sp>
        <p:nvSpPr>
          <p:cNvPr id="33" name="文字-33-说明研究过程与评价内容">
            <a:extLst xmlns:a="http://schemas.openxmlformats.org/drawingml/2006/main">
              <a:ext uri="{FF2B5EF4-FFF2-40B4-BE49-F238E27FC236}">
                <a16:creationId xmlns:a16="http://schemas.microsoft.com/office/drawing/2014/main" id="{A6DF7648-D435-4293-B2E7-B8694591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5" y="4061460"/>
            <a:ext cx="302353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研究过程与评价内容</a:t>
            </a:r>
          </a:p>
        </p:txBody>
      </p:sp>
      <p:sp>
        <p:nvSpPr>
          <p:cNvPr id="34" name="文字-34-材料">
            <a:extLst xmlns:a="http://schemas.openxmlformats.org/drawingml/2006/main">
              <a:ext uri="{FF2B5EF4-FFF2-40B4-BE49-F238E27FC236}">
                <a16:creationId xmlns:a16="http://schemas.microsoft.com/office/drawing/2014/main" id="{270B6E17-DDB1-461D-9483-B1CDDBBC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5" y="4526280"/>
            <a:ext cx="662587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35" name="连线-35">
            <a:extLst xmlns:a="http://schemas.openxmlformats.org/drawingml/2006/main">
              <a:ext uri="{FF2B5EF4-FFF2-40B4-BE49-F238E27FC236}">
                <a16:creationId xmlns:a16="http://schemas.microsoft.com/office/drawing/2014/main" id="{FB9E392C-28F1-4EEB-9953-84EB94E9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21141" y="4968240"/>
            <a:ext cx="729" cy="220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36" name="结构-36">
            <a:extLst xmlns:a="http://schemas.openxmlformats.org/drawingml/2006/main">
              <a:ext uri="{FF2B5EF4-FFF2-40B4-BE49-F238E27FC236}">
                <a16:creationId xmlns:a16="http://schemas.microsoft.com/office/drawing/2014/main" id="{1618FB94-B500-4F3F-BA94-90CC5C9A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637" y="5074920"/>
            <a:ext cx="99007" cy="114300"/>
          </a:xfrm>
          <a:custGeom xmlns:a="http://schemas.openxmlformats.org/drawingml/2006/main">
            <a:pathLst>
              <a:path w="129397" h="149384">
                <a:moveTo>
                  <a:pt x="64699" y="149384"/>
                </a:moveTo>
                <a:lnTo>
                  <a:pt x="129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37" name="文字-37-结构">
            <a:extLst xmlns:a="http://schemas.openxmlformats.org/drawingml/2006/main">
              <a:ext uri="{FF2B5EF4-FFF2-40B4-BE49-F238E27FC236}">
                <a16:creationId xmlns:a16="http://schemas.microsoft.com/office/drawing/2014/main" id="{89B70929-14BC-4DAE-8DC5-A4ED7AA7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55" y="5257800"/>
            <a:ext cx="662587" cy="35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38" name="文字-38-制备">
            <a:extLst xmlns:a="http://schemas.openxmlformats.org/drawingml/2006/main">
              <a:ext uri="{FF2B5EF4-FFF2-40B4-BE49-F238E27FC236}">
                <a16:creationId xmlns:a16="http://schemas.microsoft.com/office/drawing/2014/main" id="{9A5EBA13-DB55-4EAD-8147-D82CA8AC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786" y="4526280"/>
            <a:ext cx="662587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制备</a:t>
            </a:r>
          </a:p>
        </p:txBody>
      </p:sp>
      <p:sp>
        <p:nvSpPr>
          <p:cNvPr id="39" name="连线-39">
            <a:extLst xmlns:a="http://schemas.openxmlformats.org/drawingml/2006/main">
              <a:ext uri="{FF2B5EF4-FFF2-40B4-BE49-F238E27FC236}">
                <a16:creationId xmlns:a16="http://schemas.microsoft.com/office/drawing/2014/main" id="{447FE2B1-0183-4E48-81CA-C4533978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52272" y="4968240"/>
            <a:ext cx="729" cy="220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40" name="结构-40">
            <a:extLst xmlns:a="http://schemas.openxmlformats.org/drawingml/2006/main">
              <a:ext uri="{FF2B5EF4-FFF2-40B4-BE49-F238E27FC236}">
                <a16:creationId xmlns:a16="http://schemas.microsoft.com/office/drawing/2014/main" id="{EC25D441-3B0F-448C-9445-A2137359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769" y="5074920"/>
            <a:ext cx="99007" cy="114300"/>
          </a:xfrm>
          <a:custGeom xmlns:a="http://schemas.openxmlformats.org/drawingml/2006/main">
            <a:pathLst>
              <a:path w="129397" h="149384">
                <a:moveTo>
                  <a:pt x="64699" y="149384"/>
                </a:moveTo>
                <a:lnTo>
                  <a:pt x="129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41" name="文字-41-力学">
            <a:extLst xmlns:a="http://schemas.openxmlformats.org/drawingml/2006/main">
              <a:ext uri="{FF2B5EF4-FFF2-40B4-BE49-F238E27FC236}">
                <a16:creationId xmlns:a16="http://schemas.microsoft.com/office/drawing/2014/main" id="{AB8B553D-5A66-47E7-9F33-DF7DF51C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786" y="5257800"/>
            <a:ext cx="662587" cy="35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力学</a:t>
            </a:r>
          </a:p>
        </p:txBody>
      </p:sp>
      <p:sp>
        <p:nvSpPr>
          <p:cNvPr id="42" name="文字-42-表征">
            <a:extLst xmlns:a="http://schemas.openxmlformats.org/drawingml/2006/main">
              <a:ext uri="{FF2B5EF4-FFF2-40B4-BE49-F238E27FC236}">
                <a16:creationId xmlns:a16="http://schemas.microsoft.com/office/drawing/2014/main" id="{1D49B8C2-6C5A-4D5F-B95D-92092654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917" y="4526280"/>
            <a:ext cx="662587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表征</a:t>
            </a:r>
          </a:p>
        </p:txBody>
      </p:sp>
      <p:sp>
        <p:nvSpPr>
          <p:cNvPr id="43" name="连线-43">
            <a:extLst xmlns:a="http://schemas.openxmlformats.org/drawingml/2006/main">
              <a:ext uri="{FF2B5EF4-FFF2-40B4-BE49-F238E27FC236}">
                <a16:creationId xmlns:a16="http://schemas.microsoft.com/office/drawing/2014/main" id="{FA1DCA1E-FC24-433F-A7DF-4E83A985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3403" y="4968240"/>
            <a:ext cx="729" cy="220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44" name="结构-44">
            <a:extLst xmlns:a="http://schemas.openxmlformats.org/drawingml/2006/main">
              <a:ext uri="{FF2B5EF4-FFF2-40B4-BE49-F238E27FC236}">
                <a16:creationId xmlns:a16="http://schemas.microsoft.com/office/drawing/2014/main" id="{1A1EA0C7-5E91-4BC1-B6D9-E8300DA8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900" y="5074920"/>
            <a:ext cx="99007" cy="114300"/>
          </a:xfrm>
          <a:custGeom xmlns:a="http://schemas.openxmlformats.org/drawingml/2006/main">
            <a:pathLst>
              <a:path w="129397" h="149384">
                <a:moveTo>
                  <a:pt x="64699" y="149384"/>
                </a:moveTo>
                <a:lnTo>
                  <a:pt x="129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45" name="文字-45-功能">
            <a:extLst xmlns:a="http://schemas.openxmlformats.org/drawingml/2006/main">
              <a:ext uri="{FF2B5EF4-FFF2-40B4-BE49-F238E27FC236}">
                <a16:creationId xmlns:a16="http://schemas.microsoft.com/office/drawing/2014/main" id="{0276E12F-96E8-47C9-A807-429AA375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917" y="5257800"/>
            <a:ext cx="662587" cy="35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46" name="文字-46-模拟">
            <a:extLst xmlns:a="http://schemas.openxmlformats.org/drawingml/2006/main">
              <a:ext uri="{FF2B5EF4-FFF2-40B4-BE49-F238E27FC236}">
                <a16:creationId xmlns:a16="http://schemas.microsoft.com/office/drawing/2014/main" id="{B710949D-1DF2-4BE8-AD5A-8804EEC2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049" y="4526280"/>
            <a:ext cx="662587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模拟</a:t>
            </a:r>
          </a:p>
        </p:txBody>
      </p:sp>
      <p:sp>
        <p:nvSpPr>
          <p:cNvPr id="47" name="连线-47">
            <a:extLst xmlns:a="http://schemas.openxmlformats.org/drawingml/2006/main">
              <a:ext uri="{FF2B5EF4-FFF2-40B4-BE49-F238E27FC236}">
                <a16:creationId xmlns:a16="http://schemas.microsoft.com/office/drawing/2014/main" id="{9A18118B-77F2-4B75-B74D-41FA2A13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14535" y="4968240"/>
            <a:ext cx="729" cy="220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48" name="结构-48">
            <a:extLst xmlns:a="http://schemas.openxmlformats.org/drawingml/2006/main">
              <a:ext uri="{FF2B5EF4-FFF2-40B4-BE49-F238E27FC236}">
                <a16:creationId xmlns:a16="http://schemas.microsoft.com/office/drawing/2014/main" id="{108C648E-C826-4F00-A776-145F6D5E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031" y="5074920"/>
            <a:ext cx="99007" cy="114300"/>
          </a:xfrm>
          <a:custGeom xmlns:a="http://schemas.openxmlformats.org/drawingml/2006/main">
            <a:pathLst>
              <a:path w="129397" h="149384">
                <a:moveTo>
                  <a:pt x="64699" y="149384"/>
                </a:moveTo>
                <a:lnTo>
                  <a:pt x="129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49" name="文字-49-环境">
            <a:extLst xmlns:a="http://schemas.openxmlformats.org/drawingml/2006/main">
              <a:ext uri="{FF2B5EF4-FFF2-40B4-BE49-F238E27FC236}">
                <a16:creationId xmlns:a16="http://schemas.microsoft.com/office/drawing/2014/main" id="{6FDD29CA-F956-4448-A528-DF6B23AC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049" y="5257800"/>
            <a:ext cx="662587" cy="350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50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DEF7F1AE-64D0-414E-9235-4CB3D009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818" y="4312920"/>
            <a:ext cx="2802670" cy="1516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51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E716C203-7B6D-408E-919D-9EAE4653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039" y="4312920"/>
            <a:ext cx="2916909" cy="1516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52" name="文字-52-方法或机制一">
            <a:extLst xmlns:a="http://schemas.openxmlformats.org/drawingml/2006/main">
              <a:ext uri="{FF2B5EF4-FFF2-40B4-BE49-F238E27FC236}">
                <a16:creationId xmlns:a16="http://schemas.microsoft.com/office/drawing/2014/main" id="{0460C06B-97AC-4AC1-AC34-4493E41E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818" y="3977640"/>
            <a:ext cx="280267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方法或机制一</a:t>
            </a:r>
          </a:p>
        </p:txBody>
      </p:sp>
      <p:sp>
        <p:nvSpPr>
          <p:cNvPr id="53" name="文字-53-方法或机制二">
            <a:extLst xmlns:a="http://schemas.openxmlformats.org/drawingml/2006/main">
              <a:ext uri="{FF2B5EF4-FFF2-40B4-BE49-F238E27FC236}">
                <a16:creationId xmlns:a16="http://schemas.microsoft.com/office/drawing/2014/main" id="{DD1EBF77-A376-4BE4-99BD-C5466BF3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3039" y="3977640"/>
            <a:ext cx="2916909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方法或机制二</a:t>
            </a:r>
          </a:p>
        </p:txBody>
      </p:sp>
      <p:sp>
        <p:nvSpPr>
          <p:cNvPr id="54" name="连线-54">
            <a:extLst xmlns:a="http://schemas.openxmlformats.org/drawingml/2006/main">
              <a:ext uri="{FF2B5EF4-FFF2-40B4-BE49-F238E27FC236}">
                <a16:creationId xmlns:a16="http://schemas.microsoft.com/office/drawing/2014/main" id="{CA10C0C7-897E-4A68-9346-C83231C6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00278" y="6454140"/>
            <a:ext cx="8963975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9A9A9A"/>
            </a:solidFill>
            <a:prstDash val="solid"/>
          </a:ln>
        </p:spPr>
      </p:sp>
      <p:sp>
        <p:nvSpPr>
          <p:cNvPr id="55" name="对象-55">
            <a:extLst xmlns:a="http://schemas.openxmlformats.org/drawingml/2006/main">
              <a:ext uri="{FF2B5EF4-FFF2-40B4-BE49-F238E27FC236}">
                <a16:creationId xmlns:a16="http://schemas.microsoft.com/office/drawing/2014/main" id="{3C47BF55-871C-4DE0-8616-DED1E675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989" y="6370320"/>
            <a:ext cx="167551" cy="16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文字-56-研究要素1">
            <a:extLst xmlns:a="http://schemas.openxmlformats.org/drawingml/2006/main">
              <a:ext uri="{FF2B5EF4-FFF2-40B4-BE49-F238E27FC236}">
                <a16:creationId xmlns:a16="http://schemas.microsoft.com/office/drawing/2014/main" id="{5805A25D-57C1-43AB-8B3B-1117F36D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952" y="6088380"/>
            <a:ext cx="116524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研究要素1</a:t>
            </a:r>
          </a:p>
        </p:txBody>
      </p:sp>
      <p:sp>
        <p:nvSpPr>
          <p:cNvPr id="57" name="对象-57">
            <a:extLst xmlns:a="http://schemas.openxmlformats.org/drawingml/2006/main">
              <a:ext uri="{FF2B5EF4-FFF2-40B4-BE49-F238E27FC236}">
                <a16:creationId xmlns:a16="http://schemas.microsoft.com/office/drawing/2014/main" id="{C95CDB7E-0AE4-4E43-89F1-582E0D92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730" y="6370320"/>
            <a:ext cx="167551" cy="16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文字-58-研究要素2">
            <a:extLst xmlns:a="http://schemas.openxmlformats.org/drawingml/2006/main">
              <a:ext uri="{FF2B5EF4-FFF2-40B4-BE49-F238E27FC236}">
                <a16:creationId xmlns:a16="http://schemas.microsoft.com/office/drawing/2014/main" id="{01C487B7-6D59-4768-B8DC-6B27EC6F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693" y="6088380"/>
            <a:ext cx="116524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研究要素2</a:t>
            </a:r>
          </a:p>
        </p:txBody>
      </p:sp>
      <p:sp>
        <p:nvSpPr>
          <p:cNvPr id="59" name="对象-59">
            <a:extLst xmlns:a="http://schemas.openxmlformats.org/drawingml/2006/main">
              <a:ext uri="{FF2B5EF4-FFF2-40B4-BE49-F238E27FC236}">
                <a16:creationId xmlns:a16="http://schemas.microsoft.com/office/drawing/2014/main" id="{24187347-5011-45D2-8873-D1CC386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471" y="6370320"/>
            <a:ext cx="167551" cy="16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文字-60-研究要素3">
            <a:extLst xmlns:a="http://schemas.openxmlformats.org/drawingml/2006/main">
              <a:ext uri="{FF2B5EF4-FFF2-40B4-BE49-F238E27FC236}">
                <a16:creationId xmlns:a16="http://schemas.microsoft.com/office/drawing/2014/main" id="{7FB22430-5E68-4BA4-B91C-F423590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434" y="6088380"/>
            <a:ext cx="116524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研究要素3</a:t>
            </a:r>
          </a:p>
        </p:txBody>
      </p:sp>
      <p:sp>
        <p:nvSpPr>
          <p:cNvPr id="61" name="对象-61">
            <a:extLst xmlns:a="http://schemas.openxmlformats.org/drawingml/2006/main">
              <a:ext uri="{FF2B5EF4-FFF2-40B4-BE49-F238E27FC236}">
                <a16:creationId xmlns:a16="http://schemas.microsoft.com/office/drawing/2014/main" id="{E901F233-B40D-4433-96CA-DD534F6B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212" y="6370320"/>
            <a:ext cx="167551" cy="16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文字-62-研究要素4">
            <a:extLst xmlns:a="http://schemas.openxmlformats.org/drawingml/2006/main">
              <a:ext uri="{FF2B5EF4-FFF2-40B4-BE49-F238E27FC236}">
                <a16:creationId xmlns:a16="http://schemas.microsoft.com/office/drawing/2014/main" id="{CA682619-59D3-44F5-A4F2-9D632600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176" y="6088380"/>
            <a:ext cx="116524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研究要素4</a:t>
            </a:r>
          </a:p>
        </p:txBody>
      </p:sp>
      <p:sp>
        <p:nvSpPr>
          <p:cNvPr id="63" name="对象-63">
            <a:extLst xmlns:a="http://schemas.openxmlformats.org/drawingml/2006/main">
              <a:ext uri="{FF2B5EF4-FFF2-40B4-BE49-F238E27FC236}">
                <a16:creationId xmlns:a16="http://schemas.microsoft.com/office/drawing/2014/main" id="{EE6D3DFF-F11F-4E84-9C0B-CADE663B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53" y="6370320"/>
            <a:ext cx="167551" cy="16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文字-64-研究要素5">
            <a:extLst xmlns:a="http://schemas.openxmlformats.org/drawingml/2006/main">
              <a:ext uri="{FF2B5EF4-FFF2-40B4-BE49-F238E27FC236}">
                <a16:creationId xmlns:a16="http://schemas.microsoft.com/office/drawing/2014/main" id="{98910B86-89A3-4F31-8705-6D10ED76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917" y="6088380"/>
            <a:ext cx="116524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研究要素5</a:t>
            </a:r>
          </a:p>
        </p:txBody>
      </p:sp>
      <p:sp>
        <p:nvSpPr>
          <p:cNvPr id="65" name="对象-65">
            <a:extLst xmlns:a="http://schemas.openxmlformats.org/drawingml/2006/main">
              <a:ext uri="{FF2B5EF4-FFF2-40B4-BE49-F238E27FC236}">
                <a16:creationId xmlns:a16="http://schemas.microsoft.com/office/drawing/2014/main" id="{FFBAA42B-AB59-446D-B4EB-B3506AB3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7695" y="6370320"/>
            <a:ext cx="167551" cy="167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文字-66-研究要素6">
            <a:extLst xmlns:a="http://schemas.openxmlformats.org/drawingml/2006/main">
              <a:ext uri="{FF2B5EF4-FFF2-40B4-BE49-F238E27FC236}">
                <a16:creationId xmlns:a16="http://schemas.microsoft.com/office/drawing/2014/main" id="{97FF0375-7825-4353-93AB-2624D160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2657" y="6088380"/>
            <a:ext cx="1165241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研究要素6</a:t>
            </a:r>
          </a:p>
        </p:txBody>
      </p:sp>
      <p:cxnSp>
        <p:nvCxnSpPr>
          <p:cNvPr id="128" name=""/>
          <p:cNvCxnSpPr>
            <a:stCxn xmlns:a="http://schemas.openxmlformats.org/drawingml/2006/main" id="18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7889556" y="1958340"/>
            <a:ext cx="1603158" cy="54864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50A59E"/>
            </a:solidFill>
            <a:tailEnd type="triangle" w="sm" len="sm"/>
          </a:ln>
        </p:spPr>
      </p:cxnSp>
      <p:cxnSp>
        <p:nvCxnSpPr>
          <p:cNvPr id="129" name=""/>
          <p:cNvCxnSpPr>
            <a:stCxn xmlns:a="http://schemas.openxmlformats.org/drawingml/2006/main" id="22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9283275" y="1958340"/>
            <a:ext cx="209439" cy="54864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50A59E"/>
            </a:solidFill>
            <a:tailEnd type="triangle" w="sm" len="sm"/>
          </a:ln>
        </p:spPr>
      </p:cxnSp>
      <p:cxnSp>
        <p:nvCxnSpPr>
          <p:cNvPr id="130" name=""/>
          <p:cNvCxnSpPr>
            <a:stCxn xmlns:a="http://schemas.openxmlformats.org/drawingml/2006/main" id="26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9492714" y="1958340"/>
            <a:ext cx="1184281" cy="54864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50A59E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320914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对象-1">
            <a:extLst xmlns:a="http://schemas.openxmlformats.org/drawingml/2006/main">
              <a:ext uri="{FF2B5EF4-FFF2-40B4-BE49-F238E27FC236}">
                <a16:creationId xmlns:a16="http://schemas.microsoft.com/office/drawing/2014/main" id="{70936DDB-BBFD-404D-A3EE-C26F7C56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" y="0"/>
            <a:ext cx="12185522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文字-2-2.1 研究背景">
            <a:extLst xmlns:a="http://schemas.openxmlformats.org/drawingml/2006/main">
              <a:ext uri="{FF2B5EF4-FFF2-40B4-BE49-F238E27FC236}">
                <a16:creationId xmlns:a16="http://schemas.microsoft.com/office/drawing/2014/main" id="{524DB9BA-5F3F-40F3-BF84-D2BA392F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25" y="99060"/>
            <a:ext cx="11309687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 研究背景</a:t>
            </a:r>
          </a:p>
        </p:txBody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64CA561C-1C2D-4B0D-88BF-5A5FDB9C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891540"/>
            <a:ext cx="11454390" cy="525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96900DA1-4494-4DA9-B188-3F51A677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06299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说明当前研究已经形成的认识与">
            <a:extLst xmlns:a="http://schemas.openxmlformats.org/drawingml/2006/main">
              <a:ext uri="{FF2B5EF4-FFF2-40B4-BE49-F238E27FC236}">
                <a16:creationId xmlns:a16="http://schemas.microsoft.com/office/drawing/2014/main" id="{9690F3F1-6607-4355-B2D4-93BD51EA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52500"/>
            <a:ext cx="1081465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当前研究已经形成的认识与技术基础</a:t>
            </a:r>
          </a:p>
        </p:txBody>
      </p:sp>
      <p:sp>
        <p:nvSpPr>
          <p:cNvPr id="6" name="文字-6-说明尚未被充分研究的对象、过">
            <a:extLst xmlns:a="http://schemas.openxmlformats.org/drawingml/2006/main">
              <a:ext uri="{FF2B5EF4-FFF2-40B4-BE49-F238E27FC236}">
                <a16:creationId xmlns:a16="http://schemas.microsoft.com/office/drawing/2014/main" id="{7B896301-ABBE-4380-858F-A89885F9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268" y="1546860"/>
            <a:ext cx="11378231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未充分研究的对象、过程或功能 → 本研究的切入点</a:t>
            </a:r>
          </a:p>
        </p:txBody>
      </p:sp>
      <p:sp>
        <p:nvSpPr>
          <p:cNvPr id="7" name="对象-7">
            <a:extLst xmlns:a="http://schemas.openxmlformats.org/drawingml/2006/main">
              <a:ext uri="{FF2B5EF4-FFF2-40B4-BE49-F238E27FC236}">
                <a16:creationId xmlns:a16="http://schemas.microsoft.com/office/drawing/2014/main" id="{1D2B55B3-02D7-48AA-B2F7-85D542FE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331720"/>
            <a:ext cx="5567260" cy="399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8" name="文字-8-前期认识与基本概念">
            <a:extLst xmlns:a="http://schemas.openxmlformats.org/drawingml/2006/main">
              <a:ext uri="{FF2B5EF4-FFF2-40B4-BE49-F238E27FC236}">
                <a16:creationId xmlns:a16="http://schemas.microsoft.com/office/drawing/2014/main" id="{701DF714-D9B1-48B7-A106-497BCD6E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2453640"/>
            <a:ext cx="5140767" cy="426720"/>
          </a:xfrm>
          <a:prstGeom xmlns:a="http://schemas.openxmlformats.org/drawingml/2006/main" prst="roundRect">
            <a:avLst>
              <a:gd name="adj" fmla="val 13663"/>
            </a:avLst>
          </a:prstGeom>
          <a:solidFill xmlns:a="http://schemas.openxmlformats.org/drawingml/2006/main">
            <a:srgbClr val="073E86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前期认识与基本概念</a:t>
            </a:r>
          </a:p>
        </p:txBody>
      </p:sp>
      <p:sp>
        <p:nvSpPr>
          <p:cNvPr id="9" name="文字-9-说明已有研究的主要认识说明关">
            <a:extLst xmlns:a="http://schemas.openxmlformats.org/drawingml/2006/main">
              <a:ext uri="{FF2B5EF4-FFF2-40B4-BE49-F238E27FC236}">
                <a16:creationId xmlns:a16="http://schemas.microsoft.com/office/drawing/2014/main" id="{D8F5E035-7722-4345-A95C-E6CB9273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04" y="3009900"/>
            <a:ext cx="5133151" cy="769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已有认识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关键对象与基本特征</a:t>
            </a:r>
          </a:p>
        </p:txBody>
      </p:sp>
      <p:sp>
        <p:nvSpPr>
          <p:cNvPr id="10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27B213DA-137C-4AF8-845B-7E67BFDA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04" y="3909060"/>
            <a:ext cx="2490416" cy="1668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1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796CE97F-F86B-4D2F-A92B-302386D7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475" y="3909060"/>
            <a:ext cx="2513264" cy="1668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2" name="文字-12-填写前期基础与仍待探索的内容">
            <a:extLst xmlns:a="http://schemas.openxmlformats.org/drawingml/2006/main">
              <a:ext uri="{FF2B5EF4-FFF2-40B4-BE49-F238E27FC236}">
                <a16:creationId xmlns:a16="http://schemas.microsoft.com/office/drawing/2014/main" id="{E8E9E34A-8F86-42A4-98DD-DA5925D8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04" y="5730240"/>
            <a:ext cx="5125535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前期基础与仍待探索的内容</a:t>
            </a:r>
          </a:p>
        </p:txBody>
      </p:sp>
      <p:sp>
        <p:nvSpPr>
          <p:cNvPr id="13" name="对象-13">
            <a:extLst xmlns:a="http://schemas.openxmlformats.org/drawingml/2006/main">
              <a:ext uri="{FF2B5EF4-FFF2-40B4-BE49-F238E27FC236}">
                <a16:creationId xmlns:a16="http://schemas.microsoft.com/office/drawing/2014/main" id="{D340FAB8-CC7D-434B-9D75-53F60553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8848" y="2331720"/>
            <a:ext cx="5704347" cy="3992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4" name="文字-14-领域面临的三个层次问题">
            <a:extLst xmlns:a="http://schemas.openxmlformats.org/drawingml/2006/main">
              <a:ext uri="{FF2B5EF4-FFF2-40B4-BE49-F238E27FC236}">
                <a16:creationId xmlns:a16="http://schemas.microsoft.com/office/drawing/2014/main" id="{A8DA5C1B-4247-442E-94D2-5F84E07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399" y="2468880"/>
            <a:ext cx="536163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领域面临的三个层次问题</a:t>
            </a:r>
          </a:p>
        </p:txBody>
      </p:sp>
      <p:sp>
        <p:nvSpPr>
          <p:cNvPr id="15" name="文字-15-认知">
            <a:extLst xmlns:a="http://schemas.openxmlformats.org/drawingml/2006/main">
              <a:ext uri="{FF2B5EF4-FFF2-40B4-BE49-F238E27FC236}">
                <a16:creationId xmlns:a16="http://schemas.microsoft.com/office/drawing/2014/main" id="{A89A8702-D205-4FF8-9623-1BB5B142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399" y="2956560"/>
            <a:ext cx="708283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</a:t>
            </a:r>
          </a:p>
        </p:txBody>
      </p:sp>
      <p:sp>
        <p:nvSpPr>
          <p:cNvPr id="16" name="文字-16-说明尚不清楚的机制或规律">
            <a:extLst xmlns:a="http://schemas.openxmlformats.org/drawingml/2006/main">
              <a:ext uri="{FF2B5EF4-FFF2-40B4-BE49-F238E27FC236}">
                <a16:creationId xmlns:a16="http://schemas.microsoft.com/office/drawing/2014/main" id="{FAEBF35E-B2C5-4ACE-A447-A63DEB51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153" y="2956560"/>
            <a:ext cx="4501027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尚不清楚的机制或规律</a:t>
            </a:r>
          </a:p>
        </p:txBody>
      </p:sp>
      <p:sp>
        <p:nvSpPr>
          <p:cNvPr id="17" name="文字-17-方法">
            <a:extLst xmlns:a="http://schemas.openxmlformats.org/drawingml/2006/main">
              <a:ext uri="{FF2B5EF4-FFF2-40B4-BE49-F238E27FC236}">
                <a16:creationId xmlns:a16="http://schemas.microsoft.com/office/drawing/2014/main" id="{038A0469-99F8-442A-97ED-64FAE995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399" y="3741420"/>
            <a:ext cx="708283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8" name="文字-18-说明缺少的研究工具与方法">
            <a:extLst xmlns:a="http://schemas.openxmlformats.org/drawingml/2006/main">
              <a:ext uri="{FF2B5EF4-FFF2-40B4-BE49-F238E27FC236}">
                <a16:creationId xmlns:a16="http://schemas.microsoft.com/office/drawing/2014/main" id="{7210B9DC-078B-4B3D-BAD9-F0050BDC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153" y="3741420"/>
            <a:ext cx="4501027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缺少的研究工具与方法</a:t>
            </a:r>
          </a:p>
        </p:txBody>
      </p:sp>
      <p:sp>
        <p:nvSpPr>
          <p:cNvPr id="19" name="文字-19-应用">
            <a:extLst xmlns:a="http://schemas.openxmlformats.org/drawingml/2006/main">
              <a:ext uri="{FF2B5EF4-FFF2-40B4-BE49-F238E27FC236}">
                <a16:creationId xmlns:a16="http://schemas.microsoft.com/office/drawing/2014/main" id="{D3BA69AD-276C-451C-9B43-1D9916F6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399" y="4526280"/>
            <a:ext cx="708283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20" name="文字-20-说明需要打通的应用环节">
            <a:extLst xmlns:a="http://schemas.openxmlformats.org/drawingml/2006/main">
              <a:ext uri="{FF2B5EF4-FFF2-40B4-BE49-F238E27FC236}">
                <a16:creationId xmlns:a16="http://schemas.microsoft.com/office/drawing/2014/main" id="{5949AA34-6D5D-4FA3-A773-73C40102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153" y="4526280"/>
            <a:ext cx="4501027" cy="58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需要打通的应用环节</a:t>
            </a:r>
          </a:p>
        </p:txBody>
      </p:sp>
      <p:sp>
        <p:nvSpPr>
          <p:cNvPr id="21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145E35FF-127F-48D8-95CC-B5B461E2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399" y="5417820"/>
            <a:ext cx="167551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2" name="图片区-4-图片区">
            <a:extLst xmlns:a="http://schemas.openxmlformats.org/drawingml/2006/main">
              <a:ext uri="{FF2B5EF4-FFF2-40B4-BE49-F238E27FC236}">
                <a16:creationId xmlns:a16="http://schemas.microsoft.com/office/drawing/2014/main" id="{3AF8D311-279A-4461-9C1E-B354407C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611" y="5417820"/>
            <a:ext cx="1690741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3" name="图片区-5-图片区">
            <a:extLst xmlns:a="http://schemas.openxmlformats.org/drawingml/2006/main">
              <a:ext uri="{FF2B5EF4-FFF2-40B4-BE49-F238E27FC236}">
                <a16:creationId xmlns:a16="http://schemas.microsoft.com/office/drawing/2014/main" id="{75C1954B-C67B-4458-903B-E6467EDA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439" y="5417820"/>
            <a:ext cx="167551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4403613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结构-1">
            <a:extLst xmlns:a="http://schemas.openxmlformats.org/drawingml/2006/main">
              <a:ext uri="{FF2B5EF4-FFF2-40B4-BE49-F238E27FC236}">
                <a16:creationId xmlns:a16="http://schemas.microsoft.com/office/drawing/2014/main" id="{27295775-418D-408F-9095-2DFC06AD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技术发展趋势">
            <a:extLst xmlns:a="http://schemas.openxmlformats.org/drawingml/2006/main">
              <a:ext uri="{FF2B5EF4-FFF2-40B4-BE49-F238E27FC236}">
                <a16:creationId xmlns:a16="http://schemas.microsoft.com/office/drawing/2014/main" id="{48E0454D-9DC2-46A1-8024-E6CDBDB8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技术发展趋势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D2076850-EA74-4FDF-A15D-A31D8946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ED80688A-4B20-44CB-AC29-FEE15513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概括已有研究基础，以及距">
            <a:extLst xmlns:a="http://schemas.openxmlformats.org/drawingml/2006/main">
              <a:ext uri="{FF2B5EF4-FFF2-40B4-BE49-F238E27FC236}">
                <a16:creationId xmlns:a16="http://schemas.microsoft.com/office/drawing/2014/main" id="{33869198-6B1D-403F-955F-630D2589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概括已有研究基础，以及距离目标能力仍然存在的关键缺口</a:t>
            </a:r>
          </a:p>
        </p:txBody>
      </p:sp>
      <p:sp>
        <p:nvSpPr>
          <p:cNvPr id="6" name="文字-6-结构表达">
            <a:extLst xmlns:a="http://schemas.openxmlformats.org/drawingml/2006/main">
              <a:ext uri="{FF2B5EF4-FFF2-40B4-BE49-F238E27FC236}">
                <a16:creationId xmlns:a16="http://schemas.microsoft.com/office/drawing/2014/main" id="{92FC830B-EB77-4D22-839E-7D1B5C9D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38325"/>
            <a:ext cx="3267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结构表达</a:t>
            </a:r>
          </a:p>
        </p:txBody>
      </p:sp>
      <p:sp>
        <p:nvSpPr>
          <p:cNvPr id="7" name="图片区-7">
            <a:extLst xmlns:a="http://schemas.openxmlformats.org/drawingml/2006/main">
              <a:ext uri="{FF2B5EF4-FFF2-40B4-BE49-F238E27FC236}">
                <a16:creationId xmlns:a16="http://schemas.microsoft.com/office/drawing/2014/main" id="{197858D6-25C5-4FC5-A77C-B539A84A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14575"/>
            <a:ext cx="311467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8" name="文字-8-说明现有方法与已有能力">
            <a:extLst xmlns:a="http://schemas.openxmlformats.org/drawingml/2006/main">
              <a:ext uri="{FF2B5EF4-FFF2-40B4-BE49-F238E27FC236}">
                <a16:creationId xmlns:a16="http://schemas.microsoft.com/office/drawing/2014/main" id="{DA17BB9C-BF59-491F-AB92-A89DDEE4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19500"/>
            <a:ext cx="31146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说明现有方法</a:t>
            </a:r>
          </a:p>
          <a:p xmlns:a="http://schemas.openxmlformats.org/drawingml/2006/main">
            <a:pPr algn="ctr">
              <a:def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与已有能力</a:t>
            </a:r>
          </a:p>
        </p:txBody>
      </p:sp>
      <p:sp>
        <p:nvSpPr>
          <p:cNvPr id="9" name="文字-9-填写核心局限与尚未解决的">
            <a:extLst xmlns:a="http://schemas.openxmlformats.org/drawingml/2006/main">
              <a:ext uri="{FF2B5EF4-FFF2-40B4-BE49-F238E27FC236}">
                <a16:creationId xmlns:a16="http://schemas.microsoft.com/office/drawing/2014/main" id="{AB386A19-AA6E-4C4A-967F-8B93A30D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0075"/>
            <a:ext cx="3114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填写核心局限</a:t>
            </a:r>
          </a:p>
          <a:p xmlns:a="http://schemas.openxmlformats.org/drawingml/2006/main">
            <a:pPr algn="ctr">
              <a:def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与尚未解决的问题</a:t>
            </a:r>
          </a:p>
        </p:txBody>
      </p:sp>
      <p:sp>
        <p:nvSpPr>
          <p:cNvPr id="10" name="文字-10-填写研究趋势与可采用的技">
            <a:extLst xmlns:a="http://schemas.openxmlformats.org/drawingml/2006/main">
              <a:ext uri="{FF2B5EF4-FFF2-40B4-BE49-F238E27FC236}">
                <a16:creationId xmlns:a16="http://schemas.microsoft.com/office/drawing/2014/main" id="{85677008-3348-483D-82E7-DD6D8158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72075"/>
            <a:ext cx="3114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填写研究趋势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与可采用的技术方向</a:t>
            </a:r>
          </a:p>
        </p:txBody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8A85C033-D479-4780-995B-5A05AAC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53125"/>
            <a:ext cx="3267075" cy="361950"/>
          </a:xfrm>
          <a:custGeom xmlns:a="http://schemas.openxmlformats.org/drawingml/2006/main">
            <a:pathLst>
              <a:path w="3267075" h="361950">
                <a:moveTo>
                  <a:pt x="0" y="0"/>
                </a:moveTo>
                <a:lnTo>
                  <a:pt x="3095625" y="0"/>
                </a:lnTo>
                <a:lnTo>
                  <a:pt x="3267075" y="180975"/>
                </a:lnTo>
                <a:lnTo>
                  <a:pt x="3095625" y="361950"/>
                </a:lnTo>
                <a:lnTo>
                  <a:pt x="0" y="361950"/>
                </a:lnTo>
                <a:close/>
              </a:path>
            </a:pathLst>
          </a:cu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</a:ln>
        </p:spPr>
      </p:sp>
      <p:sp>
        <p:nvSpPr>
          <p:cNvPr id="12" name="文字-12-结构表达">
            <a:extLst xmlns:a="http://schemas.openxmlformats.org/drawingml/2006/main">
              <a:ext uri="{FF2B5EF4-FFF2-40B4-BE49-F238E27FC236}">
                <a16:creationId xmlns:a16="http://schemas.microsoft.com/office/drawing/2014/main" id="{A5501DFC-3B74-40BC-B33B-47B34394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53125"/>
            <a:ext cx="303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结构表达</a:t>
            </a:r>
          </a:p>
        </p:txBody>
      </p:sp>
      <p:sp>
        <p:nvSpPr>
          <p:cNvPr id="13" name="文字-13-状态理解">
            <a:extLst xmlns:a="http://schemas.openxmlformats.org/drawingml/2006/main">
              <a:ext uri="{FF2B5EF4-FFF2-40B4-BE49-F238E27FC236}">
                <a16:creationId xmlns:a16="http://schemas.microsoft.com/office/drawing/2014/main" id="{4BB8AE44-C3F9-4E25-941F-41FACF3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38325"/>
            <a:ext cx="3267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状态理解</a:t>
            </a:r>
          </a:p>
        </p:txBody>
      </p:sp>
      <p:sp>
        <p:nvSpPr>
          <p:cNvPr id="14" name="图片区-14">
            <a:extLst xmlns:a="http://schemas.openxmlformats.org/drawingml/2006/main">
              <a:ext uri="{FF2B5EF4-FFF2-40B4-BE49-F238E27FC236}">
                <a16:creationId xmlns:a16="http://schemas.microsoft.com/office/drawing/2014/main" id="{2197EDD6-E1FD-40BC-A71F-83C6372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14575"/>
            <a:ext cx="311467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5" name="文字-15-说明现有方法与已有能力">
            <a:extLst xmlns:a="http://schemas.openxmlformats.org/drawingml/2006/main">
              <a:ext uri="{FF2B5EF4-FFF2-40B4-BE49-F238E27FC236}">
                <a16:creationId xmlns:a16="http://schemas.microsoft.com/office/drawing/2014/main" id="{BEEC5621-9CB1-4DE4-AD4E-FC9304E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619500"/>
            <a:ext cx="31146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说明现有方法</a:t>
            </a:r>
          </a:p>
          <a:p xmlns:a="http://schemas.openxmlformats.org/drawingml/2006/main">
            <a:pPr algn="ctr">
              <a:def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与已有能力</a:t>
            </a:r>
          </a:p>
        </p:txBody>
      </p:sp>
      <p:sp>
        <p:nvSpPr>
          <p:cNvPr id="16" name="文字-16-填写核心局限与尚未解决的">
            <a:extLst xmlns:a="http://schemas.openxmlformats.org/drawingml/2006/main">
              <a:ext uri="{FF2B5EF4-FFF2-40B4-BE49-F238E27FC236}">
                <a16:creationId xmlns:a16="http://schemas.microsoft.com/office/drawing/2014/main" id="{9AD4F66D-74C0-485C-B778-9EFD703B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10075"/>
            <a:ext cx="3114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填写核心局限</a:t>
            </a:r>
          </a:p>
          <a:p xmlns:a="http://schemas.openxmlformats.org/drawingml/2006/main">
            <a:pPr algn="ctr">
              <a:def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与尚未解决的问题</a:t>
            </a:r>
          </a:p>
        </p:txBody>
      </p:sp>
      <p:sp>
        <p:nvSpPr>
          <p:cNvPr id="17" name="文字-17-填写研究趋势与可采用的技">
            <a:extLst xmlns:a="http://schemas.openxmlformats.org/drawingml/2006/main">
              <a:ext uri="{FF2B5EF4-FFF2-40B4-BE49-F238E27FC236}">
                <a16:creationId xmlns:a16="http://schemas.microsoft.com/office/drawing/2014/main" id="{65388379-2AAE-4B83-8972-84EFB10A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72075"/>
            <a:ext cx="3114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填写研究趋势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与可采用的技术方向</a:t>
            </a:r>
          </a:p>
        </p:txBody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6852C112-F85D-45E5-8615-B0C4B319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53125"/>
            <a:ext cx="3267075" cy="361950"/>
          </a:xfrm>
          <a:custGeom xmlns:a="http://schemas.openxmlformats.org/drawingml/2006/main">
            <a:pathLst>
              <a:path w="3267075" h="361950">
                <a:moveTo>
                  <a:pt x="0" y="0"/>
                </a:moveTo>
                <a:lnTo>
                  <a:pt x="3095625" y="0"/>
                </a:lnTo>
                <a:lnTo>
                  <a:pt x="3267075" y="180975"/>
                </a:lnTo>
                <a:lnTo>
                  <a:pt x="3095625" y="361950"/>
                </a:lnTo>
                <a:lnTo>
                  <a:pt x="0" y="361950"/>
                </a:lnTo>
                <a:close/>
              </a:path>
            </a:pathLst>
          </a:cu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</a:ln>
        </p:spPr>
      </p:sp>
      <p:sp>
        <p:nvSpPr>
          <p:cNvPr id="19" name="文字-19-状态理解">
            <a:extLst xmlns:a="http://schemas.openxmlformats.org/drawingml/2006/main">
              <a:ext uri="{FF2B5EF4-FFF2-40B4-BE49-F238E27FC236}">
                <a16:creationId xmlns:a16="http://schemas.microsoft.com/office/drawing/2014/main" id="{00FC9AF9-6986-456C-8527-240A3ED0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953125"/>
            <a:ext cx="303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状态理解</a:t>
            </a:r>
          </a:p>
        </p:txBody>
      </p:sp>
      <p:sp>
        <p:nvSpPr>
          <p:cNvPr id="20" name="文字-20-行动闭环">
            <a:extLst xmlns:a="http://schemas.openxmlformats.org/drawingml/2006/main">
              <a:ext uri="{FF2B5EF4-FFF2-40B4-BE49-F238E27FC236}">
                <a16:creationId xmlns:a16="http://schemas.microsoft.com/office/drawing/2014/main" id="{E46249EA-3428-4190-A04C-08A4F31E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38325"/>
            <a:ext cx="3267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行动闭环</a:t>
            </a:r>
          </a:p>
        </p:txBody>
      </p:sp>
      <p:sp>
        <p:nvSpPr>
          <p:cNvPr id="21" name="图片区-21">
            <a:extLst xmlns:a="http://schemas.openxmlformats.org/drawingml/2006/main">
              <a:ext uri="{FF2B5EF4-FFF2-40B4-BE49-F238E27FC236}">
                <a16:creationId xmlns:a16="http://schemas.microsoft.com/office/drawing/2014/main" id="{2DAD22A6-3C6F-45D5-8ADC-B0D8CD5C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14575"/>
            <a:ext cx="311467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2" name="文字-22-说明现有方法与已有能力">
            <a:extLst xmlns:a="http://schemas.openxmlformats.org/drawingml/2006/main">
              <a:ext uri="{FF2B5EF4-FFF2-40B4-BE49-F238E27FC236}">
                <a16:creationId xmlns:a16="http://schemas.microsoft.com/office/drawing/2014/main" id="{A582A1D3-CE7E-4599-BC98-6950E33F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31146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说明现有方法</a:t>
            </a:r>
          </a:p>
          <a:p xmlns:a="http://schemas.openxmlformats.org/drawingml/2006/main">
            <a:pPr algn="ctr">
              <a:def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与已有能力</a:t>
            </a:r>
          </a:p>
        </p:txBody>
      </p:sp>
      <p:sp>
        <p:nvSpPr>
          <p:cNvPr id="23" name="文字-23-填写核心局限与尚未解决的">
            <a:extLst xmlns:a="http://schemas.openxmlformats.org/drawingml/2006/main">
              <a:ext uri="{FF2B5EF4-FFF2-40B4-BE49-F238E27FC236}">
                <a16:creationId xmlns:a16="http://schemas.microsoft.com/office/drawing/2014/main" id="{69907B92-9BE0-40B7-8EB1-95D2A1EA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10075"/>
            <a:ext cx="3114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填写核心局限</a:t>
            </a:r>
          </a:p>
          <a:p xmlns:a="http://schemas.openxmlformats.org/drawingml/2006/main">
            <a:pPr algn="ctr">
              <a:def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与尚未解决的问题</a:t>
            </a:r>
          </a:p>
        </p:txBody>
      </p:sp>
      <p:sp>
        <p:nvSpPr>
          <p:cNvPr id="24" name="文字-24-填写研究趋势与可采用的技">
            <a:extLst xmlns:a="http://schemas.openxmlformats.org/drawingml/2006/main">
              <a:ext uri="{FF2B5EF4-FFF2-40B4-BE49-F238E27FC236}">
                <a16:creationId xmlns:a16="http://schemas.microsoft.com/office/drawing/2014/main" id="{3A90AB4F-ECD0-4E85-A18C-B1C11CF1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72075"/>
            <a:ext cx="3114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7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填写研究趋势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与可采用的技术方向</a:t>
            </a:r>
          </a:p>
        </p:txBody>
      </p:sp>
      <p:sp>
        <p:nvSpPr>
          <p:cNvPr id="25" name="结构-25">
            <a:extLst xmlns:a="http://schemas.openxmlformats.org/drawingml/2006/main">
              <a:ext uri="{FF2B5EF4-FFF2-40B4-BE49-F238E27FC236}">
                <a16:creationId xmlns:a16="http://schemas.microsoft.com/office/drawing/2014/main" id="{0AF12579-4563-42D9-AD7F-4D2F8BA6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953125"/>
            <a:ext cx="3267075" cy="361950"/>
          </a:xfrm>
          <a:custGeom xmlns:a="http://schemas.openxmlformats.org/drawingml/2006/main">
            <a:pathLst>
              <a:path w="3267075" h="361950">
                <a:moveTo>
                  <a:pt x="0" y="0"/>
                </a:moveTo>
                <a:lnTo>
                  <a:pt x="3095625" y="0"/>
                </a:lnTo>
                <a:lnTo>
                  <a:pt x="3267075" y="180975"/>
                </a:lnTo>
                <a:lnTo>
                  <a:pt x="3095625" y="361950"/>
                </a:lnTo>
                <a:lnTo>
                  <a:pt x="0" y="361950"/>
                </a:lnTo>
                <a:close/>
              </a:path>
            </a:pathLst>
          </a:custGeom>
          <a:solidFill xmlns:a="http://schemas.openxmlformats.org/drawingml/2006/main">
            <a:srgbClr val="C36713"/>
          </a:solidFill>
          <a:ln xmlns:a="http://schemas.openxmlformats.org/drawingml/2006/main" w="0">
            <a:noFill/>
          </a:ln>
        </p:spPr>
      </p:sp>
      <p:sp>
        <p:nvSpPr>
          <p:cNvPr id="26" name="文字-26-行动闭环">
            <a:extLst xmlns:a="http://schemas.openxmlformats.org/drawingml/2006/main">
              <a:ext uri="{FF2B5EF4-FFF2-40B4-BE49-F238E27FC236}">
                <a16:creationId xmlns:a16="http://schemas.microsoft.com/office/drawing/2014/main" id="{E66F0D4E-161F-4151-9B85-25437927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953125"/>
            <a:ext cx="303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行动闭环</a:t>
            </a:r>
          </a:p>
        </p:txBody>
      </p:sp>
      <p:sp>
        <p:nvSpPr>
          <p:cNvPr id="27" name="文字-27-现有研究">
            <a:extLst xmlns:a="http://schemas.openxmlformats.org/drawingml/2006/main">
              <a:ext uri="{FF2B5EF4-FFF2-40B4-BE49-F238E27FC236}">
                <a16:creationId xmlns:a16="http://schemas.microsoft.com/office/drawing/2014/main" id="{2D96B4D8-62E5-4B6E-9345-7A7B9F1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714750"/>
            <a:ext cx="1076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现有研究</a:t>
            </a:r>
          </a:p>
        </p:txBody>
      </p:sp>
      <p:sp>
        <p:nvSpPr>
          <p:cNvPr id="28" name="文字-28-核心局限">
            <a:extLst xmlns:a="http://schemas.openxmlformats.org/drawingml/2006/main">
              <a:ext uri="{FF2B5EF4-FFF2-40B4-BE49-F238E27FC236}">
                <a16:creationId xmlns:a16="http://schemas.microsoft.com/office/drawing/2014/main" id="{C064FEF6-341E-4327-A7D1-7F85FE1A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86275"/>
            <a:ext cx="1076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核心局限</a:t>
            </a:r>
          </a:p>
        </p:txBody>
      </p:sp>
      <p:sp>
        <p:nvSpPr>
          <p:cNvPr id="29" name="文字-29-研究趋势">
            <a:extLst xmlns:a="http://schemas.openxmlformats.org/drawingml/2006/main">
              <a:ext uri="{FF2B5EF4-FFF2-40B4-BE49-F238E27FC236}">
                <a16:creationId xmlns:a16="http://schemas.microsoft.com/office/drawing/2014/main" id="{3BF341AF-0076-41C8-8238-20105724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57800"/>
            <a:ext cx="10763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研究趋势</a:t>
            </a:r>
          </a:p>
        </p:txBody>
      </p:sp>
      <p:sp>
        <p:nvSpPr>
          <p:cNvPr id="30" name="文字-30-说明上述趋势对本研究方法">
            <a:extLst xmlns:a="http://schemas.openxmlformats.org/drawingml/2006/main">
              <a:ext uri="{FF2B5EF4-FFF2-40B4-BE49-F238E27FC236}">
                <a16:creationId xmlns:a16="http://schemas.microsoft.com/office/drawing/2014/main" id="{3106339C-038C-47C9-9198-60291F28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391275"/>
            <a:ext cx="1147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说明上述趋势对本研究方法设计的启示</a:t>
            </a:r>
          </a:p>
        </p:txBody>
      </p:sp>
    </p:spTree>
    <p:extLst>
      <p:ext uri="{BB962C8B-B14F-4D97-AF65-F5344CB8AC3E}">
        <p14:creationId xmlns:p14="http://schemas.microsoft.com/office/powerpoint/2010/main" val="13234585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文字-1-1.2 研究现状">
            <a:extLst xmlns:a="http://schemas.openxmlformats.org/drawingml/2006/main">
              <a:ext uri="{FF2B5EF4-FFF2-40B4-BE49-F238E27FC236}">
                <a16:creationId xmlns:a16="http://schemas.microsoft.com/office/drawing/2014/main" id="{F83DE00F-B54E-421A-BB86-2368DF05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1.2 研究现状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2F8BED45-B2E1-49D0-8A44-96A35996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6EF651C0-F444-44DA-B494-FCD63F68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14400"/>
            <a:ext cx="1145439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8C814B87-3DD4-487A-89A1-C274FD63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09728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说明当前研究进展及需要突破的">
            <a:extLst xmlns:a="http://schemas.openxmlformats.org/drawingml/2006/main">
              <a:ext uri="{FF2B5EF4-FFF2-40B4-BE49-F238E27FC236}">
                <a16:creationId xmlns:a16="http://schemas.microsoft.com/office/drawing/2014/main" id="{2C7468D0-C20D-4939-8048-0E10A77B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75360"/>
            <a:ext cx="10814650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当前研究进展及需要突破的共同问题</a:t>
            </a:r>
          </a:p>
        </p:txBody>
      </p:sp>
      <p:sp>
        <p:nvSpPr>
          <p:cNvPr id="6" name="文字-6-研究现状">
            <a:extLst xmlns:a="http://schemas.openxmlformats.org/drawingml/2006/main">
              <a:ext uri="{FF2B5EF4-FFF2-40B4-BE49-F238E27FC236}">
                <a16:creationId xmlns:a16="http://schemas.microsoft.com/office/drawing/2014/main" id="{0EE4EEAB-C217-4DB2-85B6-4A36D5E9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813560"/>
            <a:ext cx="1340407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研究现状</a:t>
            </a:r>
          </a:p>
        </p:txBody>
      </p:sp>
      <p:sp>
        <p:nvSpPr>
          <p:cNvPr id="7" name="文字-7-核心挑战">
            <a:extLst xmlns:a="http://schemas.openxmlformats.org/drawingml/2006/main">
              <a:ext uri="{FF2B5EF4-FFF2-40B4-BE49-F238E27FC236}">
                <a16:creationId xmlns:a16="http://schemas.microsoft.com/office/drawing/2014/main" id="{EA0C84B2-93F1-4D7D-A33D-FFF833B5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796540"/>
            <a:ext cx="1340407" cy="62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核心挑战</a:t>
            </a:r>
          </a:p>
        </p:txBody>
      </p:sp>
      <p:sp>
        <p:nvSpPr>
          <p:cNvPr id="8" name="文字-8-探索方向">
            <a:extLst xmlns:a="http://schemas.openxmlformats.org/drawingml/2006/main">
              <a:ext uri="{FF2B5EF4-FFF2-40B4-BE49-F238E27FC236}">
                <a16:creationId xmlns:a16="http://schemas.microsoft.com/office/drawing/2014/main" id="{BCEBA237-41F1-4A3C-A034-FEE6E65D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5219700"/>
            <a:ext cx="1340407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探索方向</a:t>
            </a:r>
          </a:p>
        </p:txBody>
      </p:sp>
      <p:sp>
        <p:nvSpPr>
          <p:cNvPr id="9" name="文字-9-研究方向一">
            <a:extLst xmlns:a="http://schemas.openxmlformats.org/drawingml/2006/main">
              <a:ext uri="{FF2B5EF4-FFF2-40B4-BE49-F238E27FC236}">
                <a16:creationId xmlns:a16="http://schemas.microsoft.com/office/drawing/2014/main" id="{8D589C2C-0114-473B-9DBF-03098BC1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082" y="1714500"/>
            <a:ext cx="2132466" cy="350520"/>
          </a:xfrm>
          <a:prstGeom xmlns:a="http://schemas.openxmlformats.org/drawingml/2006/main" prst="roundRect">
            <a:avLst>
              <a:gd name="adj" fmla="val 1663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研究方向一</a:t>
            </a:r>
          </a:p>
        </p:txBody>
      </p:sp>
      <p:sp>
        <p:nvSpPr>
          <p:cNvPr id="10" name="文字-10-填写该方向的研究基础">
            <a:extLst xmlns:a="http://schemas.openxmlformats.org/drawingml/2006/main">
              <a:ext uri="{FF2B5EF4-FFF2-40B4-BE49-F238E27FC236}">
                <a16:creationId xmlns:a16="http://schemas.microsoft.com/office/drawing/2014/main" id="{5E5CCC03-C70A-4209-84BB-D32AEEE1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154" y="2110740"/>
            <a:ext cx="232286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代表方法或关键认识</a:t>
            </a:r>
          </a:p>
        </p:txBody>
      </p:sp>
      <p:sp>
        <p:nvSpPr>
          <p:cNvPr id="11" name="对象-11">
            <a:extLst xmlns:a="http://schemas.openxmlformats.org/drawingml/2006/main">
              <a:ext uri="{FF2B5EF4-FFF2-40B4-BE49-F238E27FC236}">
                <a16:creationId xmlns:a16="http://schemas.microsoft.com/office/drawing/2014/main" id="{68B235DD-B092-4815-8A66-3AE67822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458" y="2705100"/>
            <a:ext cx="2383793" cy="2346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2" name="文字-12-填写尚未解决的挑战">
            <a:extLst xmlns:a="http://schemas.openxmlformats.org/drawingml/2006/main">
              <a:ext uri="{FF2B5EF4-FFF2-40B4-BE49-F238E27FC236}">
                <a16:creationId xmlns:a16="http://schemas.microsoft.com/office/drawing/2014/main" id="{3B3DCAC4-C9AC-4789-B562-5606A4B3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618" y="2781300"/>
            <a:ext cx="2231474" cy="32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尚未解决的挑战</a:t>
            </a:r>
          </a:p>
        </p:txBody>
      </p:sp>
      <p:sp>
        <p:nvSpPr>
          <p:cNvPr id="13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14B9F5E0-891E-48EA-9AE5-B3C58C2C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698" y="3223260"/>
            <a:ext cx="2155314" cy="166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4" name="文字-14-填写下一步探索方向">
            <a:extLst xmlns:a="http://schemas.openxmlformats.org/drawingml/2006/main">
              <a:ext uri="{FF2B5EF4-FFF2-40B4-BE49-F238E27FC236}">
                <a16:creationId xmlns:a16="http://schemas.microsoft.com/office/drawing/2014/main" id="{91A3B536-4F30-4A4D-A096-4D786401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458" y="5219700"/>
            <a:ext cx="2383793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073E8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突破方向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拟解决的关键问题</a:t>
            </a:r>
          </a:p>
        </p:txBody>
      </p:sp>
      <p:sp>
        <p:nvSpPr>
          <p:cNvPr id="15" name="文字-15-研究方向二">
            <a:extLst xmlns:a="http://schemas.openxmlformats.org/drawingml/2006/main">
              <a:ext uri="{FF2B5EF4-FFF2-40B4-BE49-F238E27FC236}">
                <a16:creationId xmlns:a16="http://schemas.microsoft.com/office/drawing/2014/main" id="{8005F9EC-4D00-41D6-A401-9E1B47B7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730" y="1714500"/>
            <a:ext cx="2132466" cy="350520"/>
          </a:xfrm>
          <a:prstGeom xmlns:a="http://schemas.openxmlformats.org/drawingml/2006/main" prst="roundRect">
            <a:avLst>
              <a:gd name="adj" fmla="val 1663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研究方向二</a:t>
            </a:r>
          </a:p>
        </p:txBody>
      </p:sp>
      <p:sp>
        <p:nvSpPr>
          <p:cNvPr id="16" name="文字-16-填写该方向的研究基础">
            <a:extLst xmlns:a="http://schemas.openxmlformats.org/drawingml/2006/main">
              <a:ext uri="{FF2B5EF4-FFF2-40B4-BE49-F238E27FC236}">
                <a16:creationId xmlns:a16="http://schemas.microsoft.com/office/drawing/2014/main" id="{6155B132-C2D7-42DB-91F4-8EA0A313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802" y="2110740"/>
            <a:ext cx="232286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代表方法或关键认识</a:t>
            </a:r>
          </a:p>
        </p:txBody>
      </p:sp>
      <p:sp>
        <p:nvSpPr>
          <p:cNvPr id="17" name="对象-17">
            <a:extLst xmlns:a="http://schemas.openxmlformats.org/drawingml/2006/main">
              <a:ext uri="{FF2B5EF4-FFF2-40B4-BE49-F238E27FC236}">
                <a16:creationId xmlns:a16="http://schemas.microsoft.com/office/drawing/2014/main" id="{BDBBE070-1107-47FF-B738-1AA84F85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07" y="2705100"/>
            <a:ext cx="2383793" cy="2346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8" name="文字-18-填写尚未解决的挑战">
            <a:extLst xmlns:a="http://schemas.openxmlformats.org/drawingml/2006/main">
              <a:ext uri="{FF2B5EF4-FFF2-40B4-BE49-F238E27FC236}">
                <a16:creationId xmlns:a16="http://schemas.microsoft.com/office/drawing/2014/main" id="{86C2BD4C-62B3-4138-A75E-0C5B3E0E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66" y="2781300"/>
            <a:ext cx="2231474" cy="32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尚未解决的挑战</a:t>
            </a:r>
          </a:p>
        </p:txBody>
      </p:sp>
      <p:sp>
        <p:nvSpPr>
          <p:cNvPr id="19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B0585CE0-E708-490F-89A0-02A3C707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345" y="3223260"/>
            <a:ext cx="2155314" cy="166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0" name="文字-20-填写下一步探索方向">
            <a:extLst xmlns:a="http://schemas.openxmlformats.org/drawingml/2006/main">
              <a:ext uri="{FF2B5EF4-FFF2-40B4-BE49-F238E27FC236}">
                <a16:creationId xmlns:a16="http://schemas.microsoft.com/office/drawing/2014/main" id="{6E3B3CBD-1017-479D-B485-0A6FFC02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07" y="5219700"/>
            <a:ext cx="2383793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073E8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突破方向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拟解决的关键问题</a:t>
            </a:r>
          </a:p>
        </p:txBody>
      </p:sp>
      <p:sp>
        <p:nvSpPr>
          <p:cNvPr id="21" name="文字-21-研究方向三">
            <a:extLst xmlns:a="http://schemas.openxmlformats.org/drawingml/2006/main">
              <a:ext uri="{FF2B5EF4-FFF2-40B4-BE49-F238E27FC236}">
                <a16:creationId xmlns:a16="http://schemas.microsoft.com/office/drawing/2014/main" id="{C69E7757-3CDF-4208-8DB0-35805A10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378" y="1714500"/>
            <a:ext cx="2132466" cy="350520"/>
          </a:xfrm>
          <a:prstGeom xmlns:a="http://schemas.openxmlformats.org/drawingml/2006/main" prst="roundRect">
            <a:avLst>
              <a:gd name="adj" fmla="val 16634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研究方向三</a:t>
            </a:r>
          </a:p>
        </p:txBody>
      </p:sp>
      <p:sp>
        <p:nvSpPr>
          <p:cNvPr id="22" name="文字-22-填写该方向的研究基础">
            <a:extLst xmlns:a="http://schemas.openxmlformats.org/drawingml/2006/main">
              <a:ext uri="{FF2B5EF4-FFF2-40B4-BE49-F238E27FC236}">
                <a16:creationId xmlns:a16="http://schemas.microsoft.com/office/drawing/2014/main" id="{906F768E-C358-4CE5-A270-CEFAA021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451" y="2110740"/>
            <a:ext cx="232286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代表方法或关键认识</a:t>
            </a:r>
          </a:p>
        </p:txBody>
      </p:sp>
      <p:sp>
        <p:nvSpPr>
          <p:cNvPr id="23" name="对象-23">
            <a:extLst xmlns:a="http://schemas.openxmlformats.org/drawingml/2006/main">
              <a:ext uri="{FF2B5EF4-FFF2-40B4-BE49-F238E27FC236}">
                <a16:creationId xmlns:a16="http://schemas.microsoft.com/office/drawing/2014/main" id="{D92C9C21-0E2B-4C0D-888F-9DC6A298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755" y="2705100"/>
            <a:ext cx="2383793" cy="2346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24" name="文字-24-填写尚未解决的挑战">
            <a:extLst xmlns:a="http://schemas.openxmlformats.org/drawingml/2006/main">
              <a:ext uri="{FF2B5EF4-FFF2-40B4-BE49-F238E27FC236}">
                <a16:creationId xmlns:a16="http://schemas.microsoft.com/office/drawing/2014/main" id="{A08228B2-502F-49CB-AE71-E5480771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914" y="2781300"/>
            <a:ext cx="2231474" cy="32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尚未解决的挑战</a:t>
            </a:r>
          </a:p>
        </p:txBody>
      </p:sp>
      <p:sp>
        <p:nvSpPr>
          <p:cNvPr id="25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034FC91F-6CAB-43A1-A4B9-D4F7C3A4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7994" y="3223260"/>
            <a:ext cx="2155314" cy="1661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6" name="文字-26-填写下一步探索方向">
            <a:extLst xmlns:a="http://schemas.openxmlformats.org/drawingml/2006/main">
              <a:ext uri="{FF2B5EF4-FFF2-40B4-BE49-F238E27FC236}">
                <a16:creationId xmlns:a16="http://schemas.microsoft.com/office/drawing/2014/main" id="{ED9D576F-E1F4-438C-A325-EE46B310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755" y="5219700"/>
            <a:ext cx="2383793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073E8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突破方向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拟解决的关键问题</a:t>
            </a:r>
          </a:p>
        </p:txBody>
      </p:sp>
      <p:sp>
        <p:nvSpPr>
          <p:cNvPr id="27" name="文字-27-补充方法框架">
            <a:extLst xmlns:a="http://schemas.openxmlformats.org/drawingml/2006/main">
              <a:ext uri="{FF2B5EF4-FFF2-40B4-BE49-F238E27FC236}">
                <a16:creationId xmlns:a16="http://schemas.microsoft.com/office/drawing/2014/main" id="{5B989107-D287-4704-8A4B-97CD6F15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257" y="1714500"/>
            <a:ext cx="2261938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补充方法框架</a:t>
            </a:r>
          </a:p>
        </p:txBody>
      </p:sp>
      <p:sp>
        <p:nvSpPr>
          <p:cNvPr id="28" name="对象-28">
            <a:extLst xmlns:a="http://schemas.openxmlformats.org/drawingml/2006/main">
              <a:ext uri="{FF2B5EF4-FFF2-40B4-BE49-F238E27FC236}">
                <a16:creationId xmlns:a16="http://schemas.microsoft.com/office/drawing/2014/main" id="{90F8C46C-1BCF-4814-A2EB-C038F51B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1257" y="2194560"/>
            <a:ext cx="2261938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29" name="文字-29-输入表示">
            <a:extLst xmlns:a="http://schemas.openxmlformats.org/drawingml/2006/main">
              <a:ext uri="{FF2B5EF4-FFF2-40B4-BE49-F238E27FC236}">
                <a16:creationId xmlns:a16="http://schemas.microsoft.com/office/drawing/2014/main" id="{10FCAECC-5789-405A-84A2-FB12F035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432" y="2331720"/>
            <a:ext cx="171358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输入表示</a:t>
            </a:r>
          </a:p>
        </p:txBody>
      </p:sp>
      <p:sp>
        <p:nvSpPr>
          <p:cNvPr id="30" name="连线-30">
            <a:extLst xmlns:a="http://schemas.openxmlformats.org/drawingml/2006/main">
              <a:ext uri="{FF2B5EF4-FFF2-40B4-BE49-F238E27FC236}">
                <a16:creationId xmlns:a16="http://schemas.microsoft.com/office/drawing/2014/main" id="{5BBBD8AA-1991-4F49-B18E-617C5D89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88419" y="2773680"/>
            <a:ext cx="729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073E86"/>
            </a:solidFill>
            <a:prstDash val="solid"/>
          </a:ln>
        </p:spPr>
      </p:sp>
      <p:sp>
        <p:nvSpPr>
          <p:cNvPr id="31" name="结构-31">
            <a:extLst xmlns:a="http://schemas.openxmlformats.org/drawingml/2006/main">
              <a:ext uri="{FF2B5EF4-FFF2-40B4-BE49-F238E27FC236}">
                <a16:creationId xmlns:a16="http://schemas.microsoft.com/office/drawing/2014/main" id="{3829FA37-303D-45DA-BA08-B9E175A0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723" y="280416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32" name="文字-32-核心模块一">
            <a:extLst xmlns:a="http://schemas.openxmlformats.org/drawingml/2006/main">
              <a:ext uri="{FF2B5EF4-FFF2-40B4-BE49-F238E27FC236}">
                <a16:creationId xmlns:a16="http://schemas.microsoft.com/office/drawing/2014/main" id="{26673615-2C90-4A8F-93D4-7B6F80EA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432" y="2987040"/>
            <a:ext cx="171358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核心模块一</a:t>
            </a:r>
          </a:p>
        </p:txBody>
      </p:sp>
      <p:sp>
        <p:nvSpPr>
          <p:cNvPr id="33" name="连线-33">
            <a:extLst xmlns:a="http://schemas.openxmlformats.org/drawingml/2006/main">
              <a:ext uri="{FF2B5EF4-FFF2-40B4-BE49-F238E27FC236}">
                <a16:creationId xmlns:a16="http://schemas.microsoft.com/office/drawing/2014/main" id="{AEA068F6-4AE5-4FC4-B841-35F5A6D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88419" y="3429000"/>
            <a:ext cx="729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073E86"/>
            </a:solidFill>
            <a:prstDash val="solid"/>
          </a:ln>
        </p:spPr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7886A16C-B1D7-4ABE-8370-F840CE7C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723" y="345948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35" name="文字-35-核心模块二">
            <a:extLst xmlns:a="http://schemas.openxmlformats.org/drawingml/2006/main">
              <a:ext uri="{FF2B5EF4-FFF2-40B4-BE49-F238E27FC236}">
                <a16:creationId xmlns:a16="http://schemas.microsoft.com/office/drawing/2014/main" id="{2B565D0E-6305-4C1D-9E60-83D12001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432" y="3642360"/>
            <a:ext cx="171358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核心模块二</a:t>
            </a:r>
          </a:p>
        </p:txBody>
      </p:sp>
      <p:sp>
        <p:nvSpPr>
          <p:cNvPr id="36" name="连线-36">
            <a:extLst xmlns:a="http://schemas.openxmlformats.org/drawingml/2006/main">
              <a:ext uri="{FF2B5EF4-FFF2-40B4-BE49-F238E27FC236}">
                <a16:creationId xmlns:a16="http://schemas.microsoft.com/office/drawing/2014/main" id="{0D7ABCBB-CBB1-41C0-8BAD-283BE448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88419" y="4084320"/>
            <a:ext cx="729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073E86"/>
            </a:solidFill>
            <a:prstDash val="solid"/>
          </a:ln>
        </p:spPr>
      </p:sp>
      <p:sp>
        <p:nvSpPr>
          <p:cNvPr id="37" name="结构-37">
            <a:extLst xmlns:a="http://schemas.openxmlformats.org/drawingml/2006/main">
              <a:ext uri="{FF2B5EF4-FFF2-40B4-BE49-F238E27FC236}">
                <a16:creationId xmlns:a16="http://schemas.microsoft.com/office/drawing/2014/main" id="{F75787E0-B59C-4062-9893-B8EE35D7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723" y="411480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38" name="文字-38-核心模块三">
            <a:extLst xmlns:a="http://schemas.openxmlformats.org/drawingml/2006/main">
              <a:ext uri="{FF2B5EF4-FFF2-40B4-BE49-F238E27FC236}">
                <a16:creationId xmlns:a16="http://schemas.microsoft.com/office/drawing/2014/main" id="{18513A8E-9C1B-448D-9B28-3E7AF712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432" y="4297680"/>
            <a:ext cx="171358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核心模块三</a:t>
            </a:r>
          </a:p>
        </p:txBody>
      </p:sp>
      <p:sp>
        <p:nvSpPr>
          <p:cNvPr id="39" name="连线-39">
            <a:extLst xmlns:a="http://schemas.openxmlformats.org/drawingml/2006/main">
              <a:ext uri="{FF2B5EF4-FFF2-40B4-BE49-F238E27FC236}">
                <a16:creationId xmlns:a16="http://schemas.microsoft.com/office/drawing/2014/main" id="{FE159DF6-7B38-4025-8835-C253AD89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88419" y="4739640"/>
            <a:ext cx="729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073E86"/>
            </a:solidFill>
            <a:prstDash val="solid"/>
          </a:ln>
        </p:spPr>
      </p:sp>
      <p:sp>
        <p:nvSpPr>
          <p:cNvPr id="40" name="结构-40">
            <a:extLst xmlns:a="http://schemas.openxmlformats.org/drawingml/2006/main">
              <a:ext uri="{FF2B5EF4-FFF2-40B4-BE49-F238E27FC236}">
                <a16:creationId xmlns:a16="http://schemas.microsoft.com/office/drawing/2014/main" id="{56C4560D-693F-4CB5-989E-5B8052FE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723" y="477012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41" name="文字-41-输出结果">
            <a:extLst xmlns:a="http://schemas.openxmlformats.org/drawingml/2006/main">
              <a:ext uri="{FF2B5EF4-FFF2-40B4-BE49-F238E27FC236}">
                <a16:creationId xmlns:a16="http://schemas.microsoft.com/office/drawing/2014/main" id="{452D103B-0F86-47EB-A327-9BDB953E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432" y="4953000"/>
            <a:ext cx="171358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输出结果</a:t>
            </a:r>
          </a:p>
        </p:txBody>
      </p:sp>
      <p:sp>
        <p:nvSpPr>
          <p:cNvPr id="42" name="文字-42-归纳共同研究缺口与本研究的切">
            <a:extLst xmlns:a="http://schemas.openxmlformats.org/drawingml/2006/main">
              <a:ext uri="{FF2B5EF4-FFF2-40B4-BE49-F238E27FC236}">
                <a16:creationId xmlns:a16="http://schemas.microsoft.com/office/drawing/2014/main" id="{D4F9D256-3B82-4E87-8C03-820D0BF9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187440"/>
            <a:ext cx="1145439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从现有局限出发，形成可验证的研究框架</a:t>
            </a:r>
          </a:p>
        </p:txBody>
      </p:sp>
    </p:spTree>
    <p:extLst>
      <p:ext uri="{BB962C8B-B14F-4D97-AF65-F5344CB8AC3E}">
        <p14:creationId xmlns:p14="http://schemas.microsoft.com/office/powerpoint/2010/main" val="2321682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结构-1">
            <a:extLst xmlns:a="http://schemas.openxmlformats.org/drawingml/2006/main">
              <a:ext uri="{FF2B5EF4-FFF2-40B4-BE49-F238E27FC236}">
                <a16:creationId xmlns:a16="http://schemas.microsoft.com/office/drawing/2014/main" id="{5791F40F-EA95-417F-975A-9FDDB809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09B3F793-AB2E-4105-82D8-CB66E53E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1A6B6F61-BD19-48D4-8420-0F29B3BF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60DD791A-C0DD-46DA-8B33-D0908E15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研究对象的多要素协同">
            <a:extLst xmlns:a="http://schemas.openxmlformats.org/drawingml/2006/main">
              <a:ext uri="{FF2B5EF4-FFF2-40B4-BE49-F238E27FC236}">
                <a16:creationId xmlns:a16="http://schemas.microsoft.com/office/drawing/2014/main" id="{782AA7DF-B7E5-434C-A364-1151B31C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说明研究对象的多要素协同特征，以及传统表达方法的主要限制</a:t>
            </a:r>
          </a:p>
        </p:txBody>
      </p:sp>
      <p:sp>
        <p:nvSpPr>
          <p:cNvPr id="6" name="文字-6-研究场景与协同特征">
            <a:extLst xmlns:a="http://schemas.openxmlformats.org/drawingml/2006/main">
              <a:ext uri="{FF2B5EF4-FFF2-40B4-BE49-F238E27FC236}">
                <a16:creationId xmlns:a16="http://schemas.microsoft.com/office/drawing/2014/main" id="{3342AE68-5033-4E49-92F6-83024AD4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000250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研究场景与协同特征</a:t>
            </a:r>
          </a:p>
        </p:txBody>
      </p:sp>
      <p:sp>
        <p:nvSpPr>
          <p:cNvPr id="7" name="文字-7-现有方法及局限">
            <a:extLst xmlns:a="http://schemas.openxmlformats.org/drawingml/2006/main">
              <a:ext uri="{FF2B5EF4-FFF2-40B4-BE49-F238E27FC236}">
                <a16:creationId xmlns:a16="http://schemas.microsoft.com/office/drawing/2014/main" id="{B1B433F2-FB0C-493D-8DB8-1B220FD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00250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现有方法及局限</a:t>
            </a:r>
          </a:p>
        </p:txBody>
      </p:sp>
      <p:sp>
        <p:nvSpPr>
          <p:cNvPr id="8" name="文字-8-核心研究问题">
            <a:extLst xmlns:a="http://schemas.openxmlformats.org/drawingml/2006/main">
              <a:ext uri="{FF2B5EF4-FFF2-40B4-BE49-F238E27FC236}">
                <a16:creationId xmlns:a16="http://schemas.microsoft.com/office/drawing/2014/main" id="{BDDB9A5D-21B0-4EC1-AA28-880BC53F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000250"/>
            <a:ext cx="3714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核心研究问题</a:t>
            </a:r>
          </a:p>
        </p:txBody>
      </p:sp>
      <p:sp>
        <p:nvSpPr>
          <p:cNvPr id="9" name="图片区-9">
            <a:extLst xmlns:a="http://schemas.openxmlformats.org/drawingml/2006/main">
              <a:ext uri="{FF2B5EF4-FFF2-40B4-BE49-F238E27FC236}">
                <a16:creationId xmlns:a16="http://schemas.microsoft.com/office/drawing/2014/main" id="{A7E1B96A-41EA-42FD-B9A6-28DE1B11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486025"/>
            <a:ext cx="3714750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0" name="文字-10-多要素参与、跨任务复用说">
            <a:extLst xmlns:a="http://schemas.openxmlformats.org/drawingml/2006/main">
              <a:ext uri="{FF2B5EF4-FFF2-40B4-BE49-F238E27FC236}">
                <a16:creationId xmlns:a16="http://schemas.microsoft.com/office/drawing/2014/main" id="{C04D8465-EBAD-4368-AC85-F9F95CA2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53125"/>
            <a:ext cx="3371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多要素参与、跨任务复用</a:t>
            </a:r>
          </a:p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说明功能角色如何重叠</a:t>
            </a:r>
          </a:p>
        </p:txBody>
      </p:sp>
      <p:sp>
        <p:nvSpPr>
          <p:cNvPr id="11" name="图片区-11">
            <a:extLst xmlns:a="http://schemas.openxmlformats.org/drawingml/2006/main">
              <a:ext uri="{FF2B5EF4-FFF2-40B4-BE49-F238E27FC236}">
                <a16:creationId xmlns:a16="http://schemas.microsoft.com/office/drawing/2014/main" id="{EA706C7F-A944-4E60-A2B0-D489CD49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67000"/>
            <a:ext cx="33623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2" name="文字-12-说明已有方法如何建模指出">
            <a:extLst xmlns:a="http://schemas.openxmlformats.org/drawingml/2006/main">
              <a:ext uri="{FF2B5EF4-FFF2-40B4-BE49-F238E27FC236}">
                <a16:creationId xmlns:a16="http://schemas.microsoft.com/office/drawing/2014/main" id="{A52AECD1-4A4B-48A5-81D5-C8C4D105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00475"/>
            <a:ext cx="33623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说明已有方法如何建模</a:t>
            </a:r>
          </a:p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指出哪些关系被简化或丢失</a:t>
            </a:r>
          </a:p>
        </p:txBody>
      </p:sp>
      <p:sp>
        <p:nvSpPr>
          <p:cNvPr id="13" name="图片区-13">
            <a:extLst xmlns:a="http://schemas.openxmlformats.org/drawingml/2006/main">
              <a:ext uri="{FF2B5EF4-FFF2-40B4-BE49-F238E27FC236}">
                <a16:creationId xmlns:a16="http://schemas.microsoft.com/office/drawing/2014/main" id="{D591A808-D281-4F98-9621-0CAD2E97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67250"/>
            <a:ext cx="33623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4" name="文字-14-填写原有方法的适用边界">
            <a:extLst xmlns:a="http://schemas.openxmlformats.org/drawingml/2006/main">
              <a:ext uri="{FF2B5EF4-FFF2-40B4-BE49-F238E27FC236}">
                <a16:creationId xmlns:a16="http://schemas.microsoft.com/office/drawing/2014/main" id="{D083DCB0-C9E3-4B11-96AB-A2AADA81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743575"/>
            <a:ext cx="33623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填写原有方法的适用边界</a:t>
            </a:r>
          </a:p>
        </p:txBody>
      </p:sp>
      <p:sp>
        <p:nvSpPr>
          <p:cNvPr id="15" name="图片区-15">
            <a:extLst xmlns:a="http://schemas.openxmlformats.org/drawingml/2006/main">
              <a:ext uri="{FF2B5EF4-FFF2-40B4-BE49-F238E27FC236}">
                <a16:creationId xmlns:a16="http://schemas.microsoft.com/office/drawing/2014/main" id="{95070B0E-E650-4991-96B0-16877C2C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686050"/>
            <a:ext cx="33623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6" name="文字-16-问题一：如何保留关键关系">
            <a:extLst xmlns:a="http://schemas.openxmlformats.org/drawingml/2006/main">
              <a:ext uri="{FF2B5EF4-FFF2-40B4-BE49-F238E27FC236}">
                <a16:creationId xmlns:a16="http://schemas.microsoft.com/office/drawing/2014/main" id="{BBB8D99F-B5AA-496E-9171-4CC91F3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52975"/>
            <a:ext cx="33623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问题一：如何保留关键关系？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问题二：如何表达多重归属？</a:t>
            </a:r>
          </a:p>
        </p:txBody>
      </p:sp>
    </p:spTree>
    <p:extLst>
      <p:ext uri="{BB962C8B-B14F-4D97-AF65-F5344CB8AC3E}">
        <p14:creationId xmlns:p14="http://schemas.microsoft.com/office/powerpoint/2010/main" val="14833518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结构-1">
            <a:extLst xmlns:a="http://schemas.openxmlformats.org/drawingml/2006/main">
              <a:ext uri="{FF2B5EF4-FFF2-40B4-BE49-F238E27FC236}">
                <a16:creationId xmlns:a16="http://schemas.microsoft.com/office/drawing/2014/main" id="{CC9A7454-C350-4A9C-9B2D-92A998CD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三：动态决策与算">
            <a:extLst xmlns:a="http://schemas.openxmlformats.org/drawingml/2006/main">
              <a:ext uri="{FF2B5EF4-FFF2-40B4-BE49-F238E27FC236}">
                <a16:creationId xmlns:a16="http://schemas.microsoft.com/office/drawing/2014/main" id="{C3477A35-12EE-493A-9DE2-CB92E8F9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研究进展三：动态决策与算法优化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40050EAE-872B-4660-823B-B2FE78ED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8DB23DC8-9BED-4923-899E-51ABDDEA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问题描述：说明现场决策需">
            <a:extLst xmlns:a="http://schemas.openxmlformats.org/drawingml/2006/main">
              <a:ext uri="{FF2B5EF4-FFF2-40B4-BE49-F238E27FC236}">
                <a16:creationId xmlns:a16="http://schemas.microsoft.com/office/drawing/2014/main" id="{99F23FDE-0FD5-4E0E-9C43-24099C9C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问题描述：说明现场决策需要哪些能力，以及现有协作与迭代方式的限制</a:t>
            </a:r>
          </a:p>
        </p:txBody>
      </p:sp>
      <p:sp>
        <p:nvSpPr>
          <p:cNvPr id="6" name="文字-6-研究现场与动态变化">
            <a:extLst xmlns:a="http://schemas.openxmlformats.org/drawingml/2006/main">
              <a:ext uri="{FF2B5EF4-FFF2-40B4-BE49-F238E27FC236}">
                <a16:creationId xmlns:a16="http://schemas.microsoft.com/office/drawing/2014/main" id="{E1624D4F-D009-465E-AACF-A30642C7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62150"/>
            <a:ext cx="37433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研究现场与动态变化</a:t>
            </a:r>
          </a:p>
        </p:txBody>
      </p:sp>
      <p:sp>
        <p:nvSpPr>
          <p:cNvPr id="7" name="文字-7-知识壁垒与协作难题">
            <a:extLst xmlns:a="http://schemas.openxmlformats.org/drawingml/2006/main">
              <a:ext uri="{FF2B5EF4-FFF2-40B4-BE49-F238E27FC236}">
                <a16:creationId xmlns:a16="http://schemas.microsoft.com/office/drawing/2014/main" id="{18F099BF-69DA-4263-9EE2-217ACC3F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62150"/>
            <a:ext cx="37433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知识壁垒与协作难题</a:t>
            </a:r>
          </a:p>
        </p:txBody>
      </p:sp>
      <p:sp>
        <p:nvSpPr>
          <p:cNvPr id="8" name="文字-8-闭环解决思路">
            <a:extLst xmlns:a="http://schemas.openxmlformats.org/drawingml/2006/main">
              <a:ext uri="{FF2B5EF4-FFF2-40B4-BE49-F238E27FC236}">
                <a16:creationId xmlns:a16="http://schemas.microsoft.com/office/drawing/2014/main" id="{AC9BE931-874E-4A99-B421-93433A37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37433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闭环解决思路</a:t>
            </a:r>
          </a:p>
        </p:txBody>
      </p:sp>
      <p:sp>
        <p:nvSpPr>
          <p:cNvPr id="9" name="图片区-9">
            <a:extLst xmlns:a="http://schemas.openxmlformats.org/drawingml/2006/main">
              <a:ext uri="{FF2B5EF4-FFF2-40B4-BE49-F238E27FC236}">
                <a16:creationId xmlns:a16="http://schemas.microsoft.com/office/drawing/2014/main" id="{603ED451-3A35-42CF-ABA8-E2ECAD08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0"/>
            <a:ext cx="37338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0" name="文字-10-需求变化">
            <a:extLst xmlns:a="http://schemas.openxmlformats.org/drawingml/2006/main">
              <a:ext uri="{FF2B5EF4-FFF2-40B4-BE49-F238E27FC236}">
                <a16:creationId xmlns:a16="http://schemas.microsoft.com/office/drawing/2014/main" id="{BDB300EE-5C68-44C1-A430-7161DCEF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724525"/>
            <a:ext cx="1190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需求变化</a:t>
            </a:r>
          </a:p>
        </p:txBody>
      </p:sp>
      <p:sp>
        <p:nvSpPr>
          <p:cNvPr id="11" name="文字-11-过程优化">
            <a:extLst xmlns:a="http://schemas.openxmlformats.org/drawingml/2006/main">
              <a:ext uri="{FF2B5EF4-FFF2-40B4-BE49-F238E27FC236}">
                <a16:creationId xmlns:a16="http://schemas.microsoft.com/office/drawing/2014/main" id="{72BD5A62-D9D4-4CBC-A90F-26E74EB4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724525"/>
            <a:ext cx="1190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过程优化</a:t>
            </a:r>
          </a:p>
        </p:txBody>
      </p:sp>
      <p:sp>
        <p:nvSpPr>
          <p:cNvPr id="12" name="文字-12-质量控制">
            <a:extLst xmlns:a="http://schemas.openxmlformats.org/drawingml/2006/main">
              <a:ext uri="{FF2B5EF4-FFF2-40B4-BE49-F238E27FC236}">
                <a16:creationId xmlns:a16="http://schemas.microsoft.com/office/drawing/2014/main" id="{DF32B50D-C92B-411B-9792-86506186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724525"/>
            <a:ext cx="1190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质量控制</a:t>
            </a:r>
          </a:p>
        </p:txBody>
      </p:sp>
      <p:sp>
        <p:nvSpPr>
          <p:cNvPr id="13" name="文字-13-领域人员">
            <a:extLst xmlns:a="http://schemas.openxmlformats.org/drawingml/2006/main">
              <a:ext uri="{FF2B5EF4-FFF2-40B4-BE49-F238E27FC236}">
                <a16:creationId xmlns:a16="http://schemas.microsoft.com/office/drawing/2014/main" id="{14BF7495-E4F5-4DEC-9845-7AD3627A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09850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领域人员</a:t>
            </a:r>
          </a:p>
        </p:txBody>
      </p:sp>
      <p:sp>
        <p:nvSpPr>
          <p:cNvPr id="14" name="文字-14-方法人员">
            <a:extLst xmlns:a="http://schemas.openxmlformats.org/drawingml/2006/main">
              <a:ext uri="{FF2B5EF4-FFF2-40B4-BE49-F238E27FC236}">
                <a16:creationId xmlns:a16="http://schemas.microsoft.com/office/drawing/2014/main" id="{AB83512F-4785-43D2-93C6-2793D564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09850"/>
            <a:ext cx="1428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方法人员</a:t>
            </a:r>
          </a:p>
        </p:txBody>
      </p:sp>
      <p:sp>
        <p:nvSpPr>
          <p:cNvPr id="15" name="连线-15">
            <a:extLst xmlns:a="http://schemas.openxmlformats.org/drawingml/2006/main">
              <a:ext uri="{FF2B5EF4-FFF2-40B4-BE49-F238E27FC236}">
                <a16:creationId xmlns:a16="http://schemas.microsoft.com/office/drawing/2014/main" id="{44EE04A1-7988-4AFE-A5AD-C07D492E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2828925"/>
            <a:ext cx="485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16" name="结构-16">
            <a:extLst xmlns:a="http://schemas.openxmlformats.org/drawingml/2006/main">
              <a:ext uri="{FF2B5EF4-FFF2-40B4-BE49-F238E27FC236}">
                <a16:creationId xmlns:a16="http://schemas.microsoft.com/office/drawing/2014/main" id="{51F17453-6A25-4797-8082-29742777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76538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79ED6CB0-5E32-4F20-A887-C7327375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10250" y="3048000"/>
            <a:ext cx="47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BB795810-93F7-40B5-A4CA-55F91B37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5613"/>
            <a:ext cx="123825" cy="104775"/>
          </a:xfrm>
          <a:custGeom xmlns:a="http://schemas.openxmlformats.org/drawingml/2006/main">
            <a:pathLst>
              <a:path w="123825" h="104775">
                <a:moveTo>
                  <a:pt x="0" y="52388"/>
                </a:moveTo>
                <a:lnTo>
                  <a:pt x="123825" y="104775"/>
                </a:lnTo>
                <a:lnTo>
                  <a:pt x="123825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9" name="文字-19-需求解析">
            <a:extLst xmlns:a="http://schemas.openxmlformats.org/drawingml/2006/main">
              <a:ext uri="{FF2B5EF4-FFF2-40B4-BE49-F238E27FC236}">
                <a16:creationId xmlns:a16="http://schemas.microsoft.com/office/drawing/2014/main" id="{D59E89ED-ECB2-4675-8E7D-59F035E6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24250"/>
            <a:ext cx="1095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需求解析</a:t>
            </a:r>
          </a:p>
        </p:txBody>
      </p:sp>
      <p:sp>
        <p:nvSpPr>
          <p:cNvPr id="20" name="文字-20-数学建模">
            <a:extLst xmlns:a="http://schemas.openxmlformats.org/drawingml/2006/main">
              <a:ext uri="{FF2B5EF4-FFF2-40B4-BE49-F238E27FC236}">
                <a16:creationId xmlns:a16="http://schemas.microsoft.com/office/drawing/2014/main" id="{82108957-3D46-4A89-AF54-0AFFB72B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24250"/>
            <a:ext cx="1095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数学建模</a:t>
            </a:r>
          </a:p>
        </p:txBody>
      </p:sp>
      <p:sp>
        <p:nvSpPr>
          <p:cNvPr id="21" name="文字-21-方法开发">
            <a:extLst xmlns:a="http://schemas.openxmlformats.org/drawingml/2006/main">
              <a:ext uri="{FF2B5EF4-FFF2-40B4-BE49-F238E27FC236}">
                <a16:creationId xmlns:a16="http://schemas.microsoft.com/office/drawing/2014/main" id="{5D734586-0BDF-45FE-B922-01A48B2C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24250"/>
            <a:ext cx="1095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方法开发</a:t>
            </a:r>
          </a:p>
        </p:txBody>
      </p:sp>
      <p:sp>
        <p:nvSpPr>
          <p:cNvPr id="22" name="文字-22-反馈调整">
            <a:extLst xmlns:a="http://schemas.openxmlformats.org/drawingml/2006/main">
              <a:ext uri="{FF2B5EF4-FFF2-40B4-BE49-F238E27FC236}">
                <a16:creationId xmlns:a16="http://schemas.microsoft.com/office/drawing/2014/main" id="{83F124F2-8678-41A5-8DDA-6580F68D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24325"/>
            <a:ext cx="1095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反馈调整</a:t>
            </a:r>
          </a:p>
        </p:txBody>
      </p:sp>
      <p:sp>
        <p:nvSpPr>
          <p:cNvPr id="23" name="文字-23-系统集成">
            <a:extLst xmlns:a="http://schemas.openxmlformats.org/drawingml/2006/main">
              <a:ext uri="{FF2B5EF4-FFF2-40B4-BE49-F238E27FC236}">
                <a16:creationId xmlns:a16="http://schemas.microsoft.com/office/drawing/2014/main" id="{E9AB679B-020F-46BF-9F7C-6CAD5B9B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24325"/>
            <a:ext cx="1095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系统集成</a:t>
            </a:r>
          </a:p>
        </p:txBody>
      </p:sp>
      <p:sp>
        <p:nvSpPr>
          <p:cNvPr id="24" name="文字-24-部署维护">
            <a:extLst xmlns:a="http://schemas.openxmlformats.org/drawingml/2006/main">
              <a:ext uri="{FF2B5EF4-FFF2-40B4-BE49-F238E27FC236}">
                <a16:creationId xmlns:a16="http://schemas.microsoft.com/office/drawing/2014/main" id="{ECE6AAB9-F2A8-42AA-B458-2F7C85E4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24325"/>
            <a:ext cx="1095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部署维护</a:t>
            </a:r>
          </a:p>
        </p:txBody>
      </p:sp>
      <p:sp>
        <p:nvSpPr>
          <p:cNvPr id="25" name="文字-25-填写周期、成本与知识壁垒">
            <a:extLst xmlns:a="http://schemas.openxmlformats.org/drawingml/2006/main">
              <a:ext uri="{FF2B5EF4-FFF2-40B4-BE49-F238E27FC236}">
                <a16:creationId xmlns:a16="http://schemas.microsoft.com/office/drawing/2014/main" id="{016B3E28-ACAE-4095-AEC8-7951D063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848225"/>
            <a:ext cx="35052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8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填写周期、成本与知识壁垒</a:t>
            </a:r>
          </a:p>
          <a:p xmlns:a="http://schemas.openxmlformats.org/drawingml/2006/main">
            <a:pPr algn="ctr">
              <a:def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说明现有模式的主要局限</a:t>
            </a:r>
          </a:p>
        </p:txBody>
      </p:sp>
      <p:sp>
        <p:nvSpPr>
          <p:cNvPr id="26" name="文字-26-解析需求与约束">
            <a:extLst xmlns:a="http://schemas.openxmlformats.org/drawingml/2006/main">
              <a:ext uri="{FF2B5EF4-FFF2-40B4-BE49-F238E27FC236}">
                <a16:creationId xmlns:a16="http://schemas.microsoft.com/office/drawing/2014/main" id="{3CEA9067-D214-4C80-88A9-8D6616A4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800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解析需求与约束</a:t>
            </a:r>
          </a:p>
        </p:txBody>
      </p:sp>
      <p:sp>
        <p:nvSpPr>
          <p:cNvPr id="27" name="文字-27-检索知识与工具">
            <a:extLst xmlns:a="http://schemas.openxmlformats.org/drawingml/2006/main">
              <a:ext uri="{FF2B5EF4-FFF2-40B4-BE49-F238E27FC236}">
                <a16:creationId xmlns:a16="http://schemas.microsoft.com/office/drawing/2014/main" id="{9B3CD87F-FDCD-4DDD-9355-46C46A49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00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检索知识与工具</a:t>
            </a:r>
          </a:p>
        </p:txBody>
      </p:sp>
      <p:sp>
        <p:nvSpPr>
          <p:cNvPr id="28" name="文字-28-生成候选方案">
            <a:extLst xmlns:a="http://schemas.openxmlformats.org/drawingml/2006/main">
              <a:ext uri="{FF2B5EF4-FFF2-40B4-BE49-F238E27FC236}">
                <a16:creationId xmlns:a16="http://schemas.microsoft.com/office/drawing/2014/main" id="{F72E8AE9-65BA-40F3-ACB5-5A26A537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86200"/>
            <a:ext cx="2800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生成候选方案</a:t>
            </a:r>
          </a:p>
        </p:txBody>
      </p:sp>
      <p:sp>
        <p:nvSpPr>
          <p:cNvPr id="29" name="文字-29-评价执行与反馈">
            <a:extLst xmlns:a="http://schemas.openxmlformats.org/drawingml/2006/main">
              <a:ext uri="{FF2B5EF4-FFF2-40B4-BE49-F238E27FC236}">
                <a16:creationId xmlns:a16="http://schemas.microsoft.com/office/drawing/2014/main" id="{2E2CE421-0527-4D33-BB77-E3C40653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2800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评价执行与反馈</a:t>
            </a:r>
          </a:p>
        </p:txBody>
      </p:sp>
      <p:sp>
        <p:nvSpPr>
          <p:cNvPr id="30" name="连线-30">
            <a:extLst xmlns:a="http://schemas.openxmlformats.org/drawingml/2006/main">
              <a:ext uri="{FF2B5EF4-FFF2-40B4-BE49-F238E27FC236}">
                <a16:creationId xmlns:a16="http://schemas.microsoft.com/office/drawing/2014/main" id="{404AD343-3A5F-4127-B280-6D00995E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307657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88"/>
            </a:solidFill>
            <a:prstDash val="solid"/>
          </a:ln>
        </p:spPr>
      </p:sp>
      <p:sp>
        <p:nvSpPr>
          <p:cNvPr id="31" name="结构-31">
            <a:extLst xmlns:a="http://schemas.openxmlformats.org/drawingml/2006/main">
              <a:ext uri="{FF2B5EF4-FFF2-40B4-BE49-F238E27FC236}">
                <a16:creationId xmlns:a16="http://schemas.microsoft.com/office/drawing/2014/main" id="{117A8492-C0C6-4249-9F18-818AF647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051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</a:ln>
        </p:spPr>
      </p:sp>
      <p:sp>
        <p:nvSpPr>
          <p:cNvPr id="32" name="连线-32">
            <a:extLst xmlns:a="http://schemas.openxmlformats.org/drawingml/2006/main">
              <a:ext uri="{FF2B5EF4-FFF2-40B4-BE49-F238E27FC236}">
                <a16:creationId xmlns:a16="http://schemas.microsoft.com/office/drawing/2014/main" id="{79F7E9B8-3CA2-4CC5-81CE-25EE85E9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370522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88"/>
            </a:solidFill>
            <a:prstDash val="solid"/>
          </a:ln>
        </p:spPr>
      </p:sp>
      <p:sp>
        <p:nvSpPr>
          <p:cNvPr id="33" name="结构-33">
            <a:extLst xmlns:a="http://schemas.openxmlformats.org/drawingml/2006/main">
              <a:ext uri="{FF2B5EF4-FFF2-40B4-BE49-F238E27FC236}">
                <a16:creationId xmlns:a16="http://schemas.microsoft.com/office/drawing/2014/main" id="{4541C766-AA90-4823-97F4-47FEC739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338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</a:ln>
        </p:spPr>
      </p:sp>
      <p:sp>
        <p:nvSpPr>
          <p:cNvPr id="34" name="连线-34">
            <a:extLst xmlns:a="http://schemas.openxmlformats.org/drawingml/2006/main">
              <a:ext uri="{FF2B5EF4-FFF2-40B4-BE49-F238E27FC236}">
                <a16:creationId xmlns:a16="http://schemas.microsoft.com/office/drawing/2014/main" id="{D8DC2F5B-FD28-4E7B-B58E-BAA06B19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675" y="4333875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88"/>
            </a:solidFill>
            <a:prstDash val="solid"/>
          </a:ln>
        </p:spPr>
      </p:sp>
      <p:sp>
        <p:nvSpPr>
          <p:cNvPr id="35" name="结构-35">
            <a:extLst xmlns:a="http://schemas.openxmlformats.org/drawingml/2006/main">
              <a:ext uri="{FF2B5EF4-FFF2-40B4-BE49-F238E27FC236}">
                <a16:creationId xmlns:a16="http://schemas.microsoft.com/office/drawing/2014/main" id="{411F0239-1C78-4464-82D8-C2C0BDE3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624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</a:ln>
        </p:spPr>
      </p:sp>
      <p:sp>
        <p:nvSpPr>
          <p:cNvPr id="36" name="连线-36">
            <a:extLst xmlns:a="http://schemas.openxmlformats.org/drawingml/2006/main">
              <a:ext uri="{FF2B5EF4-FFF2-40B4-BE49-F238E27FC236}">
                <a16:creationId xmlns:a16="http://schemas.microsoft.com/office/drawing/2014/main" id="{C2483940-40C5-4096-B75D-B6835EA4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20475" y="4724400"/>
            <a:ext cx="219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88"/>
            </a:solidFill>
            <a:prstDash val="solid"/>
          </a:ln>
        </p:spPr>
      </p:sp>
      <p:sp>
        <p:nvSpPr>
          <p:cNvPr id="37" name="连线-37">
            <a:extLst xmlns:a="http://schemas.openxmlformats.org/drawingml/2006/main">
              <a:ext uri="{FF2B5EF4-FFF2-40B4-BE49-F238E27FC236}">
                <a16:creationId xmlns:a16="http://schemas.microsoft.com/office/drawing/2014/main" id="{08BF66D5-BB39-41BC-93CC-50784908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639550" y="2819400"/>
            <a:ext cx="953" cy="190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88"/>
            </a:solidFill>
            <a:prstDash val="solid"/>
          </a:ln>
        </p:spPr>
      </p:sp>
      <p:sp>
        <p:nvSpPr>
          <p:cNvPr id="38" name="连线-38">
            <a:extLst xmlns:a="http://schemas.openxmlformats.org/drawingml/2006/main">
              <a:ext uri="{FF2B5EF4-FFF2-40B4-BE49-F238E27FC236}">
                <a16:creationId xmlns:a16="http://schemas.microsoft.com/office/drawing/2014/main" id="{E6BC0926-BF60-462E-924D-40087D82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420475" y="2819400"/>
            <a:ext cx="219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88"/>
            </a:solidFill>
            <a:prstDash val="solid"/>
          </a:ln>
        </p:spPr>
      </p:sp>
      <p:sp>
        <p:nvSpPr>
          <p:cNvPr id="39" name="结构-39">
            <a:extLst xmlns:a="http://schemas.openxmlformats.org/drawingml/2006/main">
              <a:ext uri="{FF2B5EF4-FFF2-40B4-BE49-F238E27FC236}">
                <a16:creationId xmlns:a16="http://schemas.microsoft.com/office/drawing/2014/main" id="{761827CB-5B25-4DC1-AD6F-BBB25A97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27717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47625"/>
                </a:moveTo>
                <a:lnTo>
                  <a:pt x="114300" y="95250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</a:ln>
        </p:spPr>
      </p:sp>
      <p:sp>
        <p:nvSpPr>
          <p:cNvPr id="40" name="文字-40-填写自主构建与迭代能力">
            <a:extLst xmlns:a="http://schemas.openxmlformats.org/drawingml/2006/main">
              <a:ext uri="{FF2B5EF4-FFF2-40B4-BE49-F238E27FC236}">
                <a16:creationId xmlns:a16="http://schemas.microsoft.com/office/drawing/2014/main" id="{584AA794-6BBE-4864-A02C-907A8F6A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57825"/>
            <a:ext cx="3409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填写自主构建与迭代能力</a:t>
            </a:r>
          </a:p>
        </p:txBody>
      </p:sp>
      <p:sp>
        <p:nvSpPr>
          <p:cNvPr id="41" name="文字-41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BCD113B9-AA80-4781-B9EB-F082D416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16095190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文字-1-填写研究主题与核心问题">
            <a:extLst xmlns:a="http://schemas.openxmlformats.org/drawingml/2006/main">
              <a:ext uri="{FF2B5EF4-FFF2-40B4-BE49-F238E27FC236}">
                <a16:creationId xmlns:a16="http://schemas.microsoft.com/office/drawing/2014/main" id="{2D6893A8-49CD-4FC9-A525-894FB4AF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441960"/>
            <a:ext cx="1145439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研究主题与核心问题</a:t>
            </a:r>
          </a:p>
        </p:txBody>
      </p:sp>
      <p:sp>
        <p:nvSpPr>
          <p:cNvPr id="2" name="对象-2">
            <a:extLst xmlns:a="http://schemas.openxmlformats.org/drawingml/2006/main">
              <a:ext uri="{FF2B5EF4-FFF2-40B4-BE49-F238E27FC236}">
                <a16:creationId xmlns:a16="http://schemas.microsoft.com/office/drawing/2014/main" id="{0F1D320D-E5F3-4846-9FD8-CDF404DE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1211580"/>
            <a:ext cx="3670888" cy="2339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B0AB"/>
            </a:solidFill>
            <a:prstDash val="solid"/>
          </a:ln>
        </p:spPr>
      </p:sp>
      <p:sp>
        <p:nvSpPr>
          <p:cNvPr id="3" name="文字-3-需求条件">
            <a:extLst xmlns:a="http://schemas.openxmlformats.org/drawingml/2006/main">
              <a:ext uri="{FF2B5EF4-FFF2-40B4-BE49-F238E27FC236}">
                <a16:creationId xmlns:a16="http://schemas.microsoft.com/office/drawing/2014/main" id="{DAC33E75-7515-4A3E-82C3-5458F130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9" y="1394460"/>
            <a:ext cx="1576502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需求条件</a:t>
            </a:r>
          </a:p>
        </p:txBody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8FD5FBD9-C749-4009-A35A-972E39AB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640" y="1478280"/>
            <a:ext cx="198015" cy="213360"/>
          </a:xfrm>
          <a:prstGeom xmlns:a="http://schemas.openxmlformats.org/drawingml/2006/main" prst="plus">
            <a:avLst/>
          </a:pr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方案优势">
            <a:extLst xmlns:a="http://schemas.openxmlformats.org/drawingml/2006/main">
              <a:ext uri="{FF2B5EF4-FFF2-40B4-BE49-F238E27FC236}">
                <a16:creationId xmlns:a16="http://schemas.microsoft.com/office/drawing/2014/main" id="{096DDFFB-2630-4634-8BA3-FB5D054A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662" y="1394460"/>
            <a:ext cx="1408951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方案优势</a:t>
            </a:r>
          </a:p>
        </p:txBody>
      </p:sp>
      <p:sp>
        <p:nvSpPr>
          <p:cNvPr id="6" name="文字-6-填写构筑与一体化设计思路">
            <a:extLst xmlns:a="http://schemas.openxmlformats.org/drawingml/2006/main">
              <a:ext uri="{FF2B5EF4-FFF2-40B4-BE49-F238E27FC236}">
                <a16:creationId xmlns:a16="http://schemas.microsoft.com/office/drawing/2014/main" id="{6B17EBFE-1B52-419C-8FBC-3C46E473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95" y="1905000"/>
            <a:ext cx="335101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构筑与一体化设计思路</a:t>
            </a:r>
          </a:p>
        </p:txBody>
      </p:sp>
      <p:sp>
        <p:nvSpPr>
          <p:cNvPr id="7" name="文字-7-填写系统约束与冗余条件">
            <a:extLst xmlns:a="http://schemas.openxmlformats.org/drawingml/2006/main">
              <a:ext uri="{FF2B5EF4-FFF2-40B4-BE49-F238E27FC236}">
                <a16:creationId xmlns:a16="http://schemas.microsoft.com/office/drawing/2014/main" id="{06D7D0F8-288A-43EA-B966-65341321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95" y="2446020"/>
            <a:ext cx="1416567" cy="85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rPr>
              <a:t>系统约束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rPr>
              <a:t>与冗余条件</a:t>
            </a:r>
          </a:p>
        </p:txBody>
      </p:sp>
      <p:sp>
        <p:nvSpPr>
          <p:cNvPr id="8" name="文字-8-填写环境适配与集成要求">
            <a:extLst xmlns:a="http://schemas.openxmlformats.org/drawingml/2006/main">
              <a:ext uri="{FF2B5EF4-FFF2-40B4-BE49-F238E27FC236}">
                <a16:creationId xmlns:a16="http://schemas.microsoft.com/office/drawing/2014/main" id="{1B1CE1B1-2D70-42AC-A279-D5741074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169" y="2446020"/>
            <a:ext cx="1820212" cy="85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环境适配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与集成要求</a:t>
            </a:r>
          </a:p>
        </p:txBody>
      </p:sp>
      <p:sp>
        <p:nvSpPr>
          <p:cNvPr id="9" name="对象-9">
            <a:extLst xmlns:a="http://schemas.openxmlformats.org/drawingml/2006/main">
              <a:ext uri="{FF2B5EF4-FFF2-40B4-BE49-F238E27FC236}">
                <a16:creationId xmlns:a16="http://schemas.microsoft.com/office/drawing/2014/main" id="{B3DF8C99-A277-4B40-9DC4-B554C9DD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3794760"/>
            <a:ext cx="3670888" cy="25069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B0AB"/>
            </a:solidFill>
            <a:prstDash val="solid"/>
          </a:ln>
        </p:spPr>
      </p:sp>
      <p:sp>
        <p:nvSpPr>
          <p:cNvPr id="10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ED36D287-0604-4D83-81FA-A058739D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9" y="3962400"/>
            <a:ext cx="1150008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1" name="对象-11">
            <a:extLst xmlns:a="http://schemas.openxmlformats.org/drawingml/2006/main">
              <a:ext uri="{FF2B5EF4-FFF2-40B4-BE49-F238E27FC236}">
                <a16:creationId xmlns:a16="http://schemas.microsoft.com/office/drawing/2014/main" id="{E7862B8E-7D41-4C3F-BE1D-9CB552D8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922" y="3962400"/>
            <a:ext cx="449341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文字-12-构">
            <a:extLst xmlns:a="http://schemas.openxmlformats.org/drawingml/2006/main">
              <a:ext uri="{FF2B5EF4-FFF2-40B4-BE49-F238E27FC236}">
                <a16:creationId xmlns:a16="http://schemas.microsoft.com/office/drawing/2014/main" id="{CA3ECECB-72CB-42BD-B034-BFDFE799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922" y="453390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构</a:t>
            </a:r>
          </a:p>
        </p:txBody>
      </p:sp>
      <p:sp>
        <p:nvSpPr>
          <p:cNvPr id="13" name="文字-13-筑">
            <a:extLst xmlns:a="http://schemas.openxmlformats.org/drawingml/2006/main">
              <a:ext uri="{FF2B5EF4-FFF2-40B4-BE49-F238E27FC236}">
                <a16:creationId xmlns:a16="http://schemas.microsoft.com/office/drawing/2014/main" id="{04FBE08A-F41B-4F28-A287-FA7857D9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922" y="478155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筑</a:t>
            </a:r>
          </a:p>
        </p:txBody>
      </p:sp>
      <p:sp>
        <p:nvSpPr>
          <p:cNvPr id="14" name="文字-14-方">
            <a:extLst xmlns:a="http://schemas.openxmlformats.org/drawingml/2006/main">
              <a:ext uri="{FF2B5EF4-FFF2-40B4-BE49-F238E27FC236}">
                <a16:creationId xmlns:a16="http://schemas.microsoft.com/office/drawing/2014/main" id="{C89AC91A-D9AA-48CF-B217-6F09DEC5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922" y="502920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方</a:t>
            </a:r>
          </a:p>
        </p:txBody>
      </p:sp>
      <p:sp>
        <p:nvSpPr>
          <p:cNvPr id="15" name="文字-15-法">
            <a:extLst xmlns:a="http://schemas.openxmlformats.org/drawingml/2006/main">
              <a:ext uri="{FF2B5EF4-FFF2-40B4-BE49-F238E27FC236}">
                <a16:creationId xmlns:a16="http://schemas.microsoft.com/office/drawing/2014/main" id="{0DEB66C1-0DEB-47D7-A3CE-46772794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922" y="527685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法</a:t>
            </a:r>
          </a:p>
        </p:txBody>
      </p:sp>
      <p:sp>
        <p:nvSpPr>
          <p:cNvPr id="16" name="文字-16-单元1">
            <a:extLst xmlns:a="http://schemas.openxmlformats.org/drawingml/2006/main">
              <a:ext uri="{FF2B5EF4-FFF2-40B4-BE49-F238E27FC236}">
                <a16:creationId xmlns:a16="http://schemas.microsoft.com/office/drawing/2014/main" id="{A507CFD4-8ED2-47D1-A1B8-004168D1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815" y="4069080"/>
            <a:ext cx="43411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单元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37FC0935-8D46-4499-AA4E-7EB0F55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83061" y="4831080"/>
            <a:ext cx="729" cy="3124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4DA59B"/>
            </a:solidFill>
            <a:prstDash val="solid"/>
          </a:ln>
        </p:spPr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D6B30C64-04E4-43B2-9B78-704C367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365" y="503682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</a:ln>
        </p:spPr>
      </p:sp>
      <p:sp>
        <p:nvSpPr>
          <p:cNvPr id="19" name="文字-19-方法1">
            <a:extLst xmlns:a="http://schemas.openxmlformats.org/drawingml/2006/main">
              <a:ext uri="{FF2B5EF4-FFF2-40B4-BE49-F238E27FC236}">
                <a16:creationId xmlns:a16="http://schemas.microsoft.com/office/drawing/2014/main" id="{5D3FBE07-C5E3-4A5C-8E26-CAD87548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815" y="5242560"/>
            <a:ext cx="43411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文字-20-单元2">
            <a:extLst xmlns:a="http://schemas.openxmlformats.org/drawingml/2006/main">
              <a:ext uri="{FF2B5EF4-FFF2-40B4-BE49-F238E27FC236}">
                <a16:creationId xmlns:a16="http://schemas.microsoft.com/office/drawing/2014/main" id="{1FAD6D5C-49CB-4611-95F3-AD2B5F43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003" y="4069080"/>
            <a:ext cx="43411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单元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1" name="连线-21">
            <a:extLst xmlns:a="http://schemas.openxmlformats.org/drawingml/2006/main">
              <a:ext uri="{FF2B5EF4-FFF2-40B4-BE49-F238E27FC236}">
                <a16:creationId xmlns:a16="http://schemas.microsoft.com/office/drawing/2014/main" id="{26A26B32-AE92-4880-B01B-452FD782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5250" y="4831080"/>
            <a:ext cx="729" cy="3124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4DA59B"/>
            </a:solidFill>
            <a:prstDash val="solid"/>
          </a:ln>
        </p:spPr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C06C5C5E-FA98-4145-9598-354E7B3C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54" y="503682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</a:ln>
        </p:spPr>
      </p:sp>
      <p:sp>
        <p:nvSpPr>
          <p:cNvPr id="23" name="文字-23-方法2">
            <a:extLst xmlns:a="http://schemas.openxmlformats.org/drawingml/2006/main">
              <a:ext uri="{FF2B5EF4-FFF2-40B4-BE49-F238E27FC236}">
                <a16:creationId xmlns:a16="http://schemas.microsoft.com/office/drawing/2014/main" id="{B2729910-644C-4316-A206-9C720893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003" y="5242560"/>
            <a:ext cx="43411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文字-24-单元3">
            <a:extLst xmlns:a="http://schemas.openxmlformats.org/drawingml/2006/main">
              <a:ext uri="{FF2B5EF4-FFF2-40B4-BE49-F238E27FC236}">
                <a16:creationId xmlns:a16="http://schemas.microsoft.com/office/drawing/2014/main" id="{51BBC28F-6B9D-449B-9C79-D680C32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92" y="4069080"/>
            <a:ext cx="43411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单元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连线-25">
            <a:extLst xmlns:a="http://schemas.openxmlformats.org/drawingml/2006/main">
              <a:ext uri="{FF2B5EF4-FFF2-40B4-BE49-F238E27FC236}">
                <a16:creationId xmlns:a16="http://schemas.microsoft.com/office/drawing/2014/main" id="{64201398-8ED6-46AE-B73A-922F64DA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27439" y="4831080"/>
            <a:ext cx="729" cy="3124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4DA59B"/>
            </a:solidFill>
            <a:prstDash val="solid"/>
          </a:ln>
        </p:spPr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2DCE1FC3-44E8-4D49-B182-4793DA53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743" y="503682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</a:ln>
        </p:spPr>
      </p:sp>
      <p:sp>
        <p:nvSpPr>
          <p:cNvPr id="27" name="文字-27-方法3">
            <a:extLst xmlns:a="http://schemas.openxmlformats.org/drawingml/2006/main">
              <a:ext uri="{FF2B5EF4-FFF2-40B4-BE49-F238E27FC236}">
                <a16:creationId xmlns:a16="http://schemas.microsoft.com/office/drawing/2014/main" id="{172B263E-091F-4A74-8DFD-EBDA6FA6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92" y="5242560"/>
            <a:ext cx="434110" cy="70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对象-28">
            <a:extLst xmlns:a="http://schemas.openxmlformats.org/drawingml/2006/main">
              <a:ext uri="{FF2B5EF4-FFF2-40B4-BE49-F238E27FC236}">
                <a16:creationId xmlns:a16="http://schemas.microsoft.com/office/drawing/2014/main" id="{FA82E1A1-30C4-4682-B54E-965AF121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411" y="1257300"/>
            <a:ext cx="2383793" cy="5006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9B3AC"/>
            </a:solidFill>
            <a:prstDash val="solid"/>
          </a:ln>
        </p:spPr>
      </p:sp>
      <p:sp>
        <p:nvSpPr>
          <p:cNvPr id="29" name="文字-29-核心瓶颈">
            <a:extLst xmlns:a="http://schemas.openxmlformats.org/drawingml/2006/main">
              <a:ext uri="{FF2B5EF4-FFF2-40B4-BE49-F238E27FC236}">
                <a16:creationId xmlns:a16="http://schemas.microsoft.com/office/drawing/2014/main" id="{56B6A0A1-38C2-49BD-AA03-8BD57CFB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41" y="1447800"/>
            <a:ext cx="196491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核心瓶颈</a:t>
            </a:r>
          </a:p>
        </p:txBody>
      </p:sp>
      <p:sp>
        <p:nvSpPr>
          <p:cNvPr id="30" name="文字-30-机理调控">
            <a:extLst xmlns:a="http://schemas.openxmlformats.org/drawingml/2006/main">
              <a:ext uri="{FF2B5EF4-FFF2-40B4-BE49-F238E27FC236}">
                <a16:creationId xmlns:a16="http://schemas.microsoft.com/office/drawing/2014/main" id="{6232771A-CEA9-42D3-9C98-7F194256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41" y="2301240"/>
            <a:ext cx="1964915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机理调控</a:t>
            </a:r>
          </a:p>
        </p:txBody>
      </p:sp>
      <p:sp>
        <p:nvSpPr>
          <p:cNvPr id="31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38D75B70-32B2-430A-8E25-9C3E5D94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976" y="3070860"/>
            <a:ext cx="1614582" cy="94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2" name="文字-32-说明关键失效因素及相互作用">
            <a:extLst xmlns:a="http://schemas.openxmlformats.org/drawingml/2006/main">
              <a:ext uri="{FF2B5EF4-FFF2-40B4-BE49-F238E27FC236}">
                <a16:creationId xmlns:a16="http://schemas.microsoft.com/office/drawing/2014/main" id="{E85CE9BA-094D-4878-B351-A3310E66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41" y="4366260"/>
            <a:ext cx="1964915" cy="62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898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关键失效因素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及相互作用</a:t>
            </a:r>
          </a:p>
        </p:txBody>
      </p:sp>
      <p:sp>
        <p:nvSpPr>
          <p:cNvPr id="33" name="文字-33-填写风险或限制">
            <a:extLst xmlns:a="http://schemas.openxmlformats.org/drawingml/2006/main">
              <a:ext uri="{FF2B5EF4-FFF2-40B4-BE49-F238E27FC236}">
                <a16:creationId xmlns:a16="http://schemas.microsoft.com/office/drawing/2014/main" id="{1B432608-8452-451D-AD11-642B0CCA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41" y="5524500"/>
            <a:ext cx="1964915" cy="472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DA"/>
          </a:solidFill>
          <a:ln xmlns:a="http://schemas.openxmlformats.org/drawingml/2006/main" w="8017">
            <a:solidFill>
              <a:srgbClr val="B9B3AC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风险或限制</a:t>
            </a:r>
          </a:p>
        </p:txBody>
      </p:sp>
      <p:sp>
        <p:nvSpPr>
          <p:cNvPr id="34" name="连线-34">
            <a:extLst xmlns:a="http://schemas.openxmlformats.org/drawingml/2006/main">
              <a:ext uri="{FF2B5EF4-FFF2-40B4-BE49-F238E27FC236}">
                <a16:creationId xmlns:a16="http://schemas.microsoft.com/office/drawing/2014/main" id="{B9DFA959-BB8F-45C8-A186-C513E4EB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0499" y="5074920"/>
            <a:ext cx="729" cy="350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4DA59B"/>
            </a:solidFill>
            <a:prstDash val="solid"/>
          </a:ln>
        </p:spPr>
      </p:sp>
      <p:sp>
        <p:nvSpPr>
          <p:cNvPr id="35" name="结构-35">
            <a:extLst xmlns:a="http://schemas.openxmlformats.org/drawingml/2006/main">
              <a:ext uri="{FF2B5EF4-FFF2-40B4-BE49-F238E27FC236}">
                <a16:creationId xmlns:a16="http://schemas.microsoft.com/office/drawing/2014/main" id="{80E5409F-2E0F-4E70-9BEC-C4358678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803" y="507492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0"/>
                </a:moveTo>
                <a:lnTo>
                  <a:pt x="0" y="139425"/>
                </a:lnTo>
                <a:lnTo>
                  <a:pt x="119443" y="139425"/>
                </a:lnTo>
                <a:close/>
              </a:path>
            </a:pathLst>
          </a:cu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</a:ln>
        </p:spPr>
      </p:sp>
      <p:sp>
        <p:nvSpPr>
          <p:cNvPr id="36" name="连线-36">
            <a:extLst xmlns:a="http://schemas.openxmlformats.org/drawingml/2006/main">
              <a:ext uri="{FF2B5EF4-FFF2-40B4-BE49-F238E27FC236}">
                <a16:creationId xmlns:a16="http://schemas.microsoft.com/office/drawing/2014/main" id="{2C8C9FF3-4A49-4C5F-94D0-2D84E3A1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0499" y="4076700"/>
            <a:ext cx="729" cy="1981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4DA59B"/>
            </a:solidFill>
            <a:prstDash val="solid"/>
          </a:ln>
        </p:spPr>
      </p:sp>
      <p:sp>
        <p:nvSpPr>
          <p:cNvPr id="37" name="结构-37">
            <a:extLst xmlns:a="http://schemas.openxmlformats.org/drawingml/2006/main">
              <a:ext uri="{FF2B5EF4-FFF2-40B4-BE49-F238E27FC236}">
                <a16:creationId xmlns:a16="http://schemas.microsoft.com/office/drawing/2014/main" id="{D75D699C-E516-4538-8260-202F64DC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803" y="407670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0"/>
                </a:moveTo>
                <a:lnTo>
                  <a:pt x="0" y="139425"/>
                </a:lnTo>
                <a:lnTo>
                  <a:pt x="119443" y="139425"/>
                </a:lnTo>
                <a:close/>
              </a:path>
            </a:pathLst>
          </a:cu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</a:ln>
        </p:spPr>
      </p:sp>
      <p:sp>
        <p:nvSpPr>
          <p:cNvPr id="38" name="连线-38">
            <a:extLst xmlns:a="http://schemas.openxmlformats.org/drawingml/2006/main">
              <a:ext uri="{FF2B5EF4-FFF2-40B4-BE49-F238E27FC236}">
                <a16:creationId xmlns:a16="http://schemas.microsoft.com/office/drawing/2014/main" id="{C2BE722B-A506-4BDD-AD4E-6ECDB226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0499" y="2865120"/>
            <a:ext cx="729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4DA59B"/>
            </a:solidFill>
            <a:prstDash val="solid"/>
          </a:ln>
        </p:spPr>
      </p:sp>
      <p:sp>
        <p:nvSpPr>
          <p:cNvPr id="39" name="结构-39">
            <a:extLst xmlns:a="http://schemas.openxmlformats.org/drawingml/2006/main">
              <a:ext uri="{FF2B5EF4-FFF2-40B4-BE49-F238E27FC236}">
                <a16:creationId xmlns:a16="http://schemas.microsoft.com/office/drawing/2014/main" id="{9CE9324A-F258-4C83-A117-3DA3B1A4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803" y="286512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0"/>
                </a:moveTo>
                <a:lnTo>
                  <a:pt x="0" y="139425"/>
                </a:lnTo>
                <a:lnTo>
                  <a:pt x="119443" y="139425"/>
                </a:lnTo>
                <a:close/>
              </a:path>
            </a:pathLst>
          </a:cu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</a:ln>
        </p:spPr>
      </p:sp>
      <p:sp>
        <p:nvSpPr>
          <p:cNvPr id="40" name="连线-40">
            <a:extLst xmlns:a="http://schemas.openxmlformats.org/drawingml/2006/main">
              <a:ext uri="{FF2B5EF4-FFF2-40B4-BE49-F238E27FC236}">
                <a16:creationId xmlns:a16="http://schemas.microsoft.com/office/drawing/2014/main" id="{F30B689D-42CE-4B0A-B732-19D5CF4E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70499" y="2057400"/>
            <a:ext cx="729" cy="1752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4DA59B"/>
            </a:solidFill>
            <a:prstDash val="solid"/>
          </a:ln>
        </p:spPr>
      </p:sp>
      <p:sp>
        <p:nvSpPr>
          <p:cNvPr id="41" name="结构-41">
            <a:extLst xmlns:a="http://schemas.openxmlformats.org/drawingml/2006/main">
              <a:ext uri="{FF2B5EF4-FFF2-40B4-BE49-F238E27FC236}">
                <a16:creationId xmlns:a16="http://schemas.microsoft.com/office/drawing/2014/main" id="{F29B1B57-C61B-4626-85CF-70724CDD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803" y="205740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0"/>
                </a:moveTo>
                <a:lnTo>
                  <a:pt x="0" y="139425"/>
                </a:lnTo>
                <a:lnTo>
                  <a:pt x="119443" y="139425"/>
                </a:lnTo>
                <a:close/>
              </a:path>
            </a:pathLst>
          </a:cu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</a:ln>
        </p:spPr>
      </p:sp>
      <p:sp>
        <p:nvSpPr>
          <p:cNvPr id="42" name="对象-42">
            <a:extLst xmlns:a="http://schemas.openxmlformats.org/drawingml/2006/main">
              <a:ext uri="{FF2B5EF4-FFF2-40B4-BE49-F238E27FC236}">
                <a16:creationId xmlns:a16="http://schemas.microsoft.com/office/drawing/2014/main" id="{E2F66A50-C599-4923-B17E-FA2E66F8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530" y="1211580"/>
            <a:ext cx="4813281" cy="231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B0AB"/>
            </a:solidFill>
            <a:prstDash val="solid"/>
          </a:ln>
        </p:spPr>
      </p:sp>
      <p:sp>
        <p:nvSpPr>
          <p:cNvPr id="43" name="文字-43-机理解释">
            <a:extLst xmlns:a="http://schemas.openxmlformats.org/drawingml/2006/main">
              <a:ext uri="{FF2B5EF4-FFF2-40B4-BE49-F238E27FC236}">
                <a16:creationId xmlns:a16="http://schemas.microsoft.com/office/drawing/2014/main" id="{534D7D23-FFBE-4DAA-93CC-31C994E6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233" y="1363980"/>
            <a:ext cx="1926836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机理解释</a:t>
            </a:r>
          </a:p>
        </p:txBody>
      </p:sp>
      <p:sp>
        <p:nvSpPr>
          <p:cNvPr id="44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484F3697-8E92-49E3-AB6C-CADEBC2F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697" y="1798320"/>
            <a:ext cx="1881140" cy="1082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45" name="文字-45-填写耦合作用说明">
            <a:extLst xmlns:a="http://schemas.openxmlformats.org/drawingml/2006/main">
              <a:ext uri="{FF2B5EF4-FFF2-40B4-BE49-F238E27FC236}">
                <a16:creationId xmlns:a16="http://schemas.microsoft.com/office/drawing/2014/main" id="{9B81DEAD-B071-4383-B19D-D4D04494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697" y="2971800"/>
            <a:ext cx="18811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耦合作用说明</a:t>
            </a:r>
          </a:p>
        </p:txBody>
      </p:sp>
      <p:sp>
        <p:nvSpPr>
          <p:cNvPr id="46" name="文字-46-工作机理">
            <a:extLst xmlns:a="http://schemas.openxmlformats.org/drawingml/2006/main">
              <a:ext uri="{FF2B5EF4-FFF2-40B4-BE49-F238E27FC236}">
                <a16:creationId xmlns:a16="http://schemas.microsoft.com/office/drawing/2014/main" id="{EE6BE15D-AA6D-4C89-8A0F-41FE6E6A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699" y="1447800"/>
            <a:ext cx="2353329" cy="403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工作机理</a:t>
            </a:r>
          </a:p>
        </p:txBody>
      </p:sp>
      <p:sp>
        <p:nvSpPr>
          <p:cNvPr id="47" name="文字-47-说明主要作用过程">
            <a:extLst xmlns:a="http://schemas.openxmlformats.org/drawingml/2006/main">
              <a:ext uri="{FF2B5EF4-FFF2-40B4-BE49-F238E27FC236}">
                <a16:creationId xmlns:a16="http://schemas.microsoft.com/office/drawing/2014/main" id="{D3294B72-0ECB-455D-B075-1719FFD5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699" y="1973580"/>
            <a:ext cx="2353329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主要作用过程</a:t>
            </a:r>
          </a:p>
        </p:txBody>
      </p:sp>
      <p:sp>
        <p:nvSpPr>
          <p:cNvPr id="48" name="文字-48-调控要素1">
            <a:extLst xmlns:a="http://schemas.openxmlformats.org/drawingml/2006/main">
              <a:ext uri="{FF2B5EF4-FFF2-40B4-BE49-F238E27FC236}">
                <a16:creationId xmlns:a16="http://schemas.microsoft.com/office/drawing/2014/main" id="{A2E347A8-4586-44AA-9D1C-78EA8E2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931" y="2621280"/>
            <a:ext cx="738748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调控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要素1</a:t>
            </a:r>
          </a:p>
        </p:txBody>
      </p:sp>
      <p:sp>
        <p:nvSpPr>
          <p:cNvPr id="49" name="文字-49-调控要素2">
            <a:extLst xmlns:a="http://schemas.openxmlformats.org/drawingml/2006/main">
              <a:ext uri="{FF2B5EF4-FFF2-40B4-BE49-F238E27FC236}">
                <a16:creationId xmlns:a16="http://schemas.microsoft.com/office/drawing/2014/main" id="{EA1A9F19-15B5-42B2-A5C6-69F102C1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374" y="2621280"/>
            <a:ext cx="738748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调控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要素2</a:t>
            </a:r>
          </a:p>
        </p:txBody>
      </p:sp>
      <p:sp>
        <p:nvSpPr>
          <p:cNvPr id="50" name="文字-50-调控要素3">
            <a:extLst xmlns:a="http://schemas.openxmlformats.org/drawingml/2006/main">
              <a:ext uri="{FF2B5EF4-FFF2-40B4-BE49-F238E27FC236}">
                <a16:creationId xmlns:a16="http://schemas.microsoft.com/office/drawing/2014/main" id="{07A9F527-D1E0-44EB-AAAE-AA09820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818" y="2621280"/>
            <a:ext cx="738748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调控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要素3</a:t>
            </a:r>
          </a:p>
        </p:txBody>
      </p:sp>
      <p:sp>
        <p:nvSpPr>
          <p:cNvPr id="51" name="对象-51">
            <a:extLst xmlns:a="http://schemas.openxmlformats.org/drawingml/2006/main">
              <a:ext uri="{FF2B5EF4-FFF2-40B4-BE49-F238E27FC236}">
                <a16:creationId xmlns:a16="http://schemas.microsoft.com/office/drawing/2014/main" id="{E32C3576-614F-484D-A763-39742EF8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530" y="3794760"/>
            <a:ext cx="4813281" cy="25069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B0AB"/>
            </a:solidFill>
            <a:prstDash val="solid"/>
          </a:ln>
        </p:spPr>
      </p:sp>
      <p:sp>
        <p:nvSpPr>
          <p:cNvPr id="52" name="文字-52-多层次协同分析">
            <a:extLst xmlns:a="http://schemas.openxmlformats.org/drawingml/2006/main">
              <a:ext uri="{FF2B5EF4-FFF2-40B4-BE49-F238E27FC236}">
                <a16:creationId xmlns:a16="http://schemas.microsoft.com/office/drawing/2014/main" id="{9FD8C769-6EBD-4CA9-842E-EE8CE07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582" y="3970020"/>
            <a:ext cx="3419562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E7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多层次协同分析</a:t>
            </a:r>
          </a:p>
        </p:txBody>
      </p:sp>
      <p:sp>
        <p:nvSpPr>
          <p:cNvPr id="53" name="对象-53">
            <a:extLst xmlns:a="http://schemas.openxmlformats.org/drawingml/2006/main">
              <a:ext uri="{FF2B5EF4-FFF2-40B4-BE49-F238E27FC236}">
                <a16:creationId xmlns:a16="http://schemas.microsoft.com/office/drawing/2014/main" id="{7EC5E0CB-6CC9-47F9-B55B-4DEDD9E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233" y="4084320"/>
            <a:ext cx="388414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文字-54-研">
            <a:extLst xmlns:a="http://schemas.openxmlformats.org/drawingml/2006/main">
              <a:ext uri="{FF2B5EF4-FFF2-40B4-BE49-F238E27FC236}">
                <a16:creationId xmlns:a16="http://schemas.microsoft.com/office/drawing/2014/main" id="{79DCAB3D-660E-4766-BCF4-BF858B7D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233" y="4639056"/>
            <a:ext cx="388414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</a:t>
            </a:r>
          </a:p>
        </p:txBody>
      </p:sp>
      <p:sp>
        <p:nvSpPr>
          <p:cNvPr id="55" name="文字-55-究">
            <a:extLst xmlns:a="http://schemas.openxmlformats.org/drawingml/2006/main">
              <a:ext uri="{FF2B5EF4-FFF2-40B4-BE49-F238E27FC236}">
                <a16:creationId xmlns:a16="http://schemas.microsoft.com/office/drawing/2014/main" id="{037A88AF-E6BD-454B-A9EB-E0E3D998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233" y="4856988"/>
            <a:ext cx="388414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究</a:t>
            </a:r>
          </a:p>
        </p:txBody>
      </p:sp>
      <p:sp>
        <p:nvSpPr>
          <p:cNvPr id="56" name="文字-56-条">
            <a:extLst xmlns:a="http://schemas.openxmlformats.org/drawingml/2006/main">
              <a:ext uri="{FF2B5EF4-FFF2-40B4-BE49-F238E27FC236}">
                <a16:creationId xmlns:a16="http://schemas.microsoft.com/office/drawing/2014/main" id="{E1B47F37-9274-4F1D-B200-6ECE1E7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233" y="5074920"/>
            <a:ext cx="388414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条</a:t>
            </a:r>
          </a:p>
        </p:txBody>
      </p:sp>
      <p:sp>
        <p:nvSpPr>
          <p:cNvPr id="57" name="文字-57-件">
            <a:extLst xmlns:a="http://schemas.openxmlformats.org/drawingml/2006/main">
              <a:ext uri="{FF2B5EF4-FFF2-40B4-BE49-F238E27FC236}">
                <a16:creationId xmlns:a16="http://schemas.microsoft.com/office/drawing/2014/main" id="{E7CAF6E3-084E-4DD6-BDDE-1D0DA5CC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233" y="5292852"/>
            <a:ext cx="388414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件</a:t>
            </a:r>
          </a:p>
        </p:txBody>
      </p:sp>
      <p:sp>
        <p:nvSpPr>
          <p:cNvPr id="58" name="对象-58">
            <a:extLst xmlns:a="http://schemas.openxmlformats.org/drawingml/2006/main">
              <a:ext uri="{FF2B5EF4-FFF2-40B4-BE49-F238E27FC236}">
                <a16:creationId xmlns:a16="http://schemas.microsoft.com/office/drawing/2014/main" id="{487C0510-BCD8-418C-B4CF-E93F2DDE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11" y="4084320"/>
            <a:ext cx="373182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文字-59-实">
            <a:extLst xmlns:a="http://schemas.openxmlformats.org/drawingml/2006/main">
              <a:ext uri="{FF2B5EF4-FFF2-40B4-BE49-F238E27FC236}">
                <a16:creationId xmlns:a16="http://schemas.microsoft.com/office/drawing/2014/main" id="{0F8D36B3-6C83-4715-9FB6-1B9C2CA2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11" y="4639056"/>
            <a:ext cx="373182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实</a:t>
            </a:r>
          </a:p>
        </p:txBody>
      </p:sp>
      <p:sp>
        <p:nvSpPr>
          <p:cNvPr id="60" name="文字-60-现">
            <a:extLst xmlns:a="http://schemas.openxmlformats.org/drawingml/2006/main">
              <a:ext uri="{FF2B5EF4-FFF2-40B4-BE49-F238E27FC236}">
                <a16:creationId xmlns:a16="http://schemas.microsoft.com/office/drawing/2014/main" id="{9D1E3031-F572-4296-8EB5-169C167A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11" y="4856988"/>
            <a:ext cx="373182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现</a:t>
            </a:r>
          </a:p>
        </p:txBody>
      </p:sp>
      <p:sp>
        <p:nvSpPr>
          <p:cNvPr id="61" name="文字-61-目">
            <a:extLst xmlns:a="http://schemas.openxmlformats.org/drawingml/2006/main">
              <a:ext uri="{FF2B5EF4-FFF2-40B4-BE49-F238E27FC236}">
                <a16:creationId xmlns:a16="http://schemas.microsoft.com/office/drawing/2014/main" id="{8AD29125-3E7D-4925-BEB7-DA883A11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11" y="5074920"/>
            <a:ext cx="373182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2" name="文字-62-标">
            <a:extLst xmlns:a="http://schemas.openxmlformats.org/drawingml/2006/main">
              <a:ext uri="{FF2B5EF4-FFF2-40B4-BE49-F238E27FC236}">
                <a16:creationId xmlns:a16="http://schemas.microsoft.com/office/drawing/2014/main" id="{6086E1A5-11F6-46D7-BBA9-FDC181BC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311" y="5292852"/>
            <a:ext cx="373182" cy="2179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标</a:t>
            </a:r>
          </a:p>
        </p:txBody>
      </p:sp>
      <p:sp>
        <p:nvSpPr>
          <p:cNvPr id="63" name="文字-63-宏观模型">
            <a:extLst xmlns:a="http://schemas.openxmlformats.org/drawingml/2006/main">
              <a:ext uri="{FF2B5EF4-FFF2-40B4-BE49-F238E27FC236}">
                <a16:creationId xmlns:a16="http://schemas.microsoft.com/office/drawing/2014/main" id="{B7E8EB12-60F3-4230-A081-1B2D06DB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8132" y="4640580"/>
            <a:ext cx="1386103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073E8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宏观模型</a:t>
            </a:r>
          </a:p>
        </p:txBody>
      </p:sp>
      <p:sp>
        <p:nvSpPr>
          <p:cNvPr id="64" name="文字-64-微观机制">
            <a:extLst xmlns:a="http://schemas.openxmlformats.org/drawingml/2006/main">
              <a:ext uri="{FF2B5EF4-FFF2-40B4-BE49-F238E27FC236}">
                <a16:creationId xmlns:a16="http://schemas.microsoft.com/office/drawing/2014/main" id="{DA6C0477-B862-46AD-A17F-FADBE14A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642" y="4640580"/>
            <a:ext cx="1386103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073E8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微观机制</a:t>
            </a:r>
          </a:p>
        </p:txBody>
      </p:sp>
      <p:sp>
        <p:nvSpPr>
          <p:cNvPr id="65" name="连线-65">
            <a:extLst xmlns:a="http://schemas.openxmlformats.org/drawingml/2006/main">
              <a:ext uri="{FF2B5EF4-FFF2-40B4-BE49-F238E27FC236}">
                <a16:creationId xmlns:a16="http://schemas.microsoft.com/office/drawing/2014/main" id="{C0BFDA47-AE1F-4D4B-B8FE-06DE8668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87084" y="4991100"/>
            <a:ext cx="213247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073E86"/>
            </a:solidFill>
            <a:prstDash val="solid"/>
          </a:ln>
        </p:spPr>
      </p:sp>
      <p:sp>
        <p:nvSpPr>
          <p:cNvPr id="66" name="结构-66">
            <a:extLst xmlns:a="http://schemas.openxmlformats.org/drawingml/2006/main">
              <a:ext uri="{FF2B5EF4-FFF2-40B4-BE49-F238E27FC236}">
                <a16:creationId xmlns:a16="http://schemas.microsoft.com/office/drawing/2014/main" id="{504D575A-5A91-4A11-A094-6CE719FE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091" y="4941570"/>
            <a:ext cx="114239" cy="99060"/>
          </a:xfrm>
          <a:custGeom xmlns:a="http://schemas.openxmlformats.org/drawingml/2006/main">
            <a:pathLst>
              <a:path w="149304" h="129466">
                <a:moveTo>
                  <a:pt x="149304" y="64733"/>
                </a:moveTo>
                <a:lnTo>
                  <a:pt x="0" y="0"/>
                </a:lnTo>
                <a:lnTo>
                  <a:pt x="0" y="129466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67" name="文字-67-填写改进或调控策略">
            <a:extLst xmlns:a="http://schemas.openxmlformats.org/drawingml/2006/main">
              <a:ext uri="{FF2B5EF4-FFF2-40B4-BE49-F238E27FC236}">
                <a16:creationId xmlns:a16="http://schemas.microsoft.com/office/drawing/2014/main" id="{28E7AE9E-6D1E-4817-9DD4-3634875B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669" y="5615940"/>
            <a:ext cx="3107308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改进或调控策略</a:t>
            </a:r>
          </a:p>
        </p:txBody>
      </p:sp>
    </p:spTree>
    <p:extLst>
      <p:ext uri="{BB962C8B-B14F-4D97-AF65-F5344CB8AC3E}">
        <p14:creationId xmlns:p14="http://schemas.microsoft.com/office/powerpoint/2010/main" val="5673264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文字-1-1.4 研究领域">
            <a:extLst xmlns:a="http://schemas.openxmlformats.org/drawingml/2006/main">
              <a:ext uri="{FF2B5EF4-FFF2-40B4-BE49-F238E27FC236}">
                <a16:creationId xmlns:a16="http://schemas.microsoft.com/office/drawing/2014/main" id="{B279DDE6-8520-4DD9-B5EE-F42AB9AF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1.4 研究领域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88A63564-F4E6-4A15-B49D-E5A154C9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说明关键技术的基本特征与适用">
            <a:extLst xmlns:a="http://schemas.openxmlformats.org/drawingml/2006/main">
              <a:ext uri="{FF2B5EF4-FFF2-40B4-BE49-F238E27FC236}">
                <a16:creationId xmlns:a16="http://schemas.microsoft.com/office/drawing/2014/main" id="{E21E2955-6948-4255-AC81-BB84E52D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29640"/>
            <a:ext cx="11454390" cy="85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关键技术的基本特征与适用对象</a:t>
            </a:r>
          </a:p>
          <a:p xmlns:a="http://schemas.openxmlformats.org/drawingml/2006/main">
            <a:pPr algn="l">
              <a:buNone/>
              <a:def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该技术相对于已有方法的优势</a:t>
            </a:r>
          </a:p>
        </p:txBody>
      </p:sp>
      <p:sp>
        <p:nvSpPr>
          <p:cNvPr id="4" name="文字-4-概括本研究利用该技术解决问题">
            <a:extLst xmlns:a="http://schemas.openxmlformats.org/drawingml/2006/main">
              <a:ext uri="{FF2B5EF4-FFF2-40B4-BE49-F238E27FC236}">
                <a16:creationId xmlns:a16="http://schemas.microsoft.com/office/drawing/2014/main" id="{A2B0C3D0-416B-4496-B8EC-B4A7D956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927860"/>
            <a:ext cx="11454390" cy="472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4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本研究利用该技术解决问题的主要思路</a:t>
            </a:r>
          </a:p>
        </p:txBody>
      </p:sp>
      <p:sp>
        <p:nvSpPr>
          <p:cNvPr id="5" name="结构-5">
            <a:extLst xmlns:a="http://schemas.openxmlformats.org/drawingml/2006/main">
              <a:ext uri="{FF2B5EF4-FFF2-40B4-BE49-F238E27FC236}">
                <a16:creationId xmlns:a16="http://schemas.microsoft.com/office/drawing/2014/main" id="{88734E6E-CC7A-4C27-A21D-E0ECED06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567940"/>
            <a:ext cx="3663273" cy="434340"/>
          </a:xfrm>
          <a:custGeom xmlns:a="http://schemas.openxmlformats.org/drawingml/2006/main">
            <a:pathLst>
              <a:path w="4787694" h="567658">
                <a:moveTo>
                  <a:pt x="0" y="0"/>
                </a:moveTo>
                <a:lnTo>
                  <a:pt x="4538853" y="0"/>
                </a:lnTo>
                <a:lnTo>
                  <a:pt x="4787694" y="283829"/>
                </a:lnTo>
                <a:lnTo>
                  <a:pt x="4538853" y="567658"/>
                </a:lnTo>
                <a:lnTo>
                  <a:pt x="0" y="567658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6" name="文字-6-研究需求与问题">
            <a:extLst xmlns:a="http://schemas.openxmlformats.org/drawingml/2006/main">
              <a:ext uri="{FF2B5EF4-FFF2-40B4-BE49-F238E27FC236}">
                <a16:creationId xmlns:a16="http://schemas.microsoft.com/office/drawing/2014/main" id="{44A943EA-E6BE-49BF-813F-1578A415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32" y="2567940"/>
            <a:ext cx="3434794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研究需求与问题</a:t>
            </a:r>
          </a:p>
        </p:txBody>
      </p:sp>
      <p:sp>
        <p:nvSpPr>
          <p:cNvPr id="7" name="对象-7">
            <a:extLst xmlns:a="http://schemas.openxmlformats.org/drawingml/2006/main">
              <a:ext uri="{FF2B5EF4-FFF2-40B4-BE49-F238E27FC236}">
                <a16:creationId xmlns:a16="http://schemas.microsoft.com/office/drawing/2014/main" id="{CD64633A-2EF0-4776-8C49-68A430B0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3200400"/>
            <a:ext cx="3663273" cy="3192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8" name="文字-8-说明研究对象的主要问题说明已">
            <a:extLst xmlns:a="http://schemas.openxmlformats.org/drawingml/2006/main">
              <a:ext uri="{FF2B5EF4-FFF2-40B4-BE49-F238E27FC236}">
                <a16:creationId xmlns:a16="http://schemas.microsoft.com/office/drawing/2014/main" id="{EF787672-18EE-4357-BCC7-39C26F9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" y="3337560"/>
            <a:ext cx="3404330" cy="967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研究对象的主要问题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已有方法的不足</a:t>
            </a:r>
          </a:p>
        </p:txBody>
      </p:sp>
      <p:sp>
        <p:nvSpPr>
          <p:cNvPr id="9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CCE5BC0C-3D44-45AC-B64C-97F5C81F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4472940"/>
            <a:ext cx="3297707" cy="1684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0" name="结构-10">
            <a:extLst xmlns:a="http://schemas.openxmlformats.org/drawingml/2006/main">
              <a:ext uri="{FF2B5EF4-FFF2-40B4-BE49-F238E27FC236}">
                <a16:creationId xmlns:a16="http://schemas.microsoft.com/office/drawing/2014/main" id="{9F024E88-495C-4A34-832F-2B4429D4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172" y="2567940"/>
            <a:ext cx="3663273" cy="434340"/>
          </a:xfrm>
          <a:custGeom xmlns:a="http://schemas.openxmlformats.org/drawingml/2006/main">
            <a:pathLst>
              <a:path w="4787694" h="567658">
                <a:moveTo>
                  <a:pt x="0" y="0"/>
                </a:moveTo>
                <a:lnTo>
                  <a:pt x="4538853" y="0"/>
                </a:lnTo>
                <a:lnTo>
                  <a:pt x="4787694" y="283829"/>
                </a:lnTo>
                <a:lnTo>
                  <a:pt x="4538853" y="567658"/>
                </a:lnTo>
                <a:lnTo>
                  <a:pt x="0" y="567658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11" name="文字-11-技术路径与方法">
            <a:extLst xmlns:a="http://schemas.openxmlformats.org/drawingml/2006/main">
              <a:ext uri="{FF2B5EF4-FFF2-40B4-BE49-F238E27FC236}">
                <a16:creationId xmlns:a16="http://schemas.microsoft.com/office/drawing/2014/main" id="{630EAEE6-3A71-4783-ABE7-D5398CA0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9099" y="2567940"/>
            <a:ext cx="3434794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技术路径与方法</a:t>
            </a:r>
          </a:p>
        </p:txBody>
      </p:sp>
      <p:sp>
        <p:nvSpPr>
          <p:cNvPr id="12" name="对象-12">
            <a:extLst xmlns:a="http://schemas.openxmlformats.org/drawingml/2006/main">
              <a:ext uri="{FF2B5EF4-FFF2-40B4-BE49-F238E27FC236}">
                <a16:creationId xmlns:a16="http://schemas.microsoft.com/office/drawing/2014/main" id="{2C276C92-5CB2-4D02-AB50-EE062209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172" y="3200400"/>
            <a:ext cx="3663273" cy="3192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3" name="文字-13-说明核心技术与实现方式说明拟">
            <a:extLst xmlns:a="http://schemas.openxmlformats.org/drawingml/2006/main">
              <a:ext uri="{FF2B5EF4-FFF2-40B4-BE49-F238E27FC236}">
                <a16:creationId xmlns:a16="http://schemas.microsoft.com/office/drawing/2014/main" id="{9823B06C-2D38-42B0-AEE1-05F44D2A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643" y="3337560"/>
            <a:ext cx="3404330" cy="967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核心技术与实现方式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拟解决的关键环节</a:t>
            </a:r>
          </a:p>
        </p:txBody>
      </p:sp>
      <p:sp>
        <p:nvSpPr>
          <p:cNvPr id="14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D3F681DE-530A-4262-AC3D-B641C6F4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954" y="4472940"/>
            <a:ext cx="3297707" cy="1684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A5027922-18D7-4681-804E-A55160BA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539" y="2567940"/>
            <a:ext cx="3663273" cy="434340"/>
          </a:xfrm>
          <a:custGeom xmlns:a="http://schemas.openxmlformats.org/drawingml/2006/main">
            <a:pathLst>
              <a:path w="4787694" h="567658">
                <a:moveTo>
                  <a:pt x="0" y="0"/>
                </a:moveTo>
                <a:lnTo>
                  <a:pt x="4538853" y="0"/>
                </a:lnTo>
                <a:lnTo>
                  <a:pt x="4787694" y="283829"/>
                </a:lnTo>
                <a:lnTo>
                  <a:pt x="4538853" y="567658"/>
                </a:lnTo>
                <a:lnTo>
                  <a:pt x="0" y="567658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16" name="文字-16-应用价值与贡献">
            <a:extLst xmlns:a="http://schemas.openxmlformats.org/drawingml/2006/main">
              <a:ext uri="{FF2B5EF4-FFF2-40B4-BE49-F238E27FC236}">
                <a16:creationId xmlns:a16="http://schemas.microsoft.com/office/drawing/2014/main" id="{A46FB700-713F-479C-8556-B92AAA3E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466" y="2567940"/>
            <a:ext cx="3434794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应用价值与贡献</a:t>
            </a:r>
          </a:p>
        </p:txBody>
      </p:sp>
      <p:sp>
        <p:nvSpPr>
          <p:cNvPr id="17" name="对象-17">
            <a:extLst xmlns:a="http://schemas.openxmlformats.org/drawingml/2006/main">
              <a:ext uri="{FF2B5EF4-FFF2-40B4-BE49-F238E27FC236}">
                <a16:creationId xmlns:a16="http://schemas.microsoft.com/office/drawing/2014/main" id="{BBFD7D8A-6E64-4257-9BE7-62482581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539" y="3200400"/>
            <a:ext cx="3663273" cy="3192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8" name="文字-18-说明预期应用的对象说明可能形">
            <a:extLst xmlns:a="http://schemas.openxmlformats.org/drawingml/2006/main">
              <a:ext uri="{FF2B5EF4-FFF2-40B4-BE49-F238E27FC236}">
                <a16:creationId xmlns:a16="http://schemas.microsoft.com/office/drawing/2014/main" id="{B577966B-06CF-4B4E-A2AE-0943B250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010" y="3337560"/>
            <a:ext cx="3404330" cy="967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预期应用对象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可能形成的研究贡献</a:t>
            </a:r>
          </a:p>
        </p:txBody>
      </p:sp>
      <p:sp>
        <p:nvSpPr>
          <p:cNvPr id="19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BFAF263F-9072-4EEE-B37E-03D64C1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321" y="4472940"/>
            <a:ext cx="3297707" cy="1684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9334359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文字-1-2.1 科研工作一">
            <a:extLst xmlns:a="http://schemas.openxmlformats.org/drawingml/2006/main">
              <a:ext uri="{FF2B5EF4-FFF2-40B4-BE49-F238E27FC236}">
                <a16:creationId xmlns:a16="http://schemas.microsoft.com/office/drawing/2014/main" id="{132FF5A6-9E48-4010-A37E-6ECDB1A2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2.1 科研工作一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9D096FB4-1014-474F-8307-F1705446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填写研究需要突破的核心瓶颈">
            <a:extLst xmlns:a="http://schemas.openxmlformats.org/drawingml/2006/main">
              <a:ext uri="{FF2B5EF4-FFF2-40B4-BE49-F238E27FC236}">
                <a16:creationId xmlns:a16="http://schemas.microsoft.com/office/drawing/2014/main" id="{E086210B-9E2E-4FFD-BE5F-40B3F355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44880"/>
            <a:ext cx="114543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研究需要突破的核心瓶颈</a:t>
            </a:r>
          </a:p>
        </p:txBody>
      </p:sp>
      <p:sp>
        <p:nvSpPr>
          <p:cNvPr id="4" name="文字-4-综合研究">
            <a:extLst xmlns:a="http://schemas.openxmlformats.org/drawingml/2006/main">
              <a:ext uri="{FF2B5EF4-FFF2-40B4-BE49-F238E27FC236}">
                <a16:creationId xmlns:a16="http://schemas.microsoft.com/office/drawing/2014/main" id="{29486AF5-FA9E-4894-BEBF-BE6DC219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3078" y="1524000"/>
            <a:ext cx="2025843" cy="365760"/>
          </a:xfrm>
          <a:prstGeom xmlns:a="http://schemas.openxmlformats.org/drawingml/2006/main" prst="roundRect">
            <a:avLst>
              <a:gd name="adj" fmla="val 15940"/>
            </a:avLst>
          </a:prstGeom>
          <a:solidFill xmlns:a="http://schemas.openxmlformats.org/drawingml/2006/main">
            <a:srgbClr val="1979B5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综合研究</a:t>
            </a:r>
          </a:p>
        </p:txBody>
      </p:sp>
      <p:sp>
        <p:nvSpPr>
          <p:cNvPr id="5" name="对象-5">
            <a:extLst xmlns:a="http://schemas.openxmlformats.org/drawingml/2006/main">
              <a:ext uri="{FF2B5EF4-FFF2-40B4-BE49-F238E27FC236}">
                <a16:creationId xmlns:a16="http://schemas.microsoft.com/office/drawing/2014/main" id="{DA7E77A4-E451-4A66-BF21-3E5B9146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026920"/>
            <a:ext cx="1145439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6" name="文字-6-研究对象">
            <a:extLst xmlns:a="http://schemas.openxmlformats.org/drawingml/2006/main">
              <a:ext uri="{FF2B5EF4-FFF2-40B4-BE49-F238E27FC236}">
                <a16:creationId xmlns:a16="http://schemas.microsoft.com/office/drawing/2014/main" id="{4289FE30-1CAE-4AE8-B2A6-1A8AF3C6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24" y="2225040"/>
            <a:ext cx="2010611" cy="556260"/>
          </a:xfrm>
          <a:prstGeom xmlns:a="http://schemas.openxmlformats.org/drawingml/2006/main" prst="roundRect">
            <a:avLst>
              <a:gd name="adj" fmla="val 10481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7" name="连线-7">
            <a:extLst xmlns:a="http://schemas.openxmlformats.org/drawingml/2006/main">
              <a:ext uri="{FF2B5EF4-FFF2-40B4-BE49-F238E27FC236}">
                <a16:creationId xmlns:a16="http://schemas.microsoft.com/office/drawing/2014/main" id="{F239D175-E140-4A80-A31B-557CA9D7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77430" y="2506980"/>
            <a:ext cx="190399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8" name="结构-8">
            <a:extLst xmlns:a="http://schemas.openxmlformats.org/drawingml/2006/main">
              <a:ext uri="{FF2B5EF4-FFF2-40B4-BE49-F238E27FC236}">
                <a16:creationId xmlns:a16="http://schemas.microsoft.com/office/drawing/2014/main" id="{9784EB1F-BB44-4F11-A98A-E78683A8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90" y="2457450"/>
            <a:ext cx="114239" cy="99060"/>
          </a:xfrm>
          <a:custGeom xmlns:a="http://schemas.openxmlformats.org/drawingml/2006/main">
            <a:pathLst>
              <a:path w="149304" h="129466">
                <a:moveTo>
                  <a:pt x="149304" y="64733"/>
                </a:moveTo>
                <a:lnTo>
                  <a:pt x="0" y="0"/>
                </a:lnTo>
                <a:lnTo>
                  <a:pt x="0" y="129466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9" name="文字-9-外部条件">
            <a:extLst xmlns:a="http://schemas.openxmlformats.org/drawingml/2006/main">
              <a:ext uri="{FF2B5EF4-FFF2-40B4-BE49-F238E27FC236}">
                <a16:creationId xmlns:a16="http://schemas.microsoft.com/office/drawing/2014/main" id="{5E61FA82-93B2-4824-ABE0-5C8591FF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909" y="2225040"/>
            <a:ext cx="2010611" cy="556260"/>
          </a:xfrm>
          <a:prstGeom xmlns:a="http://schemas.openxmlformats.org/drawingml/2006/main" prst="roundRect">
            <a:avLst>
              <a:gd name="adj" fmla="val 10481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外部条件</a:t>
            </a:r>
          </a:p>
        </p:txBody>
      </p:sp>
      <p:sp>
        <p:nvSpPr>
          <p:cNvPr id="10" name="连线-10">
            <a:extLst xmlns:a="http://schemas.openxmlformats.org/drawingml/2006/main">
              <a:ext uri="{FF2B5EF4-FFF2-40B4-BE49-F238E27FC236}">
                <a16:creationId xmlns:a16="http://schemas.microsoft.com/office/drawing/2014/main" id="{178EFC61-142C-46B3-8DA2-D131DCC9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62216" y="2506980"/>
            <a:ext cx="190399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6DF432F4-6DD4-4909-B767-700DD644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375" y="2457450"/>
            <a:ext cx="114239" cy="99060"/>
          </a:xfrm>
          <a:custGeom xmlns:a="http://schemas.openxmlformats.org/drawingml/2006/main">
            <a:pathLst>
              <a:path w="149304" h="129466">
                <a:moveTo>
                  <a:pt x="149304" y="64733"/>
                </a:moveTo>
                <a:lnTo>
                  <a:pt x="0" y="0"/>
                </a:lnTo>
                <a:lnTo>
                  <a:pt x="0" y="129466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2" name="文字-12-状态变化">
            <a:extLst xmlns:a="http://schemas.openxmlformats.org/drawingml/2006/main">
              <a:ext uri="{FF2B5EF4-FFF2-40B4-BE49-F238E27FC236}">
                <a16:creationId xmlns:a16="http://schemas.microsoft.com/office/drawing/2014/main" id="{A47A33FD-3253-492B-9B4F-B9E02027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694" y="2225040"/>
            <a:ext cx="2010611" cy="556260"/>
          </a:xfrm>
          <a:prstGeom xmlns:a="http://schemas.openxmlformats.org/drawingml/2006/main" prst="roundRect">
            <a:avLst>
              <a:gd name="adj" fmla="val 10481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状态变化</a:t>
            </a:r>
          </a:p>
        </p:txBody>
      </p:sp>
      <p:sp>
        <p:nvSpPr>
          <p:cNvPr id="13" name="连线-13">
            <a:extLst xmlns:a="http://schemas.openxmlformats.org/drawingml/2006/main">
              <a:ext uri="{FF2B5EF4-FFF2-40B4-BE49-F238E27FC236}">
                <a16:creationId xmlns:a16="http://schemas.microsoft.com/office/drawing/2014/main" id="{CF76A46D-D4FB-4510-890D-6E237FD2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47001" y="2506980"/>
            <a:ext cx="190399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14" name="结构-14">
            <a:extLst xmlns:a="http://schemas.openxmlformats.org/drawingml/2006/main">
              <a:ext uri="{FF2B5EF4-FFF2-40B4-BE49-F238E27FC236}">
                <a16:creationId xmlns:a16="http://schemas.microsoft.com/office/drawing/2014/main" id="{07EBEBD5-C3F9-46BB-AC4C-0C3914C0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161" y="2457450"/>
            <a:ext cx="114239" cy="99060"/>
          </a:xfrm>
          <a:custGeom xmlns:a="http://schemas.openxmlformats.org/drawingml/2006/main">
            <a:pathLst>
              <a:path w="149304" h="129466">
                <a:moveTo>
                  <a:pt x="149304" y="64733"/>
                </a:moveTo>
                <a:lnTo>
                  <a:pt x="0" y="0"/>
                </a:lnTo>
                <a:lnTo>
                  <a:pt x="0" y="129466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5" name="文字-15-性能影响">
            <a:extLst xmlns:a="http://schemas.openxmlformats.org/drawingml/2006/main">
              <a:ext uri="{FF2B5EF4-FFF2-40B4-BE49-F238E27FC236}">
                <a16:creationId xmlns:a16="http://schemas.microsoft.com/office/drawing/2014/main" id="{AD996BD3-7928-4972-9408-A3035FE4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480" y="2225040"/>
            <a:ext cx="2010611" cy="556260"/>
          </a:xfrm>
          <a:prstGeom xmlns:a="http://schemas.openxmlformats.org/drawingml/2006/main" prst="roundRect">
            <a:avLst>
              <a:gd name="adj" fmla="val 10481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性能影响</a:t>
            </a:r>
          </a:p>
        </p:txBody>
      </p:sp>
      <p:sp>
        <p:nvSpPr>
          <p:cNvPr id="16" name="连线-16">
            <a:extLst xmlns:a="http://schemas.openxmlformats.org/drawingml/2006/main">
              <a:ext uri="{FF2B5EF4-FFF2-40B4-BE49-F238E27FC236}">
                <a16:creationId xmlns:a16="http://schemas.microsoft.com/office/drawing/2014/main" id="{A74C5CFC-D9EF-4B29-A3E9-919E5097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31787" y="2506980"/>
            <a:ext cx="190399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17" name="结构-17">
            <a:extLst xmlns:a="http://schemas.openxmlformats.org/drawingml/2006/main">
              <a:ext uri="{FF2B5EF4-FFF2-40B4-BE49-F238E27FC236}">
                <a16:creationId xmlns:a16="http://schemas.microsoft.com/office/drawing/2014/main" id="{5E5D595C-19A4-412E-976A-E375D0AE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946" y="2457450"/>
            <a:ext cx="114239" cy="99060"/>
          </a:xfrm>
          <a:custGeom xmlns:a="http://schemas.openxmlformats.org/drawingml/2006/main">
            <a:pathLst>
              <a:path w="149304" h="129466">
                <a:moveTo>
                  <a:pt x="149304" y="64733"/>
                </a:moveTo>
                <a:lnTo>
                  <a:pt x="0" y="0"/>
                </a:lnTo>
                <a:lnTo>
                  <a:pt x="0" y="129466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8" name="文字-18-失效结果">
            <a:extLst xmlns:a="http://schemas.openxmlformats.org/drawingml/2006/main">
              <a:ext uri="{FF2B5EF4-FFF2-40B4-BE49-F238E27FC236}">
                <a16:creationId xmlns:a16="http://schemas.microsoft.com/office/drawing/2014/main" id="{A6AE078E-210F-4041-BB77-A737A26E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265" y="2225040"/>
            <a:ext cx="2010611" cy="556260"/>
          </a:xfrm>
          <a:prstGeom xmlns:a="http://schemas.openxmlformats.org/drawingml/2006/main" prst="roundRect">
            <a:avLst>
              <a:gd name="adj" fmla="val 10481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失效结果</a:t>
            </a:r>
          </a:p>
        </p:txBody>
      </p:sp>
      <p:sp>
        <p:nvSpPr>
          <p:cNvPr id="19" name="对象-19">
            <a:extLst xmlns:a="http://schemas.openxmlformats.org/drawingml/2006/main">
              <a:ext uri="{FF2B5EF4-FFF2-40B4-BE49-F238E27FC236}">
                <a16:creationId xmlns:a16="http://schemas.microsoft.com/office/drawing/2014/main" id="{8F8C32BF-85B8-44E8-9FEC-33827A08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3352800"/>
            <a:ext cx="5605340" cy="2346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20" name="文字-20-研究路径一">
            <a:extLst xmlns:a="http://schemas.openxmlformats.org/drawingml/2006/main">
              <a:ext uri="{FF2B5EF4-FFF2-40B4-BE49-F238E27FC236}">
                <a16:creationId xmlns:a16="http://schemas.microsoft.com/office/drawing/2014/main" id="{08A5F091-7C19-4CF2-AF5C-13749F94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002" y="3162300"/>
            <a:ext cx="2360945" cy="403860"/>
          </a:xfrm>
          <a:prstGeom xmlns:a="http://schemas.openxmlformats.org/drawingml/2006/main" prst="roundRect">
            <a:avLst>
              <a:gd name="adj" fmla="val 14437"/>
            </a:avLst>
          </a:prstGeom>
          <a:solidFill xmlns:a="http://schemas.openxmlformats.org/drawingml/2006/main">
            <a:srgbClr val="1979B5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研究路径一</a:t>
            </a:r>
          </a:p>
        </p:txBody>
      </p:sp>
      <p:sp>
        <p:nvSpPr>
          <p:cNvPr id="21" name="图片区-1-方法图0">
            <a:extLst xmlns:a="http://schemas.openxmlformats.org/drawingml/2006/main">
              <a:ext uri="{FF2B5EF4-FFF2-40B4-BE49-F238E27FC236}">
                <a16:creationId xmlns:a16="http://schemas.microsoft.com/office/drawing/2014/main" id="{058B5587-F21B-4BBD-AF95-6014B392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740" y="3710940"/>
            <a:ext cx="2558960" cy="1760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2" name="图片区-2-验证图0">
            <a:extLst xmlns:a="http://schemas.openxmlformats.org/drawingml/2006/main">
              <a:ext uri="{FF2B5EF4-FFF2-40B4-BE49-F238E27FC236}">
                <a16:creationId xmlns:a16="http://schemas.microsoft.com/office/drawing/2014/main" id="{914C98F0-BB18-4413-9055-F5DDA232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402" y="3710940"/>
            <a:ext cx="2558960" cy="1760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3" name="对象-23">
            <a:extLst xmlns:a="http://schemas.openxmlformats.org/drawingml/2006/main">
              <a:ext uri="{FF2B5EF4-FFF2-40B4-BE49-F238E27FC236}">
                <a16:creationId xmlns:a16="http://schemas.microsoft.com/office/drawing/2014/main" id="{7795FCC6-2F85-4AA5-965A-BEDE3E5E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855" y="3352800"/>
            <a:ext cx="5605340" cy="2346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24" name="文字-24-研究路径二">
            <a:extLst xmlns:a="http://schemas.openxmlformats.org/drawingml/2006/main">
              <a:ext uri="{FF2B5EF4-FFF2-40B4-BE49-F238E27FC236}">
                <a16:creationId xmlns:a16="http://schemas.microsoft.com/office/drawing/2014/main" id="{EE66D1AB-9EEF-4F93-A436-2C08CED5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053" y="3162300"/>
            <a:ext cx="2360945" cy="403860"/>
          </a:xfrm>
          <a:prstGeom xmlns:a="http://schemas.openxmlformats.org/drawingml/2006/main" prst="roundRect">
            <a:avLst>
              <a:gd name="adj" fmla="val 14437"/>
            </a:avLst>
          </a:prstGeom>
          <a:solidFill xmlns:a="http://schemas.openxmlformats.org/drawingml/2006/main">
            <a:srgbClr val="1979B5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研究路径二</a:t>
            </a:r>
          </a:p>
        </p:txBody>
      </p:sp>
      <p:sp>
        <p:nvSpPr>
          <p:cNvPr id="25" name="图片区-3-方法图1">
            <a:extLst xmlns:a="http://schemas.openxmlformats.org/drawingml/2006/main">
              <a:ext uri="{FF2B5EF4-FFF2-40B4-BE49-F238E27FC236}">
                <a16:creationId xmlns:a16="http://schemas.microsoft.com/office/drawing/2014/main" id="{613A5468-B9EB-4D6D-BBE9-C66CD169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90" y="3710940"/>
            <a:ext cx="2558960" cy="1760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6" name="图片区-4-验证图1">
            <a:extLst xmlns:a="http://schemas.openxmlformats.org/drawingml/2006/main">
              <a:ext uri="{FF2B5EF4-FFF2-40B4-BE49-F238E27FC236}">
                <a16:creationId xmlns:a16="http://schemas.microsoft.com/office/drawing/2014/main" id="{AD68E28F-8C5A-485A-A6EC-C7BF599E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1453" y="3710940"/>
            <a:ext cx="2558960" cy="1760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7" name="文字-27-说明两条研究路径共同形成的方">
            <a:extLst xmlns:a="http://schemas.openxmlformats.org/drawingml/2006/main">
              <a:ext uri="{FF2B5EF4-FFF2-40B4-BE49-F238E27FC236}">
                <a16:creationId xmlns:a16="http://schemas.microsoft.com/office/drawing/2014/main" id="{41238D66-CAB4-4C88-A626-2FB72F25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5943600"/>
            <a:ext cx="1145439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两条研究路径形成共同的方法、认识或模型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共同支撑总体研究目标</a:t>
            </a:r>
          </a:p>
        </p:txBody>
      </p:sp>
    </p:spTree>
    <p:extLst>
      <p:ext uri="{BB962C8B-B14F-4D97-AF65-F5344CB8AC3E}">
        <p14:creationId xmlns:p14="http://schemas.microsoft.com/office/powerpoint/2010/main" val="10565826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结构-1">
            <a:extLst xmlns:a="http://schemas.openxmlformats.org/drawingml/2006/main">
              <a:ext uri="{FF2B5EF4-FFF2-40B4-BE49-F238E27FC236}">
                <a16:creationId xmlns:a16="http://schemas.microsoft.com/office/drawing/2014/main" id="{CFA73B18-BC2B-4F67-9B90-D55DE8DB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二：知识约束与增">
            <a:extLst xmlns:a="http://schemas.openxmlformats.org/drawingml/2006/main">
              <a:ext uri="{FF2B5EF4-FFF2-40B4-BE49-F238E27FC236}">
                <a16:creationId xmlns:a16="http://schemas.microsoft.com/office/drawing/2014/main" id="{64ECDBF3-AF4E-4A67-BF05-4BEE3BE3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研究进展二：知识约束与增强推理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17AFED71-2B84-4736-AFA5-1505B50A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DCEFEAB4-D6EF-45C5-8481-1D5345A5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已有检索或生成方法如">
            <a:extLst xmlns:a="http://schemas.openxmlformats.org/drawingml/2006/main">
              <a:ext uri="{FF2B5EF4-FFF2-40B4-BE49-F238E27FC236}">
                <a16:creationId xmlns:a16="http://schemas.microsoft.com/office/drawing/2014/main" id="{42943146-FDD3-4694-B93B-F6D1CEB3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说明已有检索或生成方法如何工作，以及它遗漏的关系、约束或证据</a:t>
            </a:r>
          </a:p>
        </p:txBody>
      </p:sp>
      <p:sp>
        <p:nvSpPr>
          <p:cNvPr id="6" name="文字-6-用户／任务">
            <a:extLst xmlns:a="http://schemas.openxmlformats.org/drawingml/2006/main">
              <a:ext uri="{FF2B5EF4-FFF2-40B4-BE49-F238E27FC236}">
                <a16:creationId xmlns:a16="http://schemas.microsoft.com/office/drawing/2014/main" id="{D3DD0C95-E60D-4BD0-BE7F-BE9EE256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7621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用户／任务</a:t>
            </a:r>
          </a:p>
        </p:txBody>
      </p:sp>
      <p:sp>
        <p:nvSpPr>
          <p:cNvPr id="7" name="文字-7-输入问题">
            <a:extLst xmlns:a="http://schemas.openxmlformats.org/drawingml/2006/main">
              <a:ext uri="{FF2B5EF4-FFF2-40B4-BE49-F238E27FC236}">
                <a16:creationId xmlns:a16="http://schemas.microsoft.com/office/drawing/2014/main" id="{49486EA4-ABA3-4763-A0AF-9AA78534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33600"/>
            <a:ext cx="2371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输入问题</a:t>
            </a:r>
          </a:p>
        </p:txBody>
      </p:sp>
      <p:sp>
        <p:nvSpPr>
          <p:cNvPr id="8" name="结构-8">
            <a:extLst xmlns:a="http://schemas.openxmlformats.org/drawingml/2006/main">
              <a:ext uri="{FF2B5EF4-FFF2-40B4-BE49-F238E27FC236}">
                <a16:creationId xmlns:a16="http://schemas.microsoft.com/office/drawing/2014/main" id="{BB77F57F-FF90-4CBA-A11D-6036E4E2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86050"/>
            <a:ext cx="26574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9" name="文字-9-填写任务描述说明输入条件">
            <a:extLst xmlns:a="http://schemas.openxmlformats.org/drawingml/2006/main">
              <a:ext uri="{FF2B5EF4-FFF2-40B4-BE49-F238E27FC236}">
                <a16:creationId xmlns:a16="http://schemas.microsoft.com/office/drawing/2014/main" id="{D27B18A1-94D1-4BBD-A626-6F38AB75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2362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填写任务描述</a:t>
            </a:r>
          </a:p>
          <a:p xmlns:a="http://schemas.openxmlformats.org/drawingml/2006/main">
            <a:pPr algn="ctr">
              <a:defRPr sz="1575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说明输入条件与目标</a:t>
            </a:r>
          </a:p>
        </p:txBody>
      </p:sp>
      <p:sp>
        <p:nvSpPr>
          <p:cNvPr id="10" name="连线-10">
            <a:extLst xmlns:a="http://schemas.openxmlformats.org/drawingml/2006/main">
              <a:ext uri="{FF2B5EF4-FFF2-40B4-BE49-F238E27FC236}">
                <a16:creationId xmlns:a16="http://schemas.microsoft.com/office/drawing/2014/main" id="{B23CEDA0-9A30-4F4C-A6EC-86033B68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90775" y="2524125"/>
            <a:ext cx="1704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BED4"/>
            </a:solidFill>
            <a:prstDash val="solid"/>
          </a:ln>
        </p:spPr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943BD454-11F1-4D9D-9E21-B619A24A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76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A6BED4"/>
          </a:solidFill>
          <a:ln xmlns:a="http://schemas.openxmlformats.org/drawingml/2006/main" w="0">
            <a:noFill/>
          </a:ln>
        </p:spPr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1404BBF1-80BC-43BA-9508-4F687255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19325"/>
            <a:ext cx="3086100" cy="1714500"/>
          </a:xfrm>
          <a:prstGeom xmlns:a="http://schemas.openxmlformats.org/drawingml/2006/main" prst="roundRect">
            <a:avLst>
              <a:gd name="adj" fmla="val 444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13" name="文字-13-外部知识">
            <a:extLst xmlns:a="http://schemas.openxmlformats.org/drawingml/2006/main">
              <a:ext uri="{FF2B5EF4-FFF2-40B4-BE49-F238E27FC236}">
                <a16:creationId xmlns:a16="http://schemas.microsoft.com/office/drawing/2014/main" id="{2094C63C-6FF1-4ED2-9A19-A38AEEBA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47875"/>
            <a:ext cx="2743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外部知识</a:t>
            </a:r>
          </a:p>
        </p:txBody>
      </p:sp>
      <p:sp>
        <p:nvSpPr>
          <p:cNvPr id="14" name="图片区-14">
            <a:extLst xmlns:a="http://schemas.openxmlformats.org/drawingml/2006/main">
              <a:ext uri="{FF2B5EF4-FFF2-40B4-BE49-F238E27FC236}">
                <a16:creationId xmlns:a16="http://schemas.microsoft.com/office/drawing/2014/main" id="{84D1972F-B2E5-426B-82C8-D1A5B249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9239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5" name="文字-15-索引与表示填写检索方式">
            <a:extLst xmlns:a="http://schemas.openxmlformats.org/drawingml/2006/main">
              <a:ext uri="{FF2B5EF4-FFF2-40B4-BE49-F238E27FC236}">
                <a16:creationId xmlns:a16="http://schemas.microsoft.com/office/drawing/2014/main" id="{4087844F-4E43-4145-B426-F4F180FC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628900"/>
            <a:ext cx="1666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索引与表示</a:t>
            </a:r>
          </a:p>
          <a:p xmlns:a="http://schemas.openxmlformats.org/drawingml/2006/main">
            <a:pPr algn="ctr">
              <a:def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填写检索方式</a:t>
            </a:r>
          </a:p>
        </p:txBody>
      </p:sp>
      <p:sp>
        <p:nvSpPr>
          <p:cNvPr id="16" name="文字-16-相关证据">
            <a:extLst xmlns:a="http://schemas.openxmlformats.org/drawingml/2006/main">
              <a:ext uri="{FF2B5EF4-FFF2-40B4-BE49-F238E27FC236}">
                <a16:creationId xmlns:a16="http://schemas.microsoft.com/office/drawing/2014/main" id="{A65F5E74-122F-4F6F-A715-D36265AD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52925"/>
            <a:ext cx="2428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相关证据</a:t>
            </a:r>
          </a:p>
        </p:txBody>
      </p:sp>
      <p:sp>
        <p:nvSpPr>
          <p:cNvPr id="17" name="文字-17-填写检索返回的内容说明覆">
            <a:extLst xmlns:a="http://schemas.openxmlformats.org/drawingml/2006/main">
              <a:ext uri="{FF2B5EF4-FFF2-40B4-BE49-F238E27FC236}">
                <a16:creationId xmlns:a16="http://schemas.microsoft.com/office/drawing/2014/main" id="{446AF646-3DA2-4516-B0AB-18BD0263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924425"/>
            <a:ext cx="2667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填写检索返回的内容</a:t>
            </a:r>
          </a:p>
          <a:p xmlns:a="http://schemas.openxmlformats.org/drawingml/2006/main">
            <a:pPr algn="ctr">
              <a:def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说明覆盖范围</a:t>
            </a:r>
          </a:p>
          <a:p xmlns:a="http://schemas.openxmlformats.org/drawingml/2006/main">
            <a:pPr algn="ctr">
              <a:def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标出缺失的关键关系</a:t>
            </a:r>
          </a:p>
        </p:txBody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FEFDE00B-9A56-458D-9B91-E835D039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06025" y="3952875"/>
            <a:ext cx="953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57750316-FFE2-48FD-AF10-D2F2E819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638" y="4171950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0" name="文字-20-生成模型">
            <a:extLst xmlns:a="http://schemas.openxmlformats.org/drawingml/2006/main">
              <a:ext uri="{FF2B5EF4-FFF2-40B4-BE49-F238E27FC236}">
                <a16:creationId xmlns:a16="http://schemas.microsoft.com/office/drawing/2014/main" id="{F5B55B13-FB23-48DB-AE4C-8EE83B64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343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生成模型</a:t>
            </a:r>
          </a:p>
        </p:txBody>
      </p:sp>
      <p:sp>
        <p:nvSpPr>
          <p:cNvPr id="21" name="连线-21">
            <a:extLst xmlns:a="http://schemas.openxmlformats.org/drawingml/2006/main">
              <a:ext uri="{FF2B5EF4-FFF2-40B4-BE49-F238E27FC236}">
                <a16:creationId xmlns:a16="http://schemas.microsoft.com/office/drawing/2014/main" id="{EA0F6254-7529-4AD8-BFE3-BE3A14B6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48300" y="3895725"/>
            <a:ext cx="953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5AA0622C-75AB-4FEA-B8DB-22477BB6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913" y="4133850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3" name="连线-23">
            <a:extLst xmlns:a="http://schemas.openxmlformats.org/drawingml/2006/main">
              <a:ext uri="{FF2B5EF4-FFF2-40B4-BE49-F238E27FC236}">
                <a16:creationId xmlns:a16="http://schemas.microsoft.com/office/drawing/2014/main" id="{4BFADFD3-C354-4E95-B7BE-B8B58C44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696075" y="4591050"/>
            <a:ext cx="2095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24" name="结构-24">
            <a:extLst xmlns:a="http://schemas.openxmlformats.org/drawingml/2006/main">
              <a:ext uri="{FF2B5EF4-FFF2-40B4-BE49-F238E27FC236}">
                <a16:creationId xmlns:a16="http://schemas.microsoft.com/office/drawing/2014/main" id="{187D3922-DC34-457C-9796-3803E43F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38663"/>
            <a:ext cx="123825" cy="104775"/>
          </a:xfrm>
          <a:custGeom xmlns:a="http://schemas.openxmlformats.org/drawingml/2006/main">
            <a:pathLst>
              <a:path w="123825" h="104775">
                <a:moveTo>
                  <a:pt x="0" y="52388"/>
                </a:moveTo>
                <a:lnTo>
                  <a:pt x="123825" y="104775"/>
                </a:lnTo>
                <a:lnTo>
                  <a:pt x="123825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5" name="结构-25">
            <a:extLst xmlns:a="http://schemas.openxmlformats.org/drawingml/2006/main">
              <a:ext uri="{FF2B5EF4-FFF2-40B4-BE49-F238E27FC236}">
                <a16:creationId xmlns:a16="http://schemas.microsoft.com/office/drawing/2014/main" id="{125BDF0D-0971-407F-9E98-4125ADBB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219700"/>
            <a:ext cx="3676650" cy="1057275"/>
          </a:xfrm>
          <a:prstGeom xmlns:a="http://schemas.openxmlformats.org/drawingml/2006/main" prst="roundRect">
            <a:avLst>
              <a:gd name="adj" fmla="val 72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90D12"/>
            </a:solidFill>
            <a:prstDash val="dash"/>
          </a:ln>
        </p:spPr>
      </p:sp>
      <p:sp>
        <p:nvSpPr>
          <p:cNvPr id="26" name="文字-26-结构化上下文与约束说明应">
            <a:extLst xmlns:a="http://schemas.openxmlformats.org/drawingml/2006/main">
              <a:ext uri="{FF2B5EF4-FFF2-40B4-BE49-F238E27FC236}">
                <a16:creationId xmlns:a16="http://schemas.microsoft.com/office/drawing/2014/main" id="{699F51F5-8271-4C9F-B1EA-51B1C47E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721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结构化上下文与约束</a:t>
            </a:r>
          </a:p>
          <a:p xmlns:a="http://schemas.openxmlformats.org/drawingml/2006/main">
            <a:pPr algn="ctr">
              <a:def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说明应提供的证据</a:t>
            </a:r>
          </a:p>
        </p:txBody>
      </p:sp>
      <p:sp>
        <p:nvSpPr>
          <p:cNvPr id="27" name="连线-27">
            <a:extLst xmlns:a="http://schemas.openxmlformats.org/drawingml/2006/main">
              <a:ext uri="{FF2B5EF4-FFF2-40B4-BE49-F238E27FC236}">
                <a16:creationId xmlns:a16="http://schemas.microsoft.com/office/drawing/2014/main" id="{D3145081-4637-46E9-9E9B-620F7B8B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4867275"/>
            <a:ext cx="953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0D12"/>
            </a:solidFill>
            <a:prstDash val="solid"/>
          </a:ln>
        </p:spPr>
      </p:sp>
      <p:sp>
        <p:nvSpPr>
          <p:cNvPr id="28" name="结构-28">
            <a:extLst xmlns:a="http://schemas.openxmlformats.org/drawingml/2006/main">
              <a:ext uri="{FF2B5EF4-FFF2-40B4-BE49-F238E27FC236}">
                <a16:creationId xmlns:a16="http://schemas.microsoft.com/office/drawing/2014/main" id="{163CE8C2-FE0F-4042-BAF4-186CC278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672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A90D12"/>
          </a:solidFill>
          <a:ln xmlns:a="http://schemas.openxmlformats.org/drawingml/2006/main" w="0">
            <a:noFill/>
          </a:ln>
        </p:spPr>
      </p:sp>
      <p:sp>
        <p:nvSpPr>
          <p:cNvPr id="29" name="结构-29">
            <a:extLst xmlns:a="http://schemas.openxmlformats.org/drawingml/2006/main">
              <a:ext uri="{FF2B5EF4-FFF2-40B4-BE49-F238E27FC236}">
                <a16:creationId xmlns:a16="http://schemas.microsoft.com/office/drawing/2014/main" id="{7F1B8A7D-61CB-4AAB-90C3-59DA913E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24250"/>
            <a:ext cx="2895600" cy="2752725"/>
          </a:xfrm>
          <a:prstGeom xmlns:a="http://schemas.openxmlformats.org/drawingml/2006/main" prst="roundRect">
            <a:avLst>
              <a:gd name="adj" fmla="val 276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30" name="文字-30-输出与对照">
            <a:extLst xmlns:a="http://schemas.openxmlformats.org/drawingml/2006/main">
              <a:ext uri="{FF2B5EF4-FFF2-40B4-BE49-F238E27FC236}">
                <a16:creationId xmlns:a16="http://schemas.microsoft.com/office/drawing/2014/main" id="{3B24B62B-EE4E-44A9-98C2-07D0D59D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552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输出与对照</a:t>
            </a:r>
          </a:p>
        </p:txBody>
      </p:sp>
      <p:sp>
        <p:nvSpPr>
          <p:cNvPr id="31" name="文字-31-原有输出填写已有结果及局">
            <a:extLst xmlns:a="http://schemas.openxmlformats.org/drawingml/2006/main">
              <a:ext uri="{FF2B5EF4-FFF2-40B4-BE49-F238E27FC236}">
                <a16:creationId xmlns:a16="http://schemas.microsoft.com/office/drawing/2014/main" id="{857AB537-89E2-4CC7-96F5-511F213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00475"/>
            <a:ext cx="25050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原有输出</a:t>
            </a:r>
          </a:p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填写已有结果及局限</a:t>
            </a:r>
          </a:p>
        </p:txBody>
      </p:sp>
      <p:sp>
        <p:nvSpPr>
          <p:cNvPr id="32" name="文字-32-改进输出填写期望结果与要">
            <a:extLst xmlns:a="http://schemas.openxmlformats.org/drawingml/2006/main">
              <a:ext uri="{FF2B5EF4-FFF2-40B4-BE49-F238E27FC236}">
                <a16:creationId xmlns:a16="http://schemas.microsoft.com/office/drawing/2014/main" id="{57AA065F-ECFF-496D-A5B9-0112CCC7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105400"/>
            <a:ext cx="25050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改进输出</a:t>
            </a:r>
          </a:p>
          <a:p xmlns:a="http://schemas.openxmlformats.org/drawingml/2006/main">
            <a:pPr algn="ctr">
              <a:def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填写期望结果与要求</a:t>
            </a:r>
          </a:p>
        </p:txBody>
      </p:sp>
      <p:sp>
        <p:nvSpPr>
          <p:cNvPr id="33" name="连线-33">
            <a:extLst xmlns:a="http://schemas.openxmlformats.org/drawingml/2006/main">
              <a:ext uri="{FF2B5EF4-FFF2-40B4-BE49-F238E27FC236}">
                <a16:creationId xmlns:a16="http://schemas.microsoft.com/office/drawing/2014/main" id="{824EB300-F629-4D99-A61A-14E8C554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238500" y="4591050"/>
            <a:ext cx="1038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ACE1C2D0-4B50-470B-B6F9-8FDC8E5C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33900"/>
            <a:ext cx="133350" cy="114300"/>
          </a:xfrm>
          <a:custGeom xmlns:a="http://schemas.openxmlformats.org/drawingml/2006/main">
            <a:pathLst>
              <a:path w="133350" h="114300">
                <a:moveTo>
                  <a:pt x="0" y="57150"/>
                </a:moveTo>
                <a:lnTo>
                  <a:pt x="133350" y="114300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467832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结构-1">
            <a:extLst xmlns:a="http://schemas.openxmlformats.org/drawingml/2006/main">
              <a:ext uri="{FF2B5EF4-FFF2-40B4-BE49-F238E27FC236}">
                <a16:creationId xmlns:a16="http://schemas.microsoft.com/office/drawing/2014/main" id="{7AEAF4BE-5E9B-43DD-8865-624895C2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目标与内容">
            <a:extLst xmlns:a="http://schemas.openxmlformats.org/drawingml/2006/main">
              <a:ext uri="{FF2B5EF4-FFF2-40B4-BE49-F238E27FC236}">
                <a16:creationId xmlns:a16="http://schemas.microsoft.com/office/drawing/2014/main" id="{E7B81F7C-F7A2-4C46-B555-3BE3F90B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研究目标与内容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932831BA-AFEF-4EFC-9388-2AA81817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906DD434-08B9-45A8-BB01-32F3EECE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填写总体研究目标，说明三">
            <a:extLst xmlns:a="http://schemas.openxmlformats.org/drawingml/2006/main">
              <a:ext uri="{FF2B5EF4-FFF2-40B4-BE49-F238E27FC236}">
                <a16:creationId xmlns:a16="http://schemas.microsoft.com/office/drawing/2014/main" id="{55214D59-F89D-407F-9656-8AB40770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填写总体研究目标，说明三项研究内容如何共同支撑目标实现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28103A4A-D718-4AE3-93E7-FF0F99A0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28825"/>
            <a:ext cx="3362325" cy="2600325"/>
          </a:xfrm>
          <a:prstGeom xmlns:a="http://schemas.openxmlformats.org/drawingml/2006/main" prst="roundRect">
            <a:avLst>
              <a:gd name="adj" fmla="val 293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7" name="文字-7-研究内容一">
            <a:extLst xmlns:a="http://schemas.openxmlformats.org/drawingml/2006/main">
              <a:ext uri="{FF2B5EF4-FFF2-40B4-BE49-F238E27FC236}">
                <a16:creationId xmlns:a16="http://schemas.microsoft.com/office/drawing/2014/main" id="{4C947A1B-B7D0-48A8-A2E5-4A1F57DD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57375"/>
            <a:ext cx="3019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研究内容一</a:t>
            </a:r>
          </a:p>
        </p:txBody>
      </p:sp>
      <p:sp>
        <p:nvSpPr>
          <p:cNvPr id="8" name="文字-8-研究要素">
            <a:extLst xmlns:a="http://schemas.openxmlformats.org/drawingml/2006/main">
              <a:ext uri="{FF2B5EF4-FFF2-40B4-BE49-F238E27FC236}">
                <a16:creationId xmlns:a16="http://schemas.microsoft.com/office/drawing/2014/main" id="{1DEA4FE8-5061-42F5-B366-6B13A6C4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943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研究要素</a:t>
            </a:r>
          </a:p>
        </p:txBody>
      </p:sp>
      <p:sp>
        <p:nvSpPr>
          <p:cNvPr id="9" name="连线-9">
            <a:extLst xmlns:a="http://schemas.openxmlformats.org/drawingml/2006/main">
              <a:ext uri="{FF2B5EF4-FFF2-40B4-BE49-F238E27FC236}">
                <a16:creationId xmlns:a16="http://schemas.microsoft.com/office/drawing/2014/main" id="{411BC90D-41E9-43BF-AE17-B6DC9413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6475" y="2847975"/>
            <a:ext cx="953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0" name="结构-10">
            <a:extLst xmlns:a="http://schemas.openxmlformats.org/drawingml/2006/main">
              <a:ext uri="{FF2B5EF4-FFF2-40B4-BE49-F238E27FC236}">
                <a16:creationId xmlns:a16="http://schemas.microsoft.com/office/drawing/2014/main" id="{3CBCA970-0CC3-4EDC-BB51-D234277C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8670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1" name="文字-11-关系建模">
            <a:extLst xmlns:a="http://schemas.openxmlformats.org/drawingml/2006/main">
              <a:ext uri="{FF2B5EF4-FFF2-40B4-BE49-F238E27FC236}">
                <a16:creationId xmlns:a16="http://schemas.microsoft.com/office/drawing/2014/main" id="{BBBB0AFF-5517-4888-9837-230356DD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943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关系建模</a:t>
            </a:r>
          </a:p>
        </p:txBody>
      </p:sp>
      <p:sp>
        <p:nvSpPr>
          <p:cNvPr id="12" name="连线-12">
            <a:extLst xmlns:a="http://schemas.openxmlformats.org/drawingml/2006/main">
              <a:ext uri="{FF2B5EF4-FFF2-40B4-BE49-F238E27FC236}">
                <a16:creationId xmlns:a16="http://schemas.microsoft.com/office/drawing/2014/main" id="{DC1B0E14-B648-4A45-99EA-7564198D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6475" y="3438525"/>
            <a:ext cx="953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3" name="结构-13">
            <a:extLst xmlns:a="http://schemas.openxmlformats.org/drawingml/2006/main">
              <a:ext uri="{FF2B5EF4-FFF2-40B4-BE49-F238E27FC236}">
                <a16:creationId xmlns:a16="http://schemas.microsoft.com/office/drawing/2014/main" id="{A97F1A90-BC60-40DC-8063-CCEF9D27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57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4" name="文字-14-单元识别">
            <a:extLst xmlns:a="http://schemas.openxmlformats.org/drawingml/2006/main">
              <a:ext uri="{FF2B5EF4-FFF2-40B4-BE49-F238E27FC236}">
                <a16:creationId xmlns:a16="http://schemas.microsoft.com/office/drawing/2014/main" id="{FBB201A4-3D0A-41D3-8582-846D95DD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2943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单元识别</a:t>
            </a:r>
          </a:p>
        </p:txBody>
      </p:sp>
      <p:sp>
        <p:nvSpPr>
          <p:cNvPr id="15" name="连线-15">
            <a:extLst xmlns:a="http://schemas.openxmlformats.org/drawingml/2006/main">
              <a:ext uri="{FF2B5EF4-FFF2-40B4-BE49-F238E27FC236}">
                <a16:creationId xmlns:a16="http://schemas.microsoft.com/office/drawing/2014/main" id="{EF353001-9BE0-4B98-857E-712FC103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76475" y="4695825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16" name="结构-16">
            <a:extLst xmlns:a="http://schemas.openxmlformats.org/drawingml/2006/main">
              <a:ext uri="{FF2B5EF4-FFF2-40B4-BE49-F238E27FC236}">
                <a16:creationId xmlns:a16="http://schemas.microsoft.com/office/drawing/2014/main" id="{E52EC200-C074-4C80-9AF5-3C7F4270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848225"/>
            <a:ext cx="114300" cy="133350"/>
          </a:xfrm>
          <a:custGeom xmlns:a="http://schemas.openxmlformats.org/drawingml/2006/main">
            <a:pathLst>
              <a:path w="114300" h="133350">
                <a:moveTo>
                  <a:pt x="57150" y="133350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FDA88D49-BBD5-4311-89BD-95F01613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90975" y="3171825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B9919ED4-1ECE-447E-AE70-0AD3AFE9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14675"/>
            <a:ext cx="133350" cy="114300"/>
          </a:xfrm>
          <a:custGeom xmlns:a="http://schemas.openxmlformats.org/drawingml/2006/main"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2B75CF5C-6B81-413F-ABEF-5E0BC19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28825"/>
            <a:ext cx="3362325" cy="2600325"/>
          </a:xfrm>
          <a:prstGeom xmlns:a="http://schemas.openxmlformats.org/drawingml/2006/main" prst="roundRect">
            <a:avLst>
              <a:gd name="adj" fmla="val 293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87C88"/>
            </a:solidFill>
            <a:prstDash val="solid"/>
          </a:ln>
        </p:spPr>
      </p:sp>
      <p:sp>
        <p:nvSpPr>
          <p:cNvPr id="20" name="文字-20-研究内容二">
            <a:extLst xmlns:a="http://schemas.openxmlformats.org/drawingml/2006/main">
              <a:ext uri="{FF2B5EF4-FFF2-40B4-BE49-F238E27FC236}">
                <a16:creationId xmlns:a16="http://schemas.microsoft.com/office/drawing/2014/main" id="{33AA1AB2-DF57-4F3F-86D4-B85815ED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57375"/>
            <a:ext cx="3019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研究内容二</a:t>
            </a:r>
          </a:p>
        </p:txBody>
      </p:sp>
      <p:sp>
        <p:nvSpPr>
          <p:cNvPr id="21" name="文字-21-知识与状态">
            <a:extLst xmlns:a="http://schemas.openxmlformats.org/drawingml/2006/main">
              <a:ext uri="{FF2B5EF4-FFF2-40B4-BE49-F238E27FC236}">
                <a16:creationId xmlns:a16="http://schemas.microsoft.com/office/drawing/2014/main" id="{64ADC180-EA18-4A44-96AC-67E79EE9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00300"/>
            <a:ext cx="2943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知识与状态</a:t>
            </a:r>
          </a:p>
        </p:txBody>
      </p:sp>
      <p:sp>
        <p:nvSpPr>
          <p:cNvPr id="22" name="连线-22">
            <a:extLst xmlns:a="http://schemas.openxmlformats.org/drawingml/2006/main">
              <a:ext uri="{FF2B5EF4-FFF2-40B4-BE49-F238E27FC236}">
                <a16:creationId xmlns:a16="http://schemas.microsoft.com/office/drawing/2014/main" id="{E4794B68-4D9F-422B-9E14-E718C127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0" y="2847975"/>
            <a:ext cx="953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3" name="结构-23">
            <a:extLst xmlns:a="http://schemas.openxmlformats.org/drawingml/2006/main">
              <a:ext uri="{FF2B5EF4-FFF2-40B4-BE49-F238E27FC236}">
                <a16:creationId xmlns:a16="http://schemas.microsoft.com/office/drawing/2014/main" id="{84660FE3-7E19-4591-B28F-B23DE1EF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670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4" name="文字-24-约束与检索">
            <a:extLst xmlns:a="http://schemas.openxmlformats.org/drawingml/2006/main">
              <a:ext uri="{FF2B5EF4-FFF2-40B4-BE49-F238E27FC236}">
                <a16:creationId xmlns:a16="http://schemas.microsoft.com/office/drawing/2014/main" id="{499E728D-B5CF-4E94-9D93-2632CCDF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90850"/>
            <a:ext cx="2943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约束与检索</a:t>
            </a:r>
          </a:p>
        </p:txBody>
      </p:sp>
      <p:sp>
        <p:nvSpPr>
          <p:cNvPr id="25" name="连线-25">
            <a:extLst xmlns:a="http://schemas.openxmlformats.org/drawingml/2006/main">
              <a:ext uri="{FF2B5EF4-FFF2-40B4-BE49-F238E27FC236}">
                <a16:creationId xmlns:a16="http://schemas.microsoft.com/office/drawing/2014/main" id="{28CB2B61-DFC1-4AD3-B153-1D0494BA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0" y="3438525"/>
            <a:ext cx="953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71A552FF-A9EA-4942-A9AB-BB46F362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57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7" name="文字-27-方案生成">
            <a:extLst xmlns:a="http://schemas.openxmlformats.org/drawingml/2006/main">
              <a:ext uri="{FF2B5EF4-FFF2-40B4-BE49-F238E27FC236}">
                <a16:creationId xmlns:a16="http://schemas.microsoft.com/office/drawing/2014/main" id="{E2C5064A-3694-422A-A9B3-CEF23C83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81400"/>
            <a:ext cx="2943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方案生成</a:t>
            </a:r>
          </a:p>
        </p:txBody>
      </p:sp>
      <p:sp>
        <p:nvSpPr>
          <p:cNvPr id="28" name="连线-28">
            <a:extLst xmlns:a="http://schemas.openxmlformats.org/drawingml/2006/main">
              <a:ext uri="{FF2B5EF4-FFF2-40B4-BE49-F238E27FC236}">
                <a16:creationId xmlns:a16="http://schemas.microsoft.com/office/drawing/2014/main" id="{833C9DB3-F6D2-4D55-9139-57973BB4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0" y="4695825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29" name="结构-29">
            <a:extLst xmlns:a="http://schemas.openxmlformats.org/drawingml/2006/main">
              <a:ext uri="{FF2B5EF4-FFF2-40B4-BE49-F238E27FC236}">
                <a16:creationId xmlns:a16="http://schemas.microsoft.com/office/drawing/2014/main" id="{463272A6-CCFA-4E37-ABB7-96F15609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48225"/>
            <a:ext cx="114300" cy="133350"/>
          </a:xfrm>
          <a:custGeom xmlns:a="http://schemas.openxmlformats.org/drawingml/2006/main">
            <a:pathLst>
              <a:path w="114300" h="133350">
                <a:moveTo>
                  <a:pt x="57150" y="133350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0" name="连线-30">
            <a:extLst xmlns:a="http://schemas.openxmlformats.org/drawingml/2006/main">
              <a:ext uri="{FF2B5EF4-FFF2-40B4-BE49-F238E27FC236}">
                <a16:creationId xmlns:a16="http://schemas.microsoft.com/office/drawing/2014/main" id="{046860B6-1332-4AA4-A46F-4B65C82A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3171825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31" name="结构-31">
            <a:extLst xmlns:a="http://schemas.openxmlformats.org/drawingml/2006/main">
              <a:ext uri="{FF2B5EF4-FFF2-40B4-BE49-F238E27FC236}">
                <a16:creationId xmlns:a16="http://schemas.microsoft.com/office/drawing/2014/main" id="{265C2E0A-1E86-49F1-ABDD-1441ACED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14675"/>
            <a:ext cx="133350" cy="114300"/>
          </a:xfrm>
          <a:custGeom xmlns:a="http://schemas.openxmlformats.org/drawingml/2006/main"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2" name="结构-32">
            <a:extLst xmlns:a="http://schemas.openxmlformats.org/drawingml/2006/main">
              <a:ext uri="{FF2B5EF4-FFF2-40B4-BE49-F238E27FC236}">
                <a16:creationId xmlns:a16="http://schemas.microsoft.com/office/drawing/2014/main" id="{85D417C7-E213-43DF-BAAF-E201EF03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28825"/>
            <a:ext cx="3362325" cy="2600325"/>
          </a:xfrm>
          <a:prstGeom xmlns:a="http://schemas.openxmlformats.org/drawingml/2006/main" prst="roundRect">
            <a:avLst>
              <a:gd name="adj" fmla="val 293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33" name="文字-33-研究内容三">
            <a:extLst xmlns:a="http://schemas.openxmlformats.org/drawingml/2006/main">
              <a:ext uri="{FF2B5EF4-FFF2-40B4-BE49-F238E27FC236}">
                <a16:creationId xmlns:a16="http://schemas.microsoft.com/office/drawing/2014/main" id="{306391FE-8CF3-490D-A172-F6035869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57375"/>
            <a:ext cx="3019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研究内容三</a:t>
            </a:r>
          </a:p>
        </p:txBody>
      </p:sp>
      <p:sp>
        <p:nvSpPr>
          <p:cNvPr id="34" name="文字-34-异常分析">
            <a:extLst xmlns:a="http://schemas.openxmlformats.org/drawingml/2006/main">
              <a:ext uri="{FF2B5EF4-FFF2-40B4-BE49-F238E27FC236}">
                <a16:creationId xmlns:a16="http://schemas.microsoft.com/office/drawing/2014/main" id="{650F6163-914E-4569-99A6-7C5CB86E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2943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异常分析</a:t>
            </a:r>
          </a:p>
        </p:txBody>
      </p:sp>
      <p:sp>
        <p:nvSpPr>
          <p:cNvPr id="35" name="连线-35">
            <a:extLst xmlns:a="http://schemas.openxmlformats.org/drawingml/2006/main">
              <a:ext uri="{FF2B5EF4-FFF2-40B4-BE49-F238E27FC236}">
                <a16:creationId xmlns:a16="http://schemas.microsoft.com/office/drawing/2014/main" id="{EF079E4A-F1C8-49F1-AC81-72EC448E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25025" y="2847975"/>
            <a:ext cx="953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6" name="结构-36">
            <a:extLst xmlns:a="http://schemas.openxmlformats.org/drawingml/2006/main">
              <a:ext uri="{FF2B5EF4-FFF2-40B4-BE49-F238E27FC236}">
                <a16:creationId xmlns:a16="http://schemas.microsoft.com/office/drawing/2014/main" id="{B2D3959F-998C-4E87-A1A2-2E26F2C7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670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7" name="文字-37-策略生成">
            <a:extLst xmlns:a="http://schemas.openxmlformats.org/drawingml/2006/main">
              <a:ext uri="{FF2B5EF4-FFF2-40B4-BE49-F238E27FC236}">
                <a16:creationId xmlns:a16="http://schemas.microsoft.com/office/drawing/2014/main" id="{0DC669F8-71E3-43AF-B162-8415B2D1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2943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策略生成</a:t>
            </a:r>
          </a:p>
        </p:txBody>
      </p:sp>
      <p:sp>
        <p:nvSpPr>
          <p:cNvPr id="38" name="连线-38">
            <a:extLst xmlns:a="http://schemas.openxmlformats.org/drawingml/2006/main">
              <a:ext uri="{FF2B5EF4-FFF2-40B4-BE49-F238E27FC236}">
                <a16:creationId xmlns:a16="http://schemas.microsoft.com/office/drawing/2014/main" id="{A0B95BFA-DC96-4956-9FA5-7C32991E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25025" y="3438525"/>
            <a:ext cx="953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9" name="结构-39">
            <a:extLst xmlns:a="http://schemas.openxmlformats.org/drawingml/2006/main">
              <a:ext uri="{FF2B5EF4-FFF2-40B4-BE49-F238E27FC236}">
                <a16:creationId xmlns:a16="http://schemas.microsoft.com/office/drawing/2014/main" id="{3ABE6CBA-16CB-47F1-8D10-C0AF2E11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575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0" name="文字-40-执行与反馈">
            <a:extLst xmlns:a="http://schemas.openxmlformats.org/drawingml/2006/main">
              <a:ext uri="{FF2B5EF4-FFF2-40B4-BE49-F238E27FC236}">
                <a16:creationId xmlns:a16="http://schemas.microsoft.com/office/drawing/2014/main" id="{2FD257F9-2493-4FCC-96EC-585E4BCF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81400"/>
            <a:ext cx="29432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执行与反馈</a:t>
            </a:r>
          </a:p>
        </p:txBody>
      </p:sp>
      <p:sp>
        <p:nvSpPr>
          <p:cNvPr id="41" name="连线-41">
            <a:extLst xmlns:a="http://schemas.openxmlformats.org/drawingml/2006/main">
              <a:ext uri="{FF2B5EF4-FFF2-40B4-BE49-F238E27FC236}">
                <a16:creationId xmlns:a16="http://schemas.microsoft.com/office/drawing/2014/main" id="{C40043F9-F91E-4DE2-86C9-9AF50A87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25025" y="4695825"/>
            <a:ext cx="953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42" name="结构-42">
            <a:extLst xmlns:a="http://schemas.openxmlformats.org/drawingml/2006/main">
              <a:ext uri="{FF2B5EF4-FFF2-40B4-BE49-F238E27FC236}">
                <a16:creationId xmlns:a16="http://schemas.microsoft.com/office/drawing/2014/main" id="{66ECF701-B9D8-449A-9C93-190FAE13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48225"/>
            <a:ext cx="114300" cy="133350"/>
          </a:xfrm>
          <a:custGeom xmlns:a="http://schemas.openxmlformats.org/drawingml/2006/main">
            <a:pathLst>
              <a:path w="114300" h="133350">
                <a:moveTo>
                  <a:pt x="57150" y="133350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3" name="结构-43">
            <a:extLst xmlns:a="http://schemas.openxmlformats.org/drawingml/2006/main">
              <a:ext uri="{FF2B5EF4-FFF2-40B4-BE49-F238E27FC236}">
                <a16:creationId xmlns:a16="http://schemas.microsoft.com/office/drawing/2014/main" id="{45F4D63D-3D29-4152-84C7-5B2AA317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08299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0E1"/>
          </a:solidFill>
          <a:ln xmlns:a="http://schemas.openxmlformats.org/drawingml/2006/main" w="9525">
            <a:solidFill>
              <a:srgbClr val="D7A069"/>
            </a:solidFill>
            <a:prstDash val="solid"/>
          </a:ln>
        </p:spPr>
      </p:sp>
      <p:sp>
        <p:nvSpPr>
          <p:cNvPr id="44" name="文字-44-统一原型验证与评价场景">
            <a:extLst xmlns:a="http://schemas.openxmlformats.org/drawingml/2006/main">
              <a:ext uri="{FF2B5EF4-FFF2-40B4-BE49-F238E27FC236}">
                <a16:creationId xmlns:a16="http://schemas.microsoft.com/office/drawing/2014/main" id="{06BE9150-BE0C-48E3-9237-28CBF246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39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36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36713"/>
                </a:solidFill>
                <a:latin typeface="Microsoft YaHei"/>
                <a:ea typeface="Microsoft YaHei"/>
                <a:cs typeface="Microsoft YaHei"/>
              </a:rPr>
              <a:t>统一原型验证与评价场景</a:t>
            </a:r>
          </a:p>
        </p:txBody>
      </p:sp>
      <p:sp>
        <p:nvSpPr>
          <p:cNvPr id="45" name="图片区-45">
            <a:extLst xmlns:a="http://schemas.openxmlformats.org/drawingml/2006/main">
              <a:ext uri="{FF2B5EF4-FFF2-40B4-BE49-F238E27FC236}">
                <a16:creationId xmlns:a16="http://schemas.microsoft.com/office/drawing/2014/main" id="{4A7FE266-56A9-4FF5-B21F-D8852CCB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29622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46" name="文字-46-任务下达">
            <a:extLst xmlns:a="http://schemas.openxmlformats.org/drawingml/2006/main">
              <a:ext uri="{FF2B5EF4-FFF2-40B4-BE49-F238E27FC236}">
                <a16:creationId xmlns:a16="http://schemas.microsoft.com/office/drawing/2014/main" id="{C9363D07-9D39-4A1E-8CCF-0FB00255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1590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任务下达</a:t>
            </a:r>
          </a:p>
        </p:txBody>
      </p:sp>
      <p:sp>
        <p:nvSpPr>
          <p:cNvPr id="47" name="连线-47">
            <a:extLst xmlns:a="http://schemas.openxmlformats.org/drawingml/2006/main">
              <a:ext uri="{FF2B5EF4-FFF2-40B4-BE49-F238E27FC236}">
                <a16:creationId xmlns:a16="http://schemas.microsoft.com/office/drawing/2014/main" id="{29E4DE76-8433-4341-BC8F-233A8FF2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24525" y="6010275"/>
            <a:ext cx="381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36713"/>
            </a:solidFill>
            <a:prstDash val="solid"/>
          </a:ln>
        </p:spPr>
      </p:sp>
      <p:sp>
        <p:nvSpPr>
          <p:cNvPr id="48" name="结构-48">
            <a:extLst xmlns:a="http://schemas.openxmlformats.org/drawingml/2006/main">
              <a:ext uri="{FF2B5EF4-FFF2-40B4-BE49-F238E27FC236}">
                <a16:creationId xmlns:a16="http://schemas.microsoft.com/office/drawing/2014/main" id="{C46FAA62-05EF-4D0E-85D0-53A71716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9626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C36713"/>
          </a:solidFill>
          <a:ln xmlns:a="http://schemas.openxmlformats.org/drawingml/2006/main" w="0">
            <a:noFill/>
          </a:ln>
        </p:spPr>
      </p:sp>
      <p:sp>
        <p:nvSpPr>
          <p:cNvPr id="49" name="文字-49-系统执行与反馈">
            <a:extLst xmlns:a="http://schemas.openxmlformats.org/drawingml/2006/main">
              <a:ext uri="{FF2B5EF4-FFF2-40B4-BE49-F238E27FC236}">
                <a16:creationId xmlns:a16="http://schemas.microsoft.com/office/drawing/2014/main" id="{70F9150B-F83E-422A-9F2E-540AF028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810250"/>
            <a:ext cx="2219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系统执行与反馈</a:t>
            </a:r>
          </a:p>
        </p:txBody>
      </p:sp>
      <p:sp>
        <p:nvSpPr>
          <p:cNvPr id="50" name="文字-50-任务类型：填写评价维度：">
            <a:extLst xmlns:a="http://schemas.openxmlformats.org/drawingml/2006/main">
              <a:ext uri="{FF2B5EF4-FFF2-40B4-BE49-F238E27FC236}">
                <a16:creationId xmlns:a16="http://schemas.microsoft.com/office/drawing/2014/main" id="{C605FC83-0E1F-42A8-9C9C-49C88EB8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534025"/>
            <a:ext cx="24860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任务类型：填写</a:t>
            </a:r>
          </a:p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评价维度：填写</a:t>
            </a:r>
          </a:p>
        </p:txBody>
      </p:sp>
    </p:spTree>
    <p:extLst>
      <p:ext uri="{BB962C8B-B14F-4D97-AF65-F5344CB8AC3E}">
        <p14:creationId xmlns:p14="http://schemas.microsoft.com/office/powerpoint/2010/main" val="106854297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F806540-8E40-4CEB-B177-970E13D8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5250"/>
            <a:ext cx="11315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2.2 研究内容</a:t>
            </a:r>
          </a:p>
        </p:txBody>
      </p:sp>
      <p:sp>
        <p:nvSpPr>
          <p:cNvPr id="2" name="标题分隔线">
            <a:extLst xmlns:a="http://schemas.openxmlformats.org/drawingml/2006/main">
              <a:ext uri="{FF2B5EF4-FFF2-40B4-BE49-F238E27FC236}">
                <a16:creationId xmlns:a16="http://schemas.microsoft.com/office/drawing/2014/main" id="{BAFE6361-EB8D-4E6D-9E06-CFE8E5E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23900"/>
            <a:ext cx="1146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总体目标边框">
            <a:extLst xmlns:a="http://schemas.openxmlformats.org/drawingml/2006/main">
              <a:ext uri="{FF2B5EF4-FFF2-40B4-BE49-F238E27FC236}">
                <a16:creationId xmlns:a16="http://schemas.microsoft.com/office/drawing/2014/main" id="{8EA98100-3BF8-4F32-ABB5-F495235F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31" y="838119"/>
            <a:ext cx="11689938" cy="539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746">
            <a:solidFill>
              <a:srgbClr val="A6B5C9"/>
            </a:solidFill>
            <a:prstDash val="solid"/>
          </a:ln>
        </p:spPr>
      </p:sp>
      <p:sp>
        <p:nvSpPr>
          <p:cNvPr id="4" name="目标菱形">
            <a:extLst xmlns:a="http://schemas.openxmlformats.org/drawingml/2006/main">
              <a:ext uri="{FF2B5EF4-FFF2-40B4-BE49-F238E27FC236}">
                <a16:creationId xmlns:a16="http://schemas.microsoft.com/office/drawing/2014/main" id="{6C8C804C-2B99-4F24-A916-91393E39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18" y="991167"/>
            <a:ext cx="233216" cy="2332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F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总体目标说明">
            <a:extLst xmlns:a="http://schemas.openxmlformats.org/drawingml/2006/main">
              <a:ext uri="{FF2B5EF4-FFF2-40B4-BE49-F238E27FC236}">
                <a16:creationId xmlns:a16="http://schemas.microsoft.com/office/drawing/2014/main" id="{6EF18329-06C0-40CB-B558-52F7D245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58" y="903711"/>
            <a:ext cx="10953851" cy="400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F1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F131A"/>
                </a:solidFill>
                <a:latin typeface="Microsoft YaHei"/>
                <a:ea typeface="Microsoft YaHei"/>
                <a:cs typeface="Microsoft YaHei"/>
              </a:rPr>
              <a:t>基础设计 → 分析验证 → 方法优化 → 原型集成</a:t>
            </a:r>
          </a:p>
        </p:txBody>
      </p:sp>
      <p:sp>
        <p:nvSpPr>
          <p:cNvPr id="6" name="阶段一左模块">
            <a:extLst xmlns:a="http://schemas.openxmlformats.org/drawingml/2006/main">
              <a:ext uri="{FF2B5EF4-FFF2-40B4-BE49-F238E27FC236}">
                <a16:creationId xmlns:a16="http://schemas.microsoft.com/office/drawing/2014/main" id="{C24EFE7E-99FC-4D37-B98D-F636735A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31" y="1515902"/>
            <a:ext cx="5699209" cy="1763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475">
            <a:solidFill>
              <a:srgbClr val="B5C9E1"/>
            </a:solidFill>
            <a:prstDash val="solid"/>
          </a:ln>
        </p:spPr>
      </p:sp>
      <p:sp>
        <p:nvSpPr>
          <p:cNvPr id="7" name="理论建模竖栏">
            <a:extLst xmlns:a="http://schemas.openxmlformats.org/drawingml/2006/main">
              <a:ext uri="{FF2B5EF4-FFF2-40B4-BE49-F238E27FC236}">
                <a16:creationId xmlns:a16="http://schemas.microsoft.com/office/drawing/2014/main" id="{987CD024-6FC2-4106-ABA9-41B18EA2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31" y="1515902"/>
            <a:ext cx="393552" cy="1763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竖栏理论-0">
            <a:extLst xmlns:a="http://schemas.openxmlformats.org/drawingml/2006/main">
              <a:ext uri="{FF2B5EF4-FFF2-40B4-BE49-F238E27FC236}">
                <a16:creationId xmlns:a16="http://schemas.microsoft.com/office/drawing/2014/main" id="{662EFFEC-7402-44E4-8049-F707E158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5" y="1792846"/>
            <a:ext cx="349824" cy="29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9152" tIns="0" rIns="29152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</a:t>
            </a:r>
          </a:p>
        </p:txBody>
      </p:sp>
      <p:sp>
        <p:nvSpPr>
          <p:cNvPr id="9" name="竖栏理论-1">
            <a:extLst xmlns:a="http://schemas.openxmlformats.org/drawingml/2006/main">
              <a:ext uri="{FF2B5EF4-FFF2-40B4-BE49-F238E27FC236}">
                <a16:creationId xmlns:a16="http://schemas.microsoft.com/office/drawing/2014/main" id="{987754F1-0422-4DD3-AF47-25C2B7B7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5" y="2077078"/>
            <a:ext cx="349824" cy="29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9152" tIns="0" rIns="29152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</a:t>
            </a:r>
          </a:p>
        </p:txBody>
      </p:sp>
      <p:sp>
        <p:nvSpPr>
          <p:cNvPr id="10" name="竖栏理论-2">
            <a:extLst xmlns:a="http://schemas.openxmlformats.org/drawingml/2006/main">
              <a:ext uri="{FF2B5EF4-FFF2-40B4-BE49-F238E27FC236}">
                <a16:creationId xmlns:a16="http://schemas.microsoft.com/office/drawing/2014/main" id="{5A8599F9-9291-4011-82D0-480F460F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5" y="2361309"/>
            <a:ext cx="349824" cy="29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9152" tIns="0" rIns="29152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</a:t>
            </a:r>
          </a:p>
        </p:txBody>
      </p:sp>
      <p:sp>
        <p:nvSpPr>
          <p:cNvPr id="11" name="竖栏理论-3">
            <a:extLst xmlns:a="http://schemas.openxmlformats.org/drawingml/2006/main">
              <a:ext uri="{FF2B5EF4-FFF2-40B4-BE49-F238E27FC236}">
                <a16:creationId xmlns:a16="http://schemas.microsoft.com/office/drawing/2014/main" id="{A51E3C0C-72E1-4B8D-B976-5A0D2C09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95" y="2645541"/>
            <a:ext cx="349824" cy="29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9152" tIns="0" rIns="29152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</a:t>
            </a:r>
          </a:p>
        </p:txBody>
      </p:sp>
      <p:sp>
        <p:nvSpPr>
          <p:cNvPr id="12" name="图片区-理论模型">
            <a:extLst xmlns:a="http://schemas.openxmlformats.org/drawingml/2006/main">
              <a:ext uri="{FF2B5EF4-FFF2-40B4-BE49-F238E27FC236}">
                <a16:creationId xmlns:a16="http://schemas.microsoft.com/office/drawing/2014/main" id="{B8B05350-61B0-41E7-BA6E-9C4887B3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14478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4" name="基础模块一标题">
            <a:extLst xmlns:a="http://schemas.openxmlformats.org/drawingml/2006/main">
              <a:ext uri="{FF2B5EF4-FFF2-40B4-BE49-F238E27FC236}">
                <a16:creationId xmlns:a16="http://schemas.microsoft.com/office/drawing/2014/main" id="{56F9B8B6-F6FE-4B2F-A8CB-D334CA89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17917"/>
            <a:ext cx="3552825" cy="313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理论模型与特征分析</a:t>
            </a:r>
          </a:p>
        </p:txBody>
      </p:sp>
      <p:sp>
        <p:nvSpPr>
          <p:cNvPr id="15" name="基础模块一说明1">
            <a:extLst xmlns:a="http://schemas.openxmlformats.org/drawingml/2006/main">
              <a:ext uri="{FF2B5EF4-FFF2-40B4-BE49-F238E27FC236}">
                <a16:creationId xmlns:a16="http://schemas.microsoft.com/office/drawing/2014/main" id="{428E576F-A287-4D77-967B-A3C52318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11490"/>
            <a:ext cx="3552825" cy="34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288">
            <a:solidFill>
              <a:srgbClr val="A9BCD3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研究对象与基本假设</a:t>
            </a:r>
          </a:p>
        </p:txBody>
      </p:sp>
      <p:sp>
        <p:nvSpPr>
          <p:cNvPr id="16" name="基础模块一说明2">
            <a:extLst xmlns:a="http://schemas.openxmlformats.org/drawingml/2006/main">
              <a:ext uri="{FF2B5EF4-FFF2-40B4-BE49-F238E27FC236}">
                <a16:creationId xmlns:a16="http://schemas.microsoft.com/office/drawing/2014/main" id="{260CF009-17BF-4B5C-A021-B4753277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19636"/>
            <a:ext cx="3552825" cy="34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288">
            <a:solidFill>
              <a:srgbClr val="A9BCD3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结构参数与建模方法</a:t>
            </a:r>
          </a:p>
        </p:txBody>
      </p:sp>
      <p:sp>
        <p:nvSpPr>
          <p:cNvPr id="17" name="基础模块一说明3">
            <a:extLst xmlns:a="http://schemas.openxmlformats.org/drawingml/2006/main">
              <a:ext uri="{FF2B5EF4-FFF2-40B4-BE49-F238E27FC236}">
                <a16:creationId xmlns:a16="http://schemas.microsoft.com/office/drawing/2014/main" id="{2623AAE2-ACD9-4811-9C8C-D953AA0A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27782"/>
            <a:ext cx="3552825" cy="349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288">
            <a:solidFill>
              <a:srgbClr val="A9BCD3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关键特征与变化规律</a:t>
            </a:r>
          </a:p>
        </p:txBody>
      </p:sp>
      <p:sp>
        <p:nvSpPr>
          <p:cNvPr id="18" name="阶段一右模块">
            <a:extLst xmlns:a="http://schemas.openxmlformats.org/drawingml/2006/main">
              <a:ext uri="{FF2B5EF4-FFF2-40B4-BE49-F238E27FC236}">
                <a16:creationId xmlns:a16="http://schemas.microsoft.com/office/drawing/2014/main" id="{9FDF9ACB-72D2-4B68-9BC2-1E3E110B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048" y="1515902"/>
            <a:ext cx="5699209" cy="1763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9475">
            <a:solidFill>
              <a:srgbClr val="B5C9E1"/>
            </a:solidFill>
            <a:prstDash val="solid"/>
          </a:ln>
        </p:spPr>
      </p:sp>
      <p:sp>
        <p:nvSpPr>
          <p:cNvPr id="19" name="基础模块二标题">
            <a:extLst xmlns:a="http://schemas.openxmlformats.org/drawingml/2006/main">
              <a:ext uri="{FF2B5EF4-FFF2-40B4-BE49-F238E27FC236}">
                <a16:creationId xmlns:a16="http://schemas.microsoft.com/office/drawing/2014/main" id="{F34278E7-CC18-42C6-AAFE-8E289F94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232" y="1617934"/>
            <a:ext cx="2805877" cy="313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物理映射与信息表达</a:t>
            </a:r>
          </a:p>
        </p:txBody>
      </p:sp>
      <p:sp>
        <p:nvSpPr>
          <p:cNvPr id="20" name="基础模块二说明1">
            <a:extLst xmlns:a="http://schemas.openxmlformats.org/drawingml/2006/main">
              <a:ext uri="{FF2B5EF4-FFF2-40B4-BE49-F238E27FC236}">
                <a16:creationId xmlns:a16="http://schemas.microsoft.com/office/drawing/2014/main" id="{60ACCBA9-D5F3-4C48-B6A5-30052CE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232" y="2011486"/>
            <a:ext cx="2805877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288">
            <a:solidFill>
              <a:srgbClr val="A9BCD3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对象映射与信息编码</a:t>
            </a:r>
          </a:p>
        </p:txBody>
      </p:sp>
      <p:sp>
        <p:nvSpPr>
          <p:cNvPr id="21" name="基础模块二说明2">
            <a:extLst xmlns:a="http://schemas.openxmlformats.org/drawingml/2006/main">
              <a:ext uri="{FF2B5EF4-FFF2-40B4-BE49-F238E27FC236}">
                <a16:creationId xmlns:a16="http://schemas.microsoft.com/office/drawing/2014/main" id="{AEE69B32-6AF4-477F-A6D2-80C483BB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232" y="2419613"/>
            <a:ext cx="2805877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288">
            <a:solidFill>
              <a:srgbClr val="A9BCD3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信息读取与处理方式</a:t>
            </a:r>
          </a:p>
        </p:txBody>
      </p:sp>
      <p:sp>
        <p:nvSpPr>
          <p:cNvPr id="22" name="基础模块二说明3">
            <a:extLst xmlns:a="http://schemas.openxmlformats.org/drawingml/2006/main">
              <a:ext uri="{FF2B5EF4-FFF2-40B4-BE49-F238E27FC236}">
                <a16:creationId xmlns:a16="http://schemas.microsoft.com/office/drawing/2014/main" id="{EC0C566D-CC84-40B3-9279-525623E9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0232" y="2827741"/>
            <a:ext cx="2805877" cy="349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288">
            <a:solidFill>
              <a:srgbClr val="A9BCD3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关键作用与动力学模型</a:t>
            </a:r>
          </a:p>
        </p:txBody>
      </p:sp>
      <p:sp>
        <p:nvSpPr>
          <p:cNvPr id="23" name="图片区-结构映射示意">
            <a:extLst xmlns:a="http://schemas.openxmlformats.org/drawingml/2006/main">
              <a:ext uri="{FF2B5EF4-FFF2-40B4-BE49-F238E27FC236}">
                <a16:creationId xmlns:a16="http://schemas.microsoft.com/office/drawing/2014/main" id="{C53F91A6-7039-4903-B4B8-29D3594F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852" y="1603358"/>
            <a:ext cx="2200973" cy="15814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4" name="结构设计竖栏">
            <a:extLst xmlns:a="http://schemas.openxmlformats.org/drawingml/2006/main">
              <a:ext uri="{FF2B5EF4-FFF2-40B4-BE49-F238E27FC236}">
                <a16:creationId xmlns:a16="http://schemas.microsoft.com/office/drawing/2014/main" id="{1166780D-674C-42A1-A2BA-14436A2C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4706" y="1515902"/>
            <a:ext cx="393552" cy="17636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竖栏结构-0">
            <a:extLst xmlns:a="http://schemas.openxmlformats.org/drawingml/2006/main">
              <a:ext uri="{FF2B5EF4-FFF2-40B4-BE49-F238E27FC236}">
                <a16:creationId xmlns:a16="http://schemas.microsoft.com/office/drawing/2014/main" id="{2EFCB030-B3BC-400D-B2FF-DC7CCD48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569" y="1792846"/>
            <a:ext cx="349824" cy="29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9152" tIns="0" rIns="29152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</a:t>
            </a:r>
          </a:p>
        </p:txBody>
      </p:sp>
      <p:sp>
        <p:nvSpPr>
          <p:cNvPr id="26" name="竖栏结构-1">
            <a:extLst xmlns:a="http://schemas.openxmlformats.org/drawingml/2006/main">
              <a:ext uri="{FF2B5EF4-FFF2-40B4-BE49-F238E27FC236}">
                <a16:creationId xmlns:a16="http://schemas.microsoft.com/office/drawing/2014/main" id="{0A1C4B8F-0129-4766-943B-795CBBF6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569" y="2077078"/>
            <a:ext cx="349824" cy="29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9152" tIns="0" rIns="29152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</a:t>
            </a:r>
          </a:p>
        </p:txBody>
      </p:sp>
      <p:sp>
        <p:nvSpPr>
          <p:cNvPr id="27" name="竖栏结构-2">
            <a:extLst xmlns:a="http://schemas.openxmlformats.org/drawingml/2006/main">
              <a:ext uri="{FF2B5EF4-FFF2-40B4-BE49-F238E27FC236}">
                <a16:creationId xmlns:a16="http://schemas.microsoft.com/office/drawing/2014/main" id="{6F1873F3-B4B2-4CC7-9BCB-D6F7F42A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569" y="2361309"/>
            <a:ext cx="349824" cy="29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9152" tIns="0" rIns="29152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</a:t>
            </a:r>
          </a:p>
        </p:txBody>
      </p:sp>
      <p:sp>
        <p:nvSpPr>
          <p:cNvPr id="28" name="竖栏结构-3">
            <a:extLst xmlns:a="http://schemas.openxmlformats.org/drawingml/2006/main">
              <a:ext uri="{FF2B5EF4-FFF2-40B4-BE49-F238E27FC236}">
                <a16:creationId xmlns:a16="http://schemas.microsoft.com/office/drawing/2014/main" id="{FBD629C0-510D-4798-8E5C-B3022343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569" y="2645541"/>
            <a:ext cx="349824" cy="29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9152" tIns="0" rIns="29152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36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</a:t>
            </a:r>
          </a:p>
        </p:txBody>
      </p:sp>
      <p:sp>
        <p:nvSpPr>
          <p:cNvPr id="29" name="互补关系加号">
            <a:extLst xmlns:a="http://schemas.openxmlformats.org/drawingml/2006/main">
              <a:ext uri="{FF2B5EF4-FFF2-40B4-BE49-F238E27FC236}">
                <a16:creationId xmlns:a16="http://schemas.microsoft.com/office/drawing/2014/main" id="{16169A92-D9AD-45A9-8D67-7D34E1E2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512" y="2200973"/>
            <a:ext cx="378976" cy="386264"/>
          </a:xfrm>
          <a:prstGeom xmlns:a="http://schemas.openxmlformats.org/drawingml/2006/main" prst="plus">
            <a:avLst/>
          </a:prstGeom>
          <a:solidFill xmlns:a="http://schemas.openxmlformats.org/drawingml/2006/main">
            <a:srgbClr val="AF1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研究模块标题底-0">
            <a:extLst xmlns:a="http://schemas.openxmlformats.org/drawingml/2006/main">
              <a:ext uri="{FF2B5EF4-FFF2-40B4-BE49-F238E27FC236}">
                <a16:creationId xmlns:a16="http://schemas.microsoft.com/office/drawing/2014/main" id="{592C18CC-FD5F-4257-86DC-1A646553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91" y="3396204"/>
            <a:ext cx="3935515" cy="327960"/>
          </a:xfrm>
          <a:custGeom xmlns:a="http://schemas.openxmlformats.org/drawingml/2006/main">
            <a:pathLst>
              <a:path w="5143500" h="428625">
                <a:moveTo>
                  <a:pt x="0" y="428625"/>
                </a:moveTo>
                <a:lnTo>
                  <a:pt x="285750" y="0"/>
                </a:lnTo>
                <a:lnTo>
                  <a:pt x="4857750" y="0"/>
                </a:lnTo>
                <a:lnTo>
                  <a:pt x="5143500" y="428625"/>
                </a:lnTo>
                <a:close/>
              </a:path>
            </a:pathLst>
          </a:custGeom>
          <a:solidFill xmlns:a="http://schemas.openxmlformats.org/drawingml/2006/main">
            <a:srgbClr val="E5F0FC"/>
          </a:solidFill>
          <a:ln xmlns:a="http://schemas.openxmlformats.org/drawingml/2006/main" w="0">
            <a:noFill/>
          </a:ln>
        </p:spPr>
      </p:sp>
      <p:sp>
        <p:nvSpPr>
          <p:cNvPr id="31" name="研究模块标题-0">
            <a:extLst xmlns:a="http://schemas.openxmlformats.org/drawingml/2006/main">
              <a:ext uri="{FF2B5EF4-FFF2-40B4-BE49-F238E27FC236}">
                <a16:creationId xmlns:a16="http://schemas.microsoft.com/office/drawing/2014/main" id="{C184671A-FB38-47EE-85BC-6C801A27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59" y="3425356"/>
            <a:ext cx="3775180" cy="269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特征分析与基础验证</a:t>
            </a:r>
          </a:p>
        </p:txBody>
      </p:sp>
      <p:sp>
        <p:nvSpPr>
          <p:cNvPr id="32" name="研究模块外框-0">
            <a:extLst xmlns:a="http://schemas.openxmlformats.org/drawingml/2006/main">
              <a:ext uri="{FF2B5EF4-FFF2-40B4-BE49-F238E27FC236}">
                <a16:creationId xmlns:a16="http://schemas.microsoft.com/office/drawing/2014/main" id="{871FED81-AAFC-46DA-9D34-D717EE8F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31" y="3724164"/>
            <a:ext cx="3862635" cy="28714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746">
            <a:solidFill>
              <a:srgbClr val="B5C9E1"/>
            </a:solidFill>
            <a:prstDash val="solid"/>
          </a:ln>
        </p:spPr>
      </p:sp>
      <p:sp>
        <p:nvSpPr>
          <p:cNvPr id="33" name="模块预期产出-0">
            <a:extLst xmlns:a="http://schemas.openxmlformats.org/drawingml/2006/main">
              <a:ext uri="{FF2B5EF4-FFF2-40B4-BE49-F238E27FC236}">
                <a16:creationId xmlns:a16="http://schemas.microsoft.com/office/drawing/2014/main" id="{9DFD6368-C809-4794-A239-5F266E6C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87" y="6041745"/>
            <a:ext cx="3687724" cy="429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0">
                <a:solidFill>
                  <a:srgbClr val="AF1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2" b="0">
                <a:solidFill>
                  <a:srgbClr val="AF131A"/>
                </a:solidFill>
                <a:latin typeface="Microsoft YaHei"/>
                <a:ea typeface="Microsoft YaHei"/>
                <a:cs typeface="Microsoft YaHei"/>
              </a:rPr>
              <a:t>评价结果与验证结论</a:t>
            </a:r>
          </a:p>
        </p:txBody>
      </p:sp>
      <p:sp>
        <p:nvSpPr>
          <p:cNvPr id="34" name="研究模块标题底-1">
            <a:extLst xmlns:a="http://schemas.openxmlformats.org/drawingml/2006/main">
              <a:ext uri="{FF2B5EF4-FFF2-40B4-BE49-F238E27FC236}">
                <a16:creationId xmlns:a16="http://schemas.microsoft.com/office/drawing/2014/main" id="{182920BF-70FE-4CE0-B803-E6E8BCB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70" y="3396204"/>
            <a:ext cx="3855348" cy="327960"/>
          </a:xfrm>
          <a:custGeom xmlns:a="http://schemas.openxmlformats.org/drawingml/2006/main">
            <a:pathLst>
              <a:path w="5038725" h="428625">
                <a:moveTo>
                  <a:pt x="0" y="428625"/>
                </a:moveTo>
                <a:lnTo>
                  <a:pt x="285750" y="0"/>
                </a:lnTo>
                <a:lnTo>
                  <a:pt x="4752975" y="0"/>
                </a:lnTo>
                <a:lnTo>
                  <a:pt x="5038725" y="428625"/>
                </a:lnTo>
                <a:close/>
              </a:path>
            </a:pathLst>
          </a:custGeom>
          <a:solidFill xmlns:a="http://schemas.openxmlformats.org/drawingml/2006/main">
            <a:srgbClr val="E5F0FC"/>
          </a:solidFill>
          <a:ln xmlns:a="http://schemas.openxmlformats.org/drawingml/2006/main" w="0">
            <a:noFill/>
          </a:ln>
        </p:spPr>
      </p:sp>
      <p:sp>
        <p:nvSpPr>
          <p:cNvPr id="35" name="研究模块标题-1">
            <a:extLst xmlns:a="http://schemas.openxmlformats.org/drawingml/2006/main">
              <a:ext uri="{FF2B5EF4-FFF2-40B4-BE49-F238E27FC236}">
                <a16:creationId xmlns:a16="http://schemas.microsoft.com/office/drawing/2014/main" id="{E392EB52-14E6-4EB5-9284-CA7B303F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2138" y="3425356"/>
            <a:ext cx="3695012" cy="269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方法优化与动态调控</a:t>
            </a:r>
          </a:p>
        </p:txBody>
      </p:sp>
      <p:sp>
        <p:nvSpPr>
          <p:cNvPr id="36" name="研究模块外框-1">
            <a:extLst xmlns:a="http://schemas.openxmlformats.org/drawingml/2006/main">
              <a:ext uri="{FF2B5EF4-FFF2-40B4-BE49-F238E27FC236}">
                <a16:creationId xmlns:a16="http://schemas.microsoft.com/office/drawing/2014/main" id="{B90AEE86-9B77-4739-8A92-E576AB68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410" y="3724164"/>
            <a:ext cx="3782468" cy="28714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746">
            <a:solidFill>
              <a:srgbClr val="B5C9E1"/>
            </a:solidFill>
            <a:prstDash val="solid"/>
          </a:ln>
        </p:spPr>
      </p:sp>
      <p:sp>
        <p:nvSpPr>
          <p:cNvPr id="37" name="模块预期产出-1">
            <a:extLst xmlns:a="http://schemas.openxmlformats.org/drawingml/2006/main">
              <a:ext uri="{FF2B5EF4-FFF2-40B4-BE49-F238E27FC236}">
                <a16:creationId xmlns:a16="http://schemas.microsoft.com/office/drawing/2014/main" id="{6C623F43-2193-4E62-955C-BA89A7B3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866" y="6041745"/>
            <a:ext cx="3607556" cy="429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0">
                <a:solidFill>
                  <a:srgbClr val="AF1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2" b="0">
                <a:solidFill>
                  <a:srgbClr val="AF131A"/>
                </a:solidFill>
                <a:latin typeface="Microsoft YaHei"/>
                <a:ea typeface="Microsoft YaHei"/>
                <a:cs typeface="Microsoft YaHei"/>
              </a:rPr>
              <a:t>形成的方法与策略</a:t>
            </a:r>
          </a:p>
        </p:txBody>
      </p:sp>
      <p:sp>
        <p:nvSpPr>
          <p:cNvPr id="38" name="研究模块标题底-2">
            <a:extLst xmlns:a="http://schemas.openxmlformats.org/drawingml/2006/main">
              <a:ext uri="{FF2B5EF4-FFF2-40B4-BE49-F238E27FC236}">
                <a16:creationId xmlns:a16="http://schemas.microsoft.com/office/drawing/2014/main" id="{A0873442-6270-46AE-BAF1-817D318B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758" y="3396204"/>
            <a:ext cx="3920939" cy="327960"/>
          </a:xfrm>
          <a:custGeom xmlns:a="http://schemas.openxmlformats.org/drawingml/2006/main">
            <a:pathLst>
              <a:path w="5124450" h="428625">
                <a:moveTo>
                  <a:pt x="0" y="428625"/>
                </a:moveTo>
                <a:lnTo>
                  <a:pt x="285750" y="0"/>
                </a:lnTo>
                <a:lnTo>
                  <a:pt x="4838700" y="0"/>
                </a:lnTo>
                <a:lnTo>
                  <a:pt x="5124450" y="428625"/>
                </a:lnTo>
                <a:close/>
              </a:path>
            </a:pathLst>
          </a:custGeom>
          <a:solidFill xmlns:a="http://schemas.openxmlformats.org/drawingml/2006/main">
            <a:srgbClr val="E5F0FC"/>
          </a:solidFill>
          <a:ln xmlns:a="http://schemas.openxmlformats.org/drawingml/2006/main" w="0">
            <a:noFill/>
          </a:ln>
        </p:spPr>
      </p:sp>
      <p:sp>
        <p:nvSpPr>
          <p:cNvPr id="39" name="研究模块标题-2">
            <a:extLst xmlns:a="http://schemas.openxmlformats.org/drawingml/2006/main">
              <a:ext uri="{FF2B5EF4-FFF2-40B4-BE49-F238E27FC236}">
                <a16:creationId xmlns:a16="http://schemas.microsoft.com/office/drawing/2014/main" id="{D3265BBA-410E-4A68-9D6F-ABF9FB3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926" y="3425356"/>
            <a:ext cx="3760604" cy="269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原型集成与功能演示</a:t>
            </a:r>
          </a:p>
        </p:txBody>
      </p:sp>
      <p:sp>
        <p:nvSpPr>
          <p:cNvPr id="40" name="研究模块外框-2">
            <a:extLst xmlns:a="http://schemas.openxmlformats.org/drawingml/2006/main">
              <a:ext uri="{FF2B5EF4-FFF2-40B4-BE49-F238E27FC236}">
                <a16:creationId xmlns:a16="http://schemas.microsoft.com/office/drawing/2014/main" id="{69D934B8-7870-41EF-B783-C207797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198" y="3724164"/>
            <a:ext cx="3848060" cy="28714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746">
            <a:solidFill>
              <a:srgbClr val="B5C9E1"/>
            </a:solidFill>
            <a:prstDash val="solid"/>
          </a:ln>
        </p:spPr>
      </p:sp>
      <p:sp>
        <p:nvSpPr>
          <p:cNvPr id="41" name="模块预期产出-2">
            <a:extLst xmlns:a="http://schemas.openxmlformats.org/drawingml/2006/main">
              <a:ext uri="{FF2B5EF4-FFF2-40B4-BE49-F238E27FC236}">
                <a16:creationId xmlns:a16="http://schemas.microsoft.com/office/drawing/2014/main" id="{F7F40164-4779-4E15-8788-35CCF2F3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653" y="6041745"/>
            <a:ext cx="3673148" cy="429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2" b="0">
                <a:solidFill>
                  <a:srgbClr val="AF1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2" b="0">
                <a:solidFill>
                  <a:srgbClr val="AF131A"/>
                </a:solidFill>
                <a:latin typeface="Microsoft YaHei"/>
                <a:ea typeface="Microsoft YaHei"/>
                <a:cs typeface="Microsoft YaHei"/>
              </a:rPr>
              <a:t>原型成果与应用价值</a:t>
            </a:r>
          </a:p>
        </p:txBody>
      </p:sp>
      <p:sp>
        <p:nvSpPr>
          <p:cNvPr id="42" name="验证要点一">
            <a:extLst xmlns:a="http://schemas.openxmlformats.org/drawingml/2006/main">
              <a:ext uri="{FF2B5EF4-FFF2-40B4-BE49-F238E27FC236}">
                <a16:creationId xmlns:a16="http://schemas.microsoft.com/office/drawing/2014/main" id="{7021F0BA-1429-4EB5-B6DC-C6150AD7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39" y="3877211"/>
            <a:ext cx="1851150" cy="524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对象特征与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传输规律</a:t>
            </a:r>
          </a:p>
        </p:txBody>
      </p:sp>
      <p:sp>
        <p:nvSpPr>
          <p:cNvPr id="43" name="验证要点二">
            <a:extLst xmlns:a="http://schemas.openxmlformats.org/drawingml/2006/main">
              <a:ext uri="{FF2B5EF4-FFF2-40B4-BE49-F238E27FC236}">
                <a16:creationId xmlns:a16="http://schemas.microsoft.com/office/drawing/2014/main" id="{2CBEFD67-E073-4658-856B-7EFDC57A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956" y="3877211"/>
            <a:ext cx="1683526" cy="5247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模型构建与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任务验证</a:t>
            </a:r>
          </a:p>
        </p:txBody>
      </p:sp>
      <p:sp>
        <p:nvSpPr>
          <p:cNvPr id="44" name="图片区-分析图一">
            <a:extLst xmlns:a="http://schemas.openxmlformats.org/drawingml/2006/main">
              <a:ext uri="{FF2B5EF4-FFF2-40B4-BE49-F238E27FC236}">
                <a16:creationId xmlns:a16="http://schemas.microsoft.com/office/drawing/2014/main" id="{050CB2C7-E82D-42E3-A725-C86AC60D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55" y="4540419"/>
            <a:ext cx="1464886" cy="1056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45" name="图片区-分析图二">
            <a:extLst xmlns:a="http://schemas.openxmlformats.org/drawingml/2006/main">
              <a:ext uri="{FF2B5EF4-FFF2-40B4-BE49-F238E27FC236}">
                <a16:creationId xmlns:a16="http://schemas.microsoft.com/office/drawing/2014/main" id="{1241F552-9E46-492E-804A-18FACA3B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029" y="4540419"/>
            <a:ext cx="1887590" cy="1056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46" name="分析图一图注">
            <a:extLst xmlns:a="http://schemas.openxmlformats.org/drawingml/2006/main">
              <a:ext uri="{FF2B5EF4-FFF2-40B4-BE49-F238E27FC236}">
                <a16:creationId xmlns:a16="http://schemas.microsoft.com/office/drawing/2014/main" id="{B2A5D248-72F6-49E8-A25F-63C58ED6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91" y="5670057"/>
            <a:ext cx="1530478" cy="233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77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7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分析图名称</a:t>
            </a:r>
          </a:p>
        </p:txBody>
      </p:sp>
      <p:sp>
        <p:nvSpPr>
          <p:cNvPr id="47" name="分析图二图注">
            <a:extLst xmlns:a="http://schemas.openxmlformats.org/drawingml/2006/main">
              <a:ext uri="{FF2B5EF4-FFF2-40B4-BE49-F238E27FC236}">
                <a16:creationId xmlns:a16="http://schemas.microsoft.com/office/drawing/2014/main" id="{14678731-C21B-4019-AE6C-0DCE2B4A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029" y="5670057"/>
            <a:ext cx="1887590" cy="233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77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7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结果图名称</a:t>
            </a:r>
          </a:p>
        </p:txBody>
      </p:sp>
      <p:sp>
        <p:nvSpPr>
          <p:cNvPr id="48" name="图片区-方法分支一">
            <a:extLst xmlns:a="http://schemas.openxmlformats.org/drawingml/2006/main">
              <a:ext uri="{FF2B5EF4-FFF2-40B4-BE49-F238E27FC236}">
                <a16:creationId xmlns:a16="http://schemas.microsoft.com/office/drawing/2014/main" id="{2A4B3019-2A37-4EA8-B44B-6711AF5E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594" y="3855348"/>
            <a:ext cx="1100487" cy="1056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49" name="图片区-方法分支二">
            <a:extLst xmlns:a="http://schemas.openxmlformats.org/drawingml/2006/main">
              <a:ext uri="{FF2B5EF4-FFF2-40B4-BE49-F238E27FC236}">
                <a16:creationId xmlns:a16="http://schemas.microsoft.com/office/drawing/2014/main" id="{57D2275A-C404-4DC5-8077-AB4061D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647" y="3855348"/>
            <a:ext cx="1071335" cy="10567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50" name="方法步骤-0">
            <a:extLst xmlns:a="http://schemas.openxmlformats.org/drawingml/2006/main">
              <a:ext uri="{FF2B5EF4-FFF2-40B4-BE49-F238E27FC236}">
                <a16:creationId xmlns:a16="http://schemas.microsoft.com/office/drawing/2014/main" id="{93134E1E-0D02-40A4-B651-9BEA9199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856" y="3833484"/>
            <a:ext cx="969303" cy="255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机制分析</a:t>
            </a:r>
          </a:p>
        </p:txBody>
      </p:sp>
      <p:sp>
        <p:nvSpPr>
          <p:cNvPr id="51" name="方法步骤-1">
            <a:extLst xmlns:a="http://schemas.openxmlformats.org/drawingml/2006/main">
              <a:ext uri="{FF2B5EF4-FFF2-40B4-BE49-F238E27FC236}">
                <a16:creationId xmlns:a16="http://schemas.microsoft.com/office/drawing/2014/main" id="{2040AE4C-13C7-483A-9867-09CEDB0F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856" y="4125003"/>
            <a:ext cx="969303" cy="255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参数优化</a:t>
            </a:r>
          </a:p>
        </p:txBody>
      </p:sp>
      <p:sp>
        <p:nvSpPr>
          <p:cNvPr id="52" name="方法步骤-2">
            <a:extLst xmlns:a="http://schemas.openxmlformats.org/drawingml/2006/main">
              <a:ext uri="{FF2B5EF4-FFF2-40B4-BE49-F238E27FC236}">
                <a16:creationId xmlns:a16="http://schemas.microsoft.com/office/drawing/2014/main" id="{D25BD630-7E1C-45A1-8E27-546BE4B5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856" y="4416523"/>
            <a:ext cx="969303" cy="255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协同调控</a:t>
            </a:r>
          </a:p>
        </p:txBody>
      </p:sp>
      <p:sp>
        <p:nvSpPr>
          <p:cNvPr id="53" name="方法步骤-3">
            <a:extLst xmlns:a="http://schemas.openxmlformats.org/drawingml/2006/main">
              <a:ext uri="{FF2B5EF4-FFF2-40B4-BE49-F238E27FC236}">
                <a16:creationId xmlns:a16="http://schemas.microsoft.com/office/drawing/2014/main" id="{5CFF4A5C-44E7-4BD3-86A1-A3354559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856" y="4708043"/>
            <a:ext cx="969303" cy="255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策略更新</a:t>
            </a:r>
          </a:p>
        </p:txBody>
      </p:sp>
      <p:sp>
        <p:nvSpPr>
          <p:cNvPr id="54" name="左路汇合箭头">
            <a:extLst xmlns:a="http://schemas.openxmlformats.org/drawingml/2006/main">
              <a:ext uri="{FF2B5EF4-FFF2-40B4-BE49-F238E27FC236}">
                <a16:creationId xmlns:a16="http://schemas.microsoft.com/office/drawing/2014/main" id="{F9CD9A57-8BFE-4DDA-AB5F-ECD696B9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433" y="4955834"/>
            <a:ext cx="473719" cy="408128"/>
          </a:xfrm>
          <a:custGeom xmlns:a="http://schemas.openxmlformats.org/drawingml/2006/main">
            <a:pathLst>
              <a:path w="619125" h="533400">
                <a:moveTo>
                  <a:pt x="0" y="0"/>
                </a:moveTo>
                <a:lnTo>
                  <a:pt x="114300" y="0"/>
                </a:lnTo>
                <a:lnTo>
                  <a:pt x="114300" y="314325"/>
                </a:lnTo>
                <a:lnTo>
                  <a:pt x="428625" y="314325"/>
                </a:lnTo>
                <a:lnTo>
                  <a:pt x="428625" y="219075"/>
                </a:lnTo>
                <a:lnTo>
                  <a:pt x="619125" y="381000"/>
                </a:lnTo>
                <a:lnTo>
                  <a:pt x="428625" y="533400"/>
                </a:lnTo>
                <a:lnTo>
                  <a:pt x="428625" y="438150"/>
                </a:lnTo>
                <a:lnTo>
                  <a:pt x="0" y="438150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55" name="右路汇合箭头">
            <a:extLst xmlns:a="http://schemas.openxmlformats.org/drawingml/2006/main">
              <a:ext uri="{FF2B5EF4-FFF2-40B4-BE49-F238E27FC236}">
                <a16:creationId xmlns:a16="http://schemas.microsoft.com/office/drawing/2014/main" id="{14D264A6-7D68-4757-8676-0BAB776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591" y="4955834"/>
            <a:ext cx="473719" cy="408128"/>
          </a:xfrm>
          <a:custGeom xmlns:a="http://schemas.openxmlformats.org/drawingml/2006/main">
            <a:pathLst>
              <a:path w="619125" h="533400">
                <a:moveTo>
                  <a:pt x="504825" y="0"/>
                </a:moveTo>
                <a:lnTo>
                  <a:pt x="619125" y="0"/>
                </a:lnTo>
                <a:lnTo>
                  <a:pt x="619125" y="438150"/>
                </a:lnTo>
                <a:lnTo>
                  <a:pt x="190500" y="438150"/>
                </a:lnTo>
                <a:lnTo>
                  <a:pt x="190500" y="533400"/>
                </a:lnTo>
                <a:lnTo>
                  <a:pt x="0" y="381000"/>
                </a:lnTo>
                <a:lnTo>
                  <a:pt x="190500" y="219075"/>
                </a:lnTo>
                <a:lnTo>
                  <a:pt x="190500" y="314325"/>
                </a:lnTo>
                <a:lnTo>
                  <a:pt x="504825" y="314325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56" name="图片区-优化方法主图">
            <a:extLst xmlns:a="http://schemas.openxmlformats.org/drawingml/2006/main">
              <a:ext uri="{FF2B5EF4-FFF2-40B4-BE49-F238E27FC236}">
                <a16:creationId xmlns:a16="http://schemas.microsoft.com/office/drawing/2014/main" id="{90B5D724-3926-4FCC-B34A-9C98F3E9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337" y="5006850"/>
            <a:ext cx="1603358" cy="8818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57" name="左路说明">
            <a:extLst xmlns:a="http://schemas.openxmlformats.org/drawingml/2006/main">
              <a:ext uri="{FF2B5EF4-FFF2-40B4-BE49-F238E27FC236}">
                <a16:creationId xmlns:a16="http://schemas.microsoft.com/office/drawing/2014/main" id="{7A6BD86A-2309-4CBB-970F-4CFD6147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594" y="5407690"/>
            <a:ext cx="998455" cy="26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77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7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路径一</a:t>
            </a:r>
          </a:p>
        </p:txBody>
      </p:sp>
      <p:sp>
        <p:nvSpPr>
          <p:cNvPr id="58" name="右路说明">
            <a:extLst xmlns:a="http://schemas.openxmlformats.org/drawingml/2006/main">
              <a:ext uri="{FF2B5EF4-FFF2-40B4-BE49-F238E27FC236}">
                <a16:creationId xmlns:a16="http://schemas.microsoft.com/office/drawing/2014/main" id="{5E9A9669-9D47-43B3-8919-82FD8575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3271" y="5407690"/>
            <a:ext cx="947439" cy="26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77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7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路径二</a:t>
            </a:r>
          </a:p>
        </p:txBody>
      </p:sp>
      <p:sp>
        <p:nvSpPr>
          <p:cNvPr id="59" name="集成起点">
            <a:extLst xmlns:a="http://schemas.openxmlformats.org/drawingml/2006/main">
              <a:ext uri="{FF2B5EF4-FFF2-40B4-BE49-F238E27FC236}">
                <a16:creationId xmlns:a16="http://schemas.microsoft.com/office/drawing/2014/main" id="{C0013B7B-1CD8-4821-A9FA-9A9AB227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549" y="3877211"/>
            <a:ext cx="1173367" cy="284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FC"/>
          </a:solidFill>
          <a:ln xmlns:a="http://schemas.openxmlformats.org/drawingml/2006/main" w="7288">
            <a:solidFill>
              <a:srgbClr val="B5C9E1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3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3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模块集成</a:t>
            </a:r>
          </a:p>
        </p:txBody>
      </p:sp>
      <p:sp>
        <p:nvSpPr>
          <p:cNvPr id="60" name="验证节点">
            <a:extLst xmlns:a="http://schemas.openxmlformats.org/drawingml/2006/main">
              <a:ext uri="{FF2B5EF4-FFF2-40B4-BE49-F238E27FC236}">
                <a16:creationId xmlns:a16="http://schemas.microsoft.com/office/drawing/2014/main" id="{B95B0B7D-15F4-48AA-9409-8739C7D5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0323" y="3877211"/>
            <a:ext cx="1173367" cy="284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FC"/>
          </a:solidFill>
          <a:ln xmlns:a="http://schemas.openxmlformats.org/drawingml/2006/main" w="7288">
            <a:solidFill>
              <a:srgbClr val="B5C9E1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3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3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功能验证</a:t>
            </a:r>
          </a:p>
        </p:txBody>
      </p:sp>
      <p:sp>
        <p:nvSpPr>
          <p:cNvPr id="61" name="集成至验证">
            <a:extLst xmlns:a="http://schemas.openxmlformats.org/drawingml/2006/main">
              <a:ext uri="{FF2B5EF4-FFF2-40B4-BE49-F238E27FC236}">
                <a16:creationId xmlns:a16="http://schemas.microsoft.com/office/drawing/2014/main" id="{E7F51856-B851-4383-BEBA-96EAA79A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0508" y="4015683"/>
            <a:ext cx="62676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20">
            <a:solidFill>
              <a:srgbClr val="AF131A"/>
            </a:solidFill>
            <a:prstDash val="dash"/>
          </a:ln>
        </p:spPr>
      </p:sp>
      <p:sp>
        <p:nvSpPr>
          <p:cNvPr id="62" name="集成至验证箭头">
            <a:extLst xmlns:a="http://schemas.openxmlformats.org/drawingml/2006/main">
              <a:ext uri="{FF2B5EF4-FFF2-40B4-BE49-F238E27FC236}">
                <a16:creationId xmlns:a16="http://schemas.microsoft.com/office/drawing/2014/main" id="{6EDEC657-A65E-455D-9D85-0E0998DE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5" y="3964667"/>
            <a:ext cx="109320" cy="102032"/>
          </a:xfrm>
          <a:custGeom xmlns:a="http://schemas.openxmlformats.org/drawingml/2006/main">
            <a:pathLst>
              <a:path w="142875" h="133350">
                <a:moveTo>
                  <a:pt x="0" y="0"/>
                </a:moveTo>
                <a:lnTo>
                  <a:pt x="142875" y="66675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AF131A"/>
          </a:solidFill>
          <a:ln xmlns:a="http://schemas.openxmlformats.org/drawingml/2006/main" w="0">
            <a:noFill/>
          </a:ln>
        </p:spPr>
      </p:sp>
      <p:sp>
        <p:nvSpPr>
          <p:cNvPr id="63" name="图片区-原型系统图">
            <a:extLst xmlns:a="http://schemas.openxmlformats.org/drawingml/2006/main">
              <a:ext uri="{FF2B5EF4-FFF2-40B4-BE49-F238E27FC236}">
                <a16:creationId xmlns:a16="http://schemas.microsoft.com/office/drawing/2014/main" id="{51E871AE-7E03-41D2-983B-AB3455D9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5957" y="4321779"/>
            <a:ext cx="3228580" cy="1202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4" name="系统演示标签">
            <a:extLst xmlns:a="http://schemas.openxmlformats.org/drawingml/2006/main">
              <a:ext uri="{FF2B5EF4-FFF2-40B4-BE49-F238E27FC236}">
                <a16:creationId xmlns:a16="http://schemas.microsoft.com/office/drawing/2014/main" id="{C3CAA3FB-5713-4C9C-9AAF-709DDBB7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868" y="5670057"/>
            <a:ext cx="1894878" cy="240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系统演示说明</a:t>
            </a:r>
          </a:p>
        </p:txBody>
      </p:sp>
      <p:sp>
        <p:nvSpPr>
          <p:cNvPr id="65" name="反馈右上段">
            <a:extLst xmlns:a="http://schemas.openxmlformats.org/drawingml/2006/main">
              <a:ext uri="{FF2B5EF4-FFF2-40B4-BE49-F238E27FC236}">
                <a16:creationId xmlns:a16="http://schemas.microsoft.com/office/drawing/2014/main" id="{5A1A2C0B-8024-4F1D-877A-62776E1C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4706" y="4015683"/>
            <a:ext cx="1749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20">
            <a:solidFill>
              <a:srgbClr val="AF131A"/>
            </a:solidFill>
            <a:prstDash val="dash"/>
          </a:ln>
        </p:spPr>
      </p:sp>
      <p:sp>
        <p:nvSpPr>
          <p:cNvPr id="66" name="反馈下行段">
            <a:extLst xmlns:a="http://schemas.openxmlformats.org/drawingml/2006/main">
              <a:ext uri="{FF2B5EF4-FFF2-40B4-BE49-F238E27FC236}">
                <a16:creationId xmlns:a16="http://schemas.microsoft.com/office/drawing/2014/main" id="{436D4404-C2CF-4351-9D07-E00789FF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617" y="4015683"/>
            <a:ext cx="0" cy="3571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20">
            <a:solidFill>
              <a:srgbClr val="AF131A"/>
            </a:solidFill>
            <a:prstDash val="dash"/>
          </a:ln>
        </p:spPr>
      </p:sp>
      <p:sp>
        <p:nvSpPr>
          <p:cNvPr id="67" name="下行箭头">
            <a:extLst xmlns:a="http://schemas.openxmlformats.org/drawingml/2006/main">
              <a:ext uri="{FF2B5EF4-FFF2-40B4-BE49-F238E27FC236}">
                <a16:creationId xmlns:a16="http://schemas.microsoft.com/office/drawing/2014/main" id="{721224DB-8D02-46F5-83F4-3F2FC7C1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8601" y="4343643"/>
            <a:ext cx="102032" cy="109320"/>
          </a:xfrm>
          <a:custGeom xmlns:a="http://schemas.openxmlformats.org/drawingml/2006/main">
            <a:pathLst>
              <a:path w="133350" h="142875">
                <a:moveTo>
                  <a:pt x="0" y="0"/>
                </a:moveTo>
                <a:lnTo>
                  <a:pt x="133350" y="0"/>
                </a:lnTo>
                <a:lnTo>
                  <a:pt x="66675" y="142875"/>
                </a:lnTo>
                <a:close/>
              </a:path>
            </a:pathLst>
          </a:custGeom>
          <a:solidFill xmlns:a="http://schemas.openxmlformats.org/drawingml/2006/main">
            <a:srgbClr val="AF131A"/>
          </a:solidFill>
          <a:ln xmlns:a="http://schemas.openxmlformats.org/drawingml/2006/main" w="0">
            <a:noFill/>
          </a:ln>
        </p:spPr>
      </p:sp>
      <p:sp>
        <p:nvSpPr>
          <p:cNvPr id="68" name="反馈标签-0">
            <a:extLst xmlns:a="http://schemas.openxmlformats.org/drawingml/2006/main">
              <a:ext uri="{FF2B5EF4-FFF2-40B4-BE49-F238E27FC236}">
                <a16:creationId xmlns:a16="http://schemas.microsoft.com/office/drawing/2014/main" id="{29E95846-861D-4A49-AA49-F60093C2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569" y="4482115"/>
            <a:ext cx="291520" cy="20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77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7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功</a:t>
            </a:r>
          </a:p>
        </p:txBody>
      </p:sp>
      <p:sp>
        <p:nvSpPr>
          <p:cNvPr id="69" name="反馈标签-1">
            <a:extLst xmlns:a="http://schemas.openxmlformats.org/drawingml/2006/main">
              <a:ext uri="{FF2B5EF4-FFF2-40B4-BE49-F238E27FC236}">
                <a16:creationId xmlns:a16="http://schemas.microsoft.com/office/drawing/2014/main" id="{A7DD8297-981E-4560-BC77-F10D0E3C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569" y="4671603"/>
            <a:ext cx="291520" cy="20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77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7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能</a:t>
            </a:r>
          </a:p>
        </p:txBody>
      </p:sp>
      <p:sp>
        <p:nvSpPr>
          <p:cNvPr id="70" name="反馈标签-2">
            <a:extLst xmlns:a="http://schemas.openxmlformats.org/drawingml/2006/main">
              <a:ext uri="{FF2B5EF4-FFF2-40B4-BE49-F238E27FC236}">
                <a16:creationId xmlns:a16="http://schemas.microsoft.com/office/drawing/2014/main" id="{2D512069-7727-4D8F-8370-77E71425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569" y="4861090"/>
            <a:ext cx="291520" cy="20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77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7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升</a:t>
            </a:r>
          </a:p>
        </p:txBody>
      </p:sp>
      <p:sp>
        <p:nvSpPr>
          <p:cNvPr id="71" name="反馈标签-3">
            <a:extLst xmlns:a="http://schemas.openxmlformats.org/drawingml/2006/main">
              <a:ext uri="{FF2B5EF4-FFF2-40B4-BE49-F238E27FC236}">
                <a16:creationId xmlns:a16="http://schemas.microsoft.com/office/drawing/2014/main" id="{75D08702-0CCF-4F24-8CDD-4F287B3D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6569" y="5050578"/>
            <a:ext cx="291520" cy="20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77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77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级</a:t>
            </a:r>
          </a:p>
        </p:txBody>
      </p:sp>
      <p:sp>
        <p:nvSpPr>
          <p:cNvPr id="72" name="反馈下半段">
            <a:extLst xmlns:a="http://schemas.openxmlformats.org/drawingml/2006/main">
              <a:ext uri="{FF2B5EF4-FFF2-40B4-BE49-F238E27FC236}">
                <a16:creationId xmlns:a16="http://schemas.microsoft.com/office/drawing/2014/main" id="{24B00AD6-05FD-472B-BD24-13DE8D58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9617" y="5320234"/>
            <a:ext cx="0" cy="488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20">
            <a:solidFill>
              <a:srgbClr val="AF131A"/>
            </a:solidFill>
            <a:prstDash val="dash"/>
          </a:ln>
        </p:spPr>
      </p:sp>
      <p:sp>
        <p:nvSpPr>
          <p:cNvPr id="73" name="反馈返回段">
            <a:extLst xmlns:a="http://schemas.openxmlformats.org/drawingml/2006/main">
              <a:ext uri="{FF2B5EF4-FFF2-40B4-BE49-F238E27FC236}">
                <a16:creationId xmlns:a16="http://schemas.microsoft.com/office/drawing/2014/main" id="{842DC96C-9922-4D67-9228-2083F333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7930" y="5808529"/>
            <a:ext cx="3716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20">
            <a:solidFill>
              <a:srgbClr val="AF131A"/>
            </a:solidFill>
            <a:prstDash val="dash"/>
          </a:ln>
        </p:spPr>
      </p:sp>
      <p:sp>
        <p:nvSpPr>
          <p:cNvPr id="74" name="返回箭头">
            <a:extLst xmlns:a="http://schemas.openxmlformats.org/drawingml/2006/main">
              <a:ext uri="{FF2B5EF4-FFF2-40B4-BE49-F238E27FC236}">
                <a16:creationId xmlns:a16="http://schemas.microsoft.com/office/drawing/2014/main" id="{D0A8FCFC-E3A3-49EB-9887-77ADA8F9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5898" y="5757513"/>
            <a:ext cx="109320" cy="102032"/>
          </a:xfrm>
          <a:custGeom xmlns:a="http://schemas.openxmlformats.org/drawingml/2006/main">
            <a:pathLst>
              <a:path w="142875" h="133350">
                <a:moveTo>
                  <a:pt x="142875" y="0"/>
                </a:moveTo>
                <a:lnTo>
                  <a:pt x="0" y="66675"/>
                </a:lnTo>
                <a:lnTo>
                  <a:pt x="142875" y="133350"/>
                </a:lnTo>
                <a:close/>
              </a:path>
            </a:pathLst>
          </a:custGeom>
          <a:solidFill xmlns:a="http://schemas.openxmlformats.org/drawingml/2006/main">
            <a:srgbClr val="AF131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972175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文字-1-3.3 研究阶段：方法与功能">
            <a:extLst xmlns:a="http://schemas.openxmlformats.org/drawingml/2006/main">
              <a:ext uri="{FF2B5EF4-FFF2-40B4-BE49-F238E27FC236}">
                <a16:creationId xmlns:a16="http://schemas.microsoft.com/office/drawing/2014/main" id="{A6648EA6-2395-4C22-B39D-B5737C18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3.3 研究阶段：方法与功能验证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1AC75B9F-6CD8-4B66-BC3E-9BFBD828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C920BE44-D609-454E-B727-94DADA8D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14400"/>
            <a:ext cx="1145439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C48AC71A-E0B5-498A-8481-C8EE6FA1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20396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核心目标：说明本阶段的研究任">
            <a:extLst xmlns:a="http://schemas.openxmlformats.org/drawingml/2006/main">
              <a:ext uri="{FF2B5EF4-FFF2-40B4-BE49-F238E27FC236}">
                <a16:creationId xmlns:a16="http://schemas.microsoft.com/office/drawing/2014/main" id="{40996FF0-8602-4933-BDD5-8C6E477C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75360"/>
            <a:ext cx="1081465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阶段目标：关键问题 → 三项任务 → 共同产出</a:t>
            </a:r>
          </a:p>
        </p:txBody>
      </p:sp>
      <p:sp>
        <p:nvSpPr>
          <p:cNvPr id="6" name="对象-6">
            <a:extLst xmlns:a="http://schemas.openxmlformats.org/drawingml/2006/main">
              <a:ext uri="{FF2B5EF4-FFF2-40B4-BE49-F238E27FC236}">
                <a16:creationId xmlns:a16="http://schemas.microsoft.com/office/drawing/2014/main" id="{17BEA4CB-543C-48FC-8F84-75E304D0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874520"/>
            <a:ext cx="3609961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7" name="文字-7-结构与方案设计">
            <a:extLst xmlns:a="http://schemas.openxmlformats.org/drawingml/2006/main">
              <a:ext uri="{FF2B5EF4-FFF2-40B4-BE49-F238E27FC236}">
                <a16:creationId xmlns:a16="http://schemas.microsoft.com/office/drawing/2014/main" id="{9BABFE82-255D-4C50-9D8F-15D37DCA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64" y="1874520"/>
            <a:ext cx="345764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结构与方案设计</a:t>
            </a:r>
          </a:p>
        </p:txBody>
      </p:sp>
      <p:sp>
        <p:nvSpPr>
          <p:cNvPr id="8" name="对象-8">
            <a:extLst xmlns:a="http://schemas.openxmlformats.org/drawingml/2006/main">
              <a:ext uri="{FF2B5EF4-FFF2-40B4-BE49-F238E27FC236}">
                <a16:creationId xmlns:a16="http://schemas.microsoft.com/office/drawing/2014/main" id="{839D4B31-D6AC-40F3-BA8F-73AD7BF3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20" y="1874520"/>
            <a:ext cx="3609961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9" name="文字-9-作用机制与调控">
            <a:extLst xmlns:a="http://schemas.openxmlformats.org/drawingml/2006/main">
              <a:ext uri="{FF2B5EF4-FFF2-40B4-BE49-F238E27FC236}">
                <a16:creationId xmlns:a16="http://schemas.microsoft.com/office/drawing/2014/main" id="{21D74C42-4D61-4680-B57A-C998E881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179" y="1874520"/>
            <a:ext cx="345764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作用机制与调控</a:t>
            </a:r>
          </a:p>
        </p:txBody>
      </p:sp>
      <p:sp>
        <p:nvSpPr>
          <p:cNvPr id="10" name="对象-10">
            <a:extLst xmlns:a="http://schemas.openxmlformats.org/drawingml/2006/main">
              <a:ext uri="{FF2B5EF4-FFF2-40B4-BE49-F238E27FC236}">
                <a16:creationId xmlns:a16="http://schemas.microsoft.com/office/drawing/2014/main" id="{2E8F7D1F-6C28-4180-9ADF-BBA72E56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234" y="1874520"/>
            <a:ext cx="3609961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1" name="文字-11-功能与性能演示">
            <a:extLst xmlns:a="http://schemas.openxmlformats.org/drawingml/2006/main">
              <a:ext uri="{FF2B5EF4-FFF2-40B4-BE49-F238E27FC236}">
                <a16:creationId xmlns:a16="http://schemas.microsoft.com/office/drawing/2014/main" id="{C01A42A1-7E19-4E30-9B16-49A596E1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394" y="1874520"/>
            <a:ext cx="345764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功能与性能演示</a:t>
            </a:r>
          </a:p>
        </p:txBody>
      </p:sp>
      <p:sp>
        <p:nvSpPr>
          <p:cNvPr id="12" name="文字-12-填写方案选型与设计思路">
            <a:extLst xmlns:a="http://schemas.openxmlformats.org/drawingml/2006/main">
              <a:ext uri="{FF2B5EF4-FFF2-40B4-BE49-F238E27FC236}">
                <a16:creationId xmlns:a16="http://schemas.microsoft.com/office/drawing/2014/main" id="{FF307A24-9906-4ACD-A080-BA5A9D04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96" y="2324100"/>
            <a:ext cx="342717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对象特征与分析模型</a:t>
            </a:r>
          </a:p>
        </p:txBody>
      </p:sp>
      <p:sp>
        <p:nvSpPr>
          <p:cNvPr id="13" name="图片区-1-方案示意">
            <a:extLst xmlns:a="http://schemas.openxmlformats.org/drawingml/2006/main">
              <a:ext uri="{FF2B5EF4-FFF2-40B4-BE49-F238E27FC236}">
                <a16:creationId xmlns:a16="http://schemas.microsoft.com/office/drawing/2014/main" id="{CAA882E2-9168-4553-93BB-026D3F83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2689860"/>
            <a:ext cx="324439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4" name="文字-14-技术条件一">
            <a:extLst xmlns:a="http://schemas.openxmlformats.org/drawingml/2006/main">
              <a:ext uri="{FF2B5EF4-FFF2-40B4-BE49-F238E27FC236}">
                <a16:creationId xmlns:a16="http://schemas.microsoft.com/office/drawing/2014/main" id="{1287E723-0BF5-4463-853B-21874B73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4869180"/>
            <a:ext cx="1576502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技术条件一</a:t>
            </a:r>
          </a:p>
        </p:txBody>
      </p:sp>
      <p:sp>
        <p:nvSpPr>
          <p:cNvPr id="15" name="文字-15-技术条件二">
            <a:extLst xmlns:a="http://schemas.openxmlformats.org/drawingml/2006/main">
              <a:ext uri="{FF2B5EF4-FFF2-40B4-BE49-F238E27FC236}">
                <a16:creationId xmlns:a16="http://schemas.microsoft.com/office/drawing/2014/main" id="{C1EAB11A-1B43-44B1-9BBD-1693A28C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865" y="4869180"/>
            <a:ext cx="1576502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技术条件二</a:t>
            </a:r>
          </a:p>
        </p:txBody>
      </p:sp>
      <p:sp>
        <p:nvSpPr>
          <p:cNvPr id="16" name="文字-16-实现要素一">
            <a:extLst xmlns:a="http://schemas.openxmlformats.org/drawingml/2006/main">
              <a:ext uri="{FF2B5EF4-FFF2-40B4-BE49-F238E27FC236}">
                <a16:creationId xmlns:a16="http://schemas.microsoft.com/office/drawing/2014/main" id="{E5565106-BD13-47A9-8D9E-1D197E9C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5288280"/>
            <a:ext cx="1576502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实现要素一</a:t>
            </a:r>
          </a:p>
        </p:txBody>
      </p:sp>
      <p:sp>
        <p:nvSpPr>
          <p:cNvPr id="17" name="文字-17-实现要素二">
            <a:extLst xmlns:a="http://schemas.openxmlformats.org/drawingml/2006/main">
              <a:ext uri="{FF2B5EF4-FFF2-40B4-BE49-F238E27FC236}">
                <a16:creationId xmlns:a16="http://schemas.microsoft.com/office/drawing/2014/main" id="{2F73ABE7-75CE-4DE7-9542-DBBDDAD1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865" y="5288280"/>
            <a:ext cx="1576502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实现要素二</a:t>
            </a:r>
          </a:p>
        </p:txBody>
      </p:sp>
      <p:sp>
        <p:nvSpPr>
          <p:cNvPr id="18" name="文字-18-填写机理分析与控制方法">
            <a:extLst xmlns:a="http://schemas.openxmlformats.org/drawingml/2006/main">
              <a:ext uri="{FF2B5EF4-FFF2-40B4-BE49-F238E27FC236}">
                <a16:creationId xmlns:a16="http://schemas.microsoft.com/office/drawing/2014/main" id="{CF06000E-19B7-4926-9F88-FB38FF71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875" y="2324100"/>
            <a:ext cx="33662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参数设置与机制验证</a:t>
            </a:r>
          </a:p>
        </p:txBody>
      </p:sp>
      <p:sp>
        <p:nvSpPr>
          <p:cNvPr id="19" name="图片区-2-机制">
            <a:extLst xmlns:a="http://schemas.openxmlformats.org/drawingml/2006/main">
              <a:ext uri="{FF2B5EF4-FFF2-40B4-BE49-F238E27FC236}">
                <a16:creationId xmlns:a16="http://schemas.microsoft.com/office/drawing/2014/main" id="{3A917168-A227-424B-AE14-F574B00C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571" y="2705100"/>
            <a:ext cx="1523190" cy="140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0" name="图片区-3-调控">
            <a:extLst xmlns:a="http://schemas.openxmlformats.org/drawingml/2006/main">
              <a:ext uri="{FF2B5EF4-FFF2-40B4-BE49-F238E27FC236}">
                <a16:creationId xmlns:a16="http://schemas.microsoft.com/office/drawing/2014/main" id="{BCED9103-6B07-4281-9110-AC17CD10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1606966" cy="140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1" name="文字-21-分析方法">
            <a:extLst xmlns:a="http://schemas.openxmlformats.org/drawingml/2006/main">
              <a:ext uri="{FF2B5EF4-FFF2-40B4-BE49-F238E27FC236}">
                <a16:creationId xmlns:a16="http://schemas.microsoft.com/office/drawing/2014/main" id="{14584FFD-E12D-4C6B-AD21-381539A7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571" y="4198620"/>
            <a:ext cx="1370872" cy="28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分析方法</a:t>
            </a:r>
          </a:p>
        </p:txBody>
      </p:sp>
      <p:sp>
        <p:nvSpPr>
          <p:cNvPr id="22" name="连线-22">
            <a:extLst xmlns:a="http://schemas.openxmlformats.org/drawingml/2006/main">
              <a:ext uri="{FF2B5EF4-FFF2-40B4-BE49-F238E27FC236}">
                <a16:creationId xmlns:a16="http://schemas.microsoft.com/office/drawing/2014/main" id="{9F1CB56B-2A62-4BDA-8EC5-94A273B7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97985" y="4343400"/>
            <a:ext cx="31225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solid"/>
          </a:ln>
        </p:spPr>
      </p:sp>
      <p:sp>
        <p:nvSpPr>
          <p:cNvPr id="23" name="结构-23">
            <a:extLst xmlns:a="http://schemas.openxmlformats.org/drawingml/2006/main">
              <a:ext uri="{FF2B5EF4-FFF2-40B4-BE49-F238E27FC236}">
                <a16:creationId xmlns:a16="http://schemas.microsoft.com/office/drawing/2014/main" id="{D7FD3466-DA03-42A7-9510-5552BBBF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16" y="4297680"/>
            <a:ext cx="106624" cy="91440"/>
          </a:xfrm>
          <a:custGeom xmlns:a="http://schemas.openxmlformats.org/drawingml/2006/main">
            <a:pathLst>
              <a:path w="139351" h="119507">
                <a:moveTo>
                  <a:pt x="139351" y="59754"/>
                </a:moveTo>
                <a:lnTo>
                  <a:pt x="0" y="0"/>
                </a:lnTo>
                <a:lnTo>
                  <a:pt x="0" y="119507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24" name="文字-24-目标特征">
            <a:extLst xmlns:a="http://schemas.openxmlformats.org/drawingml/2006/main">
              <a:ext uri="{FF2B5EF4-FFF2-40B4-BE49-F238E27FC236}">
                <a16:creationId xmlns:a16="http://schemas.microsoft.com/office/drawing/2014/main" id="{FDE5FF42-7BDA-4C2C-B6DF-C9C98A26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551" y="4198620"/>
            <a:ext cx="1431798" cy="28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目标特征</a:t>
            </a:r>
          </a:p>
        </p:txBody>
      </p:sp>
      <p:sp>
        <p:nvSpPr>
          <p:cNvPr id="25" name="图片区-4-验证方法">
            <a:extLst xmlns:a="http://schemas.openxmlformats.org/drawingml/2006/main">
              <a:ext uri="{FF2B5EF4-FFF2-40B4-BE49-F238E27FC236}">
                <a16:creationId xmlns:a16="http://schemas.microsoft.com/office/drawing/2014/main" id="{95B027E4-20CD-4339-BB26-5DCE65A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571" y="4625340"/>
            <a:ext cx="3252011" cy="1074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6" name="文字-26-填写待验证的功能与性能">
            <a:extLst xmlns:a="http://schemas.openxmlformats.org/drawingml/2006/main">
              <a:ext uri="{FF2B5EF4-FFF2-40B4-BE49-F238E27FC236}">
                <a16:creationId xmlns:a16="http://schemas.microsoft.com/office/drawing/2014/main" id="{8E7BD22C-A3C8-41A1-B73F-9DCEE11A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857" y="2324100"/>
            <a:ext cx="335863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方法构建与性能评价</a:t>
            </a:r>
          </a:p>
        </p:txBody>
      </p:sp>
      <p:sp>
        <p:nvSpPr>
          <p:cNvPr id="27" name="图片区-5-主结果">
            <a:extLst xmlns:a="http://schemas.openxmlformats.org/drawingml/2006/main">
              <a:ext uri="{FF2B5EF4-FFF2-40B4-BE49-F238E27FC236}">
                <a16:creationId xmlns:a16="http://schemas.microsoft.com/office/drawing/2014/main" id="{157CBF48-F60F-4793-829E-28D2C111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786" y="2705100"/>
            <a:ext cx="3259627" cy="1912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8" name="图片区-6-结果0">
            <a:extLst xmlns:a="http://schemas.openxmlformats.org/drawingml/2006/main">
              <a:ext uri="{FF2B5EF4-FFF2-40B4-BE49-F238E27FC236}">
                <a16:creationId xmlns:a16="http://schemas.microsoft.com/office/drawing/2014/main" id="{68CBACBD-44E8-44A0-9D49-70971422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786" y="4724400"/>
            <a:ext cx="10357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9" name="图片区-7-结果1">
            <a:extLst xmlns:a="http://schemas.openxmlformats.org/drawingml/2006/main">
              <a:ext uri="{FF2B5EF4-FFF2-40B4-BE49-F238E27FC236}">
                <a16:creationId xmlns:a16="http://schemas.microsoft.com/office/drawing/2014/main" id="{A11B2F09-470F-49B1-87E1-4544BF93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714" y="4724400"/>
            <a:ext cx="10357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0" name="图片区-8-结果2">
            <a:extLst xmlns:a="http://schemas.openxmlformats.org/drawingml/2006/main">
              <a:ext uri="{FF2B5EF4-FFF2-40B4-BE49-F238E27FC236}">
                <a16:creationId xmlns:a16="http://schemas.microsoft.com/office/drawing/2014/main" id="{CF7455A1-453A-4A76-A640-4F525DD2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643" y="4724400"/>
            <a:ext cx="10357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1" name="文字-31-填写结果或响应曲线说明">
            <a:extLst xmlns:a="http://schemas.openxmlformats.org/drawingml/2006/main">
              <a:ext uri="{FF2B5EF4-FFF2-40B4-BE49-F238E27FC236}">
                <a16:creationId xmlns:a16="http://schemas.microsoft.com/office/drawing/2014/main" id="{4771BB62-A1C7-451E-A95A-7BB15A03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786" y="5494020"/>
            <a:ext cx="3259627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验证结果与适用条件</a:t>
            </a:r>
          </a:p>
        </p:txBody>
      </p:sp>
      <p:sp>
        <p:nvSpPr>
          <p:cNvPr id="32" name="文字-32-填写本阶段形成的能力、方法或">
            <a:extLst xmlns:a="http://schemas.openxmlformats.org/drawingml/2006/main">
              <a:ext uri="{FF2B5EF4-FFF2-40B4-BE49-F238E27FC236}">
                <a16:creationId xmlns:a16="http://schemas.microsoft.com/office/drawing/2014/main" id="{FE5E426E-C06B-4282-B76C-FDA82740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187440"/>
            <a:ext cx="1145439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阶段产出：模型、方法或原型</a:t>
            </a:r>
          </a:p>
        </p:txBody>
      </p:sp>
    </p:spTree>
    <p:extLst>
      <p:ext uri="{BB962C8B-B14F-4D97-AF65-F5344CB8AC3E}">
        <p14:creationId xmlns:p14="http://schemas.microsoft.com/office/powerpoint/2010/main" val="7433588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文字-1-3.3 研究阶段：方法与功能">
            <a:extLst xmlns:a="http://schemas.openxmlformats.org/drawingml/2006/main">
              <a:ext uri="{FF2B5EF4-FFF2-40B4-BE49-F238E27FC236}">
                <a16:creationId xmlns:a16="http://schemas.microsoft.com/office/drawing/2014/main" id="{D4B20826-90E7-4D76-81CA-DF635A71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3.3 研究阶段：方法与功能验证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6B064338-FB16-4225-9842-D2C26696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757A0895-C61D-4EB3-8964-855C7D57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14400"/>
            <a:ext cx="1145439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6F286196-A0E0-4A71-8E62-25502C44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20396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核心目标：说明本阶段的研究任">
            <a:extLst xmlns:a="http://schemas.openxmlformats.org/drawingml/2006/main">
              <a:ext uri="{FF2B5EF4-FFF2-40B4-BE49-F238E27FC236}">
                <a16:creationId xmlns:a16="http://schemas.microsoft.com/office/drawing/2014/main" id="{8F11F1F0-FF08-4432-8137-CF71271D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75360"/>
            <a:ext cx="1081465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阶段目标：关键问题 → 三项任务 → 共同产出</a:t>
            </a:r>
          </a:p>
        </p:txBody>
      </p:sp>
      <p:sp>
        <p:nvSpPr>
          <p:cNvPr id="6" name="对象-6">
            <a:extLst xmlns:a="http://schemas.openxmlformats.org/drawingml/2006/main">
              <a:ext uri="{FF2B5EF4-FFF2-40B4-BE49-F238E27FC236}">
                <a16:creationId xmlns:a16="http://schemas.microsoft.com/office/drawing/2014/main" id="{A1685B84-5C16-41D0-94BF-4E62A927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874520"/>
            <a:ext cx="3609961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7" name="文字-7-结构与方案设计">
            <a:extLst xmlns:a="http://schemas.openxmlformats.org/drawingml/2006/main">
              <a:ext uri="{FF2B5EF4-FFF2-40B4-BE49-F238E27FC236}">
                <a16:creationId xmlns:a16="http://schemas.microsoft.com/office/drawing/2014/main" id="{13CFFF82-AEDD-4478-AA06-7CEB430A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64" y="1874520"/>
            <a:ext cx="345764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结构与方案设计</a:t>
            </a:r>
          </a:p>
        </p:txBody>
      </p:sp>
      <p:sp>
        <p:nvSpPr>
          <p:cNvPr id="8" name="对象-8">
            <a:extLst xmlns:a="http://schemas.openxmlformats.org/drawingml/2006/main">
              <a:ext uri="{FF2B5EF4-FFF2-40B4-BE49-F238E27FC236}">
                <a16:creationId xmlns:a16="http://schemas.microsoft.com/office/drawing/2014/main" id="{3B35512D-0E78-4C94-8307-677BDBE4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20" y="1874520"/>
            <a:ext cx="3609961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9" name="文字-9-作用机制与调控">
            <a:extLst xmlns:a="http://schemas.openxmlformats.org/drawingml/2006/main">
              <a:ext uri="{FF2B5EF4-FFF2-40B4-BE49-F238E27FC236}">
                <a16:creationId xmlns:a16="http://schemas.microsoft.com/office/drawing/2014/main" id="{CBDAE37C-73E4-4DF2-8DC9-CAAAB61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179" y="1874520"/>
            <a:ext cx="345764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作用机制与调控</a:t>
            </a:r>
          </a:p>
        </p:txBody>
      </p:sp>
      <p:sp>
        <p:nvSpPr>
          <p:cNvPr id="10" name="对象-10">
            <a:extLst xmlns:a="http://schemas.openxmlformats.org/drawingml/2006/main">
              <a:ext uri="{FF2B5EF4-FFF2-40B4-BE49-F238E27FC236}">
                <a16:creationId xmlns:a16="http://schemas.microsoft.com/office/drawing/2014/main" id="{27B51F41-A2F9-4C86-939F-C7E60540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234" y="1874520"/>
            <a:ext cx="3609961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1" name="文字-11-功能与性能演示">
            <a:extLst xmlns:a="http://schemas.openxmlformats.org/drawingml/2006/main">
              <a:ext uri="{FF2B5EF4-FFF2-40B4-BE49-F238E27FC236}">
                <a16:creationId xmlns:a16="http://schemas.microsoft.com/office/drawing/2014/main" id="{8E162FF1-0CF5-4CD8-8397-3A531596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394" y="1874520"/>
            <a:ext cx="345764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功能与性能演示</a:t>
            </a:r>
          </a:p>
        </p:txBody>
      </p:sp>
      <p:sp>
        <p:nvSpPr>
          <p:cNvPr id="12" name="文字-12-填写方案选型与设计思路">
            <a:extLst xmlns:a="http://schemas.openxmlformats.org/drawingml/2006/main">
              <a:ext uri="{FF2B5EF4-FFF2-40B4-BE49-F238E27FC236}">
                <a16:creationId xmlns:a16="http://schemas.microsoft.com/office/drawing/2014/main" id="{1D179FFE-A362-4347-89F1-BEBBADF0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96" y="2324100"/>
            <a:ext cx="3427178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对象特征与分析模型</a:t>
            </a:r>
          </a:p>
        </p:txBody>
      </p:sp>
      <p:sp>
        <p:nvSpPr>
          <p:cNvPr id="13" name="图片区-1-方案示意">
            <a:extLst xmlns:a="http://schemas.openxmlformats.org/drawingml/2006/main">
              <a:ext uri="{FF2B5EF4-FFF2-40B4-BE49-F238E27FC236}">
                <a16:creationId xmlns:a16="http://schemas.microsoft.com/office/drawing/2014/main" id="{66C3F777-7738-41C4-927C-91DE1B2B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2689860"/>
            <a:ext cx="324439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4" name="文字-14-技术条件一">
            <a:extLst xmlns:a="http://schemas.openxmlformats.org/drawingml/2006/main">
              <a:ext uri="{FF2B5EF4-FFF2-40B4-BE49-F238E27FC236}">
                <a16:creationId xmlns:a16="http://schemas.microsoft.com/office/drawing/2014/main" id="{F74CC6FB-EBAA-45F1-BEDD-350734F5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4869180"/>
            <a:ext cx="1576502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技术条件一</a:t>
            </a:r>
          </a:p>
        </p:txBody>
      </p:sp>
      <p:sp>
        <p:nvSpPr>
          <p:cNvPr id="15" name="文字-15-技术条件二">
            <a:extLst xmlns:a="http://schemas.openxmlformats.org/drawingml/2006/main">
              <a:ext uri="{FF2B5EF4-FFF2-40B4-BE49-F238E27FC236}">
                <a16:creationId xmlns:a16="http://schemas.microsoft.com/office/drawing/2014/main" id="{BB4F5C26-1E31-4996-9B3D-A2A345E3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865" y="4869180"/>
            <a:ext cx="1576502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技术条件二</a:t>
            </a:r>
          </a:p>
        </p:txBody>
      </p:sp>
      <p:sp>
        <p:nvSpPr>
          <p:cNvPr id="16" name="文字-16-实现要素一">
            <a:extLst xmlns:a="http://schemas.openxmlformats.org/drawingml/2006/main">
              <a:ext uri="{FF2B5EF4-FFF2-40B4-BE49-F238E27FC236}">
                <a16:creationId xmlns:a16="http://schemas.microsoft.com/office/drawing/2014/main" id="{2D743C62-7FC5-47C7-9051-779F6A59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5288280"/>
            <a:ext cx="1576502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实现要素一</a:t>
            </a:r>
          </a:p>
        </p:txBody>
      </p:sp>
      <p:sp>
        <p:nvSpPr>
          <p:cNvPr id="17" name="文字-17-实现要素二">
            <a:extLst xmlns:a="http://schemas.openxmlformats.org/drawingml/2006/main">
              <a:ext uri="{FF2B5EF4-FFF2-40B4-BE49-F238E27FC236}">
                <a16:creationId xmlns:a16="http://schemas.microsoft.com/office/drawing/2014/main" id="{8320762E-C22B-4145-B7B6-88FE956B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865" y="5288280"/>
            <a:ext cx="1576502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实现要素二</a:t>
            </a:r>
          </a:p>
        </p:txBody>
      </p:sp>
      <p:sp>
        <p:nvSpPr>
          <p:cNvPr id="18" name="文字-18-填写机理分析与控制方法">
            <a:extLst xmlns:a="http://schemas.openxmlformats.org/drawingml/2006/main">
              <a:ext uri="{FF2B5EF4-FFF2-40B4-BE49-F238E27FC236}">
                <a16:creationId xmlns:a16="http://schemas.microsoft.com/office/drawing/2014/main" id="{117CCB5D-CD98-412C-BDA4-51C5BE46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875" y="2324100"/>
            <a:ext cx="336625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参数设置与机制验证</a:t>
            </a:r>
          </a:p>
        </p:txBody>
      </p:sp>
      <p:sp>
        <p:nvSpPr>
          <p:cNvPr id="19" name="图片区-2-机制">
            <a:extLst xmlns:a="http://schemas.openxmlformats.org/drawingml/2006/main">
              <a:ext uri="{FF2B5EF4-FFF2-40B4-BE49-F238E27FC236}">
                <a16:creationId xmlns:a16="http://schemas.microsoft.com/office/drawing/2014/main" id="{857B0396-A753-4E56-9C2E-9E06475C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571" y="2705100"/>
            <a:ext cx="1523190" cy="140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0" name="图片区-3-调控">
            <a:extLst xmlns:a="http://schemas.openxmlformats.org/drawingml/2006/main">
              <a:ext uri="{FF2B5EF4-FFF2-40B4-BE49-F238E27FC236}">
                <a16:creationId xmlns:a16="http://schemas.microsoft.com/office/drawing/2014/main" id="{C521FB18-35C3-4A24-A867-12481435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05100"/>
            <a:ext cx="1606966" cy="140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1" name="文字-21-分析方法">
            <a:extLst xmlns:a="http://schemas.openxmlformats.org/drawingml/2006/main">
              <a:ext uri="{FF2B5EF4-FFF2-40B4-BE49-F238E27FC236}">
                <a16:creationId xmlns:a16="http://schemas.microsoft.com/office/drawing/2014/main" id="{26C85839-8087-4F24-9AAC-A5B3A767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571" y="4198620"/>
            <a:ext cx="1370872" cy="28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分析方法</a:t>
            </a:r>
          </a:p>
        </p:txBody>
      </p:sp>
      <p:sp>
        <p:nvSpPr>
          <p:cNvPr id="22" name="连线-22">
            <a:extLst xmlns:a="http://schemas.openxmlformats.org/drawingml/2006/main">
              <a:ext uri="{FF2B5EF4-FFF2-40B4-BE49-F238E27FC236}">
                <a16:creationId xmlns:a16="http://schemas.microsoft.com/office/drawing/2014/main" id="{29F3C68D-CDAB-405B-ACB2-E0201398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97985" y="4343400"/>
            <a:ext cx="31225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solid"/>
          </a:ln>
        </p:spPr>
      </p:sp>
      <p:sp>
        <p:nvSpPr>
          <p:cNvPr id="23" name="结构-23">
            <a:extLst xmlns:a="http://schemas.openxmlformats.org/drawingml/2006/main">
              <a:ext uri="{FF2B5EF4-FFF2-40B4-BE49-F238E27FC236}">
                <a16:creationId xmlns:a16="http://schemas.microsoft.com/office/drawing/2014/main" id="{70847F2C-082F-47D4-8517-D4E6EB29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616" y="4297680"/>
            <a:ext cx="106624" cy="91440"/>
          </a:xfrm>
          <a:custGeom xmlns:a="http://schemas.openxmlformats.org/drawingml/2006/main">
            <a:pathLst>
              <a:path w="139351" h="119507">
                <a:moveTo>
                  <a:pt x="139351" y="59754"/>
                </a:moveTo>
                <a:lnTo>
                  <a:pt x="0" y="0"/>
                </a:lnTo>
                <a:lnTo>
                  <a:pt x="0" y="119507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24" name="文字-24-目标特征">
            <a:extLst xmlns:a="http://schemas.openxmlformats.org/drawingml/2006/main">
              <a:ext uri="{FF2B5EF4-FFF2-40B4-BE49-F238E27FC236}">
                <a16:creationId xmlns:a16="http://schemas.microsoft.com/office/drawing/2014/main" id="{B9AEAF2A-AA9A-4ECE-8A11-6C7AA2DB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551" y="4198620"/>
            <a:ext cx="1431798" cy="289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目标特征</a:t>
            </a:r>
          </a:p>
        </p:txBody>
      </p:sp>
      <p:sp>
        <p:nvSpPr>
          <p:cNvPr id="25" name="图片区-4-验证方法">
            <a:extLst xmlns:a="http://schemas.openxmlformats.org/drawingml/2006/main">
              <a:ext uri="{FF2B5EF4-FFF2-40B4-BE49-F238E27FC236}">
                <a16:creationId xmlns:a16="http://schemas.microsoft.com/office/drawing/2014/main" id="{462FD512-C2BF-4B4F-9978-F48DAD5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571" y="4625340"/>
            <a:ext cx="3252011" cy="1074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6" name="文字-26-填写待验证的功能与性能">
            <a:extLst xmlns:a="http://schemas.openxmlformats.org/drawingml/2006/main">
              <a:ext uri="{FF2B5EF4-FFF2-40B4-BE49-F238E27FC236}">
                <a16:creationId xmlns:a16="http://schemas.microsoft.com/office/drawing/2014/main" id="{10093198-7F70-41EA-B20F-29F918FD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857" y="2324100"/>
            <a:ext cx="3358635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方法构建与性能评价</a:t>
            </a:r>
          </a:p>
        </p:txBody>
      </p:sp>
      <p:sp>
        <p:nvSpPr>
          <p:cNvPr id="27" name="图片区-5-主结果">
            <a:extLst xmlns:a="http://schemas.openxmlformats.org/drawingml/2006/main">
              <a:ext uri="{FF2B5EF4-FFF2-40B4-BE49-F238E27FC236}">
                <a16:creationId xmlns:a16="http://schemas.microsoft.com/office/drawing/2014/main" id="{52AB3C14-ED8B-4AC2-AE50-2CB2DE5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786" y="2705100"/>
            <a:ext cx="3259627" cy="1912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8" name="图片区-6-结果0">
            <a:extLst xmlns:a="http://schemas.openxmlformats.org/drawingml/2006/main">
              <a:ext uri="{FF2B5EF4-FFF2-40B4-BE49-F238E27FC236}">
                <a16:creationId xmlns:a16="http://schemas.microsoft.com/office/drawing/2014/main" id="{C1CE592B-3DFB-4645-8553-7A236A44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786" y="4724400"/>
            <a:ext cx="10357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9" name="图片区-7-结果1">
            <a:extLst xmlns:a="http://schemas.openxmlformats.org/drawingml/2006/main">
              <a:ext uri="{FF2B5EF4-FFF2-40B4-BE49-F238E27FC236}">
                <a16:creationId xmlns:a16="http://schemas.microsoft.com/office/drawing/2014/main" id="{82B66ECF-AE1A-4AE4-AA02-1853B101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714" y="4724400"/>
            <a:ext cx="10357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0" name="图片区-8-结果2">
            <a:extLst xmlns:a="http://schemas.openxmlformats.org/drawingml/2006/main">
              <a:ext uri="{FF2B5EF4-FFF2-40B4-BE49-F238E27FC236}">
                <a16:creationId xmlns:a16="http://schemas.microsoft.com/office/drawing/2014/main" id="{410FF2B6-279E-48E5-90D0-0BE9C4FD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643" y="4724400"/>
            <a:ext cx="1035769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1" name="文字-31-填写结果或响应曲线说明">
            <a:extLst xmlns:a="http://schemas.openxmlformats.org/drawingml/2006/main">
              <a:ext uri="{FF2B5EF4-FFF2-40B4-BE49-F238E27FC236}">
                <a16:creationId xmlns:a16="http://schemas.microsoft.com/office/drawing/2014/main" id="{16AA73D9-D500-499E-B95E-68E4958D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786" y="5494020"/>
            <a:ext cx="3259627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验证结果与适用条件</a:t>
            </a:r>
          </a:p>
        </p:txBody>
      </p:sp>
      <p:sp>
        <p:nvSpPr>
          <p:cNvPr id="32" name="文字-32-填写本阶段形成的能力、方法或">
            <a:extLst xmlns:a="http://schemas.openxmlformats.org/drawingml/2006/main">
              <a:ext uri="{FF2B5EF4-FFF2-40B4-BE49-F238E27FC236}">
                <a16:creationId xmlns:a16="http://schemas.microsoft.com/office/drawing/2014/main" id="{8EF4A8B1-94A1-4FE3-B7C0-5723A072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187440"/>
            <a:ext cx="1145439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阶段产出：模型、方法或原型</a:t>
            </a:r>
          </a:p>
        </p:txBody>
      </p:sp>
    </p:spTree>
    <p:extLst>
      <p:ext uri="{BB962C8B-B14F-4D97-AF65-F5344CB8AC3E}">
        <p14:creationId xmlns:p14="http://schemas.microsoft.com/office/powerpoint/2010/main" val="11300303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文字-1-填写总体研究任务与作用机理">
            <a:extLst xmlns:a="http://schemas.openxmlformats.org/drawingml/2006/main">
              <a:ext uri="{FF2B5EF4-FFF2-40B4-BE49-F238E27FC236}">
                <a16:creationId xmlns:a16="http://schemas.microsoft.com/office/drawing/2014/main" id="{1ABB2402-78D7-4CFB-A8F7-91D39F33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621" y="350520"/>
            <a:ext cx="4104998" cy="563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双重研究目标与共同约束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00C0B2C9-D5C9-4637-B41A-436A0B84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74111" y="609600"/>
            <a:ext cx="2726511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32">
            <a:solidFill>
              <a:srgbClr val="949494"/>
            </a:solidFill>
            <a:prstDash val="solid"/>
          </a:ln>
        </p:spPr>
      </p:sp>
      <p:sp>
        <p:nvSpPr>
          <p:cNvPr id="3" name="连线-3">
            <a:extLst xmlns:a="http://schemas.openxmlformats.org/drawingml/2006/main">
              <a:ext uri="{FF2B5EF4-FFF2-40B4-BE49-F238E27FC236}">
                <a16:creationId xmlns:a16="http://schemas.microsoft.com/office/drawing/2014/main" id="{D25B9434-DC88-4E60-BC12-954ABEE0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74111" y="609600"/>
            <a:ext cx="729" cy="510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32">
            <a:solidFill>
              <a:srgbClr val="949494"/>
            </a:solidFill>
            <a:prstDash val="solid"/>
          </a:ln>
        </p:spPr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E8454A48-3857-4354-AC9B-886DEF47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318" y="1017270"/>
            <a:ext cx="87584" cy="102870"/>
          </a:xfrm>
          <a:custGeom xmlns:a="http://schemas.openxmlformats.org/drawingml/2006/main">
            <a:pathLst>
              <a:path w="114467" h="134445">
                <a:moveTo>
                  <a:pt x="57233" y="134445"/>
                </a:moveTo>
                <a:lnTo>
                  <a:pt x="11446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49494"/>
          </a:solidFill>
          <a:ln xmlns:a="http://schemas.openxmlformats.org/drawingml/2006/main" w="0">
            <a:noFill/>
          </a:ln>
        </p:spPr>
      </p:sp>
      <p:sp>
        <p:nvSpPr>
          <p:cNvPr id="5" name="连线-5">
            <a:extLst xmlns:a="http://schemas.openxmlformats.org/drawingml/2006/main">
              <a:ext uri="{FF2B5EF4-FFF2-40B4-BE49-F238E27FC236}">
                <a16:creationId xmlns:a16="http://schemas.microsoft.com/office/drawing/2014/main" id="{A19776E9-62BA-4870-A22D-12CF8914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05618" y="609600"/>
            <a:ext cx="271889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32">
            <a:solidFill>
              <a:srgbClr val="949494"/>
            </a:solidFill>
            <a:prstDash val="solid"/>
          </a:ln>
        </p:spPr>
      </p:sp>
      <p:sp>
        <p:nvSpPr>
          <p:cNvPr id="6" name="连线-6">
            <a:extLst xmlns:a="http://schemas.openxmlformats.org/drawingml/2006/main">
              <a:ext uri="{FF2B5EF4-FFF2-40B4-BE49-F238E27FC236}">
                <a16:creationId xmlns:a16="http://schemas.microsoft.com/office/drawing/2014/main" id="{CEE75CBD-0516-4982-91EF-2B449E3C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24513" y="609600"/>
            <a:ext cx="729" cy="5105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32">
            <a:solidFill>
              <a:srgbClr val="949494"/>
            </a:solidFill>
            <a:prstDash val="solid"/>
          </a:ln>
        </p:spPr>
      </p:sp>
      <p:sp>
        <p:nvSpPr>
          <p:cNvPr id="7" name="结构-7">
            <a:extLst xmlns:a="http://schemas.openxmlformats.org/drawingml/2006/main">
              <a:ext uri="{FF2B5EF4-FFF2-40B4-BE49-F238E27FC236}">
                <a16:creationId xmlns:a16="http://schemas.microsoft.com/office/drawing/2014/main" id="{C97F94A2-B6C0-4B90-BB03-BD385AAA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0721" y="1017270"/>
            <a:ext cx="87584" cy="102870"/>
          </a:xfrm>
          <a:custGeom xmlns:a="http://schemas.openxmlformats.org/drawingml/2006/main">
            <a:pathLst>
              <a:path w="114467" h="134445">
                <a:moveTo>
                  <a:pt x="57233" y="134445"/>
                </a:moveTo>
                <a:lnTo>
                  <a:pt x="11446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49494"/>
          </a:solidFill>
          <a:ln xmlns:a="http://schemas.openxmlformats.org/drawingml/2006/main" w="0">
            <a:noFill/>
          </a:ln>
        </p:spPr>
      </p:sp>
      <p:sp>
        <p:nvSpPr>
          <p:cNvPr id="8" name="文字-8-核心体系">
            <a:extLst xmlns:a="http://schemas.openxmlformats.org/drawingml/2006/main">
              <a:ext uri="{FF2B5EF4-FFF2-40B4-BE49-F238E27FC236}">
                <a16:creationId xmlns:a16="http://schemas.microsoft.com/office/drawing/2014/main" id="{BDC04735-4F05-478A-A968-809B9F1D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09" y="1173480"/>
            <a:ext cx="1104313" cy="9144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  <a:p xmlns:a="http://schemas.openxmlformats.org/drawingml/2006/main">
            <a:pPr algn="ctr">
              <a:buNone/>
              <a:defRPr sz="19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体系</a:t>
            </a:r>
          </a:p>
        </p:txBody>
      </p:sp>
      <p:sp>
        <p:nvSpPr>
          <p:cNvPr id="9" name="文字-9-环境条件">
            <a:extLst xmlns:a="http://schemas.openxmlformats.org/drawingml/2006/main">
              <a:ext uri="{FF2B5EF4-FFF2-40B4-BE49-F238E27FC236}">
                <a16:creationId xmlns:a16="http://schemas.microsoft.com/office/drawing/2014/main" id="{28CF30FA-5622-4217-A4BD-8605F49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244" y="1173480"/>
            <a:ext cx="1104313" cy="9144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  <a:p xmlns:a="http://schemas.openxmlformats.org/drawingml/2006/main">
            <a:pPr algn="ctr">
              <a:buNone/>
              <a:defRPr sz="19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10" name="结构-10">
            <a:extLst xmlns:a="http://schemas.openxmlformats.org/drawingml/2006/main">
              <a:ext uri="{FF2B5EF4-FFF2-40B4-BE49-F238E27FC236}">
                <a16:creationId xmlns:a16="http://schemas.microsoft.com/office/drawing/2014/main" id="{2CCE401C-C104-453D-9438-2E579AF8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416" y="1356360"/>
            <a:ext cx="2886446" cy="464820"/>
          </a:xfrm>
          <a:custGeom xmlns:a="http://schemas.openxmlformats.org/drawingml/2006/main">
            <a:pathLst>
              <a:path w="3772424" h="607494">
                <a:moveTo>
                  <a:pt x="0" y="0"/>
                </a:moveTo>
                <a:lnTo>
                  <a:pt x="3523583" y="0"/>
                </a:lnTo>
                <a:lnTo>
                  <a:pt x="3772424" y="303747"/>
                </a:lnTo>
                <a:lnTo>
                  <a:pt x="3523583" y="607494"/>
                </a:lnTo>
                <a:lnTo>
                  <a:pt x="0" y="607494"/>
                </a:lnTo>
                <a:close/>
              </a:path>
            </a:pathLst>
          </a:cu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</a:ln>
        </p:spPr>
      </p:sp>
      <p:sp>
        <p:nvSpPr>
          <p:cNvPr id="11" name="文字-11-研究目标一">
            <a:extLst xmlns:a="http://schemas.openxmlformats.org/drawingml/2006/main">
              <a:ext uri="{FF2B5EF4-FFF2-40B4-BE49-F238E27FC236}">
                <a16:creationId xmlns:a16="http://schemas.microsoft.com/office/drawing/2014/main" id="{69A6263D-AB28-45B8-88D8-CB0F6C3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343" y="1356360"/>
            <a:ext cx="2657967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研究目标一</a:t>
            </a:r>
          </a:p>
        </p:txBody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C80EE3B7-69B7-41DE-9A1D-9E31BBD5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552" y="1356360"/>
            <a:ext cx="2779822" cy="464820"/>
          </a:xfrm>
          <a:custGeom xmlns:a="http://schemas.openxmlformats.org/drawingml/2006/main">
            <a:pathLst>
              <a:path w="3633073" h="607494">
                <a:moveTo>
                  <a:pt x="0" y="0"/>
                </a:moveTo>
                <a:lnTo>
                  <a:pt x="3384232" y="0"/>
                </a:lnTo>
                <a:lnTo>
                  <a:pt x="3633073" y="303747"/>
                </a:lnTo>
                <a:lnTo>
                  <a:pt x="3384232" y="607494"/>
                </a:lnTo>
                <a:lnTo>
                  <a:pt x="0" y="607494"/>
                </a:lnTo>
                <a:close/>
              </a:path>
            </a:pathLst>
          </a:custGeom>
          <a:solidFill xmlns:a="http://schemas.openxmlformats.org/drawingml/2006/main">
            <a:srgbClr val="CFAC4F"/>
          </a:solidFill>
          <a:ln xmlns:a="http://schemas.openxmlformats.org/drawingml/2006/main" w="0">
            <a:noFill/>
          </a:ln>
        </p:spPr>
      </p:sp>
      <p:sp>
        <p:nvSpPr>
          <p:cNvPr id="13" name="文字-13-研究目标二">
            <a:extLst xmlns:a="http://schemas.openxmlformats.org/drawingml/2006/main">
              <a:ext uri="{FF2B5EF4-FFF2-40B4-BE49-F238E27FC236}">
                <a16:creationId xmlns:a16="http://schemas.microsoft.com/office/drawing/2014/main" id="{3EA85A4E-1E06-47B2-8B40-8E058EC2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480" y="1356360"/>
            <a:ext cx="2551343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研究目标二</a:t>
            </a:r>
          </a:p>
        </p:txBody>
      </p:sp>
      <p:sp>
        <p:nvSpPr>
          <p:cNvPr id="14" name="文字-14-共同目标">
            <a:extLst xmlns:a="http://schemas.openxmlformats.org/drawingml/2006/main">
              <a:ext uri="{FF2B5EF4-FFF2-40B4-BE49-F238E27FC236}">
                <a16:creationId xmlns:a16="http://schemas.microsoft.com/office/drawing/2014/main" id="{2582FD8D-0AA9-4C12-9251-9F2BF6AA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803" y="1150620"/>
            <a:ext cx="1089081" cy="9067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共同</a:t>
            </a:r>
          </a:p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5" name="对象-15">
            <a:extLst xmlns:a="http://schemas.openxmlformats.org/drawingml/2006/main">
              <a:ext uri="{FF2B5EF4-FFF2-40B4-BE49-F238E27FC236}">
                <a16:creationId xmlns:a16="http://schemas.microsoft.com/office/drawing/2014/main" id="{0BF041D5-327A-411A-8A1F-4ED53D54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92" y="2331720"/>
            <a:ext cx="1850676" cy="364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C2AAAB"/>
            </a:solidFill>
            <a:prstDash val="solid"/>
          </a:ln>
        </p:spPr>
      </p:sp>
      <p:sp>
        <p:nvSpPr>
          <p:cNvPr id="16" name="对象-16">
            <a:extLst xmlns:a="http://schemas.openxmlformats.org/drawingml/2006/main">
              <a:ext uri="{FF2B5EF4-FFF2-40B4-BE49-F238E27FC236}">
                <a16:creationId xmlns:a16="http://schemas.microsoft.com/office/drawing/2014/main" id="{E8A9A934-6D26-4E4F-BEE1-FE667A9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3911" y="2331720"/>
            <a:ext cx="1759284" cy="3642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C2AAAB"/>
            </a:solidFill>
            <a:prstDash val="solid"/>
          </a:ln>
        </p:spPr>
      </p:sp>
      <p:sp>
        <p:nvSpPr>
          <p:cNvPr id="17" name="文字-17-组成要素一">
            <a:extLst xmlns:a="http://schemas.openxmlformats.org/drawingml/2006/main">
              <a:ext uri="{FF2B5EF4-FFF2-40B4-BE49-F238E27FC236}">
                <a16:creationId xmlns:a16="http://schemas.microsoft.com/office/drawing/2014/main" id="{2CF52003-5A86-4BA0-8A25-FF505E8F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43" y="2453640"/>
            <a:ext cx="1538422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7A4A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组成要素一</a:t>
            </a:r>
          </a:p>
        </p:txBody>
      </p:sp>
      <p:sp>
        <p:nvSpPr>
          <p:cNvPr id="18" name="文字-18-组成要素二">
            <a:extLst xmlns:a="http://schemas.openxmlformats.org/drawingml/2006/main">
              <a:ext uri="{FF2B5EF4-FFF2-40B4-BE49-F238E27FC236}">
                <a16:creationId xmlns:a16="http://schemas.microsoft.com/office/drawing/2014/main" id="{E5B47DC9-40E5-41F7-AF31-979E33D1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43" y="2941320"/>
            <a:ext cx="1538422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7A4A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组成要素二</a:t>
            </a:r>
          </a:p>
        </p:txBody>
      </p:sp>
      <p:sp>
        <p:nvSpPr>
          <p:cNvPr id="19" name="文字-19-组成要素三">
            <a:extLst xmlns:a="http://schemas.openxmlformats.org/drawingml/2006/main">
              <a:ext uri="{FF2B5EF4-FFF2-40B4-BE49-F238E27FC236}">
                <a16:creationId xmlns:a16="http://schemas.microsoft.com/office/drawing/2014/main" id="{89224745-4D83-4DC0-B138-8D3BE05E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43" y="3429000"/>
            <a:ext cx="1538422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7A4A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组成要素三</a:t>
            </a:r>
          </a:p>
        </p:txBody>
      </p:sp>
      <p:sp>
        <p:nvSpPr>
          <p:cNvPr id="20" name="文字-20-环境约束一">
            <a:extLst xmlns:a="http://schemas.openxmlformats.org/drawingml/2006/main">
              <a:ext uri="{FF2B5EF4-FFF2-40B4-BE49-F238E27FC236}">
                <a16:creationId xmlns:a16="http://schemas.microsoft.com/office/drawing/2014/main" id="{0D9ADE9C-D752-40D0-B19D-2680153C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614" y="2453640"/>
            <a:ext cx="1469879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7A4A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环境约束一</a:t>
            </a:r>
          </a:p>
        </p:txBody>
      </p:sp>
      <p:sp>
        <p:nvSpPr>
          <p:cNvPr id="21" name="文字-21-环境约束二">
            <a:extLst xmlns:a="http://schemas.openxmlformats.org/drawingml/2006/main">
              <a:ext uri="{FF2B5EF4-FFF2-40B4-BE49-F238E27FC236}">
                <a16:creationId xmlns:a16="http://schemas.microsoft.com/office/drawing/2014/main" id="{50953166-6028-448A-99CE-22526FAA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614" y="2941320"/>
            <a:ext cx="1469879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7A4A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环境约束二</a:t>
            </a:r>
          </a:p>
        </p:txBody>
      </p:sp>
      <p:sp>
        <p:nvSpPr>
          <p:cNvPr id="22" name="文字-22-环境约束三">
            <a:extLst xmlns:a="http://schemas.openxmlformats.org/drawingml/2006/main">
              <a:ext uri="{FF2B5EF4-FFF2-40B4-BE49-F238E27FC236}">
                <a16:creationId xmlns:a16="http://schemas.microsoft.com/office/drawing/2014/main" id="{3C8D7D09-744E-44C6-80C5-D76AAA3F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614" y="3429000"/>
            <a:ext cx="1469879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7A4A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环境约束三</a:t>
            </a:r>
          </a:p>
        </p:txBody>
      </p:sp>
      <p:sp>
        <p:nvSpPr>
          <p:cNvPr id="23" name="文字-23-支撑路径">
            <a:extLst xmlns:a="http://schemas.openxmlformats.org/drawingml/2006/main">
              <a:ext uri="{FF2B5EF4-FFF2-40B4-BE49-F238E27FC236}">
                <a16:creationId xmlns:a16="http://schemas.microsoft.com/office/drawing/2014/main" id="{1882F398-CD4F-476D-B302-F2DE831A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59" y="3977640"/>
            <a:ext cx="632124" cy="563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支撑</a:t>
            </a:r>
          </a:p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24" name="文字-24-调控方式">
            <a:extLst xmlns:a="http://schemas.openxmlformats.org/drawingml/2006/main">
              <a:ext uri="{FF2B5EF4-FFF2-40B4-BE49-F238E27FC236}">
                <a16:creationId xmlns:a16="http://schemas.microsoft.com/office/drawing/2014/main" id="{4A047568-CEC2-485B-A235-65B3D5EA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574" y="3977640"/>
            <a:ext cx="799675" cy="563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调控</a:t>
            </a:r>
          </a:p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25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86FC1944-FD12-4E2B-8A25-F506C29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26" y="4716780"/>
            <a:ext cx="1523190" cy="1043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6" name="文字-26-适配策略">
            <a:extLst xmlns:a="http://schemas.openxmlformats.org/drawingml/2006/main">
              <a:ext uri="{FF2B5EF4-FFF2-40B4-BE49-F238E27FC236}">
                <a16:creationId xmlns:a16="http://schemas.microsoft.com/office/drawing/2014/main" id="{08256629-829B-4CC7-AFED-13BD0E98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614" y="3977640"/>
            <a:ext cx="654972" cy="563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适配</a:t>
            </a:r>
          </a:p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策略</a:t>
            </a:r>
          </a:p>
        </p:txBody>
      </p:sp>
      <p:sp>
        <p:nvSpPr>
          <p:cNvPr id="27" name="文字-27-实现条件">
            <a:extLst xmlns:a="http://schemas.openxmlformats.org/drawingml/2006/main">
              <a:ext uri="{FF2B5EF4-FFF2-40B4-BE49-F238E27FC236}">
                <a16:creationId xmlns:a16="http://schemas.microsoft.com/office/drawing/2014/main" id="{572B8239-7C19-48A3-9CF3-57A27D3E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513" y="3977640"/>
            <a:ext cx="753979" cy="563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  <a:p xmlns:a="http://schemas.openxmlformats.org/drawingml/2006/main">
            <a:pPr algn="ctr">
              <a:buNone/>
              <a:def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28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7771E7D5-3743-411F-BB14-AFC36410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229" y="4716780"/>
            <a:ext cx="1447031" cy="1043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9" name="文字-29-说明支撑能力一">
            <a:extLst xmlns:a="http://schemas.openxmlformats.org/drawingml/2006/main">
              <a:ext uri="{FF2B5EF4-FFF2-40B4-BE49-F238E27FC236}">
                <a16:creationId xmlns:a16="http://schemas.microsoft.com/office/drawing/2014/main" id="{08AEEEE3-BD49-4D43-96AE-F8F7C16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22" y="2430780"/>
            <a:ext cx="2513264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5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支撑能力一</a:t>
            </a:r>
          </a:p>
        </p:txBody>
      </p:sp>
      <p:sp>
        <p:nvSpPr>
          <p:cNvPr id="30" name="文字-30-属性一">
            <a:extLst xmlns:a="http://schemas.openxmlformats.org/drawingml/2006/main">
              <a:ext uri="{FF2B5EF4-FFF2-40B4-BE49-F238E27FC236}">
                <a16:creationId xmlns:a16="http://schemas.microsoft.com/office/drawing/2014/main" id="{CEB1567D-4E68-4423-BF17-E407DBB3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438" y="2941320"/>
            <a:ext cx="830139" cy="815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8FC8C1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rPr>
              <a:t>属性一</a:t>
            </a:r>
          </a:p>
        </p:txBody>
      </p:sp>
      <p:sp>
        <p:nvSpPr>
          <p:cNvPr id="31" name="文字-31-属性二">
            <a:extLst xmlns:a="http://schemas.openxmlformats.org/drawingml/2006/main">
              <a:ext uri="{FF2B5EF4-FFF2-40B4-BE49-F238E27FC236}">
                <a16:creationId xmlns:a16="http://schemas.microsoft.com/office/drawing/2014/main" id="{4024B86C-E1FC-4499-A0D3-A1294497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809" y="2941320"/>
            <a:ext cx="830139" cy="815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8FC8C1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rPr>
              <a:t>属性二</a:t>
            </a:r>
          </a:p>
        </p:txBody>
      </p:sp>
      <p:sp>
        <p:nvSpPr>
          <p:cNvPr id="32" name="文字-32-属性三">
            <a:extLst xmlns:a="http://schemas.openxmlformats.org/drawingml/2006/main">
              <a:ext uri="{FF2B5EF4-FFF2-40B4-BE49-F238E27FC236}">
                <a16:creationId xmlns:a16="http://schemas.microsoft.com/office/drawing/2014/main" id="{C3DEB2D9-6867-4D3B-BBC2-F5753294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179" y="2941320"/>
            <a:ext cx="830139" cy="815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8FC8C1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4DA59B"/>
                </a:solidFill>
                <a:latin typeface="Microsoft YaHei"/>
                <a:ea typeface="Microsoft YaHei"/>
                <a:cs typeface="Microsoft YaHei"/>
              </a:rPr>
              <a:t>属性三</a:t>
            </a:r>
          </a:p>
        </p:txBody>
      </p:sp>
      <p:sp>
        <p:nvSpPr>
          <p:cNvPr id="33" name="文字-33-说明支撑能力二">
            <a:extLst xmlns:a="http://schemas.openxmlformats.org/drawingml/2006/main">
              <a:ext uri="{FF2B5EF4-FFF2-40B4-BE49-F238E27FC236}">
                <a16:creationId xmlns:a16="http://schemas.microsoft.com/office/drawing/2014/main" id="{12A62843-5276-406C-AFE2-F1173DB5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342" y="2430780"/>
            <a:ext cx="2216242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AC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支撑能力二</a:t>
            </a:r>
          </a:p>
        </p:txBody>
      </p:sp>
      <p:sp>
        <p:nvSpPr>
          <p:cNvPr id="34" name="文字-34-属性一">
            <a:extLst xmlns:a="http://schemas.openxmlformats.org/drawingml/2006/main">
              <a:ext uri="{FF2B5EF4-FFF2-40B4-BE49-F238E27FC236}">
                <a16:creationId xmlns:a16="http://schemas.microsoft.com/office/drawing/2014/main" id="{F53BADC7-F75A-4C85-B6E2-0D47A9AB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342" y="2941320"/>
            <a:ext cx="723515" cy="815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DACA98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CFAC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CFAC4F"/>
                </a:solidFill>
                <a:latin typeface="Microsoft YaHei"/>
                <a:ea typeface="Microsoft YaHei"/>
                <a:cs typeface="Microsoft YaHei"/>
              </a:rPr>
              <a:t>属性一</a:t>
            </a:r>
          </a:p>
        </p:txBody>
      </p:sp>
      <p:sp>
        <p:nvSpPr>
          <p:cNvPr id="35" name="文字-35-属性二">
            <a:extLst xmlns:a="http://schemas.openxmlformats.org/drawingml/2006/main">
              <a:ext uri="{FF2B5EF4-FFF2-40B4-BE49-F238E27FC236}">
                <a16:creationId xmlns:a16="http://schemas.microsoft.com/office/drawing/2014/main" id="{C35B78BB-46E3-44C3-B9C7-F9144CB4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705" y="2941320"/>
            <a:ext cx="723515" cy="815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DACA98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CFAC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CFAC4F"/>
                </a:solidFill>
                <a:latin typeface="Microsoft YaHei"/>
                <a:ea typeface="Microsoft YaHei"/>
                <a:cs typeface="Microsoft YaHei"/>
              </a:rPr>
              <a:t>属性二</a:t>
            </a:r>
          </a:p>
        </p:txBody>
      </p:sp>
      <p:sp>
        <p:nvSpPr>
          <p:cNvPr id="36" name="文字-36-属性三">
            <a:extLst xmlns:a="http://schemas.openxmlformats.org/drawingml/2006/main">
              <a:ext uri="{FF2B5EF4-FFF2-40B4-BE49-F238E27FC236}">
                <a16:creationId xmlns:a16="http://schemas.microsoft.com/office/drawing/2014/main" id="{5767F3B4-2C6A-48C0-939D-62D98936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69" y="2941320"/>
            <a:ext cx="723515" cy="815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DACA98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CFAC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CFAC4F"/>
                </a:solidFill>
                <a:latin typeface="Microsoft YaHei"/>
                <a:ea typeface="Microsoft YaHei"/>
                <a:cs typeface="Microsoft YaHei"/>
              </a:rPr>
              <a:t>属性三</a:t>
            </a:r>
          </a:p>
        </p:txBody>
      </p:sp>
      <p:sp>
        <p:nvSpPr>
          <p:cNvPr id="37" name="文字-37-路径一">
            <a:extLst xmlns:a="http://schemas.openxmlformats.org/drawingml/2006/main">
              <a:ext uri="{FF2B5EF4-FFF2-40B4-BE49-F238E27FC236}">
                <a16:creationId xmlns:a16="http://schemas.microsoft.com/office/drawing/2014/main" id="{213F9DFA-107F-417D-9542-7B6595A3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213" y="4183380"/>
            <a:ext cx="1089081" cy="388620"/>
          </a:xfrm>
          <a:prstGeom xmlns:a="http://schemas.openxmlformats.org/drawingml/2006/main" prst="roundRect">
            <a:avLst>
              <a:gd name="adj" fmla="val 15003"/>
            </a:avLst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路径一</a:t>
            </a:r>
          </a:p>
        </p:txBody>
      </p:sp>
      <p:sp>
        <p:nvSpPr>
          <p:cNvPr id="38" name="文字-38-路径二">
            <a:extLst xmlns:a="http://schemas.openxmlformats.org/drawingml/2006/main">
              <a:ext uri="{FF2B5EF4-FFF2-40B4-BE49-F238E27FC236}">
                <a16:creationId xmlns:a16="http://schemas.microsoft.com/office/drawing/2014/main" id="{53D6CD64-F220-4410-BA1A-CFA3A218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845" y="4183380"/>
            <a:ext cx="1089081" cy="388620"/>
          </a:xfrm>
          <a:prstGeom xmlns:a="http://schemas.openxmlformats.org/drawingml/2006/main" prst="roundRect">
            <a:avLst>
              <a:gd name="adj" fmla="val 15003"/>
            </a:avLst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路径二</a:t>
            </a:r>
          </a:p>
        </p:txBody>
      </p:sp>
      <p:sp>
        <p:nvSpPr>
          <p:cNvPr id="39" name="文字-39-路径三">
            <a:extLst xmlns:a="http://schemas.openxmlformats.org/drawingml/2006/main">
              <a:ext uri="{FF2B5EF4-FFF2-40B4-BE49-F238E27FC236}">
                <a16:creationId xmlns:a16="http://schemas.microsoft.com/office/drawing/2014/main" id="{3F77A1DA-7B64-4916-AB2C-EDA3785B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494" y="4183380"/>
            <a:ext cx="1089081" cy="388620"/>
          </a:xfrm>
          <a:prstGeom xmlns:a="http://schemas.openxmlformats.org/drawingml/2006/main" prst="roundRect">
            <a:avLst>
              <a:gd name="adj" fmla="val 15003"/>
            </a:avLst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路径三</a:t>
            </a:r>
          </a:p>
        </p:txBody>
      </p:sp>
      <p:sp>
        <p:nvSpPr>
          <p:cNvPr id="40" name="文字-40-路径四">
            <a:extLst xmlns:a="http://schemas.openxmlformats.org/drawingml/2006/main">
              <a:ext uri="{FF2B5EF4-FFF2-40B4-BE49-F238E27FC236}">
                <a16:creationId xmlns:a16="http://schemas.microsoft.com/office/drawing/2014/main" id="{989E5338-2D62-4317-B9ED-A76D054B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511" y="4183380"/>
            <a:ext cx="1089081" cy="388620"/>
          </a:xfrm>
          <a:prstGeom xmlns:a="http://schemas.openxmlformats.org/drawingml/2006/main" prst="roundRect">
            <a:avLst>
              <a:gd name="adj" fmla="val 15003"/>
            </a:avLst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路径四</a:t>
            </a:r>
          </a:p>
        </p:txBody>
      </p:sp>
      <p:sp>
        <p:nvSpPr>
          <p:cNvPr id="41" name="图片区-3-共同研究对象">
            <a:extLst xmlns:a="http://schemas.openxmlformats.org/drawingml/2006/main">
              <a:ext uri="{FF2B5EF4-FFF2-40B4-BE49-F238E27FC236}">
                <a16:creationId xmlns:a16="http://schemas.microsoft.com/office/drawing/2014/main" id="{A351A03A-B0AC-4698-84F9-002670E1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24100"/>
            <a:ext cx="1762125" cy="2505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42" name="文字-42-研究方法一">
            <a:extLst xmlns:a="http://schemas.openxmlformats.org/drawingml/2006/main">
              <a:ext uri="{FF2B5EF4-FFF2-40B4-BE49-F238E27FC236}">
                <a16:creationId xmlns:a16="http://schemas.microsoft.com/office/drawing/2014/main" id="{1883B10D-C5A8-4518-8E46-9F699635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757" y="5181600"/>
            <a:ext cx="2208626" cy="419100"/>
          </a:xfrm>
          <a:prstGeom xmlns:a="http://schemas.openxmlformats.org/drawingml/2006/main" prst="roundRect">
            <a:avLst>
              <a:gd name="adj" fmla="val 13912"/>
            </a:avLst>
          </a:prstGeom>
          <a:solidFill xmlns:a="http://schemas.openxmlformats.org/drawingml/2006/main">
            <a:srgbClr val="AC111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研究方法一</a:t>
            </a:r>
          </a:p>
        </p:txBody>
      </p:sp>
      <p:sp>
        <p:nvSpPr>
          <p:cNvPr id="43" name="文字-43-研究方法二">
            <a:extLst xmlns:a="http://schemas.openxmlformats.org/drawingml/2006/main">
              <a:ext uri="{FF2B5EF4-FFF2-40B4-BE49-F238E27FC236}">
                <a16:creationId xmlns:a16="http://schemas.microsoft.com/office/drawing/2014/main" id="{BF92CC41-BC1D-4D12-841C-86CB26EA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118" y="5181600"/>
            <a:ext cx="2140083" cy="419100"/>
          </a:xfrm>
          <a:prstGeom xmlns:a="http://schemas.openxmlformats.org/drawingml/2006/main" prst="roundRect">
            <a:avLst>
              <a:gd name="adj" fmla="val 13912"/>
            </a:avLst>
          </a:prstGeom>
          <a:solidFill xmlns:a="http://schemas.openxmlformats.org/drawingml/2006/main">
            <a:srgbClr val="AC111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研究方法二</a:t>
            </a:r>
          </a:p>
        </p:txBody>
      </p:sp>
      <p:sp>
        <p:nvSpPr>
          <p:cNvPr id="44" name="文字-44-共同瓶颈一">
            <a:extLst xmlns:a="http://schemas.openxmlformats.org/drawingml/2006/main">
              <a:ext uri="{FF2B5EF4-FFF2-40B4-BE49-F238E27FC236}">
                <a16:creationId xmlns:a16="http://schemas.microsoft.com/office/drawing/2014/main" id="{95939D78-E2F2-4D3A-B203-98087C4B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564" y="5059680"/>
            <a:ext cx="187352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7A4A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共同瓶颈一</a:t>
            </a:r>
          </a:p>
        </p:txBody>
      </p:sp>
      <p:sp>
        <p:nvSpPr>
          <p:cNvPr id="45" name="文字-45-共同瓶颈二">
            <a:extLst xmlns:a="http://schemas.openxmlformats.org/drawingml/2006/main">
              <a:ext uri="{FF2B5EF4-FFF2-40B4-BE49-F238E27FC236}">
                <a16:creationId xmlns:a16="http://schemas.microsoft.com/office/drawing/2014/main" id="{51E723EB-4334-4706-9718-C9312EAA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564" y="5539740"/>
            <a:ext cx="187352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7A4A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共同瓶颈二</a:t>
            </a:r>
          </a:p>
        </p:txBody>
      </p:sp>
      <p:sp>
        <p:nvSpPr>
          <p:cNvPr id="46" name="连线-46">
            <a:extLst xmlns:a="http://schemas.openxmlformats.org/drawingml/2006/main">
              <a:ext uri="{FF2B5EF4-FFF2-40B4-BE49-F238E27FC236}">
                <a16:creationId xmlns:a16="http://schemas.microsoft.com/office/drawing/2014/main" id="{9465CD0E-3E79-4105-BC26-4609B4A2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98310" y="5379720"/>
            <a:ext cx="23609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dash"/>
          </a:ln>
        </p:spPr>
      </p:sp>
      <p:sp>
        <p:nvSpPr>
          <p:cNvPr id="47" name="结构-47">
            <a:extLst xmlns:a="http://schemas.openxmlformats.org/drawingml/2006/main">
              <a:ext uri="{FF2B5EF4-FFF2-40B4-BE49-F238E27FC236}">
                <a16:creationId xmlns:a16="http://schemas.microsoft.com/office/drawing/2014/main" id="{BFEE41B8-0386-4193-8CCA-193D63B2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782" y="5334000"/>
            <a:ext cx="106624" cy="91440"/>
          </a:xfrm>
          <a:custGeom xmlns:a="http://schemas.openxmlformats.org/drawingml/2006/main">
            <a:pathLst>
              <a:path w="139351" h="119507">
                <a:moveTo>
                  <a:pt x="139351" y="59754"/>
                </a:moveTo>
                <a:lnTo>
                  <a:pt x="0" y="0"/>
                </a:lnTo>
                <a:lnTo>
                  <a:pt x="0" y="119507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48" name="连线-48">
            <a:extLst xmlns:a="http://schemas.openxmlformats.org/drawingml/2006/main">
              <a:ext uri="{FF2B5EF4-FFF2-40B4-BE49-F238E27FC236}">
                <a16:creationId xmlns:a16="http://schemas.microsoft.com/office/drawing/2014/main" id="{38BE1143-C1C4-4566-B58D-7B55A30F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52632" y="5379720"/>
            <a:ext cx="26655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dash"/>
          </a:ln>
        </p:spPr>
      </p:sp>
      <p:sp>
        <p:nvSpPr>
          <p:cNvPr id="49" name="结构-49">
            <a:extLst xmlns:a="http://schemas.openxmlformats.org/drawingml/2006/main">
              <a:ext uri="{FF2B5EF4-FFF2-40B4-BE49-F238E27FC236}">
                <a16:creationId xmlns:a16="http://schemas.microsoft.com/office/drawing/2014/main" id="{3A5238A5-F89B-4B48-8D59-DD1D7498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2632" y="5334000"/>
            <a:ext cx="106624" cy="91440"/>
          </a:xfrm>
          <a:custGeom xmlns:a="http://schemas.openxmlformats.org/drawingml/2006/main">
            <a:pathLst>
              <a:path w="139351" h="119507">
                <a:moveTo>
                  <a:pt x="0" y="59754"/>
                </a:moveTo>
                <a:lnTo>
                  <a:pt x="139351" y="119507"/>
                </a:lnTo>
                <a:lnTo>
                  <a:pt x="139351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50" name="文字-50-填写共同工况、约束条件与总体">
            <a:extLst xmlns:a="http://schemas.openxmlformats.org/drawingml/2006/main">
              <a:ext uri="{FF2B5EF4-FFF2-40B4-BE49-F238E27FC236}">
                <a16:creationId xmlns:a16="http://schemas.microsoft.com/office/drawing/2014/main" id="{C2D95B1C-51F9-4D98-8B8A-062A597F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677" y="6263640"/>
            <a:ext cx="7105682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共同工况、约束条件与总体研究目标</a:t>
            </a:r>
          </a:p>
        </p:txBody>
      </p:sp>
    </p:spTree>
    <p:extLst>
      <p:ext uri="{BB962C8B-B14F-4D97-AF65-F5344CB8AC3E}">
        <p14:creationId xmlns:p14="http://schemas.microsoft.com/office/powerpoint/2010/main" val="18918402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文字-1-3.3 标准化体系">
            <a:extLst xmlns:a="http://schemas.openxmlformats.org/drawingml/2006/main">
              <a:ext uri="{FF2B5EF4-FFF2-40B4-BE49-F238E27FC236}">
                <a16:creationId xmlns:a16="http://schemas.microsoft.com/office/drawing/2014/main" id="{36189717-BCE5-404B-860C-AFD130C1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3.3 标准化体系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1EF8D5C4-D056-4D69-83C1-CAB1311B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说明统一标准对系统互通、数据">
            <a:extLst xmlns:a="http://schemas.openxmlformats.org/drawingml/2006/main">
              <a:ext uri="{FF2B5EF4-FFF2-40B4-BE49-F238E27FC236}">
                <a16:creationId xmlns:a16="http://schemas.microsoft.com/office/drawing/2014/main" id="{36D96F84-2686-4BC9-B994-4C994C45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14400"/>
            <a:ext cx="11454390" cy="861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统一标准对系统互通、数据共享与结果复现的作用</a:t>
            </a:r>
          </a:p>
        </p:txBody>
      </p:sp>
      <p:sp>
        <p:nvSpPr>
          <p:cNvPr id="4" name="文字-4-覆盖从设备接口到数据归档的全">
            <a:extLst xmlns:a="http://schemas.openxmlformats.org/drawingml/2006/main">
              <a:ext uri="{FF2B5EF4-FFF2-40B4-BE49-F238E27FC236}">
                <a16:creationId xmlns:a16="http://schemas.microsoft.com/office/drawing/2014/main" id="{30EA4C39-C7ED-437B-934F-12CE0F26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632" y="1889760"/>
            <a:ext cx="9900737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设计 → 实现 → 评价：全流程技术规范</a:t>
            </a:r>
          </a:p>
        </p:txBody>
      </p:sp>
      <p:sp>
        <p:nvSpPr>
          <p:cNvPr id="5" name="对象-5">
            <a:extLst xmlns:a="http://schemas.openxmlformats.org/drawingml/2006/main">
              <a:ext uri="{FF2B5EF4-FFF2-40B4-BE49-F238E27FC236}">
                <a16:creationId xmlns:a16="http://schemas.microsoft.com/office/drawing/2014/main" id="{DCD61427-A922-4A03-A775-65A3A254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446020"/>
            <a:ext cx="11454390" cy="387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6" name="文字-6-接口与设备标准">
            <a:extLst xmlns:a="http://schemas.openxmlformats.org/drawingml/2006/main">
              <a:ext uri="{FF2B5EF4-FFF2-40B4-BE49-F238E27FC236}">
                <a16:creationId xmlns:a16="http://schemas.microsoft.com/office/drawing/2014/main" id="{79BC958E-0F47-442B-AD58-B7775797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2590800"/>
            <a:ext cx="3594729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接口与设备标准</a:t>
            </a:r>
          </a:p>
        </p:txBody>
      </p:sp>
      <p:sp>
        <p:nvSpPr>
          <p:cNvPr id="7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5FC7EA82-FDA6-491F-BD36-80467F9E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95" y="3185160"/>
            <a:ext cx="3366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8" name="文字-8-填写标准内容与适用范围">
            <a:extLst xmlns:a="http://schemas.openxmlformats.org/drawingml/2006/main">
              <a:ext uri="{FF2B5EF4-FFF2-40B4-BE49-F238E27FC236}">
                <a16:creationId xmlns:a16="http://schemas.microsoft.com/office/drawing/2014/main" id="{3277B96F-371F-4FAA-B10E-3220948A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95" y="5692140"/>
            <a:ext cx="3366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接口、尺寸与互换要求</a:t>
            </a:r>
          </a:p>
        </p:txBody>
      </p:sp>
      <p:sp>
        <p:nvSpPr>
          <p:cNvPr id="9" name="文字-9-数据格式与元数据">
            <a:extLst xmlns:a="http://schemas.openxmlformats.org/drawingml/2006/main">
              <a:ext uri="{FF2B5EF4-FFF2-40B4-BE49-F238E27FC236}">
                <a16:creationId xmlns:a16="http://schemas.microsoft.com/office/drawing/2014/main" id="{F0D68670-B712-4B83-BAC9-44F6BD23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6" y="2590800"/>
            <a:ext cx="3594729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数据格式与元数据</a:t>
            </a:r>
          </a:p>
        </p:txBody>
      </p:sp>
      <p:sp>
        <p:nvSpPr>
          <p:cNvPr id="10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10D9E323-32E1-4032-B453-5FD7B0FA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875" y="3185160"/>
            <a:ext cx="3366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1" name="文字-11-处理与质量控制">
            <a:extLst xmlns:a="http://schemas.openxmlformats.org/drawingml/2006/main">
              <a:ext uri="{FF2B5EF4-FFF2-40B4-BE49-F238E27FC236}">
                <a16:creationId xmlns:a16="http://schemas.microsoft.com/office/drawing/2014/main" id="{2387D0AC-824C-4B9B-9ECC-82FED3CA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915" y="2590800"/>
            <a:ext cx="3594729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处理与质量控制</a:t>
            </a:r>
          </a:p>
        </p:txBody>
      </p:sp>
      <p:sp>
        <p:nvSpPr>
          <p:cNvPr id="12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882E7427-A60C-439A-A9F5-33EC9A91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155" y="3185160"/>
            <a:ext cx="3366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3" name="文字-13-填写标准内容与适用范围">
            <a:extLst xmlns:a="http://schemas.openxmlformats.org/drawingml/2006/main">
              <a:ext uri="{FF2B5EF4-FFF2-40B4-BE49-F238E27FC236}">
                <a16:creationId xmlns:a16="http://schemas.microsoft.com/office/drawing/2014/main" id="{2D4D9720-5CC4-461B-86F8-292F4245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155" y="5692140"/>
            <a:ext cx="3366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性能、可靠性与评价标准</a:t>
            </a:r>
          </a:p>
        </p:txBody>
      </p:sp>
      <p:sp>
        <p:nvSpPr>
          <p:cNvPr id="14" name="文字-14-填写可靠性与可重复性要求">
            <a:extLst xmlns:a="http://schemas.openxmlformats.org/drawingml/2006/main">
              <a:ext uri="{FF2B5EF4-FFF2-40B4-BE49-F238E27FC236}">
                <a16:creationId xmlns:a16="http://schemas.microsoft.com/office/drawing/2014/main" id="{37F0509C-0033-4B27-B054-CEBCA27B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266" y="5699760"/>
            <a:ext cx="3206315" cy="426720"/>
          </a:xfrm>
          <a:prstGeom xmlns:a="http://schemas.openxmlformats.org/drawingml/2006/main" prst="roundRect">
            <a:avLst>
              <a:gd name="adj" fmla="val 13663"/>
            </a:avLst>
          </a:prstGeom>
          <a:solidFill xmlns:a="http://schemas.openxmlformats.org/drawingml/2006/main">
            <a:srgbClr val="073E86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共同形成标准化体系</a:t>
            </a:r>
          </a:p>
        </p:txBody>
      </p:sp>
    </p:spTree>
    <p:extLst>
      <p:ext uri="{BB962C8B-B14F-4D97-AF65-F5344CB8AC3E}">
        <p14:creationId xmlns:p14="http://schemas.microsoft.com/office/powerpoint/2010/main" val="176073933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结构-1">
            <a:extLst xmlns:a="http://schemas.openxmlformats.org/drawingml/2006/main">
              <a:ext uri="{FF2B5EF4-FFF2-40B4-BE49-F238E27FC236}">
                <a16:creationId xmlns:a16="http://schemas.microsoft.com/office/drawing/2014/main" id="{3856E6B0-2C68-430D-B9F8-A0A22C52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3292D440-0B21-43A2-A41E-39FC8C35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6923268C-EB9B-418B-945A-D5CFCFB8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A8C6AF89-E1EA-4131-ABA6-95879A51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如何将研究对象与协作">
            <a:extLst xmlns:a="http://schemas.openxmlformats.org/drawingml/2006/main">
              <a:ext uri="{FF2B5EF4-FFF2-40B4-BE49-F238E27FC236}">
                <a16:creationId xmlns:a16="http://schemas.microsoft.com/office/drawing/2014/main" id="{4E5DBDBC-7476-4B59-B3FC-7C07D1D2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说明如何将研究对象与协作活动定义为模型中的基本元素</a:t>
            </a:r>
          </a:p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解释这种表示如何保留任务内部的复杂关系</a:t>
            </a:r>
          </a:p>
        </p:txBody>
      </p:sp>
      <p:sp>
        <p:nvSpPr>
          <p:cNvPr id="6" name="文字-6-基础概念或数学表示">
            <a:extLst xmlns:a="http://schemas.openxmlformats.org/drawingml/2006/main">
              <a:ext uri="{FF2B5EF4-FFF2-40B4-BE49-F238E27FC236}">
                <a16:creationId xmlns:a16="http://schemas.microsoft.com/office/drawing/2014/main" id="{A313D229-26E9-41DA-A90A-46DD9D8D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438400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基础概念或数学表示</a:t>
            </a:r>
          </a:p>
        </p:txBody>
      </p:sp>
      <p:sp>
        <p:nvSpPr>
          <p:cNvPr id="7" name="图片区-7">
            <a:extLst xmlns:a="http://schemas.openxmlformats.org/drawingml/2006/main">
              <a:ext uri="{FF2B5EF4-FFF2-40B4-BE49-F238E27FC236}">
                <a16:creationId xmlns:a16="http://schemas.microsoft.com/office/drawing/2014/main" id="{6A46378F-BEF2-4E69-BC4A-74FFE4A2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19425"/>
            <a:ext cx="46767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8" name="文字-8-说明概念可表达的关系补充">
            <a:extLst xmlns:a="http://schemas.openxmlformats.org/drawingml/2006/main">
              <a:ext uri="{FF2B5EF4-FFF2-40B4-BE49-F238E27FC236}">
                <a16:creationId xmlns:a16="http://schemas.microsoft.com/office/drawing/2014/main" id="{F06F3743-C249-4D4A-9A9C-F4A2B3C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48300"/>
            <a:ext cx="46958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说明概念可表达的关系</a:t>
            </a:r>
          </a:p>
          <a:p xmlns:a="http://schemas.openxmlformats.org/drawingml/2006/main">
            <a:pPr algn="l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补充两个典型适用场景</a:t>
            </a:r>
          </a:p>
        </p:txBody>
      </p:sp>
      <p:sp>
        <p:nvSpPr>
          <p:cNvPr id="9" name="文字-9-研究对象建模">
            <a:extLst xmlns:a="http://schemas.openxmlformats.org/drawingml/2006/main">
              <a:ext uri="{FF2B5EF4-FFF2-40B4-BE49-F238E27FC236}">
                <a16:creationId xmlns:a16="http://schemas.microsoft.com/office/drawing/2014/main" id="{21D5BCB4-04EE-4985-A9E3-11DDC18D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71825"/>
            <a:ext cx="2305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研究对象建模</a:t>
            </a:r>
          </a:p>
        </p:txBody>
      </p:sp>
      <p:sp>
        <p:nvSpPr>
          <p:cNvPr id="10" name="连线-10">
            <a:extLst xmlns:a="http://schemas.openxmlformats.org/drawingml/2006/main">
              <a:ext uri="{FF2B5EF4-FFF2-40B4-BE49-F238E27FC236}">
                <a16:creationId xmlns:a16="http://schemas.microsoft.com/office/drawing/2014/main" id="{62A91D27-4633-4224-908A-FC56C75B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0" y="4105275"/>
            <a:ext cx="2143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75">
            <a:solidFill>
              <a:srgbClr val="073F88"/>
            </a:solidFill>
            <a:prstDash val="solid"/>
          </a:ln>
        </p:spPr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1F10C620-B729-4AE0-83D3-6F042B7D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14788"/>
            <a:ext cx="200025" cy="180975"/>
          </a:xfrm>
          <a:custGeom xmlns:a="http://schemas.openxmlformats.org/drawingml/2006/main">
            <a:pathLst>
              <a:path w="200025" h="180975">
                <a:moveTo>
                  <a:pt x="200025" y="90488"/>
                </a:moveTo>
                <a:lnTo>
                  <a:pt x="0" y="0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2" name="文字-12-系统模型与协作空间">
            <a:extLst xmlns:a="http://schemas.openxmlformats.org/drawingml/2006/main">
              <a:ext uri="{FF2B5EF4-FFF2-40B4-BE49-F238E27FC236}">
                <a16:creationId xmlns:a16="http://schemas.microsoft.com/office/drawing/2014/main" id="{0B022A22-7127-4954-96D0-0E663CDF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28875"/>
            <a:ext cx="3895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系统模型与协作空间</a:t>
            </a:r>
          </a:p>
        </p:txBody>
      </p:sp>
      <p:sp>
        <p:nvSpPr>
          <p:cNvPr id="13" name="图片区-13">
            <a:extLst xmlns:a="http://schemas.openxmlformats.org/drawingml/2006/main">
              <a:ext uri="{FF2B5EF4-FFF2-40B4-BE49-F238E27FC236}">
                <a16:creationId xmlns:a16="http://schemas.microsoft.com/office/drawing/2014/main" id="{AEFDF189-2F62-45F2-8A95-5F7E159E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19425"/>
            <a:ext cx="39433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4" name="文字-14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80EA9102-78E1-425A-B25D-50267E3A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3810559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文字-1-2  创新成果">
            <a:extLst xmlns:a="http://schemas.openxmlformats.org/drawingml/2006/main">
              <a:ext uri="{FF2B5EF4-FFF2-40B4-BE49-F238E27FC236}">
                <a16:creationId xmlns:a16="http://schemas.microsoft.com/office/drawing/2014/main" id="{11A0DBD7-28B2-49DF-87A2-8929B380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  创新成果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8D73ABE4-779F-4CC2-937C-2822073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DDE78009-6A5C-40D8-916B-D909DE23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14400"/>
            <a:ext cx="1145439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688069F6-A64A-4A9D-B276-89A69109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15824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7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填写方法名称、研究对象及主要">
            <a:extLst xmlns:a="http://schemas.openxmlformats.org/drawingml/2006/main">
              <a:ext uri="{FF2B5EF4-FFF2-40B4-BE49-F238E27FC236}">
                <a16:creationId xmlns:a16="http://schemas.microsoft.com/office/drawing/2014/main" id="{84D54301-01BE-435F-A6F6-20BD2CD9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75360"/>
            <a:ext cx="1081465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方法名称、研究对象及主要创新点</a:t>
            </a:r>
          </a:p>
        </p:txBody>
      </p:sp>
      <p:sp>
        <p:nvSpPr>
          <p:cNvPr id="6" name="对象-6">
            <a:extLst xmlns:a="http://schemas.openxmlformats.org/drawingml/2006/main">
              <a:ext uri="{FF2B5EF4-FFF2-40B4-BE49-F238E27FC236}">
                <a16:creationId xmlns:a16="http://schemas.microsoft.com/office/drawing/2014/main" id="{CF7E4A7B-C108-4B52-91D3-874F5FE1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889760"/>
            <a:ext cx="5605340" cy="4442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7" name="文字-7-机理规律与约束构建">
            <a:extLst xmlns:a="http://schemas.openxmlformats.org/drawingml/2006/main">
              <a:ext uri="{FF2B5EF4-FFF2-40B4-BE49-F238E27FC236}">
                <a16:creationId xmlns:a16="http://schemas.microsoft.com/office/drawing/2014/main" id="{317C4AC9-4FFE-45AA-878C-B7291897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64" y="1889760"/>
            <a:ext cx="5453021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机理规律与约束构建</a:t>
            </a:r>
          </a:p>
        </p:txBody>
      </p:sp>
      <p:sp>
        <p:nvSpPr>
          <p:cNvPr id="8" name="对象-8">
            <a:extLst xmlns:a="http://schemas.openxmlformats.org/drawingml/2006/main">
              <a:ext uri="{FF2B5EF4-FFF2-40B4-BE49-F238E27FC236}">
                <a16:creationId xmlns:a16="http://schemas.microsoft.com/office/drawing/2014/main" id="{0C999BCE-8103-4765-AD8E-B0EA9390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2438400"/>
            <a:ext cx="380797" cy="3672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文字-9-物">
            <a:extLst xmlns:a="http://schemas.openxmlformats.org/drawingml/2006/main">
              <a:ext uri="{FF2B5EF4-FFF2-40B4-BE49-F238E27FC236}">
                <a16:creationId xmlns:a16="http://schemas.microsoft.com/office/drawing/2014/main" id="{BD39DE08-819D-4D94-8820-23A98BCF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3819144"/>
            <a:ext cx="380797" cy="22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物</a:t>
            </a:r>
          </a:p>
        </p:txBody>
      </p:sp>
      <p:sp>
        <p:nvSpPr>
          <p:cNvPr id="10" name="文字-10-理">
            <a:extLst xmlns:a="http://schemas.openxmlformats.org/drawingml/2006/main">
              <a:ext uri="{FF2B5EF4-FFF2-40B4-BE49-F238E27FC236}">
                <a16:creationId xmlns:a16="http://schemas.microsoft.com/office/drawing/2014/main" id="{F72A3206-C09E-42C3-9925-09DF356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4046982"/>
            <a:ext cx="380797" cy="22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理</a:t>
            </a:r>
          </a:p>
        </p:txBody>
      </p:sp>
      <p:sp>
        <p:nvSpPr>
          <p:cNvPr id="11" name="文字-11-规">
            <a:extLst xmlns:a="http://schemas.openxmlformats.org/drawingml/2006/main">
              <a:ext uri="{FF2B5EF4-FFF2-40B4-BE49-F238E27FC236}">
                <a16:creationId xmlns:a16="http://schemas.microsoft.com/office/drawing/2014/main" id="{7B4B3677-92A2-4B3D-9F18-92BED78F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4274820"/>
            <a:ext cx="380797" cy="22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规</a:t>
            </a:r>
          </a:p>
        </p:txBody>
      </p:sp>
      <p:sp>
        <p:nvSpPr>
          <p:cNvPr id="12" name="文字-12-律">
            <a:extLst xmlns:a="http://schemas.openxmlformats.org/drawingml/2006/main">
              <a:ext uri="{FF2B5EF4-FFF2-40B4-BE49-F238E27FC236}">
                <a16:creationId xmlns:a16="http://schemas.microsoft.com/office/drawing/2014/main" id="{61CF6C47-8055-4A6F-9AD0-A01A9473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4502658"/>
            <a:ext cx="380797" cy="22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律</a:t>
            </a:r>
          </a:p>
        </p:txBody>
      </p:sp>
      <p:sp>
        <p:nvSpPr>
          <p:cNvPr id="13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B1F92BAE-C228-406A-A724-70A8AEB7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92" y="2461260"/>
            <a:ext cx="2155314" cy="156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4" name="文字-14-填写机理描述与系统调控方式">
            <a:extLst xmlns:a="http://schemas.openxmlformats.org/drawingml/2006/main">
              <a:ext uri="{FF2B5EF4-FFF2-40B4-BE49-F238E27FC236}">
                <a16:creationId xmlns:a16="http://schemas.microsoft.com/office/drawing/2014/main" id="{EDB7B42E-7DE9-42A9-92DA-97441FC3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641" y="2461260"/>
            <a:ext cx="2429488" cy="156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机理描述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系统调控方式</a:t>
            </a:r>
          </a:p>
        </p:txBody>
      </p:sp>
      <p:sp>
        <p:nvSpPr>
          <p:cNvPr id="15" name="文字-15-说明机理与方法的联系">
            <a:extLst xmlns:a="http://schemas.openxmlformats.org/drawingml/2006/main">
              <a:ext uri="{FF2B5EF4-FFF2-40B4-BE49-F238E27FC236}">
                <a16:creationId xmlns:a16="http://schemas.microsoft.com/office/drawing/2014/main" id="{E4289B22-4A11-4E21-92D2-0126907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92" y="4137660"/>
            <a:ext cx="4744737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机理与方法的联系</a:t>
            </a:r>
          </a:p>
        </p:txBody>
      </p:sp>
      <p:sp>
        <p:nvSpPr>
          <p:cNvPr id="16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F7EB53C8-F859-4419-9ABB-4B092F3F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92" y="4632960"/>
            <a:ext cx="4744737" cy="1150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7" name="文字-17-填写参数、过程或优化方法">
            <a:extLst xmlns:a="http://schemas.openxmlformats.org/drawingml/2006/main">
              <a:ext uri="{FF2B5EF4-FFF2-40B4-BE49-F238E27FC236}">
                <a16:creationId xmlns:a16="http://schemas.microsoft.com/office/drawing/2014/main" id="{B1ADFBF0-8E60-4094-90D2-62CE26F2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92" y="5905500"/>
            <a:ext cx="4744737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参数、过程或优化方法</a:t>
            </a:r>
          </a:p>
        </p:txBody>
      </p:sp>
      <p:sp>
        <p:nvSpPr>
          <p:cNvPr id="18" name="对象-18">
            <a:extLst xmlns:a="http://schemas.openxmlformats.org/drawingml/2006/main">
              <a:ext uri="{FF2B5EF4-FFF2-40B4-BE49-F238E27FC236}">
                <a16:creationId xmlns:a16="http://schemas.microsoft.com/office/drawing/2014/main" id="{67A6CC7A-D2FC-46CC-AAE0-65C568D3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855" y="1889760"/>
            <a:ext cx="5605340" cy="44424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9" name="文字-19-模型表达与验证结果">
            <a:extLst xmlns:a="http://schemas.openxmlformats.org/drawingml/2006/main">
              <a:ext uri="{FF2B5EF4-FFF2-40B4-BE49-F238E27FC236}">
                <a16:creationId xmlns:a16="http://schemas.microsoft.com/office/drawing/2014/main" id="{CF1EF640-FA17-4EB8-BFC1-5770F021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014" y="1889760"/>
            <a:ext cx="5453021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模型表达与验证结果</a:t>
            </a:r>
          </a:p>
        </p:txBody>
      </p:sp>
      <p:sp>
        <p:nvSpPr>
          <p:cNvPr id="20" name="对象-20">
            <a:extLst xmlns:a="http://schemas.openxmlformats.org/drawingml/2006/main">
              <a:ext uri="{FF2B5EF4-FFF2-40B4-BE49-F238E27FC236}">
                <a16:creationId xmlns:a16="http://schemas.microsoft.com/office/drawing/2014/main" id="{1595C8A8-B308-4EB7-8DEE-C7F81739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710" y="2438400"/>
            <a:ext cx="380797" cy="3672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文字-21-模">
            <a:extLst xmlns:a="http://schemas.openxmlformats.org/drawingml/2006/main">
              <a:ext uri="{FF2B5EF4-FFF2-40B4-BE49-F238E27FC236}">
                <a16:creationId xmlns:a16="http://schemas.microsoft.com/office/drawing/2014/main" id="{0A01F48D-37CF-4627-8586-A5D02880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710" y="3819144"/>
            <a:ext cx="380797" cy="22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模</a:t>
            </a:r>
          </a:p>
        </p:txBody>
      </p:sp>
      <p:sp>
        <p:nvSpPr>
          <p:cNvPr id="22" name="文字-22-型">
            <a:extLst xmlns:a="http://schemas.openxmlformats.org/drawingml/2006/main">
              <a:ext uri="{FF2B5EF4-FFF2-40B4-BE49-F238E27FC236}">
                <a16:creationId xmlns:a16="http://schemas.microsoft.com/office/drawing/2014/main" id="{37AAF3A4-B3B2-477D-AEE6-4A6CC3B4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710" y="4046982"/>
            <a:ext cx="380797" cy="22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型</a:t>
            </a:r>
          </a:p>
        </p:txBody>
      </p:sp>
      <p:sp>
        <p:nvSpPr>
          <p:cNvPr id="23" name="文字-23-约">
            <a:extLst xmlns:a="http://schemas.openxmlformats.org/drawingml/2006/main">
              <a:ext uri="{FF2B5EF4-FFF2-40B4-BE49-F238E27FC236}">
                <a16:creationId xmlns:a16="http://schemas.microsoft.com/office/drawing/2014/main" id="{827DF2FD-8904-45DA-8603-AE7427DC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710" y="4274820"/>
            <a:ext cx="380797" cy="22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约</a:t>
            </a:r>
          </a:p>
        </p:txBody>
      </p:sp>
      <p:sp>
        <p:nvSpPr>
          <p:cNvPr id="24" name="文字-24-束">
            <a:extLst xmlns:a="http://schemas.openxmlformats.org/drawingml/2006/main">
              <a:ext uri="{FF2B5EF4-FFF2-40B4-BE49-F238E27FC236}">
                <a16:creationId xmlns:a16="http://schemas.microsoft.com/office/drawing/2014/main" id="{9CF9646E-28A4-485C-A09C-22AC4483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710" y="4502658"/>
            <a:ext cx="380797" cy="227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束</a:t>
            </a:r>
          </a:p>
        </p:txBody>
      </p:sp>
      <p:sp>
        <p:nvSpPr>
          <p:cNvPr id="25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A5B017AE-6D61-4AB3-BC30-8768A9AE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443" y="2461260"/>
            <a:ext cx="2155314" cy="156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6" name="文字-26-填写模型架构与约束嵌入方式">
            <a:extLst xmlns:a="http://schemas.openxmlformats.org/drawingml/2006/main">
              <a:ext uri="{FF2B5EF4-FFF2-40B4-BE49-F238E27FC236}">
                <a16:creationId xmlns:a16="http://schemas.microsoft.com/office/drawing/2014/main" id="{9F5AF627-A4FA-4F14-8D13-DBAD321C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692" y="2461260"/>
            <a:ext cx="2429488" cy="156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模型架构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约束嵌入方式</a:t>
            </a:r>
          </a:p>
        </p:txBody>
      </p:sp>
      <p:sp>
        <p:nvSpPr>
          <p:cNvPr id="27" name="文字-27-说明规律如何进入模型">
            <a:extLst xmlns:a="http://schemas.openxmlformats.org/drawingml/2006/main">
              <a:ext uri="{FF2B5EF4-FFF2-40B4-BE49-F238E27FC236}">
                <a16:creationId xmlns:a16="http://schemas.microsoft.com/office/drawing/2014/main" id="{21EFB074-AA2E-4E1C-8D32-BEF74877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443" y="4137660"/>
            <a:ext cx="4744737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规律如何进入模型</a:t>
            </a:r>
          </a:p>
        </p:txBody>
      </p:sp>
      <p:sp>
        <p:nvSpPr>
          <p:cNvPr id="28" name="图片区-4-图片区">
            <a:extLst xmlns:a="http://schemas.openxmlformats.org/drawingml/2006/main">
              <a:ext uri="{FF2B5EF4-FFF2-40B4-BE49-F238E27FC236}">
                <a16:creationId xmlns:a16="http://schemas.microsoft.com/office/drawing/2014/main" id="{9CCD1B9D-C5B9-4C29-A674-D592DA2D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443" y="4632960"/>
            <a:ext cx="4744737" cy="1150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9" name="文字-29-填写验证结果与适用范围">
            <a:extLst xmlns:a="http://schemas.openxmlformats.org/drawingml/2006/main">
              <a:ext uri="{FF2B5EF4-FFF2-40B4-BE49-F238E27FC236}">
                <a16:creationId xmlns:a16="http://schemas.microsoft.com/office/drawing/2014/main" id="{EA3CD6D9-CB40-4101-8F7C-8C0EEF5B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443" y="5905500"/>
            <a:ext cx="4744737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验证结果与适用范围</a:t>
            </a:r>
          </a:p>
        </p:txBody>
      </p:sp>
      <p:sp>
        <p:nvSpPr>
          <p:cNvPr id="30" name="连线-30">
            <a:extLst xmlns:a="http://schemas.openxmlformats.org/drawingml/2006/main">
              <a:ext uri="{FF2B5EF4-FFF2-40B4-BE49-F238E27FC236}">
                <a16:creationId xmlns:a16="http://schemas.microsoft.com/office/drawing/2014/main" id="{D84922EC-F0A1-4A08-B4DF-CBC7D055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12224" y="4053840"/>
            <a:ext cx="167551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6440">
            <a:solidFill>
              <a:srgbClr val="073E86"/>
            </a:solidFill>
            <a:prstDash val="solid"/>
          </a:ln>
        </p:spPr>
      </p:sp>
      <p:sp>
        <p:nvSpPr>
          <p:cNvPr id="31" name="结构-31">
            <a:extLst xmlns:a="http://schemas.openxmlformats.org/drawingml/2006/main">
              <a:ext uri="{FF2B5EF4-FFF2-40B4-BE49-F238E27FC236}">
                <a16:creationId xmlns:a16="http://schemas.microsoft.com/office/drawing/2014/main" id="{C188AAD4-3ADF-45A0-9C31-70222C2F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304" y="3996690"/>
            <a:ext cx="129471" cy="114300"/>
          </a:xfrm>
          <a:custGeom xmlns:a="http://schemas.openxmlformats.org/drawingml/2006/main">
            <a:pathLst>
              <a:path w="169212" h="149384">
                <a:moveTo>
                  <a:pt x="169212" y="74692"/>
                </a:moveTo>
                <a:lnTo>
                  <a:pt x="0" y="0"/>
                </a:lnTo>
                <a:lnTo>
                  <a:pt x="0" y="149384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547626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结构-1">
            <a:extLst xmlns:a="http://schemas.openxmlformats.org/drawingml/2006/main">
              <a:ext uri="{FF2B5EF4-FFF2-40B4-BE49-F238E27FC236}">
                <a16:creationId xmlns:a16="http://schemas.microsoft.com/office/drawing/2014/main" id="{0F317D86-F10D-43D4-AC4F-4C0AFF0A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44398EED-68C5-4B5F-9EAC-7A149827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18347BC9-FA5B-4D5C-BEE0-9E5DFF99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95007286-413B-48E3-84C5-343EEBD1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定义不同类型要素之间的关">
            <a:extLst xmlns:a="http://schemas.openxmlformats.org/drawingml/2006/main">
              <a:ext uri="{FF2B5EF4-FFF2-40B4-BE49-F238E27FC236}">
                <a16:creationId xmlns:a16="http://schemas.microsoft.com/office/drawing/2014/main" id="{E33E0DBE-7ED3-437B-9FBD-EB705EE1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定义不同类型要素之间的关系路径，并将参与情况转化为可计算的属性特征</a:t>
            </a:r>
          </a:p>
        </p:txBody>
      </p:sp>
      <p:sp>
        <p:nvSpPr>
          <p:cNvPr id="6" name="文字-6-关系路径定义">
            <a:extLst xmlns:a="http://schemas.openxmlformats.org/drawingml/2006/main">
              <a:ext uri="{FF2B5EF4-FFF2-40B4-BE49-F238E27FC236}">
                <a16:creationId xmlns:a16="http://schemas.microsoft.com/office/drawing/2014/main" id="{C01D5E4B-3A87-4C57-B784-78EE822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95525"/>
            <a:ext cx="3857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关系路径定义</a:t>
            </a:r>
          </a:p>
        </p:txBody>
      </p:sp>
      <p:sp>
        <p:nvSpPr>
          <p:cNvPr id="7" name="结构-7">
            <a:extLst xmlns:a="http://schemas.openxmlformats.org/drawingml/2006/main">
              <a:ext uri="{FF2B5EF4-FFF2-40B4-BE49-F238E27FC236}">
                <a16:creationId xmlns:a16="http://schemas.microsoft.com/office/drawing/2014/main" id="{9E69EEFC-8E6F-4D63-81A9-43B35431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857500"/>
            <a:ext cx="38957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3B"/>
            </a:solidFill>
            <a:prstDash val="solid"/>
          </a:ln>
        </p:spPr>
      </p:sp>
      <p:sp>
        <p:nvSpPr>
          <p:cNvPr id="8" name="文字-8-路径1">
            <a:extLst xmlns:a="http://schemas.openxmlformats.org/drawingml/2006/main">
              <a:ext uri="{FF2B5EF4-FFF2-40B4-BE49-F238E27FC236}">
                <a16:creationId xmlns:a16="http://schemas.microsoft.com/office/drawing/2014/main" id="{C235D8DE-9403-43E5-8248-48E4AD7D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33700"/>
            <a:ext cx="714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路径1</a:t>
            </a:r>
          </a:p>
        </p:txBody>
      </p:sp>
      <p:sp>
        <p:nvSpPr>
          <p:cNvPr id="9" name="文字-9-对象A">
            <a:extLst xmlns:a="http://schemas.openxmlformats.org/drawingml/2006/main">
              <a:ext uri="{FF2B5EF4-FFF2-40B4-BE49-F238E27FC236}">
                <a16:creationId xmlns:a16="http://schemas.microsoft.com/office/drawing/2014/main" id="{D58BCDFC-0B75-477D-8CDC-0974A8CF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14675"/>
            <a:ext cx="84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对象A</a:t>
            </a:r>
          </a:p>
        </p:txBody>
      </p:sp>
      <p:sp>
        <p:nvSpPr>
          <p:cNvPr id="10" name="连线-10">
            <a:extLst xmlns:a="http://schemas.openxmlformats.org/drawingml/2006/main">
              <a:ext uri="{FF2B5EF4-FFF2-40B4-BE49-F238E27FC236}">
                <a16:creationId xmlns:a16="http://schemas.microsoft.com/office/drawing/2014/main" id="{187D35EA-1B94-4EAC-9428-BE385BCF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28825" y="3314700"/>
            <a:ext cx="95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90AF0CD5-407D-49AA-B0EA-62F6638D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670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2" name="文字-12-关系">
            <a:extLst xmlns:a="http://schemas.openxmlformats.org/drawingml/2006/main">
              <a:ext uri="{FF2B5EF4-FFF2-40B4-BE49-F238E27FC236}">
                <a16:creationId xmlns:a16="http://schemas.microsoft.com/office/drawing/2014/main" id="{0EA02D99-DF52-4F89-94EC-01957C38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14675"/>
            <a:ext cx="84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关系</a:t>
            </a:r>
          </a:p>
        </p:txBody>
      </p:sp>
      <p:sp>
        <p:nvSpPr>
          <p:cNvPr id="13" name="连线-13">
            <a:extLst xmlns:a="http://schemas.openxmlformats.org/drawingml/2006/main">
              <a:ext uri="{FF2B5EF4-FFF2-40B4-BE49-F238E27FC236}">
                <a16:creationId xmlns:a16="http://schemas.microsoft.com/office/drawing/2014/main" id="{907D9857-0C62-4549-A265-863F2CF2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9900" y="3314700"/>
            <a:ext cx="95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4" name="结构-14">
            <a:extLst xmlns:a="http://schemas.openxmlformats.org/drawingml/2006/main">
              <a:ext uri="{FF2B5EF4-FFF2-40B4-BE49-F238E27FC236}">
                <a16:creationId xmlns:a16="http://schemas.microsoft.com/office/drawing/2014/main" id="{EA95CE57-C206-4B13-9E02-69B1647C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670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5" name="文字-15-对象B">
            <a:extLst xmlns:a="http://schemas.openxmlformats.org/drawingml/2006/main">
              <a:ext uri="{FF2B5EF4-FFF2-40B4-BE49-F238E27FC236}">
                <a16:creationId xmlns:a16="http://schemas.microsoft.com/office/drawing/2014/main" id="{E3F74F68-0634-4180-961A-BC177568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114675"/>
            <a:ext cx="84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对象B</a:t>
            </a:r>
          </a:p>
        </p:txBody>
      </p:sp>
      <p:sp>
        <p:nvSpPr>
          <p:cNvPr id="16" name="结构-16">
            <a:extLst xmlns:a="http://schemas.openxmlformats.org/drawingml/2006/main">
              <a:ext uri="{FF2B5EF4-FFF2-40B4-BE49-F238E27FC236}">
                <a16:creationId xmlns:a16="http://schemas.microsoft.com/office/drawing/2014/main" id="{737A7103-8294-444A-9D06-2AA5754E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914775"/>
            <a:ext cx="38957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3B"/>
            </a:solidFill>
            <a:prstDash val="solid"/>
          </a:ln>
        </p:spPr>
      </p:sp>
      <p:sp>
        <p:nvSpPr>
          <p:cNvPr id="17" name="文字-17-路径2">
            <a:extLst xmlns:a="http://schemas.openxmlformats.org/drawingml/2006/main">
              <a:ext uri="{FF2B5EF4-FFF2-40B4-BE49-F238E27FC236}">
                <a16:creationId xmlns:a16="http://schemas.microsoft.com/office/drawing/2014/main" id="{CF4C199E-7CC8-40CF-B633-3F59FAB9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90975"/>
            <a:ext cx="714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路径2</a:t>
            </a:r>
          </a:p>
        </p:txBody>
      </p:sp>
      <p:sp>
        <p:nvSpPr>
          <p:cNvPr id="18" name="文字-18-对象A">
            <a:extLst xmlns:a="http://schemas.openxmlformats.org/drawingml/2006/main">
              <a:ext uri="{FF2B5EF4-FFF2-40B4-BE49-F238E27FC236}">
                <a16:creationId xmlns:a16="http://schemas.microsoft.com/office/drawing/2014/main" id="{5D307B6A-2EE4-4B40-A751-301AAAB3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171950"/>
            <a:ext cx="84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对象A</a:t>
            </a:r>
          </a:p>
        </p:txBody>
      </p:sp>
      <p:sp>
        <p:nvSpPr>
          <p:cNvPr id="19" name="连线-19">
            <a:extLst xmlns:a="http://schemas.openxmlformats.org/drawingml/2006/main">
              <a:ext uri="{FF2B5EF4-FFF2-40B4-BE49-F238E27FC236}">
                <a16:creationId xmlns:a16="http://schemas.microsoft.com/office/drawing/2014/main" id="{FF8550A9-A348-46D1-9B49-78C7186F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28825" y="4371975"/>
            <a:ext cx="95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FF137176-C126-44B7-B39E-3228F63E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243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1" name="文字-21-关系">
            <a:extLst xmlns:a="http://schemas.openxmlformats.org/drawingml/2006/main">
              <a:ext uri="{FF2B5EF4-FFF2-40B4-BE49-F238E27FC236}">
                <a16:creationId xmlns:a16="http://schemas.microsoft.com/office/drawing/2014/main" id="{4B8F92AF-4885-49B7-8974-0BE13953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71950"/>
            <a:ext cx="84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关系</a:t>
            </a:r>
          </a:p>
        </p:txBody>
      </p:sp>
      <p:sp>
        <p:nvSpPr>
          <p:cNvPr id="22" name="连线-22">
            <a:extLst xmlns:a="http://schemas.openxmlformats.org/drawingml/2006/main">
              <a:ext uri="{FF2B5EF4-FFF2-40B4-BE49-F238E27FC236}">
                <a16:creationId xmlns:a16="http://schemas.microsoft.com/office/drawing/2014/main" id="{299A5012-B836-4DE1-A7E0-4E7B116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9900" y="4371975"/>
            <a:ext cx="95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3" name="结构-23">
            <a:extLst xmlns:a="http://schemas.openxmlformats.org/drawingml/2006/main">
              <a:ext uri="{FF2B5EF4-FFF2-40B4-BE49-F238E27FC236}">
                <a16:creationId xmlns:a16="http://schemas.microsoft.com/office/drawing/2014/main" id="{F06B9F88-B36B-4EF2-88A8-41D31E30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243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4" name="文字-24-对象B">
            <a:extLst xmlns:a="http://schemas.openxmlformats.org/drawingml/2006/main">
              <a:ext uri="{FF2B5EF4-FFF2-40B4-BE49-F238E27FC236}">
                <a16:creationId xmlns:a16="http://schemas.microsoft.com/office/drawing/2014/main" id="{F24CEAC1-C89C-4C10-86EE-697CE6DC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171950"/>
            <a:ext cx="84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对象B</a:t>
            </a:r>
          </a:p>
        </p:txBody>
      </p:sp>
      <p:sp>
        <p:nvSpPr>
          <p:cNvPr id="25" name="结构-25">
            <a:extLst xmlns:a="http://schemas.openxmlformats.org/drawingml/2006/main">
              <a:ext uri="{FF2B5EF4-FFF2-40B4-BE49-F238E27FC236}">
                <a16:creationId xmlns:a16="http://schemas.microsoft.com/office/drawing/2014/main" id="{1556C48E-D719-409A-9835-0253D86D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972050"/>
            <a:ext cx="38957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43B"/>
            </a:solidFill>
            <a:prstDash val="solid"/>
          </a:ln>
        </p:spPr>
      </p:sp>
      <p:sp>
        <p:nvSpPr>
          <p:cNvPr id="26" name="文字-26-路径3">
            <a:extLst xmlns:a="http://schemas.openxmlformats.org/drawingml/2006/main">
              <a:ext uri="{FF2B5EF4-FFF2-40B4-BE49-F238E27FC236}">
                <a16:creationId xmlns:a16="http://schemas.microsoft.com/office/drawing/2014/main" id="{E69DD82B-A4A0-4A42-8CFD-9247E9A4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48250"/>
            <a:ext cx="714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路径3</a:t>
            </a:r>
          </a:p>
        </p:txBody>
      </p:sp>
      <p:sp>
        <p:nvSpPr>
          <p:cNvPr id="27" name="文字-27-对象A">
            <a:extLst xmlns:a="http://schemas.openxmlformats.org/drawingml/2006/main">
              <a:ext uri="{FF2B5EF4-FFF2-40B4-BE49-F238E27FC236}">
                <a16:creationId xmlns:a16="http://schemas.microsoft.com/office/drawing/2014/main" id="{C5D40C43-F2B8-48BE-B49C-E5C66804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229225"/>
            <a:ext cx="84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对象A</a:t>
            </a:r>
          </a:p>
        </p:txBody>
      </p:sp>
      <p:sp>
        <p:nvSpPr>
          <p:cNvPr id="28" name="连线-28">
            <a:extLst xmlns:a="http://schemas.openxmlformats.org/drawingml/2006/main">
              <a:ext uri="{FF2B5EF4-FFF2-40B4-BE49-F238E27FC236}">
                <a16:creationId xmlns:a16="http://schemas.microsoft.com/office/drawing/2014/main" id="{486B281E-B1E3-40F2-8181-04AE7137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28825" y="5429250"/>
            <a:ext cx="95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9" name="结构-29">
            <a:extLst xmlns:a="http://schemas.openxmlformats.org/drawingml/2006/main">
              <a:ext uri="{FF2B5EF4-FFF2-40B4-BE49-F238E27FC236}">
                <a16:creationId xmlns:a16="http://schemas.microsoft.com/office/drawing/2014/main" id="{ABF0661C-B95C-45B3-A0DD-AF738FAB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381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0" name="文字-30-关系">
            <a:extLst xmlns:a="http://schemas.openxmlformats.org/drawingml/2006/main">
              <a:ext uri="{FF2B5EF4-FFF2-40B4-BE49-F238E27FC236}">
                <a16:creationId xmlns:a16="http://schemas.microsoft.com/office/drawing/2014/main" id="{0FD392F1-B19F-4655-8B08-8AA19D78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29225"/>
            <a:ext cx="84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关系</a:t>
            </a:r>
          </a:p>
        </p:txBody>
      </p:sp>
      <p:sp>
        <p:nvSpPr>
          <p:cNvPr id="31" name="连线-31">
            <a:extLst xmlns:a="http://schemas.openxmlformats.org/drawingml/2006/main">
              <a:ext uri="{FF2B5EF4-FFF2-40B4-BE49-F238E27FC236}">
                <a16:creationId xmlns:a16="http://schemas.microsoft.com/office/drawing/2014/main" id="{940507B8-E4D5-4952-BC1C-3D28AEAB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09900" y="5429250"/>
            <a:ext cx="95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2" name="结构-32">
            <a:extLst xmlns:a="http://schemas.openxmlformats.org/drawingml/2006/main">
              <a:ext uri="{FF2B5EF4-FFF2-40B4-BE49-F238E27FC236}">
                <a16:creationId xmlns:a16="http://schemas.microsoft.com/office/drawing/2014/main" id="{39379738-8237-445F-845C-8A0DE9E6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81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3" name="文字-33-对象B">
            <a:extLst xmlns:a="http://schemas.openxmlformats.org/drawingml/2006/main">
              <a:ext uri="{FF2B5EF4-FFF2-40B4-BE49-F238E27FC236}">
                <a16:creationId xmlns:a16="http://schemas.microsoft.com/office/drawing/2014/main" id="{A0C290FC-152C-461F-A28E-29E81239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229225"/>
            <a:ext cx="8477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对象B</a:t>
            </a:r>
          </a:p>
        </p:txBody>
      </p:sp>
      <p:sp>
        <p:nvSpPr>
          <p:cNvPr id="34" name="文字-34-关系模型">
            <a:extLst xmlns:a="http://schemas.openxmlformats.org/drawingml/2006/main">
              <a:ext uri="{FF2B5EF4-FFF2-40B4-BE49-F238E27FC236}">
                <a16:creationId xmlns:a16="http://schemas.microsoft.com/office/drawing/2014/main" id="{E124B23E-8FD4-4064-8F5F-198CC026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95525"/>
            <a:ext cx="3733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关系模型</a:t>
            </a:r>
          </a:p>
        </p:txBody>
      </p:sp>
      <p:sp>
        <p:nvSpPr>
          <p:cNvPr id="35" name="图片区-35">
            <a:extLst xmlns:a="http://schemas.openxmlformats.org/drawingml/2006/main">
              <a:ext uri="{FF2B5EF4-FFF2-40B4-BE49-F238E27FC236}">
                <a16:creationId xmlns:a16="http://schemas.microsoft.com/office/drawing/2014/main" id="{A76EC6F6-9443-4193-8E43-2CBD430B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43225"/>
            <a:ext cx="34099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36" name="连线-36">
            <a:extLst xmlns:a="http://schemas.openxmlformats.org/drawingml/2006/main">
              <a:ext uri="{FF2B5EF4-FFF2-40B4-BE49-F238E27FC236}">
                <a16:creationId xmlns:a16="http://schemas.microsoft.com/office/drawing/2014/main" id="{0B61332C-CB72-4E4C-B49D-80309A07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38625" y="4238625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73F88"/>
            </a:solidFill>
            <a:prstDash val="solid"/>
          </a:ln>
        </p:spPr>
      </p:sp>
      <p:sp>
        <p:nvSpPr>
          <p:cNvPr id="37" name="结构-37">
            <a:extLst xmlns:a="http://schemas.openxmlformats.org/drawingml/2006/main">
              <a:ext uri="{FF2B5EF4-FFF2-40B4-BE49-F238E27FC236}">
                <a16:creationId xmlns:a16="http://schemas.microsoft.com/office/drawing/2014/main" id="{9D54103D-0746-41B6-9F53-F3754B08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67188"/>
            <a:ext cx="161925" cy="142875"/>
          </a:xfrm>
          <a:custGeom xmlns:a="http://schemas.openxmlformats.org/drawingml/2006/main">
            <a:pathLst>
              <a:path w="161925" h="142875">
                <a:moveTo>
                  <a:pt x="161925" y="71438"/>
                </a:moveTo>
                <a:lnTo>
                  <a:pt x="0" y="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8" name="文字-38-构造特征">
            <a:extLst xmlns:a="http://schemas.openxmlformats.org/drawingml/2006/main">
              <a:ext uri="{FF2B5EF4-FFF2-40B4-BE49-F238E27FC236}">
                <a16:creationId xmlns:a16="http://schemas.microsoft.com/office/drawing/2014/main" id="{845F4DB4-2DBE-45C5-8351-B03D7CE8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78142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构造特征</a:t>
            </a:r>
          </a:p>
        </p:txBody>
      </p:sp>
      <p:sp>
        <p:nvSpPr>
          <p:cNvPr id="39" name="连线-39">
            <a:extLst xmlns:a="http://schemas.openxmlformats.org/drawingml/2006/main">
              <a:ext uri="{FF2B5EF4-FFF2-40B4-BE49-F238E27FC236}">
                <a16:creationId xmlns:a16="http://schemas.microsoft.com/office/drawing/2014/main" id="{F0AD4BAA-A296-4FB0-8303-4887F29D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4314825"/>
            <a:ext cx="14001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73F88"/>
            </a:solidFill>
            <a:prstDash val="solid"/>
          </a:ln>
        </p:spPr>
      </p:sp>
      <p:sp>
        <p:nvSpPr>
          <p:cNvPr id="40" name="结构-40">
            <a:extLst xmlns:a="http://schemas.openxmlformats.org/drawingml/2006/main">
              <a:ext uri="{FF2B5EF4-FFF2-40B4-BE49-F238E27FC236}">
                <a16:creationId xmlns:a16="http://schemas.microsoft.com/office/drawing/2014/main" id="{39D3AD63-E5A2-49B1-8DBD-B71D083B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43388"/>
            <a:ext cx="161925" cy="142875"/>
          </a:xfrm>
          <a:custGeom xmlns:a="http://schemas.openxmlformats.org/drawingml/2006/main">
            <a:pathLst>
              <a:path w="161925" h="142875">
                <a:moveTo>
                  <a:pt x="161925" y="71438"/>
                </a:moveTo>
                <a:lnTo>
                  <a:pt x="0" y="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1" name="文字-41-属性特征矩阵">
            <a:extLst xmlns:a="http://schemas.openxmlformats.org/drawingml/2006/main">
              <a:ext uri="{FF2B5EF4-FFF2-40B4-BE49-F238E27FC236}">
                <a16:creationId xmlns:a16="http://schemas.microsoft.com/office/drawing/2014/main" id="{AEF3A3AC-64AC-41FE-8521-3B5D84D4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95525"/>
            <a:ext cx="2085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属性特征矩阵</a:t>
            </a:r>
          </a:p>
        </p:txBody>
      </p:sp>
      <p:sp>
        <p:nvSpPr>
          <p:cNvPr id="42" name="图片区-42">
            <a:extLst xmlns:a="http://schemas.openxmlformats.org/drawingml/2006/main">
              <a:ext uri="{FF2B5EF4-FFF2-40B4-BE49-F238E27FC236}">
                <a16:creationId xmlns:a16="http://schemas.microsoft.com/office/drawing/2014/main" id="{4A29D46A-CB1A-4B5A-954E-EE0F4EB8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95625"/>
            <a:ext cx="16383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43" name="连线-43">
            <a:extLst xmlns:a="http://schemas.openxmlformats.org/drawingml/2006/main">
              <a:ext uri="{FF2B5EF4-FFF2-40B4-BE49-F238E27FC236}">
                <a16:creationId xmlns:a16="http://schemas.microsoft.com/office/drawing/2014/main" id="{8ADB3130-E44A-4F90-9077-02BCE7DE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00825" y="5848350"/>
            <a:ext cx="953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6BED4"/>
            </a:solidFill>
            <a:prstDash val="solid"/>
          </a:ln>
        </p:spPr>
      </p:sp>
      <p:sp>
        <p:nvSpPr>
          <p:cNvPr id="44" name="连线-44">
            <a:extLst xmlns:a="http://schemas.openxmlformats.org/drawingml/2006/main">
              <a:ext uri="{FF2B5EF4-FFF2-40B4-BE49-F238E27FC236}">
                <a16:creationId xmlns:a16="http://schemas.microsoft.com/office/drawing/2014/main" id="{8DBE443B-C148-4F03-9532-B98362C9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00825" y="6172200"/>
            <a:ext cx="42576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6BED4"/>
            </a:solidFill>
            <a:prstDash val="solid"/>
          </a:ln>
        </p:spPr>
      </p:sp>
      <p:sp>
        <p:nvSpPr>
          <p:cNvPr id="45" name="连线-45">
            <a:extLst xmlns:a="http://schemas.openxmlformats.org/drawingml/2006/main">
              <a:ext uri="{FF2B5EF4-FFF2-40B4-BE49-F238E27FC236}">
                <a16:creationId xmlns:a16="http://schemas.microsoft.com/office/drawing/2014/main" id="{76DE23DA-9B16-463E-A5CC-81A154B3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58500" y="5857875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6BED4"/>
            </a:solidFill>
            <a:prstDash val="solid"/>
          </a:ln>
        </p:spPr>
      </p:sp>
      <p:sp>
        <p:nvSpPr>
          <p:cNvPr id="46" name="结构-46">
            <a:extLst xmlns:a="http://schemas.openxmlformats.org/drawingml/2006/main">
              <a:ext uri="{FF2B5EF4-FFF2-40B4-BE49-F238E27FC236}">
                <a16:creationId xmlns:a16="http://schemas.microsoft.com/office/drawing/2014/main" id="{42A6DDD2-69DC-407C-BCBA-6A2B8393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3256" y="5857875"/>
            <a:ext cx="90488" cy="109538"/>
          </a:xfrm>
          <a:custGeom xmlns:a="http://schemas.openxmlformats.org/drawingml/2006/main">
            <a:pathLst>
              <a:path w="90488" h="109538">
                <a:moveTo>
                  <a:pt x="45244" y="0"/>
                </a:moveTo>
                <a:lnTo>
                  <a:pt x="0" y="109538"/>
                </a:lnTo>
                <a:lnTo>
                  <a:pt x="90488" y="109538"/>
                </a:lnTo>
                <a:close/>
              </a:path>
            </a:pathLst>
          </a:custGeom>
          <a:solidFill xmlns:a="http://schemas.openxmlformats.org/drawingml/2006/main">
            <a:srgbClr val="A6BED4"/>
          </a:solidFill>
          <a:ln xmlns:a="http://schemas.openxmlformats.org/drawingml/2006/main" w="0">
            <a:noFill/>
          </a:ln>
        </p:spPr>
      </p:sp>
      <p:sp>
        <p:nvSpPr>
          <p:cNvPr id="47" name="文字-47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60C13F1E-AE19-4A6A-899E-424CB00E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64559201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文字-1-3.1 研究阶段：理论建模与">
            <a:extLst xmlns:a="http://schemas.openxmlformats.org/drawingml/2006/main">
              <a:ext uri="{FF2B5EF4-FFF2-40B4-BE49-F238E27FC236}">
                <a16:creationId xmlns:a16="http://schemas.microsoft.com/office/drawing/2014/main" id="{DD9177F2-C1FE-4E19-B457-271ED4C6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3.1 研究阶段：理论建模与结构设计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F0D4B321-AE8B-43EA-9584-C3B53680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6B44DE18-267D-4F4D-9ED7-E4B8BC1B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14400"/>
            <a:ext cx="1145439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01F87EB1-CE6A-4747-84D2-7B0DFC55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12776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说明理论构建、结构设计及验证">
            <a:extLst xmlns:a="http://schemas.openxmlformats.org/drawingml/2006/main">
              <a:ext uri="{FF2B5EF4-FFF2-40B4-BE49-F238E27FC236}">
                <a16:creationId xmlns:a16="http://schemas.microsoft.com/office/drawing/2014/main" id="{D1B26D91-3F25-4073-95F1-FC37E7CA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75360"/>
            <a:ext cx="1081465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理论构建、结构设计及验证的阶段目标</a:t>
            </a:r>
          </a:p>
        </p:txBody>
      </p:sp>
      <p:sp>
        <p:nvSpPr>
          <p:cNvPr id="6" name="对象-6">
            <a:extLst xmlns:a="http://schemas.openxmlformats.org/drawingml/2006/main">
              <a:ext uri="{FF2B5EF4-FFF2-40B4-BE49-F238E27FC236}">
                <a16:creationId xmlns:a16="http://schemas.microsoft.com/office/drawing/2014/main" id="{F98676CA-C82B-4832-88DA-7E3D916E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912620"/>
            <a:ext cx="2452336" cy="443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7" name="文字-7-研究对象与模型">
            <a:extLst xmlns:a="http://schemas.openxmlformats.org/drawingml/2006/main">
              <a:ext uri="{FF2B5EF4-FFF2-40B4-BE49-F238E27FC236}">
                <a16:creationId xmlns:a16="http://schemas.microsoft.com/office/drawing/2014/main" id="{CB96A6D6-2195-4CE0-8F62-40B31B35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44" y="1737360"/>
            <a:ext cx="2223858" cy="365760"/>
          </a:xfrm>
          <a:prstGeom xmlns:a="http://schemas.openxmlformats.org/drawingml/2006/main" prst="roundRect">
            <a:avLst>
              <a:gd name="adj" fmla="val 1594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研究对象与模型</a:t>
            </a:r>
          </a:p>
        </p:txBody>
      </p:sp>
      <p:sp>
        <p:nvSpPr>
          <p:cNvPr id="8" name="文字-8-说明研究对象及结构">
            <a:extLst xmlns:a="http://schemas.openxmlformats.org/drawingml/2006/main">
              <a:ext uri="{FF2B5EF4-FFF2-40B4-BE49-F238E27FC236}">
                <a16:creationId xmlns:a16="http://schemas.microsoft.com/office/drawing/2014/main" id="{E5D8C5CC-89CE-4943-B507-BDC5DF3B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64" y="2179320"/>
            <a:ext cx="2300017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对象特征与研究要求</a:t>
            </a:r>
          </a:p>
        </p:txBody>
      </p:sp>
      <p:sp>
        <p:nvSpPr>
          <p:cNvPr id="9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72EC724F-31C5-47F6-8A7B-6CD1844B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24" y="2667000"/>
            <a:ext cx="2147698" cy="1653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0" name="文字-10-填写对象的关键组成">
            <a:extLst xmlns:a="http://schemas.openxmlformats.org/drawingml/2006/main">
              <a:ext uri="{FF2B5EF4-FFF2-40B4-BE49-F238E27FC236}">
                <a16:creationId xmlns:a16="http://schemas.microsoft.com/office/drawing/2014/main" id="{9604FC96-5A5A-42A6-A973-753A61B9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4427220"/>
            <a:ext cx="2208626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对象的关键组成</a:t>
            </a:r>
          </a:p>
        </p:txBody>
      </p:sp>
      <p:sp>
        <p:nvSpPr>
          <p:cNvPr id="11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BCFB9D31-EB9F-4058-8A13-C5AE0ECC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4884420"/>
            <a:ext cx="990073" cy="845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2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1F8B51FB-C369-4843-BC59-F64A2FD9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901" y="4884420"/>
            <a:ext cx="990073" cy="845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3" name="文字-13-填写对象结构与参数定义">
            <a:extLst xmlns:a="http://schemas.openxmlformats.org/drawingml/2006/main">
              <a:ext uri="{FF2B5EF4-FFF2-40B4-BE49-F238E27FC236}">
                <a16:creationId xmlns:a16="http://schemas.microsoft.com/office/drawing/2014/main" id="{F17457F5-FD54-4E1B-880D-2D8FE54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44" y="5852160"/>
            <a:ext cx="222385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对象结构与参数定义</a:t>
            </a:r>
          </a:p>
        </p:txBody>
      </p:sp>
      <p:sp>
        <p:nvSpPr>
          <p:cNvPr id="14" name="对象-14">
            <a:extLst xmlns:a="http://schemas.openxmlformats.org/drawingml/2006/main">
              <a:ext uri="{FF2B5EF4-FFF2-40B4-BE49-F238E27FC236}">
                <a16:creationId xmlns:a16="http://schemas.microsoft.com/office/drawing/2014/main" id="{A0723BBC-AE22-4460-90E5-3550EB05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540" y="1912620"/>
            <a:ext cx="2452336" cy="4434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5" name="文字-15-特征分析与计算">
            <a:extLst xmlns:a="http://schemas.openxmlformats.org/drawingml/2006/main">
              <a:ext uri="{FF2B5EF4-FFF2-40B4-BE49-F238E27FC236}">
                <a16:creationId xmlns:a16="http://schemas.microsoft.com/office/drawing/2014/main" id="{A7498FBE-7094-42D7-A1BA-25B920A8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779" y="1737360"/>
            <a:ext cx="2223858" cy="365760"/>
          </a:xfrm>
          <a:prstGeom xmlns:a="http://schemas.openxmlformats.org/drawingml/2006/main" prst="roundRect">
            <a:avLst>
              <a:gd name="adj" fmla="val 15940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特征分析与计算</a:t>
            </a:r>
          </a:p>
        </p:txBody>
      </p:sp>
      <p:sp>
        <p:nvSpPr>
          <p:cNvPr id="16" name="文字-16-说明计算方法与参数">
            <a:extLst xmlns:a="http://schemas.openxmlformats.org/drawingml/2006/main">
              <a:ext uri="{FF2B5EF4-FFF2-40B4-BE49-F238E27FC236}">
                <a16:creationId xmlns:a16="http://schemas.microsoft.com/office/drawing/2014/main" id="{D453A087-35F6-48CE-BAD5-AE4B2430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699" y="2179320"/>
            <a:ext cx="2300017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对象特征与研究要求</a:t>
            </a:r>
          </a:p>
        </p:txBody>
      </p:sp>
      <p:sp>
        <p:nvSpPr>
          <p:cNvPr id="17" name="图片区-4-图片区">
            <a:extLst xmlns:a="http://schemas.openxmlformats.org/drawingml/2006/main">
              <a:ext uri="{FF2B5EF4-FFF2-40B4-BE49-F238E27FC236}">
                <a16:creationId xmlns:a16="http://schemas.microsoft.com/office/drawing/2014/main" id="{C311C28A-E21F-44E6-A704-41A603CE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58" y="2667000"/>
            <a:ext cx="2147698" cy="1653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8" name="文字-18-填写特征或响应说明">
            <a:extLst xmlns:a="http://schemas.openxmlformats.org/drawingml/2006/main">
              <a:ext uri="{FF2B5EF4-FFF2-40B4-BE49-F238E27FC236}">
                <a16:creationId xmlns:a16="http://schemas.microsoft.com/office/drawing/2014/main" id="{D0F9C5DB-2B3B-47C0-827A-BB318ABB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395" y="4427220"/>
            <a:ext cx="2208626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特征或响应说明</a:t>
            </a:r>
          </a:p>
        </p:txBody>
      </p:sp>
      <p:sp>
        <p:nvSpPr>
          <p:cNvPr id="19" name="图片区-5-图片区">
            <a:extLst xmlns:a="http://schemas.openxmlformats.org/drawingml/2006/main">
              <a:ext uri="{FF2B5EF4-FFF2-40B4-BE49-F238E27FC236}">
                <a16:creationId xmlns:a16="http://schemas.microsoft.com/office/drawing/2014/main" id="{72CDC1C8-102D-483F-B14A-2BFB2D49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86325"/>
            <a:ext cx="2105025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1" name="文字-21-填写模型计算的主要产出">
            <a:extLst xmlns:a="http://schemas.openxmlformats.org/drawingml/2006/main">
              <a:ext uri="{FF2B5EF4-FFF2-40B4-BE49-F238E27FC236}">
                <a16:creationId xmlns:a16="http://schemas.microsoft.com/office/drawing/2014/main" id="{2BE9081A-2EAF-43AD-8150-046F0F6D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779" y="5852160"/>
            <a:ext cx="222385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模型计算的主要产出</a:t>
            </a:r>
          </a:p>
        </p:txBody>
      </p:sp>
      <p:sp>
        <p:nvSpPr>
          <p:cNvPr id="22" name="对象-22">
            <a:extLst xmlns:a="http://schemas.openxmlformats.org/drawingml/2006/main">
              <a:ext uri="{FF2B5EF4-FFF2-40B4-BE49-F238E27FC236}">
                <a16:creationId xmlns:a16="http://schemas.microsoft.com/office/drawing/2014/main" id="{2CCF3574-8DF6-427A-934A-65E42478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203" y="1737360"/>
            <a:ext cx="6107993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23" name="文字-23-结构映射与模型建立">
            <a:extLst xmlns:a="http://schemas.openxmlformats.org/drawingml/2006/main">
              <a:ext uri="{FF2B5EF4-FFF2-40B4-BE49-F238E27FC236}">
                <a16:creationId xmlns:a16="http://schemas.microsoft.com/office/drawing/2014/main" id="{6FA68C00-60DA-4978-8C84-1354F21A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362" y="1737360"/>
            <a:ext cx="5955674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结构映射与模型建立</a:t>
            </a:r>
          </a:p>
        </p:txBody>
      </p:sp>
      <p:sp>
        <p:nvSpPr>
          <p:cNvPr id="24" name="文字-24-填写物理对象、模型表示与输出">
            <a:extLst xmlns:a="http://schemas.openxmlformats.org/drawingml/2006/main">
              <a:ext uri="{FF2B5EF4-FFF2-40B4-BE49-F238E27FC236}">
                <a16:creationId xmlns:a16="http://schemas.microsoft.com/office/drawing/2014/main" id="{0286EE60-4CB0-45EC-93BE-91520A6E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289" y="2225040"/>
            <a:ext cx="5833819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多要素协同建模与分析</a:t>
            </a:r>
          </a:p>
        </p:txBody>
      </p:sp>
      <p:sp>
        <p:nvSpPr>
          <p:cNvPr id="25" name="图片区-7-图片区">
            <a:extLst xmlns:a="http://schemas.openxmlformats.org/drawingml/2006/main">
              <a:ext uri="{FF2B5EF4-FFF2-40B4-BE49-F238E27FC236}">
                <a16:creationId xmlns:a16="http://schemas.microsoft.com/office/drawing/2014/main" id="{2E0DC790-E9F9-4F55-A4D7-45915D03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528" y="2720340"/>
            <a:ext cx="1210936" cy="1805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6" name="图片区-8-图片区">
            <a:extLst xmlns:a="http://schemas.openxmlformats.org/drawingml/2006/main">
              <a:ext uri="{FF2B5EF4-FFF2-40B4-BE49-F238E27FC236}">
                <a16:creationId xmlns:a16="http://schemas.microsoft.com/office/drawing/2014/main" id="{B36CED23-A9F1-4519-976A-F9B4D99A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806" y="2720340"/>
            <a:ext cx="2239090" cy="1805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7" name="图片区-9-图片区">
            <a:extLst xmlns:a="http://schemas.openxmlformats.org/drawingml/2006/main">
              <a:ext uri="{FF2B5EF4-FFF2-40B4-BE49-F238E27FC236}">
                <a16:creationId xmlns:a16="http://schemas.microsoft.com/office/drawing/2014/main" id="{D0D40C2F-6237-4FEE-9567-9A759F15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853" y="2720340"/>
            <a:ext cx="1249016" cy="1805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8" name="连线-28">
            <a:extLst xmlns:a="http://schemas.openxmlformats.org/drawingml/2006/main">
              <a:ext uri="{FF2B5EF4-FFF2-40B4-BE49-F238E27FC236}">
                <a16:creationId xmlns:a16="http://schemas.microsoft.com/office/drawing/2014/main" id="{ADCFE7B7-6D84-4997-AD71-6F8B38B7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8393" y="3581400"/>
            <a:ext cx="297022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8304">
            <a:solidFill>
              <a:srgbClr val="CFAC4F"/>
            </a:solidFill>
            <a:prstDash val="solid"/>
          </a:ln>
        </p:spPr>
      </p:sp>
      <p:sp>
        <p:nvSpPr>
          <p:cNvPr id="29" name="结构-29">
            <a:extLst xmlns:a="http://schemas.openxmlformats.org/drawingml/2006/main">
              <a:ext uri="{FF2B5EF4-FFF2-40B4-BE49-F238E27FC236}">
                <a16:creationId xmlns:a16="http://schemas.microsoft.com/office/drawing/2014/main" id="{D773A886-5A33-4887-B8CC-EB3EE366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096" y="3512820"/>
            <a:ext cx="152319" cy="137160"/>
          </a:xfrm>
          <a:custGeom xmlns:a="http://schemas.openxmlformats.org/drawingml/2006/main">
            <a:pathLst>
              <a:path w="199073" h="179261">
                <a:moveTo>
                  <a:pt x="199073" y="89630"/>
                </a:moveTo>
                <a:lnTo>
                  <a:pt x="0" y="0"/>
                </a:lnTo>
                <a:lnTo>
                  <a:pt x="0" y="179261"/>
                </a:lnTo>
                <a:close/>
              </a:path>
            </a:pathLst>
          </a:custGeom>
          <a:solidFill xmlns:a="http://schemas.openxmlformats.org/drawingml/2006/main">
            <a:srgbClr val="CFAC4F"/>
          </a:solidFill>
          <a:ln xmlns:a="http://schemas.openxmlformats.org/drawingml/2006/main" w="0">
            <a:noFill/>
          </a:ln>
        </p:spPr>
      </p:sp>
      <p:sp>
        <p:nvSpPr>
          <p:cNvPr id="30" name="连线-30">
            <a:extLst xmlns:a="http://schemas.openxmlformats.org/drawingml/2006/main">
              <a:ext uri="{FF2B5EF4-FFF2-40B4-BE49-F238E27FC236}">
                <a16:creationId xmlns:a16="http://schemas.microsoft.com/office/drawing/2014/main" id="{95C99479-8718-4B9F-A06C-D18C3BCC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72519" y="3581400"/>
            <a:ext cx="258942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8304">
            <a:solidFill>
              <a:srgbClr val="CFAC4F"/>
            </a:solidFill>
            <a:prstDash val="solid"/>
          </a:ln>
        </p:spPr>
      </p:sp>
      <p:sp>
        <p:nvSpPr>
          <p:cNvPr id="31" name="结构-31">
            <a:extLst xmlns:a="http://schemas.openxmlformats.org/drawingml/2006/main">
              <a:ext uri="{FF2B5EF4-FFF2-40B4-BE49-F238E27FC236}">
                <a16:creationId xmlns:a16="http://schemas.microsoft.com/office/drawing/2014/main" id="{973825FB-3E5F-4FBF-84C5-6618A63E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142" y="3512820"/>
            <a:ext cx="152319" cy="137160"/>
          </a:xfrm>
          <a:custGeom xmlns:a="http://schemas.openxmlformats.org/drawingml/2006/main">
            <a:pathLst>
              <a:path w="199073" h="179261">
                <a:moveTo>
                  <a:pt x="199073" y="89630"/>
                </a:moveTo>
                <a:lnTo>
                  <a:pt x="0" y="0"/>
                </a:lnTo>
                <a:lnTo>
                  <a:pt x="0" y="179261"/>
                </a:lnTo>
                <a:close/>
              </a:path>
            </a:pathLst>
          </a:custGeom>
          <a:solidFill xmlns:a="http://schemas.openxmlformats.org/drawingml/2006/main">
            <a:srgbClr val="CFAC4F"/>
          </a:solidFill>
          <a:ln xmlns:a="http://schemas.openxmlformats.org/drawingml/2006/main" w="0">
            <a:noFill/>
          </a:ln>
        </p:spPr>
      </p:sp>
      <p:sp>
        <p:nvSpPr>
          <p:cNvPr id="32" name="连线-32">
            <a:extLst xmlns:a="http://schemas.openxmlformats.org/drawingml/2006/main">
              <a:ext uri="{FF2B5EF4-FFF2-40B4-BE49-F238E27FC236}">
                <a16:creationId xmlns:a16="http://schemas.microsoft.com/office/drawing/2014/main" id="{B2C670F9-F220-47D2-9DEB-1600BD6A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59580" y="4792980"/>
            <a:ext cx="729" cy="434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728">
            <a:solidFill>
              <a:srgbClr val="AC111A"/>
            </a:solidFill>
            <a:prstDash val="solid"/>
          </a:ln>
        </p:spPr>
      </p:sp>
      <p:sp>
        <p:nvSpPr>
          <p:cNvPr id="33" name="结构-33">
            <a:extLst xmlns:a="http://schemas.openxmlformats.org/drawingml/2006/main">
              <a:ext uri="{FF2B5EF4-FFF2-40B4-BE49-F238E27FC236}">
                <a16:creationId xmlns:a16="http://schemas.microsoft.com/office/drawing/2014/main" id="{D1F9FF8A-A57D-4BBB-A08A-96696B4C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652" y="5090160"/>
            <a:ext cx="121855" cy="137160"/>
          </a:xfrm>
          <a:custGeom xmlns:a="http://schemas.openxmlformats.org/drawingml/2006/main">
            <a:pathLst>
              <a:path w="159258" h="179261">
                <a:moveTo>
                  <a:pt x="79629" y="179261"/>
                </a:moveTo>
                <a:lnTo>
                  <a:pt x="15925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34" name="文字-34-对象表示">
            <a:extLst xmlns:a="http://schemas.openxmlformats.org/drawingml/2006/main">
              <a:ext uri="{FF2B5EF4-FFF2-40B4-BE49-F238E27FC236}">
                <a16:creationId xmlns:a16="http://schemas.microsoft.com/office/drawing/2014/main" id="{1C25AD33-F181-49C2-BC91-736D11B0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753" y="5463540"/>
            <a:ext cx="1759284" cy="480060"/>
          </a:xfrm>
          <a:prstGeom xmlns:a="http://schemas.openxmlformats.org/drawingml/2006/main" prst="roundRect">
            <a:avLst>
              <a:gd name="adj" fmla="val 12145"/>
            </a:avLst>
          </a:prstGeom>
          <a:solidFill xmlns:a="http://schemas.openxmlformats.org/drawingml/2006/main">
            <a:srgbClr val="FAEAEC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模型建立</a:t>
            </a:r>
          </a:p>
        </p:txBody>
      </p:sp>
      <p:sp>
        <p:nvSpPr>
          <p:cNvPr id="35" name="连线-35">
            <a:extLst xmlns:a="http://schemas.openxmlformats.org/drawingml/2006/main">
              <a:ext uri="{FF2B5EF4-FFF2-40B4-BE49-F238E27FC236}">
                <a16:creationId xmlns:a16="http://schemas.microsoft.com/office/drawing/2014/main" id="{AAA147A6-9E1C-4AFC-AAF5-456D57E2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70191" y="4792980"/>
            <a:ext cx="729" cy="434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728">
            <a:solidFill>
              <a:srgbClr val="AC111A"/>
            </a:solidFill>
            <a:prstDash val="solid"/>
          </a:ln>
        </p:spPr>
      </p:sp>
      <p:sp>
        <p:nvSpPr>
          <p:cNvPr id="36" name="结构-36">
            <a:extLst xmlns:a="http://schemas.openxmlformats.org/drawingml/2006/main">
              <a:ext uri="{FF2B5EF4-FFF2-40B4-BE49-F238E27FC236}">
                <a16:creationId xmlns:a16="http://schemas.microsoft.com/office/drawing/2014/main" id="{300C0561-378D-440E-90E3-F210DF08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64" y="5090160"/>
            <a:ext cx="121855" cy="137160"/>
          </a:xfrm>
          <a:custGeom xmlns:a="http://schemas.openxmlformats.org/drawingml/2006/main">
            <a:pathLst>
              <a:path w="159258" h="179261">
                <a:moveTo>
                  <a:pt x="79629" y="179261"/>
                </a:moveTo>
                <a:lnTo>
                  <a:pt x="15925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37" name="文字-37-核心模型">
            <a:extLst xmlns:a="http://schemas.openxmlformats.org/drawingml/2006/main">
              <a:ext uri="{FF2B5EF4-FFF2-40B4-BE49-F238E27FC236}">
                <a16:creationId xmlns:a16="http://schemas.microsoft.com/office/drawing/2014/main" id="{6C89F5BC-D886-417C-B190-A57A9189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364" y="5463540"/>
            <a:ext cx="1759284" cy="480060"/>
          </a:xfrm>
          <a:prstGeom xmlns:a="http://schemas.openxmlformats.org/drawingml/2006/main" prst="roundRect">
            <a:avLst>
              <a:gd name="adj" fmla="val 12145"/>
            </a:avLst>
          </a:prstGeom>
          <a:solidFill xmlns:a="http://schemas.openxmlformats.org/drawingml/2006/main">
            <a:srgbClr val="FAEAEC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机理分析</a:t>
            </a:r>
          </a:p>
        </p:txBody>
      </p:sp>
      <p:sp>
        <p:nvSpPr>
          <p:cNvPr id="38" name="连线-38">
            <a:extLst xmlns:a="http://schemas.openxmlformats.org/drawingml/2006/main">
              <a:ext uri="{FF2B5EF4-FFF2-40B4-BE49-F238E27FC236}">
                <a16:creationId xmlns:a16="http://schemas.microsoft.com/office/drawing/2014/main" id="{EA375631-B72D-4EEC-9E1F-90B184C2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80802" y="4792980"/>
            <a:ext cx="729" cy="434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728">
            <a:solidFill>
              <a:srgbClr val="AC111A"/>
            </a:solidFill>
            <a:prstDash val="solid"/>
          </a:ln>
        </p:spPr>
      </p:sp>
      <p:sp>
        <p:nvSpPr>
          <p:cNvPr id="39" name="结构-39">
            <a:extLst xmlns:a="http://schemas.openxmlformats.org/drawingml/2006/main">
              <a:ext uri="{FF2B5EF4-FFF2-40B4-BE49-F238E27FC236}">
                <a16:creationId xmlns:a16="http://schemas.microsoft.com/office/drawing/2014/main" id="{F4F7EE85-2DCC-47B0-9D54-CF2FEB05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875" y="5090160"/>
            <a:ext cx="121855" cy="137160"/>
          </a:xfrm>
          <a:custGeom xmlns:a="http://schemas.openxmlformats.org/drawingml/2006/main">
            <a:pathLst>
              <a:path w="159258" h="179261">
                <a:moveTo>
                  <a:pt x="79629" y="179261"/>
                </a:moveTo>
                <a:lnTo>
                  <a:pt x="15925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40" name="文字-40-验证结果">
            <a:extLst xmlns:a="http://schemas.openxmlformats.org/drawingml/2006/main">
              <a:ext uri="{FF2B5EF4-FFF2-40B4-BE49-F238E27FC236}">
                <a16:creationId xmlns:a16="http://schemas.microsoft.com/office/drawing/2014/main" id="{D19A0894-24AC-4BEA-A412-9ED63A44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976" y="5463540"/>
            <a:ext cx="1759284" cy="480060"/>
          </a:xfrm>
          <a:prstGeom xmlns:a="http://schemas.openxmlformats.org/drawingml/2006/main" prst="roundRect">
            <a:avLst>
              <a:gd name="adj" fmla="val 12145"/>
            </a:avLst>
          </a:prstGeom>
          <a:solidFill xmlns:a="http://schemas.openxmlformats.org/drawingml/2006/main">
            <a:srgbClr val="FAEAEC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结果验证</a:t>
            </a:r>
          </a:p>
        </p:txBody>
      </p:sp>
    </p:spTree>
    <p:extLst>
      <p:ext uri="{BB962C8B-B14F-4D97-AF65-F5344CB8AC3E}">
        <p14:creationId xmlns:p14="http://schemas.microsoft.com/office/powerpoint/2010/main" val="122293439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文字-1-2.2 设计原理">
            <a:extLst xmlns:a="http://schemas.openxmlformats.org/drawingml/2006/main">
              <a:ext uri="{FF2B5EF4-FFF2-40B4-BE49-F238E27FC236}">
                <a16:creationId xmlns:a16="http://schemas.microsoft.com/office/drawing/2014/main" id="{DCAD4002-6B93-463E-9181-EB887028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2.2 设计原理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256BFAE1-764F-4F9B-BD44-E225255C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98F31E9A-5039-4C9C-83FB-1987796B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14400"/>
            <a:ext cx="11454390" cy="853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027B62D0-6ED7-41E0-95F8-5684FD5A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24968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72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说明研究对象的测量目标与总体">
            <a:extLst xmlns:a="http://schemas.openxmlformats.org/drawingml/2006/main">
              <a:ext uri="{FF2B5EF4-FFF2-40B4-BE49-F238E27FC236}">
                <a16:creationId xmlns:a16="http://schemas.microsoft.com/office/drawing/2014/main" id="{002856EB-05A1-4AD2-BE2D-973A3E1F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75360"/>
            <a:ext cx="1081465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研究对象的测量目标与总体设计要求</a:t>
            </a:r>
          </a:p>
        </p:txBody>
      </p:sp>
      <p:sp>
        <p:nvSpPr>
          <p:cNvPr id="6" name="文字-6-填写关键关系式">
            <a:extLst xmlns:a="http://schemas.openxmlformats.org/drawingml/2006/main">
              <a:ext uri="{FF2B5EF4-FFF2-40B4-BE49-F238E27FC236}">
                <a16:creationId xmlns:a16="http://schemas.microsoft.com/office/drawing/2014/main" id="{90390C0C-435E-4674-ADAF-DB970B79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44" y="1943100"/>
            <a:ext cx="18430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关键关系式</a:t>
            </a:r>
          </a:p>
        </p:txBody>
      </p:sp>
      <p:sp>
        <p:nvSpPr>
          <p:cNvPr id="7" name="文字-7-输入量定义">
            <a:extLst xmlns:a="http://schemas.openxmlformats.org/drawingml/2006/main">
              <a:ext uri="{FF2B5EF4-FFF2-40B4-BE49-F238E27FC236}">
                <a16:creationId xmlns:a16="http://schemas.microsoft.com/office/drawing/2014/main" id="{3DB17C35-C02A-476A-AB5C-E0838819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44" y="2331720"/>
            <a:ext cx="1843060" cy="556260"/>
          </a:xfrm>
          <a:prstGeom xmlns:a="http://schemas.openxmlformats.org/drawingml/2006/main" prst="roundRect">
            <a:avLst>
              <a:gd name="adj" fmla="val 1048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输入量定义</a:t>
            </a:r>
          </a:p>
        </p:txBody>
      </p:sp>
      <p:sp>
        <p:nvSpPr>
          <p:cNvPr id="8" name="连线-8">
            <a:extLst xmlns:a="http://schemas.openxmlformats.org/drawingml/2006/main">
              <a:ext uri="{FF2B5EF4-FFF2-40B4-BE49-F238E27FC236}">
                <a16:creationId xmlns:a16="http://schemas.microsoft.com/office/drawing/2014/main" id="{FDE65F53-5010-4594-B55A-68B740FC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94647" y="2606040"/>
            <a:ext cx="31225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8304">
            <a:solidFill>
              <a:srgbClr val="073E86"/>
            </a:solidFill>
            <a:prstDash val="solid"/>
          </a:ln>
        </p:spPr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366496CB-D139-4AEF-88A5-570AB048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582" y="2537460"/>
            <a:ext cx="152319" cy="137160"/>
          </a:xfrm>
          <a:custGeom xmlns:a="http://schemas.openxmlformats.org/drawingml/2006/main">
            <a:pathLst>
              <a:path w="199073" h="179261">
                <a:moveTo>
                  <a:pt x="199073" y="89630"/>
                </a:moveTo>
                <a:lnTo>
                  <a:pt x="0" y="0"/>
                </a:lnTo>
                <a:lnTo>
                  <a:pt x="0" y="179261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10" name="文字-10-填写处理作用">
            <a:extLst xmlns:a="http://schemas.openxmlformats.org/drawingml/2006/main">
              <a:ext uri="{FF2B5EF4-FFF2-40B4-BE49-F238E27FC236}">
                <a16:creationId xmlns:a16="http://schemas.microsoft.com/office/drawing/2014/main" id="{736B2895-C445-413E-B6BE-183ACC05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293" y="1943100"/>
            <a:ext cx="18430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处理作用</a:t>
            </a:r>
          </a:p>
        </p:txBody>
      </p:sp>
      <p:sp>
        <p:nvSpPr>
          <p:cNvPr id="11" name="文字-11-信号校正">
            <a:extLst xmlns:a="http://schemas.openxmlformats.org/drawingml/2006/main">
              <a:ext uri="{FF2B5EF4-FFF2-40B4-BE49-F238E27FC236}">
                <a16:creationId xmlns:a16="http://schemas.microsoft.com/office/drawing/2014/main" id="{1B5E3B6D-DD78-4423-9DD7-7A40D4C6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293" y="2331720"/>
            <a:ext cx="1843060" cy="556260"/>
          </a:xfrm>
          <a:prstGeom xmlns:a="http://schemas.openxmlformats.org/drawingml/2006/main" prst="roundRect">
            <a:avLst>
              <a:gd name="adj" fmla="val 10481"/>
            </a:avLst>
          </a:prstGeom>
          <a:solidFill xmlns:a="http://schemas.openxmlformats.org/drawingml/2006/main">
            <a:srgbClr val="073E86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信号校正</a:t>
            </a:r>
          </a:p>
        </p:txBody>
      </p:sp>
      <p:sp>
        <p:nvSpPr>
          <p:cNvPr id="12" name="连线-12">
            <a:extLst xmlns:a="http://schemas.openxmlformats.org/drawingml/2006/main">
              <a:ext uri="{FF2B5EF4-FFF2-40B4-BE49-F238E27FC236}">
                <a16:creationId xmlns:a16="http://schemas.microsoft.com/office/drawing/2014/main" id="{1ABA3CAE-077F-4C6E-A0BC-9BB26136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09897" y="2606040"/>
            <a:ext cx="31225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8304">
            <a:solidFill>
              <a:srgbClr val="073E86"/>
            </a:solidFill>
            <a:prstDash val="solid"/>
          </a:ln>
        </p:spPr>
      </p:sp>
      <p:sp>
        <p:nvSpPr>
          <p:cNvPr id="13" name="结构-13">
            <a:extLst xmlns:a="http://schemas.openxmlformats.org/drawingml/2006/main">
              <a:ext uri="{FF2B5EF4-FFF2-40B4-BE49-F238E27FC236}">
                <a16:creationId xmlns:a16="http://schemas.microsoft.com/office/drawing/2014/main" id="{5B8CAAB5-E549-4F58-B1BE-CF954B99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831" y="2537460"/>
            <a:ext cx="152319" cy="137160"/>
          </a:xfrm>
          <a:custGeom xmlns:a="http://schemas.openxmlformats.org/drawingml/2006/main">
            <a:pathLst>
              <a:path w="199073" h="179261">
                <a:moveTo>
                  <a:pt x="199073" y="89630"/>
                </a:moveTo>
                <a:lnTo>
                  <a:pt x="0" y="0"/>
                </a:lnTo>
                <a:lnTo>
                  <a:pt x="0" y="179261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14" name="文字-14-填写处理作用">
            <a:extLst xmlns:a="http://schemas.openxmlformats.org/drawingml/2006/main">
              <a:ext uri="{FF2B5EF4-FFF2-40B4-BE49-F238E27FC236}">
                <a16:creationId xmlns:a16="http://schemas.microsoft.com/office/drawing/2014/main" id="{04F64734-9C46-4078-98D1-1F093155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542" y="1943100"/>
            <a:ext cx="18430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处理作用</a:t>
            </a:r>
          </a:p>
        </p:txBody>
      </p:sp>
      <p:sp>
        <p:nvSpPr>
          <p:cNvPr id="15" name="文字-15-特征提取">
            <a:extLst xmlns:a="http://schemas.openxmlformats.org/drawingml/2006/main">
              <a:ext uri="{FF2B5EF4-FFF2-40B4-BE49-F238E27FC236}">
                <a16:creationId xmlns:a16="http://schemas.microsoft.com/office/drawing/2014/main" id="{8CE44032-56F7-4032-89B4-EEC0765F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542" y="2331720"/>
            <a:ext cx="1843060" cy="556260"/>
          </a:xfrm>
          <a:prstGeom xmlns:a="http://schemas.openxmlformats.org/drawingml/2006/main" prst="roundRect">
            <a:avLst>
              <a:gd name="adj" fmla="val 10481"/>
            </a:avLst>
          </a:prstGeom>
          <a:solidFill xmlns:a="http://schemas.openxmlformats.org/drawingml/2006/main">
            <a:srgbClr val="073E86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特征提取</a:t>
            </a:r>
          </a:p>
        </p:txBody>
      </p:sp>
      <p:sp>
        <p:nvSpPr>
          <p:cNvPr id="16" name="连线-16">
            <a:extLst xmlns:a="http://schemas.openxmlformats.org/drawingml/2006/main">
              <a:ext uri="{FF2B5EF4-FFF2-40B4-BE49-F238E27FC236}">
                <a16:creationId xmlns:a16="http://schemas.microsoft.com/office/drawing/2014/main" id="{010E30F0-E0B7-4DC0-8263-0D6A54D8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25146" y="2606040"/>
            <a:ext cx="31225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8304">
            <a:solidFill>
              <a:srgbClr val="073E86"/>
            </a:solidFill>
            <a:prstDash val="solid"/>
          </a:ln>
        </p:spPr>
      </p:sp>
      <p:sp>
        <p:nvSpPr>
          <p:cNvPr id="17" name="结构-17">
            <a:extLst xmlns:a="http://schemas.openxmlformats.org/drawingml/2006/main">
              <a:ext uri="{FF2B5EF4-FFF2-40B4-BE49-F238E27FC236}">
                <a16:creationId xmlns:a16="http://schemas.microsoft.com/office/drawing/2014/main" id="{6B5FCC1F-9C32-402D-88F8-60EB1DD8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5081" y="2537460"/>
            <a:ext cx="152319" cy="137160"/>
          </a:xfrm>
          <a:custGeom xmlns:a="http://schemas.openxmlformats.org/drawingml/2006/main">
            <a:pathLst>
              <a:path w="199073" h="179261">
                <a:moveTo>
                  <a:pt x="199073" y="89630"/>
                </a:moveTo>
                <a:lnTo>
                  <a:pt x="0" y="0"/>
                </a:lnTo>
                <a:lnTo>
                  <a:pt x="0" y="179261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18" name="文字-18-填写处理作用">
            <a:extLst xmlns:a="http://schemas.openxmlformats.org/drawingml/2006/main">
              <a:ext uri="{FF2B5EF4-FFF2-40B4-BE49-F238E27FC236}">
                <a16:creationId xmlns:a16="http://schemas.microsoft.com/office/drawing/2014/main" id="{202867E4-E5C5-4FB7-B442-451A61E9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791" y="1943100"/>
            <a:ext cx="18430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处理作用</a:t>
            </a:r>
          </a:p>
        </p:txBody>
      </p:sp>
      <p:sp>
        <p:nvSpPr>
          <p:cNvPr id="19" name="文字-19-结果计算">
            <a:extLst xmlns:a="http://schemas.openxmlformats.org/drawingml/2006/main">
              <a:ext uri="{FF2B5EF4-FFF2-40B4-BE49-F238E27FC236}">
                <a16:creationId xmlns:a16="http://schemas.microsoft.com/office/drawing/2014/main" id="{CE47F7D0-E482-4814-8674-4D7A65EC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791" y="2331720"/>
            <a:ext cx="1843060" cy="556260"/>
          </a:xfrm>
          <a:prstGeom xmlns:a="http://schemas.openxmlformats.org/drawingml/2006/main" prst="roundRect">
            <a:avLst>
              <a:gd name="adj" fmla="val 10481"/>
            </a:avLst>
          </a:prstGeom>
          <a:solidFill xmlns:a="http://schemas.openxmlformats.org/drawingml/2006/main">
            <a:srgbClr val="073E86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结果计算</a:t>
            </a:r>
          </a:p>
        </p:txBody>
      </p:sp>
      <p:sp>
        <p:nvSpPr>
          <p:cNvPr id="20" name="连线-20">
            <a:extLst xmlns:a="http://schemas.openxmlformats.org/drawingml/2006/main">
              <a:ext uri="{FF2B5EF4-FFF2-40B4-BE49-F238E27FC236}">
                <a16:creationId xmlns:a16="http://schemas.microsoft.com/office/drawing/2014/main" id="{EC925FC5-9619-4B67-8AD2-7B4F7EB6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40395" y="2606040"/>
            <a:ext cx="31225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8304">
            <a:solidFill>
              <a:srgbClr val="073E86"/>
            </a:solidFill>
            <a:prstDash val="solid"/>
          </a:ln>
        </p:spPr>
      </p:sp>
      <p:sp>
        <p:nvSpPr>
          <p:cNvPr id="21" name="结构-21">
            <a:extLst xmlns:a="http://schemas.openxmlformats.org/drawingml/2006/main">
              <a:ext uri="{FF2B5EF4-FFF2-40B4-BE49-F238E27FC236}">
                <a16:creationId xmlns:a16="http://schemas.microsoft.com/office/drawing/2014/main" id="{CB1197A4-FB85-4C78-82D0-5DD0F530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0330" y="2537460"/>
            <a:ext cx="152319" cy="137160"/>
          </a:xfrm>
          <a:custGeom xmlns:a="http://schemas.openxmlformats.org/drawingml/2006/main">
            <a:pathLst>
              <a:path w="199073" h="179261">
                <a:moveTo>
                  <a:pt x="199073" y="89630"/>
                </a:moveTo>
                <a:lnTo>
                  <a:pt x="0" y="0"/>
                </a:lnTo>
                <a:lnTo>
                  <a:pt x="0" y="179261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22" name="文字-22-填写关键关系式">
            <a:extLst xmlns:a="http://schemas.openxmlformats.org/drawingml/2006/main">
              <a:ext uri="{FF2B5EF4-FFF2-40B4-BE49-F238E27FC236}">
                <a16:creationId xmlns:a16="http://schemas.microsoft.com/office/drawing/2014/main" id="{C412A3DB-74BD-47C7-8AB4-D8C9F0FC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40" y="1943100"/>
            <a:ext cx="18430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关键关系式</a:t>
            </a:r>
          </a:p>
        </p:txBody>
      </p:sp>
      <p:sp>
        <p:nvSpPr>
          <p:cNvPr id="23" name="文字-23-输出量定义">
            <a:extLst xmlns:a="http://schemas.openxmlformats.org/drawingml/2006/main">
              <a:ext uri="{FF2B5EF4-FFF2-40B4-BE49-F238E27FC236}">
                <a16:creationId xmlns:a16="http://schemas.microsoft.com/office/drawing/2014/main" id="{ECE14ED4-52EF-49BF-8517-57F8F8D6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40" y="2331720"/>
            <a:ext cx="1843060" cy="556260"/>
          </a:xfrm>
          <a:prstGeom xmlns:a="http://schemas.openxmlformats.org/drawingml/2006/main" prst="roundRect">
            <a:avLst>
              <a:gd name="adj" fmla="val 1048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输出量定义</a:t>
            </a:r>
          </a:p>
        </p:txBody>
      </p:sp>
      <p:sp>
        <p:nvSpPr>
          <p:cNvPr id="24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FF6C4F18-4CBD-4D8C-B130-B693BEEE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3131820"/>
            <a:ext cx="2726511" cy="2049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5" name="文字-25-原理一">
            <a:extLst xmlns:a="http://schemas.openxmlformats.org/drawingml/2006/main">
              <a:ext uri="{FF2B5EF4-FFF2-40B4-BE49-F238E27FC236}">
                <a16:creationId xmlns:a16="http://schemas.microsoft.com/office/drawing/2014/main" id="{4C512AE4-7652-490A-9B45-3B33B7A0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5273040"/>
            <a:ext cx="2726511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原理一</a:t>
            </a:r>
          </a:p>
        </p:txBody>
      </p:sp>
      <p:sp>
        <p:nvSpPr>
          <p:cNvPr id="26" name="连线-26">
            <a:extLst xmlns:a="http://schemas.openxmlformats.org/drawingml/2006/main">
              <a:ext uri="{FF2B5EF4-FFF2-40B4-BE49-F238E27FC236}">
                <a16:creationId xmlns:a16="http://schemas.microsoft.com/office/drawing/2014/main" id="{7A4DAE88-0051-477D-931D-B4E7D6E8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2051" y="5684520"/>
            <a:ext cx="2307633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">
            <a:solidFill>
              <a:srgbClr val="B8C9DB"/>
            </a:solidFill>
            <a:prstDash val="solid"/>
          </a:ln>
        </p:spPr>
      </p:sp>
      <p:sp>
        <p:nvSpPr>
          <p:cNvPr id="27" name="文字-27-说明该项原理的作用与实现条件">
            <a:extLst xmlns:a="http://schemas.openxmlformats.org/drawingml/2006/main">
              <a:ext uri="{FF2B5EF4-FFF2-40B4-BE49-F238E27FC236}">
                <a16:creationId xmlns:a16="http://schemas.microsoft.com/office/drawing/2014/main" id="{CB7A473E-AF59-48A2-93EC-E9917270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84" y="5791200"/>
            <a:ext cx="2650351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原理或方法说明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关键参数与适用条件</a:t>
            </a:r>
          </a:p>
        </p:txBody>
      </p:sp>
      <p:sp>
        <p:nvSpPr>
          <p:cNvPr id="28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7307042C-2A97-41E9-8894-1EFB6AA0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866" y="3131820"/>
            <a:ext cx="2726511" cy="2049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9" name="文字-29-原理二">
            <a:extLst xmlns:a="http://schemas.openxmlformats.org/drawingml/2006/main">
              <a:ext uri="{FF2B5EF4-FFF2-40B4-BE49-F238E27FC236}">
                <a16:creationId xmlns:a16="http://schemas.microsoft.com/office/drawing/2014/main" id="{7B2B39B5-C640-472B-B8D1-33DE9098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866" y="5273040"/>
            <a:ext cx="2726511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原理二</a:t>
            </a:r>
          </a:p>
        </p:txBody>
      </p:sp>
      <p:sp>
        <p:nvSpPr>
          <p:cNvPr id="30" name="连线-30">
            <a:extLst xmlns:a="http://schemas.openxmlformats.org/drawingml/2006/main">
              <a:ext uri="{FF2B5EF4-FFF2-40B4-BE49-F238E27FC236}">
                <a16:creationId xmlns:a16="http://schemas.microsoft.com/office/drawing/2014/main" id="{1EC22B0C-A986-4348-A9F8-BEBAF157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6113" y="5684520"/>
            <a:ext cx="2307633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">
            <a:solidFill>
              <a:srgbClr val="B8C9DB"/>
            </a:solidFill>
            <a:prstDash val="solid"/>
          </a:ln>
        </p:spPr>
      </p:sp>
      <p:sp>
        <p:nvSpPr>
          <p:cNvPr id="31" name="文字-31-说明该项原理的作用与实现条件">
            <a:extLst xmlns:a="http://schemas.openxmlformats.org/drawingml/2006/main">
              <a:ext uri="{FF2B5EF4-FFF2-40B4-BE49-F238E27FC236}">
                <a16:creationId xmlns:a16="http://schemas.microsoft.com/office/drawing/2014/main" id="{683954C8-F704-4C08-B03B-D2FA97B8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46" y="5791200"/>
            <a:ext cx="2650351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原理或方法说明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关键参数与适用条件</a:t>
            </a:r>
          </a:p>
        </p:txBody>
      </p:sp>
      <p:sp>
        <p:nvSpPr>
          <p:cNvPr id="32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5F4FCFFD-6180-48EE-8FC6-C662F6BD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28" y="3131820"/>
            <a:ext cx="2726511" cy="2049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3" name="文字-33-原理三">
            <a:extLst xmlns:a="http://schemas.openxmlformats.org/drawingml/2006/main">
              <a:ext uri="{FF2B5EF4-FFF2-40B4-BE49-F238E27FC236}">
                <a16:creationId xmlns:a16="http://schemas.microsoft.com/office/drawing/2014/main" id="{DED86664-0995-42EE-AE30-09AF6155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28" y="5273040"/>
            <a:ext cx="2726511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原理三</a:t>
            </a:r>
          </a:p>
        </p:txBody>
      </p:sp>
      <p:sp>
        <p:nvSpPr>
          <p:cNvPr id="34" name="连线-34">
            <a:extLst xmlns:a="http://schemas.openxmlformats.org/drawingml/2006/main">
              <a:ext uri="{FF2B5EF4-FFF2-40B4-BE49-F238E27FC236}">
                <a16:creationId xmlns:a16="http://schemas.microsoft.com/office/drawing/2014/main" id="{A8A13226-45CB-4A1A-AC5E-8DACEFBB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70174" y="5684520"/>
            <a:ext cx="2307633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">
            <a:solidFill>
              <a:srgbClr val="B8C9DB"/>
            </a:solidFill>
            <a:prstDash val="solid"/>
          </a:ln>
        </p:spPr>
      </p:sp>
      <p:sp>
        <p:nvSpPr>
          <p:cNvPr id="35" name="文字-35-说明该项原理的作用与实现条件">
            <a:extLst xmlns:a="http://schemas.openxmlformats.org/drawingml/2006/main">
              <a:ext uri="{FF2B5EF4-FFF2-40B4-BE49-F238E27FC236}">
                <a16:creationId xmlns:a16="http://schemas.microsoft.com/office/drawing/2014/main" id="{10BEFCF0-A67A-4177-9920-0B2D543E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07" y="5791200"/>
            <a:ext cx="2650351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原理或方法说明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关键参数与适用条件</a:t>
            </a:r>
          </a:p>
        </p:txBody>
      </p:sp>
      <p:sp>
        <p:nvSpPr>
          <p:cNvPr id="36" name="图片区-4-图片区">
            <a:extLst xmlns:a="http://schemas.openxmlformats.org/drawingml/2006/main">
              <a:ext uri="{FF2B5EF4-FFF2-40B4-BE49-F238E27FC236}">
                <a16:creationId xmlns:a16="http://schemas.microsoft.com/office/drawing/2014/main" id="{BFED55E7-EF0F-4A8E-A72B-6540132F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989" y="3131820"/>
            <a:ext cx="2726511" cy="2049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7" name="文字-37-原理四">
            <a:extLst xmlns:a="http://schemas.openxmlformats.org/drawingml/2006/main">
              <a:ext uri="{FF2B5EF4-FFF2-40B4-BE49-F238E27FC236}">
                <a16:creationId xmlns:a16="http://schemas.microsoft.com/office/drawing/2014/main" id="{75B25F14-096C-4269-93CC-CF1A274E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989" y="5273040"/>
            <a:ext cx="2726511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原理四</a:t>
            </a:r>
          </a:p>
        </p:txBody>
      </p:sp>
      <p:sp>
        <p:nvSpPr>
          <p:cNvPr id="38" name="连线-38">
            <a:extLst xmlns:a="http://schemas.openxmlformats.org/drawingml/2006/main">
              <a:ext uri="{FF2B5EF4-FFF2-40B4-BE49-F238E27FC236}">
                <a16:creationId xmlns:a16="http://schemas.microsoft.com/office/drawing/2014/main" id="{EC3D6F0E-43A9-4C70-8392-78E959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64236" y="5684520"/>
            <a:ext cx="2307633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">
            <a:solidFill>
              <a:srgbClr val="B8C9DB"/>
            </a:solidFill>
            <a:prstDash val="solid"/>
          </a:ln>
        </p:spPr>
      </p:sp>
      <p:sp>
        <p:nvSpPr>
          <p:cNvPr id="39" name="文字-39-说明该项原理的作用与实现条件">
            <a:extLst xmlns:a="http://schemas.openxmlformats.org/drawingml/2006/main">
              <a:ext uri="{FF2B5EF4-FFF2-40B4-BE49-F238E27FC236}">
                <a16:creationId xmlns:a16="http://schemas.microsoft.com/office/drawing/2014/main" id="{2012EB75-C233-4869-9B7B-9048DA66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069" y="5791200"/>
            <a:ext cx="2650351" cy="701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原理或方法说明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关键参数与适用条件</a:t>
            </a:r>
          </a:p>
        </p:txBody>
      </p:sp>
    </p:spTree>
    <p:extLst>
      <p:ext uri="{BB962C8B-B14F-4D97-AF65-F5344CB8AC3E}">
        <p14:creationId xmlns:p14="http://schemas.microsoft.com/office/powerpoint/2010/main" val="52091438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结构-1">
            <a:extLst xmlns:a="http://schemas.openxmlformats.org/drawingml/2006/main">
              <a:ext uri="{FF2B5EF4-FFF2-40B4-BE49-F238E27FC236}">
                <a16:creationId xmlns:a16="http://schemas.microsoft.com/office/drawing/2014/main" id="{5DC68EBA-D80B-4A7D-8832-8E4B31B9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二：知识约束与增">
            <a:extLst xmlns:a="http://schemas.openxmlformats.org/drawingml/2006/main">
              <a:ext uri="{FF2B5EF4-FFF2-40B4-BE49-F238E27FC236}">
                <a16:creationId xmlns:a16="http://schemas.microsoft.com/office/drawing/2014/main" id="{38B09645-019D-4B24-BC17-D470CD4F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研究进展二：知识约束与增强推理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D2ECF5B6-B337-4633-9A58-E75A7FB2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C8F5DBD6-90E5-4BD7-98DB-21D383DD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概念层与实例层如何统">
            <a:extLst xmlns:a="http://schemas.openxmlformats.org/drawingml/2006/main">
              <a:ext uri="{FF2B5EF4-FFF2-40B4-BE49-F238E27FC236}">
                <a16:creationId xmlns:a16="http://schemas.microsoft.com/office/drawing/2014/main" id="{CFECC760-D7F6-48D3-9258-2D1F32DB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说明概念层与实例层如何统一描述研究对象，并区分内部关系与过程依赖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B91DD3EE-6B3A-4873-B348-DC94F81C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33625"/>
            <a:ext cx="4762500" cy="1676400"/>
          </a:xfrm>
          <a:prstGeom xmlns:a="http://schemas.openxmlformats.org/drawingml/2006/main" prst="roundRect">
            <a:avLst>
              <a:gd name="adj" fmla="val 454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7" name="文字-7-概念／模式层">
            <a:extLst xmlns:a="http://schemas.openxmlformats.org/drawingml/2006/main">
              <a:ext uri="{FF2B5EF4-FFF2-40B4-BE49-F238E27FC236}">
                <a16:creationId xmlns:a16="http://schemas.microsoft.com/office/drawing/2014/main" id="{FD8B0333-90DC-4DCB-8D84-0C7BD749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62175"/>
            <a:ext cx="4419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概念／模式层</a:t>
            </a:r>
          </a:p>
        </p:txBody>
      </p:sp>
      <p:sp>
        <p:nvSpPr>
          <p:cNvPr id="8" name="图片区-8">
            <a:extLst xmlns:a="http://schemas.openxmlformats.org/drawingml/2006/main">
              <a:ext uri="{FF2B5EF4-FFF2-40B4-BE49-F238E27FC236}">
                <a16:creationId xmlns:a16="http://schemas.microsoft.com/office/drawing/2014/main" id="{F061F6A8-C3A1-4F3B-8B52-E8B82CD3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05100"/>
            <a:ext cx="43624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BA1EF918-A5DC-43D3-8211-2665D688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419600"/>
            <a:ext cx="4762500" cy="1743075"/>
          </a:xfrm>
          <a:prstGeom xmlns:a="http://schemas.openxmlformats.org/drawingml/2006/main" prst="roundRect">
            <a:avLst>
              <a:gd name="adj" fmla="val 437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10" name="文字-10-实例／数据层">
            <a:extLst xmlns:a="http://schemas.openxmlformats.org/drawingml/2006/main">
              <a:ext uri="{FF2B5EF4-FFF2-40B4-BE49-F238E27FC236}">
                <a16:creationId xmlns:a16="http://schemas.microsoft.com/office/drawing/2014/main" id="{89600040-5084-4A66-8B85-99AF9B21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4419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实例／数据层</a:t>
            </a:r>
          </a:p>
        </p:txBody>
      </p:sp>
      <p:sp>
        <p:nvSpPr>
          <p:cNvPr id="11" name="图片区-11">
            <a:extLst xmlns:a="http://schemas.openxmlformats.org/drawingml/2006/main">
              <a:ext uri="{FF2B5EF4-FFF2-40B4-BE49-F238E27FC236}">
                <a16:creationId xmlns:a16="http://schemas.microsoft.com/office/drawing/2014/main" id="{B481A92A-C326-44DA-99E5-6CDDF7D8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91075"/>
            <a:ext cx="43624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2" name="连线-12">
            <a:extLst xmlns:a="http://schemas.openxmlformats.org/drawingml/2006/main">
              <a:ext uri="{FF2B5EF4-FFF2-40B4-BE49-F238E27FC236}">
                <a16:creationId xmlns:a16="http://schemas.microsoft.com/office/drawing/2014/main" id="{86E99C24-831C-46D8-B9B6-11713A1F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5400" y="401002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0D12"/>
            </a:solidFill>
            <a:prstDash val="dash"/>
          </a:ln>
        </p:spPr>
      </p:sp>
      <p:sp>
        <p:nvSpPr>
          <p:cNvPr id="13" name="结构-13">
            <a:extLst xmlns:a="http://schemas.openxmlformats.org/drawingml/2006/main">
              <a:ext uri="{FF2B5EF4-FFF2-40B4-BE49-F238E27FC236}">
                <a16:creationId xmlns:a16="http://schemas.microsoft.com/office/drawing/2014/main" id="{9040F332-9F32-4F6F-B2F9-67415B7A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3" y="4101465"/>
            <a:ext cx="89535" cy="108585"/>
          </a:xfrm>
          <a:custGeom xmlns:a="http://schemas.openxmlformats.org/drawingml/2006/main">
            <a:pathLst>
              <a:path w="89535" h="108585">
                <a:moveTo>
                  <a:pt x="44767" y="108585"/>
                </a:moveTo>
                <a:lnTo>
                  <a:pt x="8953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0D12"/>
          </a:solidFill>
          <a:ln xmlns:a="http://schemas.openxmlformats.org/drawingml/2006/main" w="0">
            <a:noFill/>
          </a:ln>
        </p:spPr>
      </p:sp>
      <p:sp>
        <p:nvSpPr>
          <p:cNvPr id="14" name="连线-14">
            <a:extLst xmlns:a="http://schemas.openxmlformats.org/drawingml/2006/main">
              <a:ext uri="{FF2B5EF4-FFF2-40B4-BE49-F238E27FC236}">
                <a16:creationId xmlns:a16="http://schemas.microsoft.com/office/drawing/2014/main" id="{9181C422-D249-4540-9C3D-707ED4B1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67000" y="401002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0D12"/>
            </a:solidFill>
            <a:prstDash val="dash"/>
          </a:ln>
        </p:spPr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826E0C3A-7261-4675-8FB0-4F87AEAA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233" y="4101465"/>
            <a:ext cx="89535" cy="108585"/>
          </a:xfrm>
          <a:custGeom xmlns:a="http://schemas.openxmlformats.org/drawingml/2006/main">
            <a:pathLst>
              <a:path w="89535" h="108585">
                <a:moveTo>
                  <a:pt x="44767" y="108585"/>
                </a:moveTo>
                <a:lnTo>
                  <a:pt x="8953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0D12"/>
          </a:solidFill>
          <a:ln xmlns:a="http://schemas.openxmlformats.org/drawingml/2006/main" w="0">
            <a:noFill/>
          </a:ln>
        </p:spPr>
      </p:sp>
      <p:sp>
        <p:nvSpPr>
          <p:cNvPr id="16" name="连线-16">
            <a:extLst xmlns:a="http://schemas.openxmlformats.org/drawingml/2006/main">
              <a:ext uri="{FF2B5EF4-FFF2-40B4-BE49-F238E27FC236}">
                <a16:creationId xmlns:a16="http://schemas.microsoft.com/office/drawing/2014/main" id="{C8EBF933-0969-415E-A4D7-A2C5BFEF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38600" y="401002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0D12"/>
            </a:solidFill>
            <a:prstDash val="dash"/>
          </a:ln>
        </p:spPr>
      </p:sp>
      <p:sp>
        <p:nvSpPr>
          <p:cNvPr id="17" name="结构-17">
            <a:extLst xmlns:a="http://schemas.openxmlformats.org/drawingml/2006/main">
              <a:ext uri="{FF2B5EF4-FFF2-40B4-BE49-F238E27FC236}">
                <a16:creationId xmlns:a16="http://schemas.microsoft.com/office/drawing/2014/main" id="{28898751-2F32-4D61-A660-592A661A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833" y="4101465"/>
            <a:ext cx="89535" cy="108585"/>
          </a:xfrm>
          <a:custGeom xmlns:a="http://schemas.openxmlformats.org/drawingml/2006/main">
            <a:pathLst>
              <a:path w="89535" h="108585">
                <a:moveTo>
                  <a:pt x="44767" y="108585"/>
                </a:moveTo>
                <a:lnTo>
                  <a:pt x="8953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0D12"/>
          </a:solidFill>
          <a:ln xmlns:a="http://schemas.openxmlformats.org/drawingml/2006/main" w="0">
            <a:noFill/>
          </a:ln>
        </p:spPr>
      </p:sp>
      <p:sp>
        <p:nvSpPr>
          <p:cNvPr id="18" name="文字-18-模型名称与形式化定义">
            <a:extLst xmlns:a="http://schemas.openxmlformats.org/drawingml/2006/main">
              <a:ext uri="{FF2B5EF4-FFF2-40B4-BE49-F238E27FC236}">
                <a16:creationId xmlns:a16="http://schemas.microsoft.com/office/drawing/2014/main" id="{D90D2034-8241-4B87-B185-9E250BC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76975"/>
            <a:ext cx="4476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模型名称与形式化定义</a:t>
            </a:r>
          </a:p>
        </p:txBody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9890DEE0-08B5-48F2-9FE7-22A49A82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66950"/>
            <a:ext cx="6505575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20" name="文字-20-关系一：填写单任务内部的">
            <a:extLst xmlns:a="http://schemas.openxmlformats.org/drawingml/2006/main">
              <a:ext uri="{FF2B5EF4-FFF2-40B4-BE49-F238E27FC236}">
                <a16:creationId xmlns:a16="http://schemas.microsoft.com/office/drawing/2014/main" id="{52B3CEB3-CE0D-4F5B-800E-7EBDC992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343150"/>
            <a:ext cx="62579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关系一：填写单任务内部的组合约束</a:t>
            </a:r>
          </a:p>
        </p:txBody>
      </p:sp>
      <p:sp>
        <p:nvSpPr>
          <p:cNvPr id="21" name="图片区-21">
            <a:extLst xmlns:a="http://schemas.openxmlformats.org/drawingml/2006/main">
              <a:ext uri="{FF2B5EF4-FFF2-40B4-BE49-F238E27FC236}">
                <a16:creationId xmlns:a16="http://schemas.microsoft.com/office/drawing/2014/main" id="{3298A4EC-8925-457B-9F43-7B050294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90850"/>
            <a:ext cx="5953125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2" name="文字-22-步骤1">
            <a:extLst xmlns:a="http://schemas.openxmlformats.org/drawingml/2006/main">
              <a:ext uri="{FF2B5EF4-FFF2-40B4-BE49-F238E27FC236}">
                <a16:creationId xmlns:a16="http://schemas.microsoft.com/office/drawing/2014/main" id="{075B0115-042B-4263-846E-61AD93E6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048250"/>
            <a:ext cx="13049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步骤1</a:t>
            </a:r>
          </a:p>
        </p:txBody>
      </p:sp>
      <p:sp>
        <p:nvSpPr>
          <p:cNvPr id="23" name="连线-23">
            <a:extLst xmlns:a="http://schemas.openxmlformats.org/drawingml/2006/main">
              <a:ext uri="{FF2B5EF4-FFF2-40B4-BE49-F238E27FC236}">
                <a16:creationId xmlns:a16="http://schemas.microsoft.com/office/drawing/2014/main" id="{B2412793-F25A-4C4A-BBB2-C39EC8C9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81825" y="5286375"/>
            <a:ext cx="142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4" name="结构-24">
            <a:extLst xmlns:a="http://schemas.openxmlformats.org/drawingml/2006/main">
              <a:ext uri="{FF2B5EF4-FFF2-40B4-BE49-F238E27FC236}">
                <a16:creationId xmlns:a16="http://schemas.microsoft.com/office/drawing/2014/main" id="{467B8928-2CB8-4758-8969-3B929A2B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38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5" name="文字-25-步骤2">
            <a:extLst xmlns:a="http://schemas.openxmlformats.org/drawingml/2006/main">
              <a:ext uri="{FF2B5EF4-FFF2-40B4-BE49-F238E27FC236}">
                <a16:creationId xmlns:a16="http://schemas.microsoft.com/office/drawing/2014/main" id="{360627BB-6B27-4F1C-A8D2-02286078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048250"/>
            <a:ext cx="13049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步骤2</a:t>
            </a:r>
          </a:p>
        </p:txBody>
      </p:sp>
      <p:sp>
        <p:nvSpPr>
          <p:cNvPr id="26" name="连线-26">
            <a:extLst xmlns:a="http://schemas.openxmlformats.org/drawingml/2006/main">
              <a:ext uri="{FF2B5EF4-FFF2-40B4-BE49-F238E27FC236}">
                <a16:creationId xmlns:a16="http://schemas.microsoft.com/office/drawing/2014/main" id="{EB63E3A5-62B5-44D9-A22A-965EEDF9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96300" y="5286375"/>
            <a:ext cx="142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7" name="结构-27">
            <a:extLst xmlns:a="http://schemas.openxmlformats.org/drawingml/2006/main">
              <a:ext uri="{FF2B5EF4-FFF2-40B4-BE49-F238E27FC236}">
                <a16:creationId xmlns:a16="http://schemas.microsoft.com/office/drawing/2014/main" id="{0BE6DB54-52B6-4E84-A326-735B7519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38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8" name="文字-28-步骤3">
            <a:extLst xmlns:a="http://schemas.openxmlformats.org/drawingml/2006/main">
              <a:ext uri="{FF2B5EF4-FFF2-40B4-BE49-F238E27FC236}">
                <a16:creationId xmlns:a16="http://schemas.microsoft.com/office/drawing/2014/main" id="{0D012EDC-A547-427A-B5A2-EC6AD6C8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48250"/>
            <a:ext cx="13049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步骤3</a:t>
            </a:r>
          </a:p>
        </p:txBody>
      </p:sp>
      <p:sp>
        <p:nvSpPr>
          <p:cNvPr id="29" name="连线-29">
            <a:extLst xmlns:a="http://schemas.openxmlformats.org/drawingml/2006/main">
              <a:ext uri="{FF2B5EF4-FFF2-40B4-BE49-F238E27FC236}">
                <a16:creationId xmlns:a16="http://schemas.microsoft.com/office/drawing/2014/main" id="{2CEE5A75-1047-4CE9-8C18-FD3E666B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10775" y="5286375"/>
            <a:ext cx="142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0" name="结构-30">
            <a:extLst xmlns:a="http://schemas.openxmlformats.org/drawingml/2006/main">
              <a:ext uri="{FF2B5EF4-FFF2-40B4-BE49-F238E27FC236}">
                <a16:creationId xmlns:a16="http://schemas.microsoft.com/office/drawing/2014/main" id="{57558F48-DCF9-43BC-9C38-80CDD0AE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2387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1" name="文字-31-步骤4">
            <a:extLst xmlns:a="http://schemas.openxmlformats.org/drawingml/2006/main">
              <a:ext uri="{FF2B5EF4-FFF2-40B4-BE49-F238E27FC236}">
                <a16:creationId xmlns:a16="http://schemas.microsoft.com/office/drawing/2014/main" id="{076AA706-2AAB-462B-B00E-D9065C87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048250"/>
            <a:ext cx="13049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步骤4</a:t>
            </a:r>
          </a:p>
        </p:txBody>
      </p:sp>
      <p:sp>
        <p:nvSpPr>
          <p:cNvPr id="32" name="文字-32-关系二：填写跨步骤的依赖">
            <a:extLst xmlns:a="http://schemas.openxmlformats.org/drawingml/2006/main">
              <a:ext uri="{FF2B5EF4-FFF2-40B4-BE49-F238E27FC236}">
                <a16:creationId xmlns:a16="http://schemas.microsoft.com/office/drawing/2014/main" id="{724D3AA2-2EF5-49E0-8D23-F9CF6E43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848350"/>
            <a:ext cx="62579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关系二：填写跨步骤的依赖与影响</a:t>
            </a:r>
          </a:p>
        </p:txBody>
      </p:sp>
      <p:sp>
        <p:nvSpPr>
          <p:cNvPr id="33" name="连线-33">
            <a:extLst xmlns:a="http://schemas.openxmlformats.org/drawingml/2006/main">
              <a:ext uri="{FF2B5EF4-FFF2-40B4-BE49-F238E27FC236}">
                <a16:creationId xmlns:a16="http://schemas.microsoft.com/office/drawing/2014/main" id="{087C75BB-7880-4212-B14B-6211160E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76825" y="423862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CB33EBF9-8DEE-4963-A87D-1DD894A1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81475"/>
            <a:ext cx="133350" cy="114300"/>
          </a:xfrm>
          <a:custGeom xmlns:a="http://schemas.openxmlformats.org/drawingml/2006/main"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3873356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结构-1">
            <a:extLst xmlns:a="http://schemas.openxmlformats.org/drawingml/2006/main">
              <a:ext uri="{FF2B5EF4-FFF2-40B4-BE49-F238E27FC236}">
                <a16:creationId xmlns:a16="http://schemas.microsoft.com/office/drawing/2014/main" id="{3C963D4E-E016-483C-A410-CEC5115D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870A09F7-3D6E-49A7-965E-781456C4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D266874A-94F4-4A94-8E15-71A568F4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E3514628-7EEB-4016-8FBF-57DF50BF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提出结构与属性融合的建模">
            <a:extLst xmlns:a="http://schemas.openxmlformats.org/drawingml/2006/main">
              <a:ext uri="{FF2B5EF4-FFF2-40B4-BE49-F238E27FC236}">
                <a16:creationId xmlns:a16="http://schemas.microsoft.com/office/drawing/2014/main" id="{7BFD25B2-6562-44EE-823E-E80FA14D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提出结构与属性融合的建模方法，说明两类信息的作用与融合方式</a:t>
            </a:r>
          </a:p>
        </p:txBody>
      </p:sp>
      <p:sp>
        <p:nvSpPr>
          <p:cNvPr id="6" name="文字-6-补充模型假设、推断目标与">
            <a:extLst xmlns:a="http://schemas.openxmlformats.org/drawingml/2006/main">
              <a:ext uri="{FF2B5EF4-FFF2-40B4-BE49-F238E27FC236}">
                <a16:creationId xmlns:a16="http://schemas.microsoft.com/office/drawing/2014/main" id="{58BF0BCB-6A37-4E21-B62D-F8927E22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704975"/>
            <a:ext cx="114966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补充模型假设、推断目标与关键参数的通用说明</a:t>
            </a:r>
          </a:p>
        </p:txBody>
      </p:sp>
      <p:sp>
        <p:nvSpPr>
          <p:cNvPr id="7" name="文字-7-输入关系模型">
            <a:extLst xmlns:a="http://schemas.openxmlformats.org/drawingml/2006/main">
              <a:ext uri="{FF2B5EF4-FFF2-40B4-BE49-F238E27FC236}">
                <a16:creationId xmlns:a16="http://schemas.microsoft.com/office/drawing/2014/main" id="{B3E78555-A592-462B-B5C9-5B694694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14625"/>
            <a:ext cx="266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输入关系模型</a:t>
            </a:r>
          </a:p>
        </p:txBody>
      </p:sp>
      <p:sp>
        <p:nvSpPr>
          <p:cNvPr id="8" name="图片区-8">
            <a:extLst xmlns:a="http://schemas.openxmlformats.org/drawingml/2006/main">
              <a:ext uri="{FF2B5EF4-FFF2-40B4-BE49-F238E27FC236}">
                <a16:creationId xmlns:a16="http://schemas.microsoft.com/office/drawing/2014/main" id="{969E9FF9-7E70-4DA2-B33A-82A7819D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24225"/>
            <a:ext cx="2533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连线-9">
            <a:extLst xmlns:a="http://schemas.openxmlformats.org/drawingml/2006/main">
              <a:ext uri="{FF2B5EF4-FFF2-40B4-BE49-F238E27FC236}">
                <a16:creationId xmlns:a16="http://schemas.microsoft.com/office/drawing/2014/main" id="{56DD185C-B8A6-4680-ACE4-9A957DFC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38450" y="429577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10" name="连线-10">
            <a:extLst xmlns:a="http://schemas.openxmlformats.org/drawingml/2006/main">
              <a:ext uri="{FF2B5EF4-FFF2-40B4-BE49-F238E27FC236}">
                <a16:creationId xmlns:a16="http://schemas.microsoft.com/office/drawing/2014/main" id="{350C79CC-838C-4C9A-B8BD-2BC5A8A7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71825" y="2971800"/>
            <a:ext cx="953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11" name="连线-11">
            <a:extLst xmlns:a="http://schemas.openxmlformats.org/drawingml/2006/main">
              <a:ext uri="{FF2B5EF4-FFF2-40B4-BE49-F238E27FC236}">
                <a16:creationId xmlns:a16="http://schemas.microsoft.com/office/drawing/2014/main" id="{290762E7-2E21-4A8E-AC09-B6374409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71825" y="2971800"/>
            <a:ext cx="4667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B68D0D35-7D3F-467A-B709-A2459E40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41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4243B"/>
          </a:solidFill>
          <a:ln xmlns:a="http://schemas.openxmlformats.org/drawingml/2006/main" w="0">
            <a:noFill/>
          </a:ln>
        </p:spPr>
      </p:sp>
      <p:sp>
        <p:nvSpPr>
          <p:cNvPr id="13" name="连线-13">
            <a:extLst xmlns:a="http://schemas.openxmlformats.org/drawingml/2006/main">
              <a:ext uri="{FF2B5EF4-FFF2-40B4-BE49-F238E27FC236}">
                <a16:creationId xmlns:a16="http://schemas.microsoft.com/office/drawing/2014/main" id="{72955E3B-EEE7-4D5C-8A58-3EE592EC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38450" y="429577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14" name="连线-14">
            <a:extLst xmlns:a="http://schemas.openxmlformats.org/drawingml/2006/main">
              <a:ext uri="{FF2B5EF4-FFF2-40B4-BE49-F238E27FC236}">
                <a16:creationId xmlns:a16="http://schemas.microsoft.com/office/drawing/2014/main" id="{D201CCA5-A1BC-457B-93D7-14145018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71825" y="4295775"/>
            <a:ext cx="953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15" name="连线-15">
            <a:extLst xmlns:a="http://schemas.openxmlformats.org/drawingml/2006/main">
              <a:ext uri="{FF2B5EF4-FFF2-40B4-BE49-F238E27FC236}">
                <a16:creationId xmlns:a16="http://schemas.microsoft.com/office/drawing/2014/main" id="{1A3C53E9-0707-4A8F-A747-104EC06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71825" y="5095875"/>
            <a:ext cx="4667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16" name="结构-16">
            <a:extLst xmlns:a="http://schemas.openxmlformats.org/drawingml/2006/main">
              <a:ext uri="{FF2B5EF4-FFF2-40B4-BE49-F238E27FC236}">
                <a16:creationId xmlns:a16="http://schemas.microsoft.com/office/drawing/2014/main" id="{4D95DF31-8360-4AF7-9893-481111B6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482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4243B"/>
          </a:solidFill>
          <a:ln xmlns:a="http://schemas.openxmlformats.org/drawingml/2006/main" w="0">
            <a:noFill/>
          </a:ln>
        </p:spPr>
      </p:sp>
      <p:sp>
        <p:nvSpPr>
          <p:cNvPr id="17" name="结构-17">
            <a:extLst xmlns:a="http://schemas.openxmlformats.org/drawingml/2006/main">
              <a:ext uri="{FF2B5EF4-FFF2-40B4-BE49-F238E27FC236}">
                <a16:creationId xmlns:a16="http://schemas.microsoft.com/office/drawing/2014/main" id="{693C7A42-AF3B-4CB7-BD38-FF5F5EC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05075"/>
            <a:ext cx="3990975" cy="1762125"/>
          </a:xfrm>
          <a:prstGeom xmlns:a="http://schemas.openxmlformats.org/drawingml/2006/main" prst="roundRect">
            <a:avLst>
              <a:gd name="adj" fmla="val 43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18" name="文字-18-结构信息建模">
            <a:extLst xmlns:a="http://schemas.openxmlformats.org/drawingml/2006/main">
              <a:ext uri="{FF2B5EF4-FFF2-40B4-BE49-F238E27FC236}">
                <a16:creationId xmlns:a16="http://schemas.microsoft.com/office/drawing/2014/main" id="{E70F3EA5-513E-47F1-8664-7CCE6F01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36480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结构信息建模</a:t>
            </a:r>
          </a:p>
        </p:txBody>
      </p:sp>
      <p:sp>
        <p:nvSpPr>
          <p:cNvPr id="19" name="图片区-19">
            <a:extLst xmlns:a="http://schemas.openxmlformats.org/drawingml/2006/main">
              <a:ext uri="{FF2B5EF4-FFF2-40B4-BE49-F238E27FC236}">
                <a16:creationId xmlns:a16="http://schemas.microsoft.com/office/drawing/2014/main" id="{0D6920AB-902C-4BFB-83FE-99537336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36385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1F3AF867-258D-42E7-B556-2138A81C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72000"/>
            <a:ext cx="3990975" cy="1762125"/>
          </a:xfrm>
          <a:prstGeom xmlns:a="http://schemas.openxmlformats.org/drawingml/2006/main" prst="roundRect">
            <a:avLst>
              <a:gd name="adj" fmla="val 43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21" name="文字-21-属性信息建模">
            <a:extLst xmlns:a="http://schemas.openxmlformats.org/drawingml/2006/main">
              <a:ext uri="{FF2B5EF4-FFF2-40B4-BE49-F238E27FC236}">
                <a16:creationId xmlns:a16="http://schemas.microsoft.com/office/drawing/2014/main" id="{8374A1DB-9EE5-40C5-A656-9A31CD62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00550"/>
            <a:ext cx="36480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属性信息建模</a:t>
            </a:r>
          </a:p>
        </p:txBody>
      </p:sp>
      <p:sp>
        <p:nvSpPr>
          <p:cNvPr id="22" name="图片区-22">
            <a:extLst xmlns:a="http://schemas.openxmlformats.org/drawingml/2006/main">
              <a:ext uri="{FF2B5EF4-FFF2-40B4-BE49-F238E27FC236}">
                <a16:creationId xmlns:a16="http://schemas.microsoft.com/office/drawing/2014/main" id="{D3014078-5983-4E04-B471-C091E678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05375"/>
            <a:ext cx="36385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3" name="连线-23">
            <a:extLst xmlns:a="http://schemas.openxmlformats.org/drawingml/2006/main">
              <a:ext uri="{FF2B5EF4-FFF2-40B4-BE49-F238E27FC236}">
                <a16:creationId xmlns:a16="http://schemas.microsoft.com/office/drawing/2014/main" id="{7FFB8940-CB18-40F0-A2E9-38DA52EB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86675" y="4295775"/>
            <a:ext cx="5810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24" name="结构-24">
            <a:extLst xmlns:a="http://schemas.openxmlformats.org/drawingml/2006/main">
              <a:ext uri="{FF2B5EF4-FFF2-40B4-BE49-F238E27FC236}">
                <a16:creationId xmlns:a16="http://schemas.microsoft.com/office/drawing/2014/main" id="{09FA4A2C-6516-4241-BB1F-8DEB7242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38625"/>
            <a:ext cx="133350" cy="114300"/>
          </a:xfrm>
          <a:custGeom xmlns:a="http://schemas.openxmlformats.org/drawingml/2006/main"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5" name="文字-25-融合参数">
            <a:extLst xmlns:a="http://schemas.openxmlformats.org/drawingml/2006/main">
              <a:ext uri="{FF2B5EF4-FFF2-40B4-BE49-F238E27FC236}">
                <a16:creationId xmlns:a16="http://schemas.microsoft.com/office/drawing/2014/main" id="{42E1E957-E519-47D0-8914-D299A0BF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融合参数</a:t>
            </a:r>
          </a:p>
        </p:txBody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EEA64F6F-C534-4166-87FA-4F32D161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86025"/>
            <a:ext cx="3400425" cy="3800475"/>
          </a:xfrm>
          <a:prstGeom xmlns:a="http://schemas.openxmlformats.org/drawingml/2006/main" prst="roundRect">
            <a:avLst>
              <a:gd name="adj" fmla="val 224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27" name="文字-27-模型推断与输出">
            <a:extLst xmlns:a="http://schemas.openxmlformats.org/drawingml/2006/main">
              <a:ext uri="{FF2B5EF4-FFF2-40B4-BE49-F238E27FC236}">
                <a16:creationId xmlns:a16="http://schemas.microsoft.com/office/drawing/2014/main" id="{A38E68D3-6D8E-4CD2-8117-BCDCB6EF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14575"/>
            <a:ext cx="30575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模型推断与输出</a:t>
            </a:r>
          </a:p>
        </p:txBody>
      </p:sp>
      <p:sp>
        <p:nvSpPr>
          <p:cNvPr id="28" name="文字-28-初始化">
            <a:extLst xmlns:a="http://schemas.openxmlformats.org/drawingml/2006/main">
              <a:ext uri="{FF2B5EF4-FFF2-40B4-BE49-F238E27FC236}">
                <a16:creationId xmlns:a16="http://schemas.microsoft.com/office/drawing/2014/main" id="{D8D4C3E2-18F3-4DA4-9E51-2642D45C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初始化</a:t>
            </a:r>
          </a:p>
        </p:txBody>
      </p:sp>
      <p:sp>
        <p:nvSpPr>
          <p:cNvPr id="29" name="连线-29">
            <a:extLst xmlns:a="http://schemas.openxmlformats.org/drawingml/2006/main">
              <a:ext uri="{FF2B5EF4-FFF2-40B4-BE49-F238E27FC236}">
                <a16:creationId xmlns:a16="http://schemas.microsoft.com/office/drawing/2014/main" id="{0DD01297-F6BC-438D-BBDF-F480EBA6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15550" y="3295650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0" name="结构-30">
            <a:extLst xmlns:a="http://schemas.openxmlformats.org/drawingml/2006/main">
              <a:ext uri="{FF2B5EF4-FFF2-40B4-BE49-F238E27FC236}">
                <a16:creationId xmlns:a16="http://schemas.microsoft.com/office/drawing/2014/main" id="{8D551D82-9A50-41DA-944B-CF95415A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3242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1" name="文字-31-参数估计">
            <a:extLst xmlns:a="http://schemas.openxmlformats.org/drawingml/2006/main">
              <a:ext uri="{FF2B5EF4-FFF2-40B4-BE49-F238E27FC236}">
                <a16:creationId xmlns:a16="http://schemas.microsoft.com/office/drawing/2014/main" id="{60543E18-5A8E-4BEF-B6A8-875B8562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38525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参数估计</a:t>
            </a:r>
          </a:p>
        </p:txBody>
      </p:sp>
      <p:sp>
        <p:nvSpPr>
          <p:cNvPr id="32" name="连线-32">
            <a:extLst xmlns:a="http://schemas.openxmlformats.org/drawingml/2006/main">
              <a:ext uri="{FF2B5EF4-FFF2-40B4-BE49-F238E27FC236}">
                <a16:creationId xmlns:a16="http://schemas.microsoft.com/office/drawing/2014/main" id="{D50583F5-8D16-4EDE-A07B-F90A6A4E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15550" y="3829050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3" name="结构-33">
            <a:extLst xmlns:a="http://schemas.openxmlformats.org/drawingml/2006/main">
              <a:ext uri="{FF2B5EF4-FFF2-40B4-BE49-F238E27FC236}">
                <a16:creationId xmlns:a16="http://schemas.microsoft.com/office/drawing/2014/main" id="{C187A1D5-BB94-43E8-8562-1E67F451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8576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4" name="文字-34-收敛判断">
            <a:extLst xmlns:a="http://schemas.openxmlformats.org/drawingml/2006/main">
              <a:ext uri="{FF2B5EF4-FFF2-40B4-BE49-F238E27FC236}">
                <a16:creationId xmlns:a16="http://schemas.microsoft.com/office/drawing/2014/main" id="{3E078F42-7850-4EBC-A718-104A20CC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71925"/>
            <a:ext cx="2895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收敛判断</a:t>
            </a:r>
          </a:p>
        </p:txBody>
      </p:sp>
      <p:sp>
        <p:nvSpPr>
          <p:cNvPr id="35" name="图片区-35">
            <a:extLst xmlns:a="http://schemas.openxmlformats.org/drawingml/2006/main">
              <a:ext uri="{FF2B5EF4-FFF2-40B4-BE49-F238E27FC236}">
                <a16:creationId xmlns:a16="http://schemas.microsoft.com/office/drawing/2014/main" id="{01DEF089-7F54-4D2C-8D3A-DD3AF70F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81525"/>
            <a:ext cx="28956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7268594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结构-1">
            <a:extLst xmlns:a="http://schemas.openxmlformats.org/drawingml/2006/main">
              <a:ext uri="{FF2B5EF4-FFF2-40B4-BE49-F238E27FC236}">
                <a16:creationId xmlns:a16="http://schemas.microsoft.com/office/drawing/2014/main" id="{41C0FBF7-874A-4EDB-B2EA-B23E0215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C0464BDA-6FEA-495B-9B0A-1303C609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109E9314-22E3-40B4-8FCB-11172585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CA9D70EC-63F2-4994-B8C1-73F0A974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两类指标如何共同识别">
            <a:extLst xmlns:a="http://schemas.openxmlformats.org/drawingml/2006/main">
              <a:ext uri="{FF2B5EF4-FFF2-40B4-BE49-F238E27FC236}">
                <a16:creationId xmlns:a16="http://schemas.microsoft.com/office/drawing/2014/main" id="{C75FC42B-791D-4B4F-B794-F97123CD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说明两类指标如何共同识别关键问题，以及识别结果如何支持后续优化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4ED6EB91-C2C7-461F-BB42-9D926C71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3505200" cy="1628775"/>
          </a:xfrm>
          <a:prstGeom xmlns:a="http://schemas.openxmlformats.org/drawingml/2006/main" prst="roundRect">
            <a:avLst>
              <a:gd name="adj" fmla="val 46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7" name="文字-7-结构指标">
            <a:extLst xmlns:a="http://schemas.openxmlformats.org/drawingml/2006/main">
              <a:ext uri="{FF2B5EF4-FFF2-40B4-BE49-F238E27FC236}">
                <a16:creationId xmlns:a16="http://schemas.microsoft.com/office/drawing/2014/main" id="{88F6F400-A070-4F7E-AAAE-6794124F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162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结构指标</a:t>
            </a:r>
          </a:p>
        </p:txBody>
      </p:sp>
      <p:sp>
        <p:nvSpPr>
          <p:cNvPr id="8" name="图片区-8">
            <a:extLst xmlns:a="http://schemas.openxmlformats.org/drawingml/2006/main">
              <a:ext uri="{FF2B5EF4-FFF2-40B4-BE49-F238E27FC236}">
                <a16:creationId xmlns:a16="http://schemas.microsoft.com/office/drawing/2014/main" id="{C5660BD2-3A61-4783-BB95-05442A8B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895600"/>
            <a:ext cx="13906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文字-9-填写指标名称填写计算含义">
            <a:extLst xmlns:a="http://schemas.openxmlformats.org/drawingml/2006/main">
              <a:ext uri="{FF2B5EF4-FFF2-40B4-BE49-F238E27FC236}">
                <a16:creationId xmlns:a16="http://schemas.microsoft.com/office/drawing/2014/main" id="{5247878E-254B-4224-938B-B04F6441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019425"/>
            <a:ext cx="1581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填写指标名称</a:t>
            </a:r>
          </a:p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填写计算含义</a:t>
            </a:r>
          </a:p>
        </p:txBody>
      </p:sp>
      <p:sp>
        <p:nvSpPr>
          <p:cNvPr id="10" name="结构-10">
            <a:extLst xmlns:a="http://schemas.openxmlformats.org/drawingml/2006/main">
              <a:ext uri="{FF2B5EF4-FFF2-40B4-BE49-F238E27FC236}">
                <a16:creationId xmlns:a16="http://schemas.microsoft.com/office/drawing/2014/main" id="{CE1DB38F-961E-4571-855F-0FB6C7E4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81525"/>
            <a:ext cx="3505200" cy="1628775"/>
          </a:xfrm>
          <a:prstGeom xmlns:a="http://schemas.openxmlformats.org/drawingml/2006/main" prst="roundRect">
            <a:avLst>
              <a:gd name="adj" fmla="val 46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11" name="文字-11-功能指标">
            <a:extLst xmlns:a="http://schemas.openxmlformats.org/drawingml/2006/main">
              <a:ext uri="{FF2B5EF4-FFF2-40B4-BE49-F238E27FC236}">
                <a16:creationId xmlns:a16="http://schemas.microsoft.com/office/drawing/2014/main" id="{37A1601B-3686-4CA2-8C4D-7AE1901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3162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功能指标</a:t>
            </a:r>
          </a:p>
        </p:txBody>
      </p:sp>
      <p:sp>
        <p:nvSpPr>
          <p:cNvPr id="12" name="图片区-12">
            <a:extLst xmlns:a="http://schemas.openxmlformats.org/drawingml/2006/main">
              <a:ext uri="{FF2B5EF4-FFF2-40B4-BE49-F238E27FC236}">
                <a16:creationId xmlns:a16="http://schemas.microsoft.com/office/drawing/2014/main" id="{96279B48-62D3-4667-9D77-8250E646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905375"/>
            <a:ext cx="13906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3" name="文字-13-填写指标名称填写计算含义">
            <a:extLst xmlns:a="http://schemas.openxmlformats.org/drawingml/2006/main">
              <a:ext uri="{FF2B5EF4-FFF2-40B4-BE49-F238E27FC236}">
                <a16:creationId xmlns:a16="http://schemas.microsoft.com/office/drawing/2014/main" id="{B7B0DBAA-AF99-47AE-9809-3CD269E1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29200"/>
            <a:ext cx="15811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填写指标名称</a:t>
            </a:r>
          </a:p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填写计算含义</a:t>
            </a:r>
          </a:p>
        </p:txBody>
      </p:sp>
      <p:sp>
        <p:nvSpPr>
          <p:cNvPr id="14" name="结构-14">
            <a:extLst xmlns:a="http://schemas.openxmlformats.org/drawingml/2006/main">
              <a:ext uri="{FF2B5EF4-FFF2-40B4-BE49-F238E27FC236}">
                <a16:creationId xmlns:a16="http://schemas.microsoft.com/office/drawing/2014/main" id="{E105FC67-9272-48BD-8861-2C84B6F2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257550" cy="3638550"/>
          </a:xfrm>
          <a:prstGeom xmlns:a="http://schemas.openxmlformats.org/drawingml/2006/main" prst="roundRect">
            <a:avLst>
              <a:gd name="adj" fmla="val 23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15" name="文字-15-综合识别结果">
            <a:extLst xmlns:a="http://schemas.openxmlformats.org/drawingml/2006/main">
              <a:ext uri="{FF2B5EF4-FFF2-40B4-BE49-F238E27FC236}">
                <a16:creationId xmlns:a16="http://schemas.microsoft.com/office/drawing/2014/main" id="{DB5E5814-ABB5-4820-8D20-C4A90D7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0300"/>
            <a:ext cx="29146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综合识别结果</a:t>
            </a:r>
          </a:p>
        </p:txBody>
      </p:sp>
      <p:sp>
        <p:nvSpPr>
          <p:cNvPr id="16" name="图片区-16">
            <a:extLst xmlns:a="http://schemas.openxmlformats.org/drawingml/2006/main">
              <a:ext uri="{FF2B5EF4-FFF2-40B4-BE49-F238E27FC236}">
                <a16:creationId xmlns:a16="http://schemas.microsoft.com/office/drawing/2014/main" id="{19C9E3F9-3CC8-49D1-9A31-F7BAD5DA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00375"/>
            <a:ext cx="28575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09A5F410-CFE9-41B7-BC69-BE8E795D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9050" y="3371850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A1A99A86-F568-4AE8-B31B-7DEED8B7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62425" y="3371850"/>
            <a:ext cx="953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19" name="连线-19">
            <a:extLst xmlns:a="http://schemas.openxmlformats.org/drawingml/2006/main">
              <a:ext uri="{FF2B5EF4-FFF2-40B4-BE49-F238E27FC236}">
                <a16:creationId xmlns:a16="http://schemas.microsoft.com/office/drawing/2014/main" id="{345D6D8E-9C1A-4C06-9699-DB00F8D8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62425" y="4400550"/>
            <a:ext cx="352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5E15B9FE-0769-4F06-9DCA-3F19B2F2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52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4243B"/>
          </a:solidFill>
          <a:ln xmlns:a="http://schemas.openxmlformats.org/drawingml/2006/main" w="0">
            <a:noFill/>
          </a:ln>
        </p:spPr>
      </p:sp>
      <p:sp>
        <p:nvSpPr>
          <p:cNvPr id="21" name="连线-21">
            <a:extLst xmlns:a="http://schemas.openxmlformats.org/drawingml/2006/main">
              <a:ext uri="{FF2B5EF4-FFF2-40B4-BE49-F238E27FC236}">
                <a16:creationId xmlns:a16="http://schemas.microsoft.com/office/drawing/2014/main" id="{37518D5F-47E4-45E2-8E73-09DBEF40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9050" y="53816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22" name="连线-22">
            <a:extLst xmlns:a="http://schemas.openxmlformats.org/drawingml/2006/main">
              <a:ext uri="{FF2B5EF4-FFF2-40B4-BE49-F238E27FC236}">
                <a16:creationId xmlns:a16="http://schemas.microsoft.com/office/drawing/2014/main" id="{4F95F5FC-DDE9-437A-AA3E-1C543C11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62425" y="4400550"/>
            <a:ext cx="953" cy="981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23" name="连线-23">
            <a:extLst xmlns:a="http://schemas.openxmlformats.org/drawingml/2006/main">
              <a:ext uri="{FF2B5EF4-FFF2-40B4-BE49-F238E27FC236}">
                <a16:creationId xmlns:a16="http://schemas.microsoft.com/office/drawing/2014/main" id="{BA8CBF23-ECE2-4E5D-9594-85B0A26C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62425" y="4400550"/>
            <a:ext cx="352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B"/>
            </a:solidFill>
            <a:prstDash val="solid"/>
          </a:ln>
        </p:spPr>
      </p:sp>
      <p:sp>
        <p:nvSpPr>
          <p:cNvPr id="24" name="结构-24">
            <a:extLst xmlns:a="http://schemas.openxmlformats.org/drawingml/2006/main">
              <a:ext uri="{FF2B5EF4-FFF2-40B4-BE49-F238E27FC236}">
                <a16:creationId xmlns:a16="http://schemas.microsoft.com/office/drawing/2014/main" id="{5D6AA80B-37FA-4BEA-87F4-6D40BD6B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52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14243B"/>
          </a:solidFill>
          <a:ln xmlns:a="http://schemas.openxmlformats.org/drawingml/2006/main" w="0">
            <a:noFill/>
          </a:ln>
        </p:spPr>
      </p:sp>
      <p:sp>
        <p:nvSpPr>
          <p:cNvPr id="25" name="连线-25">
            <a:extLst xmlns:a="http://schemas.openxmlformats.org/drawingml/2006/main">
              <a:ext uri="{FF2B5EF4-FFF2-40B4-BE49-F238E27FC236}">
                <a16:creationId xmlns:a16="http://schemas.microsoft.com/office/drawing/2014/main" id="{28475A81-A42A-4935-88B7-0698F018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67650" y="4400550"/>
            <a:ext cx="6381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243B"/>
            </a:solidFill>
            <a:prstDash val="solid"/>
          </a:ln>
        </p:spPr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C0E0A67E-BA53-4F4F-9943-DFC625FD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8163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14243B"/>
          </a:solidFill>
          <a:ln xmlns:a="http://schemas.openxmlformats.org/drawingml/2006/main" w="0">
            <a:noFill/>
          </a:ln>
        </p:spPr>
      </p:sp>
      <p:sp>
        <p:nvSpPr>
          <p:cNvPr id="27" name="结构-27">
            <a:extLst xmlns:a="http://schemas.openxmlformats.org/drawingml/2006/main">
              <a:ext uri="{FF2B5EF4-FFF2-40B4-BE49-F238E27FC236}">
                <a16:creationId xmlns:a16="http://schemas.microsoft.com/office/drawing/2014/main" id="{83260064-AA45-4FA3-9690-6C2AF62E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3276600" cy="3638550"/>
          </a:xfrm>
          <a:prstGeom xmlns:a="http://schemas.openxmlformats.org/drawingml/2006/main" prst="roundRect">
            <a:avLst>
              <a:gd name="adj" fmla="val 232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dash"/>
          </a:ln>
        </p:spPr>
      </p:sp>
      <p:sp>
        <p:nvSpPr>
          <p:cNvPr id="28" name="文字-28-优化策略">
            <a:extLst xmlns:a="http://schemas.openxmlformats.org/drawingml/2006/main">
              <a:ext uri="{FF2B5EF4-FFF2-40B4-BE49-F238E27FC236}">
                <a16:creationId xmlns:a16="http://schemas.microsoft.com/office/drawing/2014/main" id="{1FC54821-71DB-4D77-8BE9-E9CD0C38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00300"/>
            <a:ext cx="2933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优化策略</a:t>
            </a:r>
          </a:p>
        </p:txBody>
      </p:sp>
      <p:sp>
        <p:nvSpPr>
          <p:cNvPr id="29" name="文字-29-资源重新配置">
            <a:extLst xmlns:a="http://schemas.openxmlformats.org/drawingml/2006/main">
              <a:ext uri="{FF2B5EF4-FFF2-40B4-BE49-F238E27FC236}">
                <a16:creationId xmlns:a16="http://schemas.microsoft.com/office/drawing/2014/main" id="{E003A313-7C2E-4D12-8D2B-2B789EBE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52750"/>
            <a:ext cx="16668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资源重新配置</a:t>
            </a:r>
          </a:p>
        </p:txBody>
      </p:sp>
      <p:sp>
        <p:nvSpPr>
          <p:cNvPr id="30" name="图片区-30">
            <a:extLst xmlns:a="http://schemas.openxmlformats.org/drawingml/2006/main">
              <a:ext uri="{FF2B5EF4-FFF2-40B4-BE49-F238E27FC236}">
                <a16:creationId xmlns:a16="http://schemas.microsoft.com/office/drawing/2014/main" id="{27A9018D-073F-44F7-AB48-9EFDFFB2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71800"/>
            <a:ext cx="1209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31" name="连线-31">
            <a:extLst xmlns:a="http://schemas.openxmlformats.org/drawingml/2006/main">
              <a:ext uri="{FF2B5EF4-FFF2-40B4-BE49-F238E27FC236}">
                <a16:creationId xmlns:a16="http://schemas.microsoft.com/office/drawing/2014/main" id="{5CC92910-8CE4-438F-9E32-CD285FC1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82150" y="3581400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32" name="结构-32">
            <a:extLst xmlns:a="http://schemas.openxmlformats.org/drawingml/2006/main">
              <a:ext uri="{FF2B5EF4-FFF2-40B4-BE49-F238E27FC236}">
                <a16:creationId xmlns:a16="http://schemas.microsoft.com/office/drawing/2014/main" id="{586D256C-F9D9-4D73-8566-AE736F3D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763" y="3790950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3" name="文字-33-协作关系优化">
            <a:extLst xmlns:a="http://schemas.openxmlformats.org/drawingml/2006/main">
              <a:ext uri="{FF2B5EF4-FFF2-40B4-BE49-F238E27FC236}">
                <a16:creationId xmlns:a16="http://schemas.microsoft.com/office/drawing/2014/main" id="{335E4C44-7118-4100-9336-4172E29C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943350"/>
            <a:ext cx="16668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协作关系优化</a:t>
            </a:r>
          </a:p>
        </p:txBody>
      </p:sp>
      <p:sp>
        <p:nvSpPr>
          <p:cNvPr id="34" name="图片区-34">
            <a:extLst xmlns:a="http://schemas.openxmlformats.org/drawingml/2006/main">
              <a:ext uri="{FF2B5EF4-FFF2-40B4-BE49-F238E27FC236}">
                <a16:creationId xmlns:a16="http://schemas.microsoft.com/office/drawing/2014/main" id="{794ECCFF-2DDB-4E61-AB5C-4FB57816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62400"/>
            <a:ext cx="1209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35" name="连线-35">
            <a:extLst xmlns:a="http://schemas.openxmlformats.org/drawingml/2006/main">
              <a:ext uri="{FF2B5EF4-FFF2-40B4-BE49-F238E27FC236}">
                <a16:creationId xmlns:a16="http://schemas.microsoft.com/office/drawing/2014/main" id="{FE438B2C-F17E-45CD-BA94-7D40D4C6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82150" y="4572000"/>
            <a:ext cx="953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36" name="结构-36">
            <a:extLst xmlns:a="http://schemas.openxmlformats.org/drawingml/2006/main">
              <a:ext uri="{FF2B5EF4-FFF2-40B4-BE49-F238E27FC236}">
                <a16:creationId xmlns:a16="http://schemas.microsoft.com/office/drawing/2014/main" id="{7506A99B-8EA1-421C-AAF7-99BE346A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763" y="4781550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7" name="文字-37-调度与负载平衡">
            <a:extLst xmlns:a="http://schemas.openxmlformats.org/drawingml/2006/main">
              <a:ext uri="{FF2B5EF4-FFF2-40B4-BE49-F238E27FC236}">
                <a16:creationId xmlns:a16="http://schemas.microsoft.com/office/drawing/2014/main" id="{37EBAE5C-36B6-49EA-A8AB-86B08C25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933950"/>
            <a:ext cx="16668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调度与负载平衡</a:t>
            </a:r>
          </a:p>
        </p:txBody>
      </p:sp>
      <p:sp>
        <p:nvSpPr>
          <p:cNvPr id="38" name="图片区-38">
            <a:extLst xmlns:a="http://schemas.openxmlformats.org/drawingml/2006/main">
              <a:ext uri="{FF2B5EF4-FFF2-40B4-BE49-F238E27FC236}">
                <a16:creationId xmlns:a16="http://schemas.microsoft.com/office/drawing/2014/main" id="{2C27A195-28C6-406C-92E1-A7B1C124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953000"/>
            <a:ext cx="1209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50383600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结构-1">
            <a:extLst xmlns:a="http://schemas.openxmlformats.org/drawingml/2006/main">
              <a:ext uri="{FF2B5EF4-FFF2-40B4-BE49-F238E27FC236}">
                <a16:creationId xmlns:a16="http://schemas.microsoft.com/office/drawing/2014/main" id="{B5AA8535-B389-4346-8ABF-1CB05463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二：知识约束与增">
            <a:extLst xmlns:a="http://schemas.openxmlformats.org/drawingml/2006/main">
              <a:ext uri="{FF2B5EF4-FFF2-40B4-BE49-F238E27FC236}">
                <a16:creationId xmlns:a16="http://schemas.microsoft.com/office/drawing/2014/main" id="{DF6E3108-D513-4FFD-BF49-203C1C1F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研究进展二：知识约束与增强推理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BE161CE8-1C7F-4B21-8FDE-3EF1E9E2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74B55C74-F5FD-43D9-BB00-9048BAB2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多路径检索如何获取互">
            <a:extLst xmlns:a="http://schemas.openxmlformats.org/drawingml/2006/main">
              <a:ext uri="{FF2B5EF4-FFF2-40B4-BE49-F238E27FC236}">
                <a16:creationId xmlns:a16="http://schemas.microsoft.com/office/drawing/2014/main" id="{BC288D7E-9B59-40EE-8983-DD125F21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说明多路径检索如何获取互补证据，并经融合形成有依据的输出</a:t>
            </a:r>
          </a:p>
        </p:txBody>
      </p:sp>
      <p:sp>
        <p:nvSpPr>
          <p:cNvPr id="6" name="文字-6-问题输入">
            <a:extLst xmlns:a="http://schemas.openxmlformats.org/drawingml/2006/main">
              <a:ext uri="{FF2B5EF4-FFF2-40B4-BE49-F238E27FC236}">
                <a16:creationId xmlns:a16="http://schemas.microsoft.com/office/drawing/2014/main" id="{ACAAF9FA-1718-40AF-8925-4A45FBE5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90775"/>
            <a:ext cx="2552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问题输入</a:t>
            </a:r>
          </a:p>
        </p:txBody>
      </p:sp>
      <p:sp>
        <p:nvSpPr>
          <p:cNvPr id="7" name="文字-7-填写任务与研究问题说明已">
            <a:extLst xmlns:a="http://schemas.openxmlformats.org/drawingml/2006/main">
              <a:ext uri="{FF2B5EF4-FFF2-40B4-BE49-F238E27FC236}">
                <a16:creationId xmlns:a16="http://schemas.microsoft.com/office/drawing/2014/main" id="{41F685F7-2CBB-4911-83E0-F6E41F87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924175"/>
            <a:ext cx="2447925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填写任务与研究问题</a:t>
            </a:r>
          </a:p>
          <a:p xmlns:a="http://schemas.openxmlformats.org/drawingml/2006/main">
            <a:pPr algn="ctr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说明已知条件</a:t>
            </a:r>
          </a:p>
        </p:txBody>
      </p:sp>
      <p:sp>
        <p:nvSpPr>
          <p:cNvPr id="8" name="图片区-8">
            <a:extLst xmlns:a="http://schemas.openxmlformats.org/drawingml/2006/main">
              <a:ext uri="{FF2B5EF4-FFF2-40B4-BE49-F238E27FC236}">
                <a16:creationId xmlns:a16="http://schemas.microsoft.com/office/drawing/2014/main" id="{6D863A3F-297D-4D4B-943F-E2656B63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81500"/>
            <a:ext cx="253365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文字-9-查询理解与改写">
            <a:extLst xmlns:a="http://schemas.openxmlformats.org/drawingml/2006/main">
              <a:ext uri="{FF2B5EF4-FFF2-40B4-BE49-F238E27FC236}">
                <a16:creationId xmlns:a16="http://schemas.microsoft.com/office/drawing/2014/main" id="{50FDE9D1-AB6D-45BD-A81F-7B86401B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2609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查询理解与改写</a:t>
            </a:r>
          </a:p>
        </p:txBody>
      </p:sp>
      <p:sp>
        <p:nvSpPr>
          <p:cNvPr id="10" name="文字-10-检索路径一">
            <a:extLst xmlns:a="http://schemas.openxmlformats.org/drawingml/2006/main">
              <a:ext uri="{FF2B5EF4-FFF2-40B4-BE49-F238E27FC236}">
                <a16:creationId xmlns:a16="http://schemas.microsoft.com/office/drawing/2014/main" id="{FCD03C64-0E01-483A-8D87-B7FF86E9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004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检索路径一</a:t>
            </a:r>
          </a:p>
        </p:txBody>
      </p:sp>
      <p:sp>
        <p:nvSpPr>
          <p:cNvPr id="11" name="文字-11-检索路径二">
            <a:extLst xmlns:a="http://schemas.openxmlformats.org/drawingml/2006/main">
              <a:ext uri="{FF2B5EF4-FFF2-40B4-BE49-F238E27FC236}">
                <a16:creationId xmlns:a16="http://schemas.microsoft.com/office/drawing/2014/main" id="{46D7BC3D-C436-4E05-B1FF-633B238C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38575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检索路径二</a:t>
            </a:r>
          </a:p>
        </p:txBody>
      </p:sp>
      <p:sp>
        <p:nvSpPr>
          <p:cNvPr id="12" name="文字-12-检索路径三">
            <a:extLst xmlns:a="http://schemas.openxmlformats.org/drawingml/2006/main">
              <a:ext uri="{FF2B5EF4-FFF2-40B4-BE49-F238E27FC236}">
                <a16:creationId xmlns:a16="http://schemas.microsoft.com/office/drawing/2014/main" id="{F2CD1ACC-A8DA-4463-A875-72AE83A3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76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检索路径三</a:t>
            </a:r>
          </a:p>
        </p:txBody>
      </p:sp>
      <p:sp>
        <p:nvSpPr>
          <p:cNvPr id="13" name="连线-13">
            <a:extLst xmlns:a="http://schemas.openxmlformats.org/drawingml/2006/main">
              <a:ext uri="{FF2B5EF4-FFF2-40B4-BE49-F238E27FC236}">
                <a16:creationId xmlns:a16="http://schemas.microsoft.com/office/drawing/2014/main" id="{95720E1B-7FD2-4EBF-AF9C-D8FF0623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00600" y="2857500"/>
            <a:ext cx="953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4" name="连线-14">
            <a:extLst xmlns:a="http://schemas.openxmlformats.org/drawingml/2006/main">
              <a:ext uri="{FF2B5EF4-FFF2-40B4-BE49-F238E27FC236}">
                <a16:creationId xmlns:a16="http://schemas.microsoft.com/office/drawing/2014/main" id="{495A41A2-5564-458F-A8C7-B340291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3000375"/>
            <a:ext cx="1466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5" name="连线-15">
            <a:extLst xmlns:a="http://schemas.openxmlformats.org/drawingml/2006/main">
              <a:ext uri="{FF2B5EF4-FFF2-40B4-BE49-F238E27FC236}">
                <a16:creationId xmlns:a16="http://schemas.microsoft.com/office/drawing/2014/main" id="{0CF7561A-432B-4175-A965-B3BD866A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3000375"/>
            <a:ext cx="953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6" name="连线-16">
            <a:extLst xmlns:a="http://schemas.openxmlformats.org/drawingml/2006/main">
              <a:ext uri="{FF2B5EF4-FFF2-40B4-BE49-F238E27FC236}">
                <a16:creationId xmlns:a16="http://schemas.microsoft.com/office/drawing/2014/main" id="{534889E8-1F6E-41C1-BD67-8D7F5B95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3409950"/>
            <a:ext cx="123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7" name="结构-17">
            <a:extLst xmlns:a="http://schemas.openxmlformats.org/drawingml/2006/main">
              <a:ext uri="{FF2B5EF4-FFF2-40B4-BE49-F238E27FC236}">
                <a16:creationId xmlns:a16="http://schemas.microsoft.com/office/drawing/2014/main" id="{9F31C957-21BE-4F1D-B48B-CFC50FC8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623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4B57345B-8865-427B-96C7-7C0BC700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4048125"/>
            <a:ext cx="123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5D3DC319-721B-4579-BC4B-3B305322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005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0" name="连线-20">
            <a:extLst xmlns:a="http://schemas.openxmlformats.org/drawingml/2006/main">
              <a:ext uri="{FF2B5EF4-FFF2-40B4-BE49-F238E27FC236}">
                <a16:creationId xmlns:a16="http://schemas.microsoft.com/office/drawing/2014/main" id="{E2B91FE9-5DA5-452D-ACE1-352251EB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4686300"/>
            <a:ext cx="123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1" name="结构-21">
            <a:extLst xmlns:a="http://schemas.openxmlformats.org/drawingml/2006/main">
              <a:ext uri="{FF2B5EF4-FFF2-40B4-BE49-F238E27FC236}">
                <a16:creationId xmlns:a16="http://schemas.microsoft.com/office/drawing/2014/main" id="{E140FD54-E224-4A1C-B9C4-82E14069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6386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2" name="文字-22-知识／数据存储">
            <a:extLst xmlns:a="http://schemas.openxmlformats.org/drawingml/2006/main">
              <a:ext uri="{FF2B5EF4-FFF2-40B4-BE49-F238E27FC236}">
                <a16:creationId xmlns:a16="http://schemas.microsoft.com/office/drawing/2014/main" id="{D172EFC5-D6F9-42FA-A84B-704BF286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5245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知识／数据存储</a:t>
            </a:r>
          </a:p>
        </p:txBody>
      </p:sp>
      <p:sp>
        <p:nvSpPr>
          <p:cNvPr id="23" name="连线-23">
            <a:extLst xmlns:a="http://schemas.openxmlformats.org/drawingml/2006/main">
              <a:ext uri="{FF2B5EF4-FFF2-40B4-BE49-F238E27FC236}">
                <a16:creationId xmlns:a16="http://schemas.microsoft.com/office/drawing/2014/main" id="{214AA254-1811-427B-BE6D-1D9FC10D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2638425"/>
            <a:ext cx="571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24" name="结构-24">
            <a:extLst xmlns:a="http://schemas.openxmlformats.org/drawingml/2006/main">
              <a:ext uri="{FF2B5EF4-FFF2-40B4-BE49-F238E27FC236}">
                <a16:creationId xmlns:a16="http://schemas.microsoft.com/office/drawing/2014/main" id="{C5497C64-AF37-4591-B3C3-0C6CC1CD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81275"/>
            <a:ext cx="133350" cy="114300"/>
          </a:xfrm>
          <a:custGeom xmlns:a="http://schemas.openxmlformats.org/drawingml/2006/main"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5" name="连线-25">
            <a:extLst xmlns:a="http://schemas.openxmlformats.org/drawingml/2006/main">
              <a:ext uri="{FF2B5EF4-FFF2-40B4-BE49-F238E27FC236}">
                <a16:creationId xmlns:a16="http://schemas.microsoft.com/office/drawing/2014/main" id="{0DBBDF1F-93EC-4FD2-9552-71AB3333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05525" y="340995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6" name="连线-26">
            <a:extLst xmlns:a="http://schemas.openxmlformats.org/drawingml/2006/main">
              <a:ext uri="{FF2B5EF4-FFF2-40B4-BE49-F238E27FC236}">
                <a16:creationId xmlns:a16="http://schemas.microsoft.com/office/drawing/2014/main" id="{02D6FAF7-8C04-4ECC-AD5F-4A05FE13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6075" y="3409950"/>
            <a:ext cx="953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7" name="连线-27">
            <a:extLst xmlns:a="http://schemas.openxmlformats.org/drawingml/2006/main">
              <a:ext uri="{FF2B5EF4-FFF2-40B4-BE49-F238E27FC236}">
                <a16:creationId xmlns:a16="http://schemas.microsoft.com/office/drawing/2014/main" id="{E42AE61E-7C75-4FDA-BF1B-AA3B0D08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6075" y="4305300"/>
            <a:ext cx="428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8" name="结构-28">
            <a:extLst xmlns:a="http://schemas.openxmlformats.org/drawingml/2006/main">
              <a:ext uri="{FF2B5EF4-FFF2-40B4-BE49-F238E27FC236}">
                <a16:creationId xmlns:a16="http://schemas.microsoft.com/office/drawing/2014/main" id="{CAB26EDD-A3C1-4C6D-8C84-DE953BD9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576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9" name="连线-29">
            <a:extLst xmlns:a="http://schemas.openxmlformats.org/drawingml/2006/main">
              <a:ext uri="{FF2B5EF4-FFF2-40B4-BE49-F238E27FC236}">
                <a16:creationId xmlns:a16="http://schemas.microsoft.com/office/drawing/2014/main" id="{478D5E90-9B5A-412A-BA68-0C9CA45C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05525" y="404812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0" name="连线-30">
            <a:extLst xmlns:a="http://schemas.openxmlformats.org/drawingml/2006/main">
              <a:ext uri="{FF2B5EF4-FFF2-40B4-BE49-F238E27FC236}">
                <a16:creationId xmlns:a16="http://schemas.microsoft.com/office/drawing/2014/main" id="{D95D69DD-ABCA-4CC0-A9AE-645F4829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6075" y="404812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1" name="连线-31">
            <a:extLst xmlns:a="http://schemas.openxmlformats.org/drawingml/2006/main">
              <a:ext uri="{FF2B5EF4-FFF2-40B4-BE49-F238E27FC236}">
                <a16:creationId xmlns:a16="http://schemas.microsoft.com/office/drawing/2014/main" id="{B5012706-9FD3-4A0B-898A-49D2D5C1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6075" y="4305300"/>
            <a:ext cx="428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2" name="结构-32">
            <a:extLst xmlns:a="http://schemas.openxmlformats.org/drawingml/2006/main">
              <a:ext uri="{FF2B5EF4-FFF2-40B4-BE49-F238E27FC236}">
                <a16:creationId xmlns:a16="http://schemas.microsoft.com/office/drawing/2014/main" id="{136D5736-C79B-4233-B892-B56850A3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576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3" name="连线-33">
            <a:extLst xmlns:a="http://schemas.openxmlformats.org/drawingml/2006/main">
              <a:ext uri="{FF2B5EF4-FFF2-40B4-BE49-F238E27FC236}">
                <a16:creationId xmlns:a16="http://schemas.microsoft.com/office/drawing/2014/main" id="{FE6AD548-3819-49D6-8365-66723942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05525" y="469582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4" name="连线-34">
            <a:extLst xmlns:a="http://schemas.openxmlformats.org/drawingml/2006/main">
              <a:ext uri="{FF2B5EF4-FFF2-40B4-BE49-F238E27FC236}">
                <a16:creationId xmlns:a16="http://schemas.microsoft.com/office/drawing/2014/main" id="{9DFBFD80-9175-4D5A-85C1-E06062FC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96075" y="4305300"/>
            <a:ext cx="953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5" name="连线-35">
            <a:extLst xmlns:a="http://schemas.openxmlformats.org/drawingml/2006/main">
              <a:ext uri="{FF2B5EF4-FFF2-40B4-BE49-F238E27FC236}">
                <a16:creationId xmlns:a16="http://schemas.microsoft.com/office/drawing/2014/main" id="{2EE578F8-6FB8-4DD7-BA77-C93C03F0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96075" y="4305300"/>
            <a:ext cx="428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6" name="结构-36">
            <a:extLst xmlns:a="http://schemas.openxmlformats.org/drawingml/2006/main">
              <a:ext uri="{FF2B5EF4-FFF2-40B4-BE49-F238E27FC236}">
                <a16:creationId xmlns:a16="http://schemas.microsoft.com/office/drawing/2014/main" id="{2B42966C-2E69-4D85-88F3-40F5C63B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576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7" name="文字-37-上下文融合证据整合">
            <a:extLst xmlns:a="http://schemas.openxmlformats.org/drawingml/2006/main">
              <a:ext uri="{FF2B5EF4-FFF2-40B4-BE49-F238E27FC236}">
                <a16:creationId xmlns:a16="http://schemas.microsoft.com/office/drawing/2014/main" id="{2BC02D99-4165-41FA-8965-674B4958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95725"/>
            <a:ext cx="1600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上下文融合</a:t>
            </a:r>
          </a:p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证据整合</a:t>
            </a:r>
          </a:p>
        </p:txBody>
      </p:sp>
      <p:sp>
        <p:nvSpPr>
          <p:cNvPr id="38" name="连线-38">
            <a:extLst xmlns:a="http://schemas.openxmlformats.org/drawingml/2006/main">
              <a:ext uri="{FF2B5EF4-FFF2-40B4-BE49-F238E27FC236}">
                <a16:creationId xmlns:a16="http://schemas.microsoft.com/office/drawing/2014/main" id="{57B90468-8C5E-46F7-A939-89BB0DC6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00600" y="4962525"/>
            <a:ext cx="953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39" name="结构-39">
            <a:extLst xmlns:a="http://schemas.openxmlformats.org/drawingml/2006/main">
              <a:ext uri="{FF2B5EF4-FFF2-40B4-BE49-F238E27FC236}">
                <a16:creationId xmlns:a16="http://schemas.microsoft.com/office/drawing/2014/main" id="{E36104DC-9284-4565-A18F-F8F20018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4962525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0"/>
                </a:moveTo>
                <a:lnTo>
                  <a:pt x="0" y="123825"/>
                </a:lnTo>
                <a:lnTo>
                  <a:pt x="104775" y="12382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0" name="连线-40">
            <a:extLst xmlns:a="http://schemas.openxmlformats.org/drawingml/2006/main">
              <a:ext uri="{FF2B5EF4-FFF2-40B4-BE49-F238E27FC236}">
                <a16:creationId xmlns:a16="http://schemas.microsoft.com/office/drawing/2014/main" id="{B8A63F65-3FCE-4619-BFE6-DD0D831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24575" y="5762625"/>
            <a:ext cx="571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41" name="结构-41">
            <a:extLst xmlns:a="http://schemas.openxmlformats.org/drawingml/2006/main">
              <a:ext uri="{FF2B5EF4-FFF2-40B4-BE49-F238E27FC236}">
                <a16:creationId xmlns:a16="http://schemas.microsoft.com/office/drawing/2014/main" id="{B70C479B-4A4B-4715-ACDF-4255EC75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10238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2" name="图片区-42">
            <a:extLst xmlns:a="http://schemas.openxmlformats.org/drawingml/2006/main">
              <a:ext uri="{FF2B5EF4-FFF2-40B4-BE49-F238E27FC236}">
                <a16:creationId xmlns:a16="http://schemas.microsoft.com/office/drawing/2014/main" id="{A6654757-2DD1-40B0-AB98-FA93A4CA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24450"/>
            <a:ext cx="2076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43" name="连线-43">
            <a:extLst xmlns:a="http://schemas.openxmlformats.org/drawingml/2006/main">
              <a:ext uri="{FF2B5EF4-FFF2-40B4-BE49-F238E27FC236}">
                <a16:creationId xmlns:a16="http://schemas.microsoft.com/office/drawing/2014/main" id="{08C30B3C-F20D-4B3D-AF73-B1B6F587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34325" y="4829175"/>
            <a:ext cx="953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44" name="结构-44">
            <a:extLst xmlns:a="http://schemas.openxmlformats.org/drawingml/2006/main">
              <a:ext uri="{FF2B5EF4-FFF2-40B4-BE49-F238E27FC236}">
                <a16:creationId xmlns:a16="http://schemas.microsoft.com/office/drawing/2014/main" id="{7B4F7DEE-2B36-48C3-9748-4043F904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91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5" name="文字-45-结果输出">
            <a:extLst xmlns:a="http://schemas.openxmlformats.org/drawingml/2006/main">
              <a:ext uri="{FF2B5EF4-FFF2-40B4-BE49-F238E27FC236}">
                <a16:creationId xmlns:a16="http://schemas.microsoft.com/office/drawing/2014/main" id="{F5E4E861-63C0-4CB6-9ADB-83628DD9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52675"/>
            <a:ext cx="2600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结果输出</a:t>
            </a:r>
          </a:p>
        </p:txBody>
      </p:sp>
      <p:sp>
        <p:nvSpPr>
          <p:cNvPr id="46" name="文字-46-填写输出格式说明结果的证">
            <a:extLst xmlns:a="http://schemas.openxmlformats.org/drawingml/2006/main">
              <a:ext uri="{FF2B5EF4-FFF2-40B4-BE49-F238E27FC236}">
                <a16:creationId xmlns:a16="http://schemas.microsoft.com/office/drawing/2014/main" id="{821EC7E3-E67F-4C90-B9E5-9457EE7B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19400"/>
            <a:ext cx="2600325" cy="3324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填写输出格式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说明结果的证据来源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填写关键步骤与约束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说明适用条件</a:t>
            </a:r>
          </a:p>
        </p:txBody>
      </p:sp>
      <p:sp>
        <p:nvSpPr>
          <p:cNvPr id="47" name="连线-47">
            <a:extLst xmlns:a="http://schemas.openxmlformats.org/drawingml/2006/main">
              <a:ext uri="{FF2B5EF4-FFF2-40B4-BE49-F238E27FC236}">
                <a16:creationId xmlns:a16="http://schemas.microsoft.com/office/drawing/2014/main" id="{E60E0E2E-7F1C-4125-BE29-C10D8F2E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91575" y="4314825"/>
            <a:ext cx="419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3F88"/>
            </a:solidFill>
            <a:prstDash val="solid"/>
          </a:ln>
        </p:spPr>
      </p:sp>
      <p:sp>
        <p:nvSpPr>
          <p:cNvPr id="48" name="结构-48">
            <a:extLst xmlns:a="http://schemas.openxmlformats.org/drawingml/2006/main">
              <a:ext uri="{FF2B5EF4-FFF2-40B4-BE49-F238E27FC236}">
                <a16:creationId xmlns:a16="http://schemas.microsoft.com/office/drawing/2014/main" id="{C8415763-EBEE-4F66-A138-FB1996D5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257675"/>
            <a:ext cx="133350" cy="114300"/>
          </a:xfrm>
          <a:custGeom xmlns:a="http://schemas.openxmlformats.org/drawingml/2006/main">
            <a:pathLst>
              <a:path w="133350" h="114300">
                <a:moveTo>
                  <a:pt x="1333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0942710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文字-1-2.2 多源信息处理框架">
            <a:extLst xmlns:a="http://schemas.openxmlformats.org/drawingml/2006/main">
              <a:ext uri="{FF2B5EF4-FFF2-40B4-BE49-F238E27FC236}">
                <a16:creationId xmlns:a16="http://schemas.microsoft.com/office/drawing/2014/main" id="{C5ACBD67-475E-4E2F-ACA0-F529F6E6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2.2 多源信息处理框架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AAA50528-8B56-4AB1-94DB-8AF2CBD1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说明本方法的总体任务与研究目">
            <a:extLst xmlns:a="http://schemas.openxmlformats.org/drawingml/2006/main">
              <a:ext uri="{FF2B5EF4-FFF2-40B4-BE49-F238E27FC236}">
                <a16:creationId xmlns:a16="http://schemas.microsoft.com/office/drawing/2014/main" id="{7905AD6D-B911-4E28-9D25-2BBB1119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44880"/>
            <a:ext cx="11454390" cy="449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本方法的总体任务与研究目标</a:t>
            </a:r>
          </a:p>
        </p:txBody>
      </p:sp>
      <p:sp>
        <p:nvSpPr>
          <p:cNvPr id="4" name="文字-4-填写从多源输入到结果输出的核">
            <a:extLst xmlns:a="http://schemas.openxmlformats.org/drawingml/2006/main">
              <a:ext uri="{FF2B5EF4-FFF2-40B4-BE49-F238E27FC236}">
                <a16:creationId xmlns:a16="http://schemas.microsoft.com/office/drawing/2014/main" id="{611FE7DF-E3C9-4A4F-870C-854030C4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15" y="1424940"/>
            <a:ext cx="1096697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多源输入 → 特征处理 → 结果输出</a:t>
            </a:r>
          </a:p>
        </p:txBody>
      </p:sp>
      <p:sp>
        <p:nvSpPr>
          <p:cNvPr id="5" name="文字-5-输入">
            <a:extLst xmlns:a="http://schemas.openxmlformats.org/drawingml/2006/main">
              <a:ext uri="{FF2B5EF4-FFF2-40B4-BE49-F238E27FC236}">
                <a16:creationId xmlns:a16="http://schemas.microsoft.com/office/drawing/2014/main" id="{511B55EE-CF08-48C6-814E-D911F367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065020"/>
            <a:ext cx="700667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文字-6-提取">
            <a:extLst xmlns:a="http://schemas.openxmlformats.org/drawingml/2006/main">
              <a:ext uri="{FF2B5EF4-FFF2-40B4-BE49-F238E27FC236}">
                <a16:creationId xmlns:a16="http://schemas.microsoft.com/office/drawing/2014/main" id="{41E85722-B5E1-4D7A-BF89-07BC32B8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857500"/>
            <a:ext cx="700667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提取</a:t>
            </a:r>
          </a:p>
        </p:txBody>
      </p:sp>
      <p:sp>
        <p:nvSpPr>
          <p:cNvPr id="7" name="文字-7-来源一">
            <a:extLst xmlns:a="http://schemas.openxmlformats.org/drawingml/2006/main">
              <a:ext uri="{FF2B5EF4-FFF2-40B4-BE49-F238E27FC236}">
                <a16:creationId xmlns:a16="http://schemas.microsoft.com/office/drawing/2014/main" id="{7214613E-CD86-420E-8C22-AF1DCC4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342" y="2057400"/>
            <a:ext cx="2223858" cy="472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来源一</a:t>
            </a:r>
          </a:p>
        </p:txBody>
      </p:sp>
      <p:sp>
        <p:nvSpPr>
          <p:cNvPr id="8" name="连线-8">
            <a:extLst xmlns:a="http://schemas.openxmlformats.org/drawingml/2006/main">
              <a:ext uri="{FF2B5EF4-FFF2-40B4-BE49-F238E27FC236}">
                <a16:creationId xmlns:a16="http://schemas.microsoft.com/office/drawing/2014/main" id="{C3BD5A8B-1A20-4835-8D1C-FF4E6F66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1271" y="2583180"/>
            <a:ext cx="729" cy="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1979B5"/>
            </a:solidFill>
            <a:prstDash val="solid"/>
          </a:ln>
        </p:spPr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85AC006E-F98A-47D8-8987-B97F179A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60" y="2705100"/>
            <a:ext cx="106624" cy="121920"/>
          </a:xfrm>
          <a:custGeom xmlns:a="http://schemas.openxmlformats.org/drawingml/2006/main">
            <a:pathLst>
              <a:path w="139351" h="159343">
                <a:moveTo>
                  <a:pt x="69675" y="159343"/>
                </a:moveTo>
                <a:lnTo>
                  <a:pt x="13935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0" name="文字-10-输入信息1">
            <a:extLst xmlns:a="http://schemas.openxmlformats.org/drawingml/2006/main">
              <a:ext uri="{FF2B5EF4-FFF2-40B4-BE49-F238E27FC236}">
                <a16:creationId xmlns:a16="http://schemas.microsoft.com/office/drawing/2014/main" id="{076EF2EE-0DDD-4AE1-B216-161C50FB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661" y="2933700"/>
            <a:ext cx="1919219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输入信息1</a:t>
            </a:r>
          </a:p>
        </p:txBody>
      </p:sp>
      <p:sp>
        <p:nvSpPr>
          <p:cNvPr id="11" name="文字-11-来源二">
            <a:extLst xmlns:a="http://schemas.openxmlformats.org/drawingml/2006/main">
              <a:ext uri="{FF2B5EF4-FFF2-40B4-BE49-F238E27FC236}">
                <a16:creationId xmlns:a16="http://schemas.microsoft.com/office/drawing/2014/main" id="{4B359816-E808-4A5E-9D06-4A13BE43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382" y="2057400"/>
            <a:ext cx="2223858" cy="472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来源二</a:t>
            </a:r>
          </a:p>
        </p:txBody>
      </p:sp>
      <p:sp>
        <p:nvSpPr>
          <p:cNvPr id="12" name="连线-12">
            <a:extLst xmlns:a="http://schemas.openxmlformats.org/drawingml/2006/main">
              <a:ext uri="{FF2B5EF4-FFF2-40B4-BE49-F238E27FC236}">
                <a16:creationId xmlns:a16="http://schemas.microsoft.com/office/drawing/2014/main" id="{AC3CC3E4-C8C4-4930-B8A9-0CC76BB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98310" y="2583180"/>
            <a:ext cx="729" cy="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1979B5"/>
            </a:solidFill>
            <a:prstDash val="solid"/>
          </a:ln>
        </p:spPr>
      </p:sp>
      <p:sp>
        <p:nvSpPr>
          <p:cNvPr id="13" name="结构-13">
            <a:extLst xmlns:a="http://schemas.openxmlformats.org/drawingml/2006/main">
              <a:ext uri="{FF2B5EF4-FFF2-40B4-BE49-F238E27FC236}">
                <a16:creationId xmlns:a16="http://schemas.microsoft.com/office/drawing/2014/main" id="{47CF2BCF-3DB6-4175-9A96-A0111FD0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999" y="2705100"/>
            <a:ext cx="106624" cy="121920"/>
          </a:xfrm>
          <a:custGeom xmlns:a="http://schemas.openxmlformats.org/drawingml/2006/main">
            <a:pathLst>
              <a:path w="139351" h="159343">
                <a:moveTo>
                  <a:pt x="69675" y="159343"/>
                </a:moveTo>
                <a:lnTo>
                  <a:pt x="13935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4" name="文字-14-输入信息2">
            <a:extLst xmlns:a="http://schemas.openxmlformats.org/drawingml/2006/main">
              <a:ext uri="{FF2B5EF4-FFF2-40B4-BE49-F238E27FC236}">
                <a16:creationId xmlns:a16="http://schemas.microsoft.com/office/drawing/2014/main" id="{6EDA2E6D-0383-402A-947E-F7566106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700" y="2933700"/>
            <a:ext cx="1919219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输入信息2</a:t>
            </a:r>
          </a:p>
        </p:txBody>
      </p:sp>
      <p:sp>
        <p:nvSpPr>
          <p:cNvPr id="15" name="文字-15-来源三">
            <a:extLst xmlns:a="http://schemas.openxmlformats.org/drawingml/2006/main">
              <a:ext uri="{FF2B5EF4-FFF2-40B4-BE49-F238E27FC236}">
                <a16:creationId xmlns:a16="http://schemas.microsoft.com/office/drawing/2014/main" id="{D27E092D-4390-4961-AADB-63B34CE2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421" y="2057400"/>
            <a:ext cx="2223858" cy="472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来源三</a:t>
            </a:r>
          </a:p>
        </p:txBody>
      </p:sp>
      <p:sp>
        <p:nvSpPr>
          <p:cNvPr id="16" name="连线-16">
            <a:extLst xmlns:a="http://schemas.openxmlformats.org/drawingml/2006/main">
              <a:ext uri="{FF2B5EF4-FFF2-40B4-BE49-F238E27FC236}">
                <a16:creationId xmlns:a16="http://schemas.microsoft.com/office/drawing/2014/main" id="{249DEAD5-1739-439D-AE3E-F77EE5F0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95349" y="2583180"/>
            <a:ext cx="729" cy="2438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1979B5"/>
            </a:solidFill>
            <a:prstDash val="solid"/>
          </a:ln>
        </p:spPr>
      </p:sp>
      <p:sp>
        <p:nvSpPr>
          <p:cNvPr id="17" name="结构-17">
            <a:extLst xmlns:a="http://schemas.openxmlformats.org/drawingml/2006/main">
              <a:ext uri="{FF2B5EF4-FFF2-40B4-BE49-F238E27FC236}">
                <a16:creationId xmlns:a16="http://schemas.microsoft.com/office/drawing/2014/main" id="{0B646F06-F675-4172-B364-2EF3A26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038" y="2705100"/>
            <a:ext cx="106624" cy="121920"/>
          </a:xfrm>
          <a:custGeom xmlns:a="http://schemas.openxmlformats.org/drawingml/2006/main">
            <a:pathLst>
              <a:path w="139351" h="159343">
                <a:moveTo>
                  <a:pt x="69675" y="159343"/>
                </a:moveTo>
                <a:lnTo>
                  <a:pt x="13935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8" name="文字-18-输入信息3">
            <a:extLst xmlns:a="http://schemas.openxmlformats.org/drawingml/2006/main">
              <a:ext uri="{FF2B5EF4-FFF2-40B4-BE49-F238E27FC236}">
                <a16:creationId xmlns:a16="http://schemas.microsoft.com/office/drawing/2014/main" id="{F4705024-3991-426D-9E45-C7F4D86E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740" y="2933700"/>
            <a:ext cx="1919219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输入信息3</a:t>
            </a:r>
          </a:p>
        </p:txBody>
      </p:sp>
      <p:sp>
        <p:nvSpPr>
          <p:cNvPr id="19" name="对象-19">
            <a:extLst xmlns:a="http://schemas.openxmlformats.org/drawingml/2006/main">
              <a:ext uri="{FF2B5EF4-FFF2-40B4-BE49-F238E27FC236}">
                <a16:creationId xmlns:a16="http://schemas.microsoft.com/office/drawing/2014/main" id="{333AD57A-308F-48EB-8CFC-4CE04E48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850" y="3718560"/>
            <a:ext cx="525501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文字-20-特">
            <a:extLst xmlns:a="http://schemas.openxmlformats.org/drawingml/2006/main">
              <a:ext uri="{FF2B5EF4-FFF2-40B4-BE49-F238E27FC236}">
                <a16:creationId xmlns:a16="http://schemas.microsoft.com/office/drawing/2014/main" id="{D63628CC-0640-4008-B151-8549C1A3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850" y="4084320"/>
            <a:ext cx="525501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特</a:t>
            </a:r>
          </a:p>
        </p:txBody>
      </p:sp>
      <p:sp>
        <p:nvSpPr>
          <p:cNvPr id="21" name="文字-21-征">
            <a:extLst xmlns:a="http://schemas.openxmlformats.org/drawingml/2006/main">
              <a:ext uri="{FF2B5EF4-FFF2-40B4-BE49-F238E27FC236}">
                <a16:creationId xmlns:a16="http://schemas.microsoft.com/office/drawing/2014/main" id="{B0D845F7-DAE8-428A-89F7-D76F5C1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850" y="4381500"/>
            <a:ext cx="525501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征</a:t>
            </a:r>
          </a:p>
        </p:txBody>
      </p:sp>
      <p:sp>
        <p:nvSpPr>
          <p:cNvPr id="22" name="文字-22-处">
            <a:extLst xmlns:a="http://schemas.openxmlformats.org/drawingml/2006/main">
              <a:ext uri="{FF2B5EF4-FFF2-40B4-BE49-F238E27FC236}">
                <a16:creationId xmlns:a16="http://schemas.microsoft.com/office/drawing/2014/main" id="{149821D1-6757-4D97-95C7-0C73BE61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850" y="4678680"/>
            <a:ext cx="525501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处</a:t>
            </a:r>
          </a:p>
        </p:txBody>
      </p:sp>
      <p:sp>
        <p:nvSpPr>
          <p:cNvPr id="23" name="文字-23-理">
            <a:extLst xmlns:a="http://schemas.openxmlformats.org/drawingml/2006/main">
              <a:ext uri="{FF2B5EF4-FFF2-40B4-BE49-F238E27FC236}">
                <a16:creationId xmlns:a16="http://schemas.microsoft.com/office/drawing/2014/main" id="{CE7143B6-3EB5-4192-AD80-EAA19399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850" y="4975860"/>
            <a:ext cx="525501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理</a:t>
            </a:r>
          </a:p>
        </p:txBody>
      </p:sp>
      <p:sp>
        <p:nvSpPr>
          <p:cNvPr id="24" name="对象-24">
            <a:extLst xmlns:a="http://schemas.openxmlformats.org/drawingml/2006/main">
              <a:ext uri="{FF2B5EF4-FFF2-40B4-BE49-F238E27FC236}">
                <a16:creationId xmlns:a16="http://schemas.microsoft.com/office/drawing/2014/main" id="{433F4FCD-66AE-42FF-90F1-33D8615C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829" y="3589020"/>
            <a:ext cx="5460637" cy="2179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AC9494"/>
            </a:solidFill>
            <a:prstDash val="solid"/>
          </a:ln>
        </p:spPr>
      </p:sp>
      <p:sp>
        <p:nvSpPr>
          <p:cNvPr id="25" name="文字-25-说明特征计算方法">
            <a:extLst xmlns:a="http://schemas.openxmlformats.org/drawingml/2006/main">
              <a:ext uri="{FF2B5EF4-FFF2-40B4-BE49-F238E27FC236}">
                <a16:creationId xmlns:a16="http://schemas.microsoft.com/office/drawing/2014/main" id="{2D27EFAC-1C9D-4F80-8193-E5C47925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58" y="3733800"/>
            <a:ext cx="4303012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8D8D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特征计算</a:t>
            </a:r>
          </a:p>
        </p:txBody>
      </p:sp>
      <p:sp>
        <p:nvSpPr>
          <p:cNvPr id="26" name="文字-26-说明筛选或判断条件">
            <a:extLst xmlns:a="http://schemas.openxmlformats.org/drawingml/2006/main">
              <a:ext uri="{FF2B5EF4-FFF2-40B4-BE49-F238E27FC236}">
                <a16:creationId xmlns:a16="http://schemas.microsoft.com/office/drawing/2014/main" id="{CCD22789-C21A-484B-B1AD-8136DAED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58" y="4351020"/>
            <a:ext cx="4303012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8D8D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筛选或判断</a:t>
            </a:r>
          </a:p>
        </p:txBody>
      </p:sp>
      <p:sp>
        <p:nvSpPr>
          <p:cNvPr id="27" name="文字-27-说明融合与处理方式">
            <a:extLst xmlns:a="http://schemas.openxmlformats.org/drawingml/2006/main">
              <a:ext uri="{FF2B5EF4-FFF2-40B4-BE49-F238E27FC236}">
                <a16:creationId xmlns:a16="http://schemas.microsoft.com/office/drawing/2014/main" id="{B4D3DF21-267F-4DC9-9CD5-85C1EDF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58" y="4968240"/>
            <a:ext cx="4303012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8D8D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融合与处理</a:t>
            </a:r>
          </a:p>
        </p:txBody>
      </p:sp>
      <p:sp>
        <p:nvSpPr>
          <p:cNvPr id="28" name="连线-28">
            <a:extLst xmlns:a="http://schemas.openxmlformats.org/drawingml/2006/main">
              <a:ext uri="{FF2B5EF4-FFF2-40B4-BE49-F238E27FC236}">
                <a16:creationId xmlns:a16="http://schemas.microsoft.com/office/drawing/2014/main" id="{6D145684-6FEC-4765-9BFE-19BA11B7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1557" y="4198620"/>
            <a:ext cx="729" cy="121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solid"/>
          </a:ln>
        </p:spPr>
      </p:sp>
      <p:sp>
        <p:nvSpPr>
          <p:cNvPr id="29" name="结构-29">
            <a:extLst xmlns:a="http://schemas.openxmlformats.org/drawingml/2006/main">
              <a:ext uri="{FF2B5EF4-FFF2-40B4-BE49-F238E27FC236}">
                <a16:creationId xmlns:a16="http://schemas.microsoft.com/office/drawing/2014/main" id="{5DD94A75-C396-4870-8F96-CAABFCA5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861" y="421386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30" name="连线-30">
            <a:extLst xmlns:a="http://schemas.openxmlformats.org/drawingml/2006/main">
              <a:ext uri="{FF2B5EF4-FFF2-40B4-BE49-F238E27FC236}">
                <a16:creationId xmlns:a16="http://schemas.microsoft.com/office/drawing/2014/main" id="{19D92745-A9FC-480D-AF96-EFD8A20F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1557" y="4815840"/>
            <a:ext cx="729" cy="121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solid"/>
          </a:ln>
        </p:spPr>
      </p:sp>
      <p:sp>
        <p:nvSpPr>
          <p:cNvPr id="31" name="结构-31">
            <a:extLst xmlns:a="http://schemas.openxmlformats.org/drawingml/2006/main">
              <a:ext uri="{FF2B5EF4-FFF2-40B4-BE49-F238E27FC236}">
                <a16:creationId xmlns:a16="http://schemas.microsoft.com/office/drawing/2014/main" id="{63A1E109-5BB5-49FA-B8AA-E4C26ACB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861" y="483108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36" name="连线-36">
            <a:extLst xmlns:a="http://schemas.openxmlformats.org/drawingml/2006/main">
              <a:ext uri="{FF2B5EF4-FFF2-40B4-BE49-F238E27FC236}">
                <a16:creationId xmlns:a16="http://schemas.microsoft.com/office/drawing/2014/main" id="{7714892C-6CC2-4869-9331-41C8DBE1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05926" y="3421380"/>
            <a:ext cx="729" cy="160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32">
            <a:solidFill>
              <a:srgbClr val="66788B"/>
            </a:solidFill>
            <a:prstDash val="solid"/>
          </a:ln>
        </p:spPr>
      </p:sp>
      <p:sp>
        <p:nvSpPr>
          <p:cNvPr id="37" name="连线-37">
            <a:extLst xmlns:a="http://schemas.openxmlformats.org/drawingml/2006/main">
              <a:ext uri="{FF2B5EF4-FFF2-40B4-BE49-F238E27FC236}">
                <a16:creationId xmlns:a16="http://schemas.microsoft.com/office/drawing/2014/main" id="{D39614F8-3489-48ED-B66E-BE7C28AF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05926" y="3581400"/>
            <a:ext cx="205631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32">
            <a:solidFill>
              <a:srgbClr val="66788B"/>
            </a:solidFill>
            <a:prstDash val="solid"/>
          </a:ln>
        </p:spPr>
      </p:sp>
      <p:sp>
        <p:nvSpPr>
          <p:cNvPr id="38" name="连线-38">
            <a:extLst xmlns:a="http://schemas.openxmlformats.org/drawingml/2006/main">
              <a:ext uri="{FF2B5EF4-FFF2-40B4-BE49-F238E27FC236}">
                <a16:creationId xmlns:a16="http://schemas.microsoft.com/office/drawing/2014/main" id="{768A9675-C498-4179-AE9D-52659B5C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1557" y="3581400"/>
            <a:ext cx="729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32">
            <a:solidFill>
              <a:srgbClr val="66788B"/>
            </a:solidFill>
            <a:prstDash val="solid"/>
          </a:ln>
        </p:spPr>
      </p:sp>
      <p:sp>
        <p:nvSpPr>
          <p:cNvPr id="39" name="结构-39">
            <a:extLst xmlns:a="http://schemas.openxmlformats.org/drawingml/2006/main">
              <a:ext uri="{FF2B5EF4-FFF2-40B4-BE49-F238E27FC236}">
                <a16:creationId xmlns:a16="http://schemas.microsoft.com/office/drawing/2014/main" id="{282E4883-7608-4272-A9EE-CF4DA650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765" y="3592830"/>
            <a:ext cx="87584" cy="102870"/>
          </a:xfrm>
          <a:custGeom xmlns:a="http://schemas.openxmlformats.org/drawingml/2006/main">
            <a:pathLst>
              <a:path w="114467" h="134445">
                <a:moveTo>
                  <a:pt x="57233" y="134445"/>
                </a:moveTo>
                <a:lnTo>
                  <a:pt x="11446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788B"/>
          </a:solidFill>
          <a:ln xmlns:a="http://schemas.openxmlformats.org/drawingml/2006/main" w="0">
            <a:noFill/>
          </a:ln>
        </p:spPr>
      </p:sp>
      <p:sp>
        <p:nvSpPr>
          <p:cNvPr id="40" name="连线-40">
            <a:extLst xmlns:a="http://schemas.openxmlformats.org/drawingml/2006/main">
              <a:ext uri="{FF2B5EF4-FFF2-40B4-BE49-F238E27FC236}">
                <a16:creationId xmlns:a16="http://schemas.microsoft.com/office/drawing/2014/main" id="{995E9988-91EE-407C-828D-AD8104DB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95349" y="3421380"/>
            <a:ext cx="723515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32">
            <a:solidFill>
              <a:srgbClr val="66788B"/>
            </a:solidFill>
            <a:prstDash val="solid"/>
          </a:ln>
        </p:spPr>
      </p:sp>
      <p:sp>
        <p:nvSpPr>
          <p:cNvPr id="41" name="连线-41">
            <a:extLst xmlns:a="http://schemas.openxmlformats.org/drawingml/2006/main">
              <a:ext uri="{FF2B5EF4-FFF2-40B4-BE49-F238E27FC236}">
                <a16:creationId xmlns:a16="http://schemas.microsoft.com/office/drawing/2014/main" id="{5FB7103D-8EEF-4710-BC2F-93C2A752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18865" y="3421380"/>
            <a:ext cx="729" cy="1889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32">
            <a:solidFill>
              <a:srgbClr val="66788B"/>
            </a:solidFill>
            <a:prstDash val="solid"/>
          </a:ln>
        </p:spPr>
      </p:sp>
      <p:sp>
        <p:nvSpPr>
          <p:cNvPr id="42" name="连线-42">
            <a:extLst xmlns:a="http://schemas.openxmlformats.org/drawingml/2006/main">
              <a:ext uri="{FF2B5EF4-FFF2-40B4-BE49-F238E27FC236}">
                <a16:creationId xmlns:a16="http://schemas.microsoft.com/office/drawing/2014/main" id="{C5B879FC-48BB-4A8F-8F92-44B19859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527799" y="5311140"/>
            <a:ext cx="891066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932">
            <a:solidFill>
              <a:srgbClr val="66788B"/>
            </a:solidFill>
            <a:prstDash val="solid"/>
          </a:ln>
        </p:spPr>
      </p:sp>
      <p:sp>
        <p:nvSpPr>
          <p:cNvPr id="43" name="结构-43">
            <a:extLst xmlns:a="http://schemas.openxmlformats.org/drawingml/2006/main">
              <a:ext uri="{FF2B5EF4-FFF2-40B4-BE49-F238E27FC236}">
                <a16:creationId xmlns:a16="http://schemas.microsoft.com/office/drawing/2014/main" id="{A9EF2C3F-6CED-4FB2-8C6C-E940FA9B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799" y="5267325"/>
            <a:ext cx="102815" cy="87630"/>
          </a:xfrm>
          <a:custGeom xmlns:a="http://schemas.openxmlformats.org/drawingml/2006/main">
            <a:pathLst>
              <a:path w="134374" h="114528">
                <a:moveTo>
                  <a:pt x="0" y="57264"/>
                </a:moveTo>
                <a:lnTo>
                  <a:pt x="134374" y="114528"/>
                </a:lnTo>
                <a:lnTo>
                  <a:pt x="134374" y="0"/>
                </a:lnTo>
                <a:close/>
              </a:path>
            </a:pathLst>
          </a:custGeom>
          <a:solidFill xmlns:a="http://schemas.openxmlformats.org/drawingml/2006/main">
            <a:srgbClr val="66788B"/>
          </a:solidFill>
          <a:ln xmlns:a="http://schemas.openxmlformats.org/drawingml/2006/main" w="0">
            <a:noFill/>
          </a:ln>
        </p:spPr>
      </p:sp>
      <p:sp>
        <p:nvSpPr>
          <p:cNvPr id="44" name="文字-44-输出">
            <a:extLst xmlns:a="http://schemas.openxmlformats.org/drawingml/2006/main">
              <a:ext uri="{FF2B5EF4-FFF2-40B4-BE49-F238E27FC236}">
                <a16:creationId xmlns:a16="http://schemas.microsoft.com/office/drawing/2014/main" id="{7B2727AC-35B6-4876-93B4-0E4CE43C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876925"/>
            <a:ext cx="1019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45" name="文字-45-填写输出结果、预测结论或生成">
            <a:extLst xmlns:a="http://schemas.openxmlformats.org/drawingml/2006/main">
              <a:ext uri="{FF2B5EF4-FFF2-40B4-BE49-F238E27FC236}">
                <a16:creationId xmlns:a16="http://schemas.microsoft.com/office/drawing/2014/main" id="{30C1F472-6E76-4FED-BA19-9ED841A1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876925"/>
            <a:ext cx="430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输出结果、预测结论或生成方案</a:t>
            </a:r>
          </a:p>
        </p:txBody>
      </p:sp>
      <p:sp>
        <p:nvSpPr>
          <p:cNvPr id="46" name="连线-46">
            <a:extLst xmlns:a="http://schemas.openxmlformats.org/drawingml/2006/main">
              <a:ext uri="{FF2B5EF4-FFF2-40B4-BE49-F238E27FC236}">
                <a16:creationId xmlns:a16="http://schemas.microsoft.com/office/drawing/2014/main" id="{B536D963-98AD-4F9B-BFF9-30FDED49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1557" y="5600700"/>
            <a:ext cx="729" cy="2819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AC111A"/>
            </a:solidFill>
            <a:prstDash val="solid"/>
          </a:ln>
        </p:spPr>
      </p:sp>
      <p:sp>
        <p:nvSpPr>
          <p:cNvPr id="47" name="结构-47">
            <a:extLst xmlns:a="http://schemas.openxmlformats.org/drawingml/2006/main">
              <a:ext uri="{FF2B5EF4-FFF2-40B4-BE49-F238E27FC236}">
                <a16:creationId xmlns:a16="http://schemas.microsoft.com/office/drawing/2014/main" id="{B4ABF359-B43D-4CCC-90FB-A683C1A8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861" y="577596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48" name="对象-48">
            <a:extLst xmlns:a="http://schemas.openxmlformats.org/drawingml/2006/main">
              <a:ext uri="{FF2B5EF4-FFF2-40B4-BE49-F238E27FC236}">
                <a16:creationId xmlns:a16="http://schemas.microsoft.com/office/drawing/2014/main" id="{7581BBBA-CBD3-4181-BEE3-66C5F4C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76450"/>
            <a:ext cx="2647950" cy="416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9" name="文字-49-填写结果应用说明">
            <a:extLst xmlns:a="http://schemas.openxmlformats.org/drawingml/2006/main">
              <a:ext uri="{FF2B5EF4-FFF2-40B4-BE49-F238E27FC236}">
                <a16:creationId xmlns:a16="http://schemas.microsoft.com/office/drawing/2014/main" id="{29EA2284-A937-4A0E-A40A-F881786E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467" y="2217420"/>
            <a:ext cx="2437104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结果应用说明</a:t>
            </a:r>
          </a:p>
        </p:txBody>
      </p:sp>
      <p:sp>
        <p:nvSpPr>
          <p:cNvPr id="50" name="图片区-1-应用或机制图">
            <a:extLst xmlns:a="http://schemas.openxmlformats.org/drawingml/2006/main">
              <a:ext uri="{FF2B5EF4-FFF2-40B4-BE49-F238E27FC236}">
                <a16:creationId xmlns:a16="http://schemas.microsoft.com/office/drawing/2014/main" id="{F2AAE45E-FFB0-40E5-9C68-AFCE7BA1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90825"/>
            <a:ext cx="23241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51" name="文字-51-填写方法对研究目标的支撑作用">
            <a:extLst xmlns:a="http://schemas.openxmlformats.org/drawingml/2006/main">
              <a:ext uri="{FF2B5EF4-FFF2-40B4-BE49-F238E27FC236}">
                <a16:creationId xmlns:a16="http://schemas.microsoft.com/office/drawing/2014/main" id="{FCC673D4-E4D4-42F3-BE59-CB4AAE9A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410325"/>
            <a:ext cx="1145857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方法对研究目标的支撑作用</a:t>
            </a:r>
          </a:p>
        </p:txBody>
      </p:sp>
      <p:cxnSp>
        <p:nvCxnSpPr>
          <p:cNvPr id="101" name=""/>
          <p:cNvCxnSpPr>
            <a:stCxn xmlns:a="http://schemas.openxmlformats.org/drawingml/2006/main" id="10" idx="2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2501271" y="3398520"/>
            <a:ext cx="662588" cy="5524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3335">
            <a:solidFill>
              <a:srgbClr val="64788C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9154428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结构-1">
            <a:extLst xmlns:a="http://schemas.openxmlformats.org/drawingml/2006/main">
              <a:ext uri="{FF2B5EF4-FFF2-40B4-BE49-F238E27FC236}">
                <a16:creationId xmlns:a16="http://schemas.microsoft.com/office/drawing/2014/main" id="{F9C249BE-F8F5-432D-A96D-BE277B68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三：动态决策与算">
            <a:extLst xmlns:a="http://schemas.openxmlformats.org/drawingml/2006/main">
              <a:ext uri="{FF2B5EF4-FFF2-40B4-BE49-F238E27FC236}">
                <a16:creationId xmlns:a16="http://schemas.microsoft.com/office/drawing/2014/main" id="{DE511C58-3A69-4538-B9D4-CF1B4D4A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研究进展三：动态决策与算法优化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BB76AEA5-F99B-4A60-BEA0-6C6C3435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3A791BE7-45EF-4EAB-B616-BBB35709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研究方法：说明优化变量如">
            <a:extLst xmlns:a="http://schemas.openxmlformats.org/drawingml/2006/main">
              <a:ext uri="{FF2B5EF4-FFF2-40B4-BE49-F238E27FC236}">
                <a16:creationId xmlns:a16="http://schemas.microsoft.com/office/drawing/2014/main" id="{B307D0F7-B79C-4273-9141-CB4DD4FC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研究方法：说明优化变量如何从对象参数扩展到方法本身</a:t>
            </a:r>
          </a:p>
        </p:txBody>
      </p:sp>
      <p:sp>
        <p:nvSpPr>
          <p:cNvPr id="6" name="文字-6-补充目标函数、可行性条件">
            <a:extLst xmlns:a="http://schemas.openxmlformats.org/drawingml/2006/main">
              <a:ext uri="{FF2B5EF4-FFF2-40B4-BE49-F238E27FC236}">
                <a16:creationId xmlns:a16="http://schemas.microsoft.com/office/drawing/2014/main" id="{3DC32B4F-2FA5-4DCC-A638-85E22BE1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76400"/>
            <a:ext cx="11582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补充目标函数、可行性条件与评价标准</a:t>
            </a:r>
          </a:p>
        </p:txBody>
      </p:sp>
      <p:sp>
        <p:nvSpPr>
          <p:cNvPr id="7" name="结构-7">
            <a:extLst xmlns:a="http://schemas.openxmlformats.org/drawingml/2006/main">
              <a:ext uri="{FF2B5EF4-FFF2-40B4-BE49-F238E27FC236}">
                <a16:creationId xmlns:a16="http://schemas.microsoft.com/office/drawing/2014/main" id="{0B865386-1A16-4EF4-8957-F33E2EB6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4486275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文字-8-研究对象参数优化问题">
            <a:extLst xmlns:a="http://schemas.openxmlformats.org/drawingml/2006/main">
              <a:ext uri="{FF2B5EF4-FFF2-40B4-BE49-F238E27FC236}">
                <a16:creationId xmlns:a16="http://schemas.microsoft.com/office/drawing/2014/main" id="{E9C4ED35-4826-4498-BBA5-14B5FC6E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3952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研究对象参数优化问题</a:t>
            </a:r>
          </a:p>
        </p:txBody>
      </p:sp>
      <p:sp>
        <p:nvSpPr>
          <p:cNvPr id="9" name="文字-9-填写优化目标与形式化表达">
            <a:extLst xmlns:a="http://schemas.openxmlformats.org/drawingml/2006/main">
              <a:ext uri="{FF2B5EF4-FFF2-40B4-BE49-F238E27FC236}">
                <a16:creationId xmlns:a16="http://schemas.microsoft.com/office/drawing/2014/main" id="{FF1826AB-8708-47B7-9EE3-6818AB56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3762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填写优化目标</a:t>
            </a:r>
          </a:p>
          <a:p xmlns:a="http://schemas.openxmlformats.org/drawingml/2006/main">
            <a:pPr algn="ctr">
              <a:def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与形式化表达</a:t>
            </a:r>
          </a:p>
        </p:txBody>
      </p:sp>
      <p:sp>
        <p:nvSpPr>
          <p:cNvPr id="10" name="文字-10-填写期望得到的最优结果">
            <a:extLst xmlns:a="http://schemas.openxmlformats.org/drawingml/2006/main">
              <a:ext uri="{FF2B5EF4-FFF2-40B4-BE49-F238E27FC236}">
                <a16:creationId xmlns:a16="http://schemas.microsoft.com/office/drawing/2014/main" id="{E01438C1-628A-4F86-97BE-5E1E8219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填写期望得到的最优结果</a:t>
            </a:r>
          </a:p>
        </p:txBody>
      </p:sp>
      <p:sp>
        <p:nvSpPr>
          <p:cNvPr id="11" name="文字-11-决策变量：填写目标函数：">
            <a:extLst xmlns:a="http://schemas.openxmlformats.org/drawingml/2006/main">
              <a:ext uri="{FF2B5EF4-FFF2-40B4-BE49-F238E27FC236}">
                <a16:creationId xmlns:a16="http://schemas.microsoft.com/office/drawing/2014/main" id="{C55639DE-D7B7-497D-B39A-D5FAEF8A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3876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决策变量：填写</a:t>
            </a:r>
          </a:p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目标函数：填写</a:t>
            </a:r>
          </a:p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约束条件：填写</a:t>
            </a:r>
          </a:p>
        </p:txBody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AC7B4FB5-69FF-4C46-934B-45110E0D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24100"/>
            <a:ext cx="4486275" cy="3800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文字-13-方法／算法优化问题">
            <a:extLst xmlns:a="http://schemas.openxmlformats.org/drawingml/2006/main">
              <a:ext uri="{FF2B5EF4-FFF2-40B4-BE49-F238E27FC236}">
                <a16:creationId xmlns:a16="http://schemas.microsoft.com/office/drawing/2014/main" id="{DD037F3B-AD75-4DBB-8815-732E408C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38400"/>
            <a:ext cx="3952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0D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方法／算法优化问题</a:t>
            </a:r>
          </a:p>
        </p:txBody>
      </p:sp>
      <p:sp>
        <p:nvSpPr>
          <p:cNvPr id="14" name="文字-14-填写优化目标与形式化表达">
            <a:extLst xmlns:a="http://schemas.openxmlformats.org/drawingml/2006/main">
              <a:ext uri="{FF2B5EF4-FFF2-40B4-BE49-F238E27FC236}">
                <a16:creationId xmlns:a16="http://schemas.microsoft.com/office/drawing/2014/main" id="{8131E17D-01AD-4619-9D38-160BB148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57550"/>
            <a:ext cx="3762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填写优化目标</a:t>
            </a:r>
          </a:p>
          <a:p xmlns:a="http://schemas.openxmlformats.org/drawingml/2006/main">
            <a:pPr algn="ctr">
              <a:defRPr sz="24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与形式化表达</a:t>
            </a:r>
          </a:p>
        </p:txBody>
      </p:sp>
      <p:sp>
        <p:nvSpPr>
          <p:cNvPr id="15" name="文字-15-填写期望得到的最优结果">
            <a:extLst xmlns:a="http://schemas.openxmlformats.org/drawingml/2006/main">
              <a:ext uri="{FF2B5EF4-FFF2-40B4-BE49-F238E27FC236}">
                <a16:creationId xmlns:a16="http://schemas.microsoft.com/office/drawing/2014/main" id="{4B29125C-BF6E-45EC-B24E-C1C224FF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76750"/>
            <a:ext cx="395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填写期望得到的最优结果</a:t>
            </a:r>
          </a:p>
        </p:txBody>
      </p:sp>
      <p:sp>
        <p:nvSpPr>
          <p:cNvPr id="16" name="文字-16-决策变量：填写目标函数：">
            <a:extLst xmlns:a="http://schemas.openxmlformats.org/drawingml/2006/main">
              <a:ext uri="{FF2B5EF4-FFF2-40B4-BE49-F238E27FC236}">
                <a16:creationId xmlns:a16="http://schemas.microsoft.com/office/drawing/2014/main" id="{82F2D47E-4E74-4270-8127-8B672751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010150"/>
            <a:ext cx="38766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决策变量：填写</a:t>
            </a:r>
          </a:p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目标函数：填写</a:t>
            </a:r>
          </a:p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约束条件：填写</a:t>
            </a:r>
          </a:p>
        </p:txBody>
      </p:sp>
      <p:sp>
        <p:nvSpPr>
          <p:cNvPr id="17" name="文字-17-评价案例性能指标">
            <a:extLst xmlns:a="http://schemas.openxmlformats.org/drawingml/2006/main">
              <a:ext uri="{FF2B5EF4-FFF2-40B4-BE49-F238E27FC236}">
                <a16:creationId xmlns:a16="http://schemas.microsoft.com/office/drawing/2014/main" id="{4C7DA555-FD79-45EE-9DEB-2278EDD8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62325"/>
            <a:ext cx="1752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评价案例</a:t>
            </a:r>
          </a:p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性能指标</a:t>
            </a:r>
          </a:p>
        </p:txBody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9E9C7C6E-0D97-4FEC-A821-453559D3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67325" y="4333875"/>
            <a:ext cx="1647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73F88"/>
            </a:solidFill>
            <a:prstDash val="solid"/>
          </a:ln>
        </p:spPr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EB0E1C0F-C0C8-4A0A-B1AB-5B5DCDD4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262438"/>
            <a:ext cx="161925" cy="142875"/>
          </a:xfrm>
          <a:custGeom xmlns:a="http://schemas.openxmlformats.org/drawingml/2006/main">
            <a:pathLst>
              <a:path w="161925" h="142875">
                <a:moveTo>
                  <a:pt x="161925" y="71438"/>
                </a:moveTo>
                <a:lnTo>
                  <a:pt x="0" y="0"/>
                </a:lnTo>
                <a:lnTo>
                  <a:pt x="0" y="1428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0" name="连线-20">
            <a:extLst xmlns:a="http://schemas.openxmlformats.org/drawingml/2006/main">
              <a:ext uri="{FF2B5EF4-FFF2-40B4-BE49-F238E27FC236}">
                <a16:creationId xmlns:a16="http://schemas.microsoft.com/office/drawing/2014/main" id="{64FE2020-DA1A-4A32-B663-4A6894F4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267325" y="4848225"/>
            <a:ext cx="1647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A90D12"/>
            </a:solidFill>
            <a:prstDash val="solid"/>
          </a:ln>
        </p:spPr>
      </p:sp>
      <p:sp>
        <p:nvSpPr>
          <p:cNvPr id="21" name="结构-21">
            <a:extLst xmlns:a="http://schemas.openxmlformats.org/drawingml/2006/main">
              <a:ext uri="{FF2B5EF4-FFF2-40B4-BE49-F238E27FC236}">
                <a16:creationId xmlns:a16="http://schemas.microsoft.com/office/drawing/2014/main" id="{21D9D588-2A64-4906-ADBA-09BCD85E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776788"/>
            <a:ext cx="161925" cy="142875"/>
          </a:xfrm>
          <a:custGeom xmlns:a="http://schemas.openxmlformats.org/drawingml/2006/main">
            <a:pathLst>
              <a:path w="161925" h="142875">
                <a:moveTo>
                  <a:pt x="0" y="71438"/>
                </a:moveTo>
                <a:lnTo>
                  <a:pt x="161925" y="142875"/>
                </a:lnTo>
                <a:lnTo>
                  <a:pt x="161925" y="0"/>
                </a:lnTo>
                <a:close/>
              </a:path>
            </a:pathLst>
          </a:custGeom>
          <a:solidFill xmlns:a="http://schemas.openxmlformats.org/drawingml/2006/main">
            <a:srgbClr val="A90D12"/>
          </a:solidFill>
          <a:ln xmlns:a="http://schemas.openxmlformats.org/drawingml/2006/main" w="0">
            <a:noFill/>
          </a:ln>
        </p:spPr>
      </p:sp>
      <p:sp>
        <p:nvSpPr>
          <p:cNvPr id="22" name="文字-22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AEE2E2B1-6D13-4442-AFFF-993ADF24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30645641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结构-1">
            <a:extLst xmlns:a="http://schemas.openxmlformats.org/drawingml/2006/main">
              <a:ext uri="{FF2B5EF4-FFF2-40B4-BE49-F238E27FC236}">
                <a16:creationId xmlns:a16="http://schemas.microsoft.com/office/drawing/2014/main" id="{7ABCA2E3-1D52-4372-AD00-ABABB634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三：动态决策与算">
            <a:extLst xmlns:a="http://schemas.openxmlformats.org/drawingml/2006/main">
              <a:ext uri="{FF2B5EF4-FFF2-40B4-BE49-F238E27FC236}">
                <a16:creationId xmlns:a16="http://schemas.microsoft.com/office/drawing/2014/main" id="{42E34A55-0A3A-461A-8B46-61A1FAEA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研究进展三：动态决策与算法优化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34121A3E-ADFC-4A3C-AF34-C79BAE9F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BF3B7ABE-669B-467A-8DFF-27A022D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候选方案如何经过选择">
            <a:extLst xmlns:a="http://schemas.openxmlformats.org/drawingml/2006/main">
              <a:ext uri="{FF2B5EF4-FFF2-40B4-BE49-F238E27FC236}">
                <a16:creationId xmlns:a16="http://schemas.microsoft.com/office/drawing/2014/main" id="{93D8DD8E-DC39-46AB-B6CC-9A110D91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说明候选方案如何经过选择、反思、组合与变异，持续形成改进结果</a:t>
            </a:r>
          </a:p>
        </p:txBody>
      </p:sp>
      <p:sp>
        <p:nvSpPr>
          <p:cNvPr id="6" name="文字-6-初始候选集">
            <a:extLst xmlns:a="http://schemas.openxmlformats.org/drawingml/2006/main">
              <a:ext uri="{FF2B5EF4-FFF2-40B4-BE49-F238E27FC236}">
                <a16:creationId xmlns:a16="http://schemas.microsoft.com/office/drawing/2014/main" id="{556AAAC4-27F5-4F8A-AB7F-EBA9044C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764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初始候选集</a:t>
            </a:r>
          </a:p>
        </p:txBody>
      </p:sp>
      <p:sp>
        <p:nvSpPr>
          <p:cNvPr id="7" name="文字-7-评价器">
            <a:extLst xmlns:a="http://schemas.openxmlformats.org/drawingml/2006/main">
              <a:ext uri="{FF2B5EF4-FFF2-40B4-BE49-F238E27FC236}">
                <a16:creationId xmlns:a16="http://schemas.microsoft.com/office/drawing/2014/main" id="{E71E8615-79F4-49C6-844F-8D3E377C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43325"/>
            <a:ext cx="17811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评价器</a:t>
            </a:r>
          </a:p>
        </p:txBody>
      </p:sp>
      <p:sp>
        <p:nvSpPr>
          <p:cNvPr id="8" name="连线-8">
            <a:extLst xmlns:a="http://schemas.openxmlformats.org/drawingml/2006/main">
              <a:ext uri="{FF2B5EF4-FFF2-40B4-BE49-F238E27FC236}">
                <a16:creationId xmlns:a16="http://schemas.microsoft.com/office/drawing/2014/main" id="{C23EEF80-37A4-4D51-94B6-01F15B49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5400" y="2905125"/>
            <a:ext cx="953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C38F787E-5840-4BBF-A1FC-971CA5A7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5623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0" name="文字-10-步骤一筛选">
            <a:extLst xmlns:a="http://schemas.openxmlformats.org/drawingml/2006/main">
              <a:ext uri="{FF2B5EF4-FFF2-40B4-BE49-F238E27FC236}">
                <a16:creationId xmlns:a16="http://schemas.microsoft.com/office/drawing/2014/main" id="{244AC0DD-8FA2-4530-990A-FF319484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05425"/>
            <a:ext cx="1752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步骤一</a:t>
            </a:r>
          </a:p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筛选</a:t>
            </a:r>
          </a:p>
        </p:txBody>
      </p:sp>
      <p:sp>
        <p:nvSpPr>
          <p:cNvPr id="11" name="连线-11">
            <a:extLst xmlns:a="http://schemas.openxmlformats.org/drawingml/2006/main">
              <a:ext uri="{FF2B5EF4-FFF2-40B4-BE49-F238E27FC236}">
                <a16:creationId xmlns:a16="http://schemas.microsoft.com/office/drawing/2014/main" id="{37F4809F-D0E5-4D21-8949-DA27F0CB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85875" y="4429125"/>
            <a:ext cx="953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3F5F10AB-0716-4593-98A8-DF26B450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3" name="结构-13">
            <a:extLst xmlns:a="http://schemas.openxmlformats.org/drawingml/2006/main">
              <a:ext uri="{FF2B5EF4-FFF2-40B4-BE49-F238E27FC236}">
                <a16:creationId xmlns:a16="http://schemas.microsoft.com/office/drawing/2014/main" id="{3016A787-654E-4A49-899A-DABEAD31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57450"/>
            <a:ext cx="37147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文字-14-步骤二：反思改进">
            <a:extLst xmlns:a="http://schemas.openxmlformats.org/drawingml/2006/main">
              <a:ext uri="{FF2B5EF4-FFF2-40B4-BE49-F238E27FC236}">
                <a16:creationId xmlns:a16="http://schemas.microsoft.com/office/drawing/2014/main" id="{001FC22C-CCB5-4402-A995-5832ECF5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43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步骤二：反思改进</a:t>
            </a:r>
          </a:p>
        </p:txBody>
      </p:sp>
      <p:sp>
        <p:nvSpPr>
          <p:cNvPr id="15" name="文字-15-输入与约束">
            <a:extLst xmlns:a="http://schemas.openxmlformats.org/drawingml/2006/main">
              <a:ext uri="{FF2B5EF4-FFF2-40B4-BE49-F238E27FC236}">
                <a16:creationId xmlns:a16="http://schemas.microsoft.com/office/drawing/2014/main" id="{0BD07540-7E17-4839-8095-6009E596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76575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输入与约束</a:t>
            </a:r>
          </a:p>
        </p:txBody>
      </p:sp>
      <p:sp>
        <p:nvSpPr>
          <p:cNvPr id="16" name="文字-16-生成与评价">
            <a:extLst xmlns:a="http://schemas.openxmlformats.org/drawingml/2006/main">
              <a:ext uri="{FF2B5EF4-FFF2-40B4-BE49-F238E27FC236}">
                <a16:creationId xmlns:a16="http://schemas.microsoft.com/office/drawing/2014/main" id="{2AB92298-6C28-4C2E-B267-E481068C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076575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生成与评价</a:t>
            </a:r>
          </a:p>
        </p:txBody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FBE0D3F4-06D2-4486-A671-7D2894D3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1950" y="3324225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88"/>
            </a:solidFill>
            <a:prstDash val="solid"/>
          </a:ln>
        </p:spPr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461A986D-76A7-4E88-8778-F5CE5059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</a:ln>
        </p:spPr>
      </p:sp>
      <p:sp>
        <p:nvSpPr>
          <p:cNvPr id="19" name="文字-19-填写输出结果或反思内容">
            <a:extLst xmlns:a="http://schemas.openxmlformats.org/drawingml/2006/main">
              <a:ext uri="{FF2B5EF4-FFF2-40B4-BE49-F238E27FC236}">
                <a16:creationId xmlns:a16="http://schemas.microsoft.com/office/drawing/2014/main" id="{FD9AD4C2-7BA1-4120-A32E-A5B15D09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147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填写输出结果或反思内容</a:t>
            </a:r>
          </a:p>
        </p:txBody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FE51EB98-825F-4650-8E17-115A3940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562475"/>
            <a:ext cx="37147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文字-21-步骤三：组合生成">
            <a:extLst xmlns:a="http://schemas.openxmlformats.org/drawingml/2006/main">
              <a:ext uri="{FF2B5EF4-FFF2-40B4-BE49-F238E27FC236}">
                <a16:creationId xmlns:a16="http://schemas.microsoft.com/office/drawing/2014/main" id="{3E3008BD-A9DC-4284-9BD9-3CACEE3D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步骤三：组合生成</a:t>
            </a:r>
          </a:p>
        </p:txBody>
      </p:sp>
      <p:sp>
        <p:nvSpPr>
          <p:cNvPr id="22" name="文字-22-输入与约束">
            <a:extLst xmlns:a="http://schemas.openxmlformats.org/drawingml/2006/main">
              <a:ext uri="{FF2B5EF4-FFF2-40B4-BE49-F238E27FC236}">
                <a16:creationId xmlns:a16="http://schemas.microsoft.com/office/drawing/2014/main" id="{96ECE51A-A561-45CE-AE55-D3877D2F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8160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输入与约束</a:t>
            </a:r>
          </a:p>
        </p:txBody>
      </p:sp>
      <p:sp>
        <p:nvSpPr>
          <p:cNvPr id="23" name="文字-23-生成与评价">
            <a:extLst xmlns:a="http://schemas.openxmlformats.org/drawingml/2006/main">
              <a:ext uri="{FF2B5EF4-FFF2-40B4-BE49-F238E27FC236}">
                <a16:creationId xmlns:a16="http://schemas.microsoft.com/office/drawing/2014/main" id="{2D42B664-BA6A-477C-9518-2198F66F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81600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生成与评价</a:t>
            </a:r>
          </a:p>
        </p:txBody>
      </p:sp>
      <p:sp>
        <p:nvSpPr>
          <p:cNvPr id="24" name="连线-24">
            <a:extLst xmlns:a="http://schemas.openxmlformats.org/drawingml/2006/main">
              <a:ext uri="{FF2B5EF4-FFF2-40B4-BE49-F238E27FC236}">
                <a16:creationId xmlns:a16="http://schemas.microsoft.com/office/drawing/2014/main" id="{483F4C6E-D8C4-4D8F-8E2B-4531487C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1950" y="54292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0D12"/>
            </a:solidFill>
            <a:prstDash val="solid"/>
          </a:ln>
        </p:spPr>
      </p:sp>
      <p:sp>
        <p:nvSpPr>
          <p:cNvPr id="25" name="结构-25">
            <a:extLst xmlns:a="http://schemas.openxmlformats.org/drawingml/2006/main">
              <a:ext uri="{FF2B5EF4-FFF2-40B4-BE49-F238E27FC236}">
                <a16:creationId xmlns:a16="http://schemas.microsoft.com/office/drawing/2014/main" id="{22705D3D-9EF8-4993-B8DE-34ED857A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81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A90D12"/>
          </a:solidFill>
          <a:ln xmlns:a="http://schemas.openxmlformats.org/drawingml/2006/main" w="0">
            <a:noFill/>
          </a:ln>
        </p:spPr>
      </p:sp>
      <p:sp>
        <p:nvSpPr>
          <p:cNvPr id="26" name="文字-26-填写输出结果或反思内容">
            <a:extLst xmlns:a="http://schemas.openxmlformats.org/drawingml/2006/main">
              <a:ext uri="{FF2B5EF4-FFF2-40B4-BE49-F238E27FC236}">
                <a16:creationId xmlns:a16="http://schemas.microsoft.com/office/drawing/2014/main" id="{2B2D4587-5847-4944-BFAE-F11B569C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81977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填写输出结果或反思内容</a:t>
            </a:r>
          </a:p>
        </p:txBody>
      </p:sp>
      <p:sp>
        <p:nvSpPr>
          <p:cNvPr id="27" name="结构-27">
            <a:extLst xmlns:a="http://schemas.openxmlformats.org/drawingml/2006/main">
              <a:ext uri="{FF2B5EF4-FFF2-40B4-BE49-F238E27FC236}">
                <a16:creationId xmlns:a16="http://schemas.microsoft.com/office/drawing/2014/main" id="{0BC9C274-E9CF-482A-BB03-086CE1B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457450"/>
            <a:ext cx="37147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文字-28-步骤四：总结反思">
            <a:extLst xmlns:a="http://schemas.openxmlformats.org/drawingml/2006/main">
              <a:ext uri="{FF2B5EF4-FFF2-40B4-BE49-F238E27FC236}">
                <a16:creationId xmlns:a16="http://schemas.microsoft.com/office/drawing/2014/main" id="{27C118C8-E7FD-4177-8666-26440ED8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431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步骤四：总结反思</a:t>
            </a:r>
          </a:p>
        </p:txBody>
      </p:sp>
      <p:sp>
        <p:nvSpPr>
          <p:cNvPr id="29" name="文字-29-输入与约束">
            <a:extLst xmlns:a="http://schemas.openxmlformats.org/drawingml/2006/main">
              <a:ext uri="{FF2B5EF4-FFF2-40B4-BE49-F238E27FC236}">
                <a16:creationId xmlns:a16="http://schemas.microsoft.com/office/drawing/2014/main" id="{C78B2E7B-6722-428F-AF0D-63221B4D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76575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输入与约束</a:t>
            </a:r>
          </a:p>
        </p:txBody>
      </p:sp>
      <p:sp>
        <p:nvSpPr>
          <p:cNvPr id="30" name="文字-30-生成与评价">
            <a:extLst xmlns:a="http://schemas.openxmlformats.org/drawingml/2006/main">
              <a:ext uri="{FF2B5EF4-FFF2-40B4-BE49-F238E27FC236}">
                <a16:creationId xmlns:a16="http://schemas.microsoft.com/office/drawing/2014/main" id="{775C7B87-1A13-4FE7-B73C-CEF1E70B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76575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C88"/>
                </a:solidFill>
                <a:latin typeface="Microsoft YaHei"/>
                <a:ea typeface="Microsoft YaHei"/>
                <a:cs typeface="Microsoft YaHei"/>
              </a:rPr>
              <a:t>生成与评价</a:t>
            </a:r>
          </a:p>
        </p:txBody>
      </p:sp>
      <p:sp>
        <p:nvSpPr>
          <p:cNvPr id="31" name="连线-31">
            <a:extLst xmlns:a="http://schemas.openxmlformats.org/drawingml/2006/main">
              <a:ext uri="{FF2B5EF4-FFF2-40B4-BE49-F238E27FC236}">
                <a16:creationId xmlns:a16="http://schemas.microsoft.com/office/drawing/2014/main" id="{45DEA650-9D01-4A61-A877-0FB8B3F6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96275" y="3324225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88"/>
            </a:solidFill>
            <a:prstDash val="solid"/>
          </a:ln>
        </p:spPr>
      </p:sp>
      <p:sp>
        <p:nvSpPr>
          <p:cNvPr id="32" name="结构-32">
            <a:extLst xmlns:a="http://schemas.openxmlformats.org/drawingml/2006/main">
              <a:ext uri="{FF2B5EF4-FFF2-40B4-BE49-F238E27FC236}">
                <a16:creationId xmlns:a16="http://schemas.microsoft.com/office/drawing/2014/main" id="{3FD2F6B7-3BC8-4BD2-888D-959C25A4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766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</a:ln>
        </p:spPr>
      </p:sp>
      <p:sp>
        <p:nvSpPr>
          <p:cNvPr id="33" name="文字-33-填写输出结果或反思内容">
            <a:extLst xmlns:a="http://schemas.openxmlformats.org/drawingml/2006/main">
              <a:ext uri="{FF2B5EF4-FFF2-40B4-BE49-F238E27FC236}">
                <a16:creationId xmlns:a16="http://schemas.microsoft.com/office/drawing/2014/main" id="{1B4752E3-8883-498D-AE1D-B3CB9BA0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147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填写输出结果或反思内容</a:t>
            </a:r>
          </a:p>
        </p:txBody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658ABFAA-4E27-4372-80EC-DCCAD65D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562475"/>
            <a:ext cx="37147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文字-35-步骤五：变异探索">
            <a:extLst xmlns:a="http://schemas.openxmlformats.org/drawingml/2006/main">
              <a:ext uri="{FF2B5EF4-FFF2-40B4-BE49-F238E27FC236}">
                <a16:creationId xmlns:a16="http://schemas.microsoft.com/office/drawing/2014/main" id="{41EE9FFE-F6C9-4D3D-A7E7-20BA99D8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648200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36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36713"/>
                </a:solidFill>
                <a:latin typeface="Microsoft YaHei"/>
                <a:ea typeface="Microsoft YaHei"/>
                <a:cs typeface="Microsoft YaHei"/>
              </a:rPr>
              <a:t>步骤五：变异探索</a:t>
            </a:r>
          </a:p>
        </p:txBody>
      </p:sp>
      <p:sp>
        <p:nvSpPr>
          <p:cNvPr id="36" name="文字-36-输入与约束">
            <a:extLst xmlns:a="http://schemas.openxmlformats.org/drawingml/2006/main">
              <a:ext uri="{FF2B5EF4-FFF2-40B4-BE49-F238E27FC236}">
                <a16:creationId xmlns:a16="http://schemas.microsoft.com/office/drawing/2014/main" id="{13DA1695-B32A-4563-BF8F-0BDD4C29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81600"/>
            <a:ext cx="137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36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36713"/>
                </a:solidFill>
                <a:latin typeface="Microsoft YaHei"/>
                <a:ea typeface="Microsoft YaHei"/>
                <a:cs typeface="Microsoft YaHei"/>
              </a:rPr>
              <a:t>输入与约束</a:t>
            </a:r>
          </a:p>
        </p:txBody>
      </p:sp>
      <p:sp>
        <p:nvSpPr>
          <p:cNvPr id="37" name="文字-37-生成与评价">
            <a:extLst xmlns:a="http://schemas.openxmlformats.org/drawingml/2006/main">
              <a:ext uri="{FF2B5EF4-FFF2-40B4-BE49-F238E27FC236}">
                <a16:creationId xmlns:a16="http://schemas.microsoft.com/office/drawing/2014/main" id="{CE0847A7-8A56-41DE-84A7-1B75F189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1600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367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36713"/>
                </a:solidFill>
                <a:latin typeface="Microsoft YaHei"/>
                <a:ea typeface="Microsoft YaHei"/>
                <a:cs typeface="Microsoft YaHei"/>
              </a:rPr>
              <a:t>生成与评价</a:t>
            </a:r>
          </a:p>
        </p:txBody>
      </p:sp>
      <p:sp>
        <p:nvSpPr>
          <p:cNvPr id="38" name="连线-38">
            <a:extLst xmlns:a="http://schemas.openxmlformats.org/drawingml/2006/main">
              <a:ext uri="{FF2B5EF4-FFF2-40B4-BE49-F238E27FC236}">
                <a16:creationId xmlns:a16="http://schemas.microsoft.com/office/drawing/2014/main" id="{F5FCA45B-860C-44B8-8E79-92FE75DD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96275" y="5429250"/>
            <a:ext cx="400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36713"/>
            </a:solidFill>
            <a:prstDash val="solid"/>
          </a:ln>
        </p:spPr>
      </p:sp>
      <p:sp>
        <p:nvSpPr>
          <p:cNvPr id="39" name="结构-39">
            <a:extLst xmlns:a="http://schemas.openxmlformats.org/drawingml/2006/main">
              <a:ext uri="{FF2B5EF4-FFF2-40B4-BE49-F238E27FC236}">
                <a16:creationId xmlns:a16="http://schemas.microsoft.com/office/drawing/2014/main" id="{970C3F8A-ED61-4A01-95DB-DAE68F26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81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C36713"/>
          </a:solidFill>
          <a:ln xmlns:a="http://schemas.openxmlformats.org/drawingml/2006/main" w="0">
            <a:noFill/>
          </a:ln>
        </p:spPr>
      </p:sp>
      <p:sp>
        <p:nvSpPr>
          <p:cNvPr id="40" name="文字-40-填写输出结果或反思内容">
            <a:extLst xmlns:a="http://schemas.openxmlformats.org/drawingml/2006/main">
              <a:ext uri="{FF2B5EF4-FFF2-40B4-BE49-F238E27FC236}">
                <a16:creationId xmlns:a16="http://schemas.microsoft.com/office/drawing/2014/main" id="{679A3371-323C-4ED1-B6F6-D1317D21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1977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填写输出结果或反思内容</a:t>
            </a:r>
          </a:p>
        </p:txBody>
      </p:sp>
      <p:sp>
        <p:nvSpPr>
          <p:cNvPr id="41" name="连线-41">
            <a:extLst xmlns:a="http://schemas.openxmlformats.org/drawingml/2006/main">
              <a:ext uri="{FF2B5EF4-FFF2-40B4-BE49-F238E27FC236}">
                <a16:creationId xmlns:a16="http://schemas.microsoft.com/office/drawing/2014/main" id="{2CC3BF24-5B68-476B-84D4-BCD438F4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47900" y="562927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42" name="结构-42">
            <a:extLst xmlns:a="http://schemas.openxmlformats.org/drawingml/2006/main">
              <a:ext uri="{FF2B5EF4-FFF2-40B4-BE49-F238E27FC236}">
                <a16:creationId xmlns:a16="http://schemas.microsoft.com/office/drawing/2014/main" id="{230D740A-02F3-45EE-B830-24D2F23F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576888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3" name="连线-43">
            <a:extLst xmlns:a="http://schemas.openxmlformats.org/drawingml/2006/main">
              <a:ext uri="{FF2B5EF4-FFF2-40B4-BE49-F238E27FC236}">
                <a16:creationId xmlns:a16="http://schemas.microsoft.com/office/drawing/2014/main" id="{DE68474E-8C0F-423C-B9D3-20E6258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67225" y="4200525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0D12"/>
            </a:solidFill>
            <a:prstDash val="dash"/>
          </a:ln>
        </p:spPr>
      </p:sp>
      <p:sp>
        <p:nvSpPr>
          <p:cNvPr id="44" name="结构-44">
            <a:extLst xmlns:a="http://schemas.openxmlformats.org/drawingml/2006/main">
              <a:ext uri="{FF2B5EF4-FFF2-40B4-BE49-F238E27FC236}">
                <a16:creationId xmlns:a16="http://schemas.microsoft.com/office/drawing/2014/main" id="{3E24FB8A-F2BD-42B7-ADEE-2D94F8B9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910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0D12"/>
          </a:solidFill>
          <a:ln xmlns:a="http://schemas.openxmlformats.org/drawingml/2006/main" w="0">
            <a:noFill/>
          </a:ln>
        </p:spPr>
      </p:sp>
      <p:sp>
        <p:nvSpPr>
          <p:cNvPr id="45" name="连线-45">
            <a:extLst xmlns:a="http://schemas.openxmlformats.org/drawingml/2006/main">
              <a:ext uri="{FF2B5EF4-FFF2-40B4-BE49-F238E27FC236}">
                <a16:creationId xmlns:a16="http://schemas.microsoft.com/office/drawing/2014/main" id="{E04064C8-1534-4009-82F5-BAF9270D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01075" y="4200525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0D12"/>
            </a:solidFill>
            <a:prstDash val="dash"/>
          </a:ln>
        </p:spPr>
      </p:sp>
      <p:sp>
        <p:nvSpPr>
          <p:cNvPr id="46" name="结构-46">
            <a:extLst xmlns:a="http://schemas.openxmlformats.org/drawingml/2006/main">
              <a:ext uri="{FF2B5EF4-FFF2-40B4-BE49-F238E27FC236}">
                <a16:creationId xmlns:a16="http://schemas.microsoft.com/office/drawing/2014/main" id="{A4C0FF47-DF41-423C-A14F-BBE02C6F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910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90D12"/>
          </a:solidFill>
          <a:ln xmlns:a="http://schemas.openxmlformats.org/drawingml/2006/main" w="0">
            <a:noFill/>
          </a:ln>
        </p:spPr>
      </p:sp>
      <p:sp>
        <p:nvSpPr>
          <p:cNvPr id="47" name="连线-47">
            <a:extLst xmlns:a="http://schemas.openxmlformats.org/drawingml/2006/main">
              <a:ext uri="{FF2B5EF4-FFF2-40B4-BE49-F238E27FC236}">
                <a16:creationId xmlns:a16="http://schemas.microsoft.com/office/drawing/2014/main" id="{D1DFB46A-5E24-4CEF-9758-9D00EC97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81750" y="5391150"/>
            <a:ext cx="3143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48" name="结构-48">
            <a:extLst xmlns:a="http://schemas.openxmlformats.org/drawingml/2006/main">
              <a:ext uri="{FF2B5EF4-FFF2-40B4-BE49-F238E27FC236}">
                <a16:creationId xmlns:a16="http://schemas.microsoft.com/office/drawing/2014/main" id="{04A83214-6DA4-4FD2-9ADB-A8994FE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38763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9" name="文字-49-新一代候选集">
            <a:extLst xmlns:a="http://schemas.openxmlformats.org/drawingml/2006/main">
              <a:ext uri="{FF2B5EF4-FFF2-40B4-BE49-F238E27FC236}">
                <a16:creationId xmlns:a16="http://schemas.microsoft.com/office/drawing/2014/main" id="{F4F32CF1-2484-45A6-B3A5-5DF5A87D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000625"/>
            <a:ext cx="10668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新一代</a:t>
            </a:r>
          </a:p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候选集</a:t>
            </a:r>
          </a:p>
        </p:txBody>
      </p:sp>
      <p:sp>
        <p:nvSpPr>
          <p:cNvPr id="50" name="连线-50">
            <a:extLst xmlns:a="http://schemas.openxmlformats.org/drawingml/2006/main">
              <a:ext uri="{FF2B5EF4-FFF2-40B4-BE49-F238E27FC236}">
                <a16:creationId xmlns:a16="http://schemas.microsoft.com/office/drawing/2014/main" id="{0AFF5B0D-8F1F-44DE-8B3C-7E2597C7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25125" y="5486400"/>
            <a:ext cx="238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51" name="结构-51">
            <a:extLst xmlns:a="http://schemas.openxmlformats.org/drawingml/2006/main">
              <a:ext uri="{FF2B5EF4-FFF2-40B4-BE49-F238E27FC236}">
                <a16:creationId xmlns:a16="http://schemas.microsoft.com/office/drawing/2014/main" id="{4FE1D41A-3D09-4409-9F8D-C8F8AD92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434013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52" name="连线-52">
            <a:extLst xmlns:a="http://schemas.openxmlformats.org/drawingml/2006/main">
              <a:ext uri="{FF2B5EF4-FFF2-40B4-BE49-F238E27FC236}">
                <a16:creationId xmlns:a16="http://schemas.microsoft.com/office/drawing/2014/main" id="{60886DC3-DDED-4A4F-8DD5-EAC3EC69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44275" y="6057900"/>
            <a:ext cx="953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solid"/>
          </a:ln>
        </p:spPr>
      </p:sp>
      <p:sp>
        <p:nvSpPr>
          <p:cNvPr id="53" name="连线-53">
            <a:extLst xmlns:a="http://schemas.openxmlformats.org/drawingml/2006/main">
              <a:ext uri="{FF2B5EF4-FFF2-40B4-BE49-F238E27FC236}">
                <a16:creationId xmlns:a16="http://schemas.microsoft.com/office/drawing/2014/main" id="{0936D59E-A1F5-4C5D-8F26-CE1820A8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1450" y="6372225"/>
            <a:ext cx="11172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solid"/>
          </a:ln>
        </p:spPr>
      </p:sp>
      <p:sp>
        <p:nvSpPr>
          <p:cNvPr id="54" name="连线-54">
            <a:extLst xmlns:a="http://schemas.openxmlformats.org/drawingml/2006/main">
              <a:ext uri="{FF2B5EF4-FFF2-40B4-BE49-F238E27FC236}">
                <a16:creationId xmlns:a16="http://schemas.microsoft.com/office/drawing/2014/main" id="{831CDAF1-D6C0-48A0-A378-AD4BCD2B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71450" y="4000500"/>
            <a:ext cx="953" cy="2371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solid"/>
          </a:ln>
        </p:spPr>
      </p:sp>
      <p:sp>
        <p:nvSpPr>
          <p:cNvPr id="55" name="连线-55">
            <a:extLst xmlns:a="http://schemas.openxmlformats.org/drawingml/2006/main">
              <a:ext uri="{FF2B5EF4-FFF2-40B4-BE49-F238E27FC236}">
                <a16:creationId xmlns:a16="http://schemas.microsoft.com/office/drawing/2014/main" id="{363D4315-E553-41F6-97C9-F50753F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1450" y="4000500"/>
            <a:ext cx="171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solid"/>
          </a:ln>
        </p:spPr>
      </p:sp>
      <p:sp>
        <p:nvSpPr>
          <p:cNvPr id="56" name="结构-56">
            <a:extLst xmlns:a="http://schemas.openxmlformats.org/drawingml/2006/main">
              <a:ext uri="{FF2B5EF4-FFF2-40B4-BE49-F238E27FC236}">
                <a16:creationId xmlns:a16="http://schemas.microsoft.com/office/drawing/2014/main" id="{331535D2-C208-4982-957F-C0F02600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" y="3955256"/>
            <a:ext cx="109538" cy="90488"/>
          </a:xfrm>
          <a:custGeom xmlns:a="http://schemas.openxmlformats.org/drawingml/2006/main">
            <a:pathLst>
              <a:path w="109538" h="90488">
                <a:moveTo>
                  <a:pt x="109538" y="45244"/>
                </a:moveTo>
                <a:lnTo>
                  <a:pt x="0" y="0"/>
                </a:lnTo>
                <a:lnTo>
                  <a:pt x="0" y="90488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57" name="文字-57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C3D7A3F1-2EAD-4FB5-90BD-67CDC9A7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524625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55117794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文字-1-2.1 研究思路">
            <a:extLst xmlns:a="http://schemas.openxmlformats.org/drawingml/2006/main">
              <a:ext uri="{FF2B5EF4-FFF2-40B4-BE49-F238E27FC236}">
                <a16:creationId xmlns:a16="http://schemas.microsoft.com/office/drawing/2014/main" id="{58BB6B53-AC9C-4F7D-BBE3-A914E9C1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2.1 研究思路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CE3C5A95-8213-46A5-AFD8-28D221DC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方法优化">
            <a:extLst xmlns:a="http://schemas.openxmlformats.org/drawingml/2006/main">
              <a:ext uri="{FF2B5EF4-FFF2-40B4-BE49-F238E27FC236}">
                <a16:creationId xmlns:a16="http://schemas.microsoft.com/office/drawing/2014/main" id="{1EE040C3-8C1D-4D8F-9F8B-891799E0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22020"/>
            <a:ext cx="1858292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方法优化</a:t>
            </a:r>
          </a:p>
        </p:txBody>
      </p:sp>
      <p:sp>
        <p:nvSpPr>
          <p:cNvPr id="4" name="文字-4-说明拟采用的方法及其优化方向">
            <a:extLst xmlns:a="http://schemas.openxmlformats.org/drawingml/2006/main">
              <a:ext uri="{FF2B5EF4-FFF2-40B4-BE49-F238E27FC236}">
                <a16:creationId xmlns:a16="http://schemas.microsoft.com/office/drawing/2014/main" id="{2A20480E-85C7-422C-99F4-536EC387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720" y="922020"/>
            <a:ext cx="9489475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拟采用的方法及其优化方向</a:t>
            </a:r>
          </a:p>
          <a:p xmlns:a="http://schemas.openxmlformats.org/drawingml/2006/main">
            <a:pPr algn="l">
              <a:buNone/>
              <a:def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关键改进与预期作用</a:t>
            </a:r>
          </a:p>
        </p:txBody>
      </p:sp>
      <p:sp>
        <p:nvSpPr>
          <p:cNvPr id="5" name="图片区-1-机制步骤0">
            <a:extLst xmlns:a="http://schemas.openxmlformats.org/drawingml/2006/main">
              <a:ext uri="{FF2B5EF4-FFF2-40B4-BE49-F238E27FC236}">
                <a16:creationId xmlns:a16="http://schemas.microsoft.com/office/drawing/2014/main" id="{48442267-3847-4124-A617-2E5FB5EA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920240"/>
            <a:ext cx="3884135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" name="文字-6-机制过程一填写过程说明">
            <a:extLst xmlns:a="http://schemas.openxmlformats.org/drawingml/2006/main">
              <a:ext uri="{FF2B5EF4-FFF2-40B4-BE49-F238E27FC236}">
                <a16:creationId xmlns:a16="http://schemas.microsoft.com/office/drawing/2014/main" id="{06ED7946-E7E3-4049-8F64-CFFBFD5A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795" y="1920240"/>
            <a:ext cx="182021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机制过程一</a:t>
            </a:r>
          </a:p>
          <a:p xmlns:a="http://schemas.openxmlformats.org/drawingml/2006/main">
            <a:pPr algn="ctr">
              <a:buNone/>
              <a:def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过程要点</a:t>
            </a:r>
          </a:p>
        </p:txBody>
      </p:sp>
      <p:sp>
        <p:nvSpPr>
          <p:cNvPr id="7" name="文字-7-研究步骤一说明研究方法与操作">
            <a:extLst xmlns:a="http://schemas.openxmlformats.org/drawingml/2006/main">
              <a:ext uri="{FF2B5EF4-FFF2-40B4-BE49-F238E27FC236}">
                <a16:creationId xmlns:a16="http://schemas.microsoft.com/office/drawing/2014/main" id="{626F3A6E-CF32-4A80-B0C6-1FE3D427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10" y="2329815"/>
            <a:ext cx="5346383" cy="916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研究方法与操作内容</a:t>
            </a:r>
          </a:p>
          <a:p xmlns:a="http://schemas.openxmlformats.org/drawingml/2006/main">
            <a:pPr algn="l"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本步骤的输入或产出</a:t>
            </a:r>
          </a:p>
        </p:txBody>
      </p:sp>
      <p:sp>
        <p:nvSpPr>
          <p:cNvPr id="8" name="连线-8">
            <a:extLst xmlns:a="http://schemas.openxmlformats.org/drawingml/2006/main">
              <a:ext uri="{FF2B5EF4-FFF2-40B4-BE49-F238E27FC236}">
                <a16:creationId xmlns:a16="http://schemas.microsoft.com/office/drawing/2014/main" id="{120A2B42-68A0-46F9-AF03-F5D5ACB9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27782" y="3261360"/>
            <a:ext cx="729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073E86"/>
            </a:solidFill>
            <a:prstDash val="solid"/>
          </a:ln>
        </p:spPr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47F1F6F9-22AA-4EED-A544-338B5437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278" y="3299460"/>
            <a:ext cx="99007" cy="114300"/>
          </a:xfrm>
          <a:custGeom xmlns:a="http://schemas.openxmlformats.org/drawingml/2006/main">
            <a:pathLst>
              <a:path w="129397" h="149384">
                <a:moveTo>
                  <a:pt x="64699" y="149384"/>
                </a:moveTo>
                <a:lnTo>
                  <a:pt x="129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10" name="连线-10">
            <a:extLst xmlns:a="http://schemas.openxmlformats.org/drawingml/2006/main">
              <a:ext uri="{FF2B5EF4-FFF2-40B4-BE49-F238E27FC236}">
                <a16:creationId xmlns:a16="http://schemas.microsoft.com/office/drawing/2014/main" id="{3FD617B1-4B50-465E-A849-1940912F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19532" y="3261360"/>
            <a:ext cx="729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1979B5"/>
            </a:solidFill>
            <a:prstDash val="solid"/>
          </a:ln>
        </p:spPr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9D635D36-7A40-4A7E-B77F-5D5EE1FF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21" y="3291840"/>
            <a:ext cx="106624" cy="121920"/>
          </a:xfrm>
          <a:custGeom xmlns:a="http://schemas.openxmlformats.org/drawingml/2006/main">
            <a:pathLst>
              <a:path w="139351" h="159343">
                <a:moveTo>
                  <a:pt x="69675" y="159343"/>
                </a:moveTo>
                <a:lnTo>
                  <a:pt x="13935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2" name="图片区-2-机制步骤1">
            <a:extLst xmlns:a="http://schemas.openxmlformats.org/drawingml/2006/main">
              <a:ext uri="{FF2B5EF4-FFF2-40B4-BE49-F238E27FC236}">
                <a16:creationId xmlns:a16="http://schemas.microsoft.com/office/drawing/2014/main" id="{3BB4EB20-E7DF-4979-A57D-32E997D8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3421380"/>
            <a:ext cx="3884135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3" name="文字-13-机制过程二填写过程说明">
            <a:extLst xmlns:a="http://schemas.openxmlformats.org/drawingml/2006/main">
              <a:ext uri="{FF2B5EF4-FFF2-40B4-BE49-F238E27FC236}">
                <a16:creationId xmlns:a16="http://schemas.microsoft.com/office/drawing/2014/main" id="{232BA0D0-26AA-412D-B915-ECCE8011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795" y="3421380"/>
            <a:ext cx="182021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机制过程二</a:t>
            </a:r>
          </a:p>
          <a:p xmlns:a="http://schemas.openxmlformats.org/drawingml/2006/main">
            <a:pPr algn="ctr">
              <a:buNone/>
              <a:def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过程要点</a:t>
            </a:r>
          </a:p>
        </p:txBody>
      </p:sp>
      <p:sp>
        <p:nvSpPr>
          <p:cNvPr id="14" name="文字-14-研究步骤二说明研究方法与操作">
            <a:extLst xmlns:a="http://schemas.openxmlformats.org/drawingml/2006/main">
              <a:ext uri="{FF2B5EF4-FFF2-40B4-BE49-F238E27FC236}">
                <a16:creationId xmlns:a16="http://schemas.microsoft.com/office/drawing/2014/main" id="{B78D9655-EDFB-4DFA-A875-38F8F585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10" y="3830955"/>
            <a:ext cx="5346383" cy="916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研究方法与操作内容</a:t>
            </a:r>
          </a:p>
          <a:p xmlns:a="http://schemas.openxmlformats.org/drawingml/2006/main">
            <a:pPr algn="l"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本步骤的输入或产出</a:t>
            </a:r>
          </a:p>
        </p:txBody>
      </p:sp>
      <p:sp>
        <p:nvSpPr>
          <p:cNvPr id="15" name="连线-15">
            <a:extLst xmlns:a="http://schemas.openxmlformats.org/drawingml/2006/main">
              <a:ext uri="{FF2B5EF4-FFF2-40B4-BE49-F238E27FC236}">
                <a16:creationId xmlns:a16="http://schemas.microsoft.com/office/drawing/2014/main" id="{F12C3A1A-C63B-467A-97CD-C534C26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27782" y="4762500"/>
            <a:ext cx="729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073E86"/>
            </a:solidFill>
            <a:prstDash val="solid"/>
          </a:ln>
        </p:spPr>
      </p:sp>
      <p:sp>
        <p:nvSpPr>
          <p:cNvPr id="16" name="结构-16">
            <a:extLst xmlns:a="http://schemas.openxmlformats.org/drawingml/2006/main">
              <a:ext uri="{FF2B5EF4-FFF2-40B4-BE49-F238E27FC236}">
                <a16:creationId xmlns:a16="http://schemas.microsoft.com/office/drawing/2014/main" id="{D499A3FB-6523-4C6C-B67D-0C17805B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278" y="4800600"/>
            <a:ext cx="99007" cy="114300"/>
          </a:xfrm>
          <a:custGeom xmlns:a="http://schemas.openxmlformats.org/drawingml/2006/main">
            <a:pathLst>
              <a:path w="129397" h="149384">
                <a:moveTo>
                  <a:pt x="64699" y="149384"/>
                </a:moveTo>
                <a:lnTo>
                  <a:pt x="129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</a:ln>
        </p:spPr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877A790A-5413-42CA-A536-7172B304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19532" y="4762500"/>
            <a:ext cx="729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1979B5"/>
            </a:solidFill>
            <a:prstDash val="solid"/>
          </a:ln>
        </p:spPr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6ABEEA68-13C0-480C-81E9-0235C68E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21" y="4792980"/>
            <a:ext cx="106624" cy="121920"/>
          </a:xfrm>
          <a:custGeom xmlns:a="http://schemas.openxmlformats.org/drawingml/2006/main">
            <a:pathLst>
              <a:path w="139351" h="159343">
                <a:moveTo>
                  <a:pt x="69675" y="159343"/>
                </a:moveTo>
                <a:lnTo>
                  <a:pt x="13935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9" name="图片区-3-机制步骤2">
            <a:extLst xmlns:a="http://schemas.openxmlformats.org/drawingml/2006/main">
              <a:ext uri="{FF2B5EF4-FFF2-40B4-BE49-F238E27FC236}">
                <a16:creationId xmlns:a16="http://schemas.microsoft.com/office/drawing/2014/main" id="{E10EE31C-349B-479A-AC5E-2D8718E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4922520"/>
            <a:ext cx="3884135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0" name="文字-20-机制过程三填写过程说明">
            <a:extLst xmlns:a="http://schemas.openxmlformats.org/drawingml/2006/main">
              <a:ext uri="{FF2B5EF4-FFF2-40B4-BE49-F238E27FC236}">
                <a16:creationId xmlns:a16="http://schemas.microsoft.com/office/drawing/2014/main" id="{24C14A3B-2C1A-45C3-9274-3E8B63D8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795" y="4922520"/>
            <a:ext cx="182021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机制过程三</a:t>
            </a:r>
          </a:p>
          <a:p xmlns:a="http://schemas.openxmlformats.org/drawingml/2006/main">
            <a:pPr algn="ctr">
              <a:buNone/>
              <a:def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过程要点</a:t>
            </a:r>
          </a:p>
        </p:txBody>
      </p:sp>
      <p:sp>
        <p:nvSpPr>
          <p:cNvPr id="21" name="文字-21-研究步骤三说明研究方法与操作">
            <a:extLst xmlns:a="http://schemas.openxmlformats.org/drawingml/2006/main">
              <a:ext uri="{FF2B5EF4-FFF2-40B4-BE49-F238E27FC236}">
                <a16:creationId xmlns:a16="http://schemas.microsoft.com/office/drawing/2014/main" id="{F0A11189-C0E0-4A32-9468-2ADBF1C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10" y="5332095"/>
            <a:ext cx="5346383" cy="916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研究方法与操作内容</a:t>
            </a:r>
          </a:p>
          <a:p xmlns:a="http://schemas.openxmlformats.org/drawingml/2006/main">
            <a:pPr algn="l"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本步骤的输入或产出</a:t>
            </a:r>
          </a:p>
        </p:txBody>
      </p:sp>
      <p:sp>
        <p:nvSpPr>
          <p:cNvPr id="23" name="精修-研究步骤一">
            <a:extLst xmlns:a="http://schemas.openxmlformats.org/drawingml/2006/main">
              <a:ext uri="{FF2B5EF4-FFF2-40B4-BE49-F238E27FC236}">
                <a16:creationId xmlns:a16="http://schemas.microsoft.com/office/drawing/2014/main" id="{58CB75D9-898B-445E-AC5C-3BD4A2D4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10" y="1920240"/>
            <a:ext cx="534638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C4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C4388"/>
                </a:solidFill>
                <a:latin typeface="Microsoft YaHei"/>
                <a:ea typeface="Microsoft YaHei"/>
                <a:cs typeface="Microsoft YaHei"/>
              </a:rPr>
              <a:t>研究步骤一</a:t>
            </a:r>
          </a:p>
        </p:txBody>
      </p:sp>
      <p:sp>
        <p:nvSpPr>
          <p:cNvPr id="24" name="精修-研究步骤二">
            <a:extLst xmlns:a="http://schemas.openxmlformats.org/drawingml/2006/main">
              <a:ext uri="{FF2B5EF4-FFF2-40B4-BE49-F238E27FC236}">
                <a16:creationId xmlns:a16="http://schemas.microsoft.com/office/drawing/2014/main" id="{DF4AD889-BF09-4F5D-8843-299A57B4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10" y="3421380"/>
            <a:ext cx="534638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C4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C4388"/>
                </a:solidFill>
                <a:latin typeface="Microsoft YaHei"/>
                <a:ea typeface="Microsoft YaHei"/>
                <a:cs typeface="Microsoft YaHei"/>
              </a:rPr>
              <a:t>研究步骤二</a:t>
            </a:r>
          </a:p>
        </p:txBody>
      </p:sp>
      <p:sp>
        <p:nvSpPr>
          <p:cNvPr id="25" name="精修-研究步骤三">
            <a:extLst xmlns:a="http://schemas.openxmlformats.org/drawingml/2006/main">
              <a:ext uri="{FF2B5EF4-FFF2-40B4-BE49-F238E27FC236}">
                <a16:creationId xmlns:a16="http://schemas.microsoft.com/office/drawing/2014/main" id="{D3DB3ECC-0CD7-4FAA-BE6E-239DA5AD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10" y="4922520"/>
            <a:ext cx="534638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C4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C4388"/>
                </a:solidFill>
                <a:latin typeface="Microsoft YaHei"/>
                <a:ea typeface="Microsoft YaHei"/>
                <a:cs typeface="Microsoft YaHei"/>
              </a:rPr>
              <a:t>研究步骤三</a:t>
            </a:r>
          </a:p>
        </p:txBody>
      </p:sp>
    </p:spTree>
    <p:extLst>
      <p:ext uri="{BB962C8B-B14F-4D97-AF65-F5344CB8AC3E}">
        <p14:creationId xmlns:p14="http://schemas.microsoft.com/office/powerpoint/2010/main" val="65707600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文字-1-各模块独立组织">
            <a:extLst xmlns:a="http://schemas.openxmlformats.org/drawingml/2006/main">
              <a:ext uri="{FF2B5EF4-FFF2-40B4-BE49-F238E27FC236}">
                <a16:creationId xmlns:a16="http://schemas.microsoft.com/office/drawing/2014/main" id="{85A0B053-2FD9-44B1-94FF-DC347394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24840"/>
            <a:ext cx="4112614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各模块独立组织</a:t>
            </a:r>
          </a:p>
        </p:txBody>
      </p:sp>
      <p:sp>
        <p:nvSpPr>
          <p:cNvPr id="2" name="文字-2-共同应用场景">
            <a:extLst xmlns:a="http://schemas.openxmlformats.org/drawingml/2006/main">
              <a:ext uri="{FF2B5EF4-FFF2-40B4-BE49-F238E27FC236}">
                <a16:creationId xmlns:a16="http://schemas.microsoft.com/office/drawing/2014/main" id="{5822BA39-D585-45B7-86FA-49E0E44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607" y="563880"/>
            <a:ext cx="2254322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CFAC4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共同应用场景</a:t>
            </a:r>
          </a:p>
        </p:txBody>
      </p:sp>
      <p:sp>
        <p:nvSpPr>
          <p:cNvPr id="3" name="文字-3-面向目标场景集成">
            <a:extLst xmlns:a="http://schemas.openxmlformats.org/drawingml/2006/main">
              <a:ext uri="{FF2B5EF4-FFF2-40B4-BE49-F238E27FC236}">
                <a16:creationId xmlns:a16="http://schemas.microsoft.com/office/drawing/2014/main" id="{A0EB623C-4AA7-4B68-9B52-BC8098F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5814" y="624840"/>
            <a:ext cx="409738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面向目标场景集成</a:t>
            </a:r>
          </a:p>
        </p:txBody>
      </p:sp>
      <p:sp>
        <p:nvSpPr>
          <p:cNvPr id="4" name="文字-4-说明组合方式">
            <a:extLst xmlns:a="http://schemas.openxmlformats.org/drawingml/2006/main">
              <a:ext uri="{FF2B5EF4-FFF2-40B4-BE49-F238E27FC236}">
                <a16:creationId xmlns:a16="http://schemas.microsoft.com/office/drawing/2014/main" id="{737253C8-EF4D-4796-B5E0-C76C9BCD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196340"/>
            <a:ext cx="208677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C988A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0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组合方式</a:t>
            </a:r>
          </a:p>
        </p:txBody>
      </p:sp>
      <p:sp>
        <p:nvSpPr>
          <p:cNvPr id="5" name="文字-5-说明扩展能力">
            <a:extLst xmlns:a="http://schemas.openxmlformats.org/drawingml/2006/main">
              <a:ext uri="{FF2B5EF4-FFF2-40B4-BE49-F238E27FC236}">
                <a16:creationId xmlns:a16="http://schemas.microsoft.com/office/drawing/2014/main" id="{0C13500C-7FD5-4911-9206-262E6866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661160"/>
            <a:ext cx="208677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C988A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0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扩展能力</a:t>
            </a:r>
          </a:p>
        </p:txBody>
      </p:sp>
      <p:sp>
        <p:nvSpPr>
          <p:cNvPr id="6" name="对象-6">
            <a:extLst xmlns:a="http://schemas.openxmlformats.org/drawingml/2006/main">
              <a:ext uri="{FF2B5EF4-FFF2-40B4-BE49-F238E27FC236}">
                <a16:creationId xmlns:a16="http://schemas.microsoft.com/office/drawing/2014/main" id="{4B064693-6EB7-483C-92DA-D1EE82E2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22" y="2118360"/>
            <a:ext cx="563580" cy="330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文字-7-模">
            <a:extLst xmlns:a="http://schemas.openxmlformats.org/drawingml/2006/main">
              <a:ext uri="{FF2B5EF4-FFF2-40B4-BE49-F238E27FC236}">
                <a16:creationId xmlns:a16="http://schemas.microsoft.com/office/drawing/2014/main" id="{8F2F6713-C0E0-4D48-8633-732E10C6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22" y="2801112"/>
            <a:ext cx="56358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</a:t>
            </a:r>
          </a:p>
        </p:txBody>
      </p:sp>
      <p:sp>
        <p:nvSpPr>
          <p:cNvPr id="8" name="文字-8-块">
            <a:extLst xmlns:a="http://schemas.openxmlformats.org/drawingml/2006/main">
              <a:ext uri="{FF2B5EF4-FFF2-40B4-BE49-F238E27FC236}">
                <a16:creationId xmlns:a16="http://schemas.microsoft.com/office/drawing/2014/main" id="{616B5686-9332-415A-9324-77A6C6F2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22" y="3078480"/>
            <a:ext cx="56358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块</a:t>
            </a:r>
          </a:p>
        </p:txBody>
      </p:sp>
      <p:sp>
        <p:nvSpPr>
          <p:cNvPr id="9" name="文字-9-结">
            <a:extLst xmlns:a="http://schemas.openxmlformats.org/drawingml/2006/main">
              <a:ext uri="{FF2B5EF4-FFF2-40B4-BE49-F238E27FC236}">
                <a16:creationId xmlns:a16="http://schemas.microsoft.com/office/drawing/2014/main" id="{26962403-A7FD-432A-9571-A95E5C69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22" y="3355848"/>
            <a:ext cx="56358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</a:t>
            </a:r>
          </a:p>
        </p:txBody>
      </p:sp>
      <p:sp>
        <p:nvSpPr>
          <p:cNvPr id="10" name="文字-10-构">
            <a:extLst xmlns:a="http://schemas.openxmlformats.org/drawingml/2006/main">
              <a:ext uri="{FF2B5EF4-FFF2-40B4-BE49-F238E27FC236}">
                <a16:creationId xmlns:a16="http://schemas.microsoft.com/office/drawing/2014/main" id="{51E34C60-C48E-4227-881F-F282FED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22" y="3633216"/>
            <a:ext cx="56358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</a:t>
            </a:r>
          </a:p>
        </p:txBody>
      </p:sp>
      <p:sp>
        <p:nvSpPr>
          <p:cNvPr id="11" name="文字-11-可">
            <a:extLst xmlns:a="http://schemas.openxmlformats.org/drawingml/2006/main">
              <a:ext uri="{FF2B5EF4-FFF2-40B4-BE49-F238E27FC236}">
                <a16:creationId xmlns:a16="http://schemas.microsoft.com/office/drawing/2014/main" id="{F6A7C3CF-CB3F-41CB-A57D-F31989BE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22" y="3910584"/>
            <a:ext cx="56358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</a:t>
            </a:r>
          </a:p>
        </p:txBody>
      </p:sp>
      <p:sp>
        <p:nvSpPr>
          <p:cNvPr id="12" name="文字-12-视">
            <a:extLst xmlns:a="http://schemas.openxmlformats.org/drawingml/2006/main">
              <a:ext uri="{FF2B5EF4-FFF2-40B4-BE49-F238E27FC236}">
                <a16:creationId xmlns:a16="http://schemas.microsoft.com/office/drawing/2014/main" id="{DF726C4D-2702-4B99-B3B6-92C9B182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22" y="4187952"/>
            <a:ext cx="56358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</a:t>
            </a:r>
          </a:p>
        </p:txBody>
      </p:sp>
      <p:sp>
        <p:nvSpPr>
          <p:cNvPr id="13" name="文字-13-化">
            <a:extLst xmlns:a="http://schemas.openxmlformats.org/drawingml/2006/main">
              <a:ext uri="{FF2B5EF4-FFF2-40B4-BE49-F238E27FC236}">
                <a16:creationId xmlns:a16="http://schemas.microsoft.com/office/drawing/2014/main" id="{D03F7437-2C72-419A-8DDD-4D6FA35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22" y="4465320"/>
            <a:ext cx="56358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化</a:t>
            </a:r>
          </a:p>
        </p:txBody>
      </p:sp>
      <p:sp>
        <p:nvSpPr>
          <p:cNvPr id="14" name="连线-14">
            <a:extLst xmlns:a="http://schemas.openxmlformats.org/drawingml/2006/main">
              <a:ext uri="{FF2B5EF4-FFF2-40B4-BE49-F238E27FC236}">
                <a16:creationId xmlns:a16="http://schemas.microsoft.com/office/drawing/2014/main" id="{29C4A655-9F1F-4EDC-878D-CFEAD6F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58228" y="1181100"/>
            <a:ext cx="729" cy="830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96">
            <a:solidFill>
              <a:srgbClr val="DEA18A"/>
            </a:solidFill>
            <a:prstDash val="solid"/>
          </a:ln>
        </p:spPr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9A9E4EFB-DE5E-415C-830F-928E6641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413" y="1181100"/>
            <a:ext cx="205631" cy="220980"/>
          </a:xfrm>
          <a:custGeom xmlns:a="http://schemas.openxmlformats.org/drawingml/2006/main">
            <a:pathLst>
              <a:path w="268748" h="288809">
                <a:moveTo>
                  <a:pt x="134374" y="0"/>
                </a:moveTo>
                <a:lnTo>
                  <a:pt x="0" y="288809"/>
                </a:lnTo>
                <a:lnTo>
                  <a:pt x="268748" y="288809"/>
                </a:lnTo>
                <a:close/>
              </a:path>
            </a:pathLst>
          </a:custGeom>
          <a:solidFill xmlns:a="http://schemas.openxmlformats.org/drawingml/2006/main">
            <a:srgbClr val="DEA18A"/>
          </a:solidFill>
          <a:ln xmlns:a="http://schemas.openxmlformats.org/drawingml/2006/main" w="0">
            <a:noFill/>
          </a:ln>
        </p:spPr>
      </p:sp>
      <p:sp>
        <p:nvSpPr>
          <p:cNvPr id="16" name="连线-16">
            <a:extLst xmlns:a="http://schemas.openxmlformats.org/drawingml/2006/main">
              <a:ext uri="{FF2B5EF4-FFF2-40B4-BE49-F238E27FC236}">
                <a16:creationId xmlns:a16="http://schemas.microsoft.com/office/drawing/2014/main" id="{45D2B350-A2F1-4730-B357-87FD3E7C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8228" y="5501640"/>
            <a:ext cx="729" cy="678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96">
            <a:solidFill>
              <a:srgbClr val="DEA18A"/>
            </a:solidFill>
            <a:prstDash val="solid"/>
          </a:ln>
        </p:spPr>
      </p:sp>
      <p:sp>
        <p:nvSpPr>
          <p:cNvPr id="17" name="结构-17">
            <a:extLst xmlns:a="http://schemas.openxmlformats.org/drawingml/2006/main">
              <a:ext uri="{FF2B5EF4-FFF2-40B4-BE49-F238E27FC236}">
                <a16:creationId xmlns:a16="http://schemas.microsoft.com/office/drawing/2014/main" id="{D10FB782-F834-4A9C-847D-B85BAAFA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413" y="5958840"/>
            <a:ext cx="205631" cy="220980"/>
          </a:xfrm>
          <a:custGeom xmlns:a="http://schemas.openxmlformats.org/drawingml/2006/main">
            <a:pathLst>
              <a:path w="268748" h="288809">
                <a:moveTo>
                  <a:pt x="134374" y="288809"/>
                </a:moveTo>
                <a:lnTo>
                  <a:pt x="2687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A18A"/>
          </a:solidFill>
          <a:ln xmlns:a="http://schemas.openxmlformats.org/drawingml/2006/main" w="0">
            <a:noFill/>
          </a:ln>
        </p:spPr>
      </p:sp>
      <p:sp>
        <p:nvSpPr>
          <p:cNvPr id="18" name="对象-18">
            <a:extLst xmlns:a="http://schemas.openxmlformats.org/drawingml/2006/main">
              <a:ext uri="{FF2B5EF4-FFF2-40B4-BE49-F238E27FC236}">
                <a16:creationId xmlns:a16="http://schemas.microsoft.com/office/drawing/2014/main" id="{87908B2C-4CAF-46AA-9118-FF165B97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881" y="1211580"/>
            <a:ext cx="548348" cy="258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文字-19-跨">
            <a:extLst xmlns:a="http://schemas.openxmlformats.org/drawingml/2006/main">
              <a:ext uri="{FF2B5EF4-FFF2-40B4-BE49-F238E27FC236}">
                <a16:creationId xmlns:a16="http://schemas.microsoft.com/office/drawing/2014/main" id="{3879A804-4EEC-46D4-AA36-EF467A96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881" y="1859280"/>
            <a:ext cx="548348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跨</a:t>
            </a:r>
          </a:p>
        </p:txBody>
      </p:sp>
      <p:sp>
        <p:nvSpPr>
          <p:cNvPr id="20" name="文字-20-模">
            <a:extLst xmlns:a="http://schemas.openxmlformats.org/drawingml/2006/main">
              <a:ext uri="{FF2B5EF4-FFF2-40B4-BE49-F238E27FC236}">
                <a16:creationId xmlns:a16="http://schemas.microsoft.com/office/drawing/2014/main" id="{1A33E6BE-7976-4561-B1BD-AC3858A5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881" y="2116836"/>
            <a:ext cx="548348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模</a:t>
            </a:r>
          </a:p>
        </p:txBody>
      </p:sp>
      <p:sp>
        <p:nvSpPr>
          <p:cNvPr id="21" name="文字-21-块">
            <a:extLst xmlns:a="http://schemas.openxmlformats.org/drawingml/2006/main">
              <a:ext uri="{FF2B5EF4-FFF2-40B4-BE49-F238E27FC236}">
                <a16:creationId xmlns:a16="http://schemas.microsoft.com/office/drawing/2014/main" id="{69834768-C145-41F6-884B-9D09D0EB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881" y="2374392"/>
            <a:ext cx="548348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块</a:t>
            </a:r>
          </a:p>
        </p:txBody>
      </p:sp>
      <p:sp>
        <p:nvSpPr>
          <p:cNvPr id="22" name="文字-22-组">
            <a:extLst xmlns:a="http://schemas.openxmlformats.org/drawingml/2006/main">
              <a:ext uri="{FF2B5EF4-FFF2-40B4-BE49-F238E27FC236}">
                <a16:creationId xmlns:a16="http://schemas.microsoft.com/office/drawing/2014/main" id="{E872A952-CF91-4F06-A045-DA68B20E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881" y="2631948"/>
            <a:ext cx="548348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组</a:t>
            </a:r>
          </a:p>
        </p:txBody>
      </p:sp>
      <p:sp>
        <p:nvSpPr>
          <p:cNvPr id="23" name="文字-23-织">
            <a:extLst xmlns:a="http://schemas.openxmlformats.org/drawingml/2006/main">
              <a:ext uri="{FF2B5EF4-FFF2-40B4-BE49-F238E27FC236}">
                <a16:creationId xmlns:a16="http://schemas.microsoft.com/office/drawing/2014/main" id="{66B0F0B3-2CA9-46DA-A09C-E60E7DBD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881" y="2889504"/>
            <a:ext cx="548348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织</a:t>
            </a:r>
          </a:p>
        </p:txBody>
      </p:sp>
      <p:sp>
        <p:nvSpPr>
          <p:cNvPr id="24" name="文字-24-管理模块">
            <a:extLst xmlns:a="http://schemas.openxmlformats.org/drawingml/2006/main">
              <a:ext uri="{FF2B5EF4-FFF2-40B4-BE49-F238E27FC236}">
                <a16:creationId xmlns:a16="http://schemas.microsoft.com/office/drawing/2014/main" id="{0980932F-4CCC-4EC2-A336-0573575B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247" y="3124200"/>
            <a:ext cx="746363" cy="746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  <a:p xmlns:a="http://schemas.openxmlformats.org/drawingml/2006/main">
            <a:pPr algn="ctr">
              <a:buNone/>
              <a:defRPr sz="14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25" name="文字-25-输入资源">
            <a:extLst xmlns:a="http://schemas.openxmlformats.org/drawingml/2006/main">
              <a:ext uri="{FF2B5EF4-FFF2-40B4-BE49-F238E27FC236}">
                <a16:creationId xmlns:a16="http://schemas.microsoft.com/office/drawing/2014/main" id="{C65D93A4-D213-40D9-9FE3-267448AA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91" y="2606040"/>
            <a:ext cx="609276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E9C92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26" name="文字-26-人工干预">
            <a:extLst xmlns:a="http://schemas.openxmlformats.org/drawingml/2006/main">
              <a:ext uri="{FF2B5EF4-FFF2-40B4-BE49-F238E27FC236}">
                <a16:creationId xmlns:a16="http://schemas.microsoft.com/office/drawing/2014/main" id="{E03CFDE8-108C-4AD8-AEEF-0DA7CFDC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299" y="3230880"/>
            <a:ext cx="609276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E9C92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人工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干预</a:t>
            </a:r>
          </a:p>
        </p:txBody>
      </p:sp>
      <p:sp>
        <p:nvSpPr>
          <p:cNvPr id="27" name="文字-27-场景组织">
            <a:extLst xmlns:a="http://schemas.openxmlformats.org/drawingml/2006/main">
              <a:ext uri="{FF2B5EF4-FFF2-40B4-BE49-F238E27FC236}">
                <a16:creationId xmlns:a16="http://schemas.microsoft.com/office/drawing/2014/main" id="{47E1E155-857B-421E-BF30-17779F08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91" y="3855720"/>
            <a:ext cx="609276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E9C92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组织</a:t>
            </a:r>
          </a:p>
        </p:txBody>
      </p:sp>
      <p:sp>
        <p:nvSpPr>
          <p:cNvPr id="28" name="文字-28-模块部署">
            <a:extLst xmlns:a="http://schemas.openxmlformats.org/drawingml/2006/main">
              <a:ext uri="{FF2B5EF4-FFF2-40B4-BE49-F238E27FC236}">
                <a16:creationId xmlns:a16="http://schemas.microsoft.com/office/drawing/2014/main" id="{76154A26-AD43-4D73-A127-292644AD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83" y="3230880"/>
            <a:ext cx="609276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E9C92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29" name="文字-29-任务管理">
            <a:extLst xmlns:a="http://schemas.openxmlformats.org/drawingml/2006/main">
              <a:ext uri="{FF2B5EF4-FFF2-40B4-BE49-F238E27FC236}">
                <a16:creationId xmlns:a16="http://schemas.microsoft.com/office/drawing/2014/main" id="{495F6D7C-1BB0-4966-AC77-9E9354FA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32" y="4732020"/>
            <a:ext cx="200299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任务管理</a:t>
            </a:r>
          </a:p>
        </p:txBody>
      </p:sp>
      <p:sp>
        <p:nvSpPr>
          <p:cNvPr id="30" name="对象-30">
            <a:extLst xmlns:a="http://schemas.openxmlformats.org/drawingml/2006/main">
              <a:ext uri="{FF2B5EF4-FFF2-40B4-BE49-F238E27FC236}">
                <a16:creationId xmlns:a16="http://schemas.microsoft.com/office/drawing/2014/main" id="{A4418824-D1A5-4F4C-A59E-72B5445F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16" y="5143500"/>
            <a:ext cx="2056307" cy="1082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</p:sp>
      <p:sp>
        <p:nvSpPr>
          <p:cNvPr id="31" name="文字-31-填写任务入口">
            <a:extLst xmlns:a="http://schemas.openxmlformats.org/drawingml/2006/main">
              <a:ext uri="{FF2B5EF4-FFF2-40B4-BE49-F238E27FC236}">
                <a16:creationId xmlns:a16="http://schemas.microsoft.com/office/drawing/2014/main" id="{E8C6EBAE-C814-414D-A768-3ED3D95D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5242560"/>
            <a:ext cx="182782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任务入口</a:t>
            </a:r>
          </a:p>
        </p:txBody>
      </p:sp>
      <p:sp>
        <p:nvSpPr>
          <p:cNvPr id="32" name="文字-32-填写状态监控">
            <a:extLst xmlns:a="http://schemas.openxmlformats.org/drawingml/2006/main">
              <a:ext uri="{FF2B5EF4-FFF2-40B4-BE49-F238E27FC236}">
                <a16:creationId xmlns:a16="http://schemas.microsoft.com/office/drawing/2014/main" id="{28CCEBBD-9692-4DC5-97A1-3A02AC48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5737860"/>
            <a:ext cx="182782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状态监控</a:t>
            </a:r>
          </a:p>
        </p:txBody>
      </p:sp>
      <p:sp>
        <p:nvSpPr>
          <p:cNvPr id="33" name="连线-33">
            <a:extLst xmlns:a="http://schemas.openxmlformats.org/drawingml/2006/main">
              <a:ext uri="{FF2B5EF4-FFF2-40B4-BE49-F238E27FC236}">
                <a16:creationId xmlns:a16="http://schemas.microsoft.com/office/drawing/2014/main" id="{3A9940F7-CB0C-41DE-B566-3851948E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5428" y="2369820"/>
            <a:ext cx="1987763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728">
            <a:solidFill>
              <a:srgbClr val="AC111A"/>
            </a:solidFill>
            <a:prstDash val="solid"/>
          </a:ln>
        </p:spPr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80D9ED91-8071-4D28-8C28-C9F81838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104" y="2308860"/>
            <a:ext cx="137087" cy="121920"/>
          </a:xfrm>
          <a:custGeom xmlns:a="http://schemas.openxmlformats.org/drawingml/2006/main">
            <a:pathLst>
              <a:path w="179165" h="159343">
                <a:moveTo>
                  <a:pt x="179165" y="79671"/>
                </a:moveTo>
                <a:lnTo>
                  <a:pt x="0" y="0"/>
                </a:lnTo>
                <a:lnTo>
                  <a:pt x="0" y="159343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35" name="文字-35-部署模块">
            <a:extLst xmlns:a="http://schemas.openxmlformats.org/drawingml/2006/main">
              <a:ext uri="{FF2B5EF4-FFF2-40B4-BE49-F238E27FC236}">
                <a16:creationId xmlns:a16="http://schemas.microsoft.com/office/drawing/2014/main" id="{5A6DD96C-F291-4C6A-B9C1-4323239E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345" y="1272540"/>
            <a:ext cx="1447031" cy="403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部署模块</a:t>
            </a:r>
          </a:p>
        </p:txBody>
      </p:sp>
      <p:sp>
        <p:nvSpPr>
          <p:cNvPr id="36" name="文字-36-数据采集">
            <a:extLst xmlns:a="http://schemas.openxmlformats.org/drawingml/2006/main">
              <a:ext uri="{FF2B5EF4-FFF2-40B4-BE49-F238E27FC236}">
                <a16:creationId xmlns:a16="http://schemas.microsoft.com/office/drawing/2014/main" id="{214F757F-98A5-4AD2-AF18-7BE176DD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014" y="1272540"/>
            <a:ext cx="1447031" cy="403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数据采集</a:t>
            </a:r>
          </a:p>
        </p:txBody>
      </p:sp>
      <p:sp>
        <p:nvSpPr>
          <p:cNvPr id="37" name="文字-37-核心系统集成">
            <a:extLst xmlns:a="http://schemas.openxmlformats.org/drawingml/2006/main">
              <a:ext uri="{FF2B5EF4-FFF2-40B4-BE49-F238E27FC236}">
                <a16:creationId xmlns:a16="http://schemas.microsoft.com/office/drawing/2014/main" id="{E9C1C710-9C93-4992-B32E-A1F0D2EA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418" y="1844040"/>
            <a:ext cx="3328171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核心系统集成</a:t>
            </a:r>
          </a:p>
        </p:txBody>
      </p:sp>
      <p:sp>
        <p:nvSpPr>
          <p:cNvPr id="38" name="文字-38-说明信息交互与状态更新说明模">
            <a:extLst xmlns:a="http://schemas.openxmlformats.org/drawingml/2006/main">
              <a:ext uri="{FF2B5EF4-FFF2-40B4-BE49-F238E27FC236}">
                <a16:creationId xmlns:a16="http://schemas.microsoft.com/office/drawing/2014/main" id="{E59D2978-24F3-4B5A-9B70-6BA3765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20" y="2392680"/>
            <a:ext cx="3693736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信息交互与状态更新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模块结构与数据分工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结果展示与任务管理</a:t>
            </a:r>
          </a:p>
        </p:txBody>
      </p:sp>
      <p:sp>
        <p:nvSpPr>
          <p:cNvPr id="39" name="连线-39">
            <a:extLst xmlns:a="http://schemas.openxmlformats.org/drawingml/2006/main">
              <a:ext uri="{FF2B5EF4-FFF2-40B4-BE49-F238E27FC236}">
                <a16:creationId xmlns:a16="http://schemas.microsoft.com/office/drawing/2014/main" id="{3D1A777C-680D-4486-BFAE-19780304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54600" y="3505200"/>
            <a:ext cx="729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78321F"/>
            </a:solidFill>
            <a:prstDash val="solid"/>
          </a:ln>
        </p:spPr>
      </p:sp>
      <p:sp>
        <p:nvSpPr>
          <p:cNvPr id="40" name="结构-40">
            <a:extLst xmlns:a="http://schemas.openxmlformats.org/drawingml/2006/main">
              <a:ext uri="{FF2B5EF4-FFF2-40B4-BE49-F238E27FC236}">
                <a16:creationId xmlns:a16="http://schemas.microsoft.com/office/drawing/2014/main" id="{6CA341C0-3CAC-4747-BA31-450DF4C0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8904" y="365760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</a:ln>
        </p:spPr>
      </p:sp>
      <p:sp>
        <p:nvSpPr>
          <p:cNvPr id="41" name="文字-41-模块边界">
            <a:extLst xmlns:a="http://schemas.openxmlformats.org/drawingml/2006/main">
              <a:ext uri="{FF2B5EF4-FFF2-40B4-BE49-F238E27FC236}">
                <a16:creationId xmlns:a16="http://schemas.microsoft.com/office/drawing/2014/main" id="{01E94CEE-DA85-4837-8EC0-5534B7DD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172" y="3848100"/>
            <a:ext cx="115000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模块边界</a:t>
            </a:r>
          </a:p>
        </p:txBody>
      </p:sp>
      <p:sp>
        <p:nvSpPr>
          <p:cNvPr id="42" name="文字-42-可扩展">
            <a:extLst xmlns:a="http://schemas.openxmlformats.org/drawingml/2006/main">
              <a:ext uri="{FF2B5EF4-FFF2-40B4-BE49-F238E27FC236}">
                <a16:creationId xmlns:a16="http://schemas.microsoft.com/office/drawing/2014/main" id="{090602EB-B987-4EFB-BF90-626EE3A8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172" y="4472940"/>
            <a:ext cx="115000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9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可扩展</a:t>
            </a:r>
          </a:p>
        </p:txBody>
      </p:sp>
      <p:sp>
        <p:nvSpPr>
          <p:cNvPr id="43" name="连线-43">
            <a:extLst xmlns:a="http://schemas.openxmlformats.org/drawingml/2006/main">
              <a:ext uri="{FF2B5EF4-FFF2-40B4-BE49-F238E27FC236}">
                <a16:creationId xmlns:a16="http://schemas.microsoft.com/office/drawing/2014/main" id="{B1B9BBB4-8EA0-4E34-80C3-FBCB7037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4608" y="3505200"/>
            <a:ext cx="729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78321F"/>
            </a:solidFill>
            <a:prstDash val="solid"/>
          </a:ln>
        </p:spPr>
      </p:sp>
      <p:sp>
        <p:nvSpPr>
          <p:cNvPr id="44" name="结构-44">
            <a:extLst xmlns:a="http://schemas.openxmlformats.org/drawingml/2006/main">
              <a:ext uri="{FF2B5EF4-FFF2-40B4-BE49-F238E27FC236}">
                <a16:creationId xmlns:a16="http://schemas.microsoft.com/office/drawing/2014/main" id="{815CB47F-7CBD-4F84-BEEE-EB08FE8A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913" y="365760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</a:ln>
        </p:spPr>
      </p:sp>
      <p:sp>
        <p:nvSpPr>
          <p:cNvPr id="45" name="文字-45-问题定位">
            <a:extLst xmlns:a="http://schemas.openxmlformats.org/drawingml/2006/main">
              <a:ext uri="{FF2B5EF4-FFF2-40B4-BE49-F238E27FC236}">
                <a16:creationId xmlns:a16="http://schemas.microsoft.com/office/drawing/2014/main" id="{0F9473F1-C991-43A6-8336-73206BA7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420" y="3848100"/>
            <a:ext cx="115000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问题定位</a:t>
            </a:r>
          </a:p>
        </p:txBody>
      </p:sp>
      <p:sp>
        <p:nvSpPr>
          <p:cNvPr id="46" name="文字-46-可复用">
            <a:extLst xmlns:a="http://schemas.openxmlformats.org/drawingml/2006/main">
              <a:ext uri="{FF2B5EF4-FFF2-40B4-BE49-F238E27FC236}">
                <a16:creationId xmlns:a16="http://schemas.microsoft.com/office/drawing/2014/main" id="{9A09A8A7-B5F8-4CE8-A569-98F073BC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420" y="4472940"/>
            <a:ext cx="115000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9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47" name="连线-47">
            <a:extLst xmlns:a="http://schemas.openxmlformats.org/drawingml/2006/main">
              <a:ext uri="{FF2B5EF4-FFF2-40B4-BE49-F238E27FC236}">
                <a16:creationId xmlns:a16="http://schemas.microsoft.com/office/drawing/2014/main" id="{8B625AE9-CEB6-4F56-8A71-FDAEBD95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54617" y="3505200"/>
            <a:ext cx="729" cy="259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78321F"/>
            </a:solidFill>
            <a:prstDash val="solid"/>
          </a:ln>
        </p:spPr>
      </p:sp>
      <p:sp>
        <p:nvSpPr>
          <p:cNvPr id="48" name="结构-48">
            <a:extLst xmlns:a="http://schemas.openxmlformats.org/drawingml/2006/main">
              <a:ext uri="{FF2B5EF4-FFF2-40B4-BE49-F238E27FC236}">
                <a16:creationId xmlns:a16="http://schemas.microsoft.com/office/drawing/2014/main" id="{E62C79E8-1A34-401A-A910-372993D0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921" y="365760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</a:ln>
        </p:spPr>
      </p:sp>
      <p:sp>
        <p:nvSpPr>
          <p:cNvPr id="49" name="文字-49-更新迭代">
            <a:extLst xmlns:a="http://schemas.openxmlformats.org/drawingml/2006/main">
              <a:ext uri="{FF2B5EF4-FFF2-40B4-BE49-F238E27FC236}">
                <a16:creationId xmlns:a16="http://schemas.microsoft.com/office/drawing/2014/main" id="{98D71052-07CB-4CC6-87AE-C1136FC2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668" y="3848100"/>
            <a:ext cx="115000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更新迭代</a:t>
            </a:r>
          </a:p>
        </p:txBody>
      </p:sp>
      <p:sp>
        <p:nvSpPr>
          <p:cNvPr id="50" name="文字-50-可维护">
            <a:extLst xmlns:a="http://schemas.openxmlformats.org/drawingml/2006/main">
              <a:ext uri="{FF2B5EF4-FFF2-40B4-BE49-F238E27FC236}">
                <a16:creationId xmlns:a16="http://schemas.microsoft.com/office/drawing/2014/main" id="{F3CB0B09-1F3F-46AF-8C30-A9FFD67B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668" y="4472940"/>
            <a:ext cx="115000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9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可维护</a:t>
            </a:r>
          </a:p>
        </p:txBody>
      </p:sp>
      <p:sp>
        <p:nvSpPr>
          <p:cNvPr id="51" name="对象-51">
            <a:extLst xmlns:a="http://schemas.openxmlformats.org/drawingml/2006/main">
              <a:ext uri="{FF2B5EF4-FFF2-40B4-BE49-F238E27FC236}">
                <a16:creationId xmlns:a16="http://schemas.microsoft.com/office/drawing/2014/main" id="{17DDCE5A-56B1-471C-A086-5FE9B255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244" y="5029200"/>
            <a:ext cx="1827828" cy="1196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</p:sp>
      <p:sp>
        <p:nvSpPr>
          <p:cNvPr id="52" name="文字-52-复用能力">
            <a:extLst xmlns:a="http://schemas.openxmlformats.org/drawingml/2006/main">
              <a:ext uri="{FF2B5EF4-FFF2-40B4-BE49-F238E27FC236}">
                <a16:creationId xmlns:a16="http://schemas.microsoft.com/office/drawing/2014/main" id="{0259319B-7F90-408E-A594-A70EEB71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1" y="5105400"/>
            <a:ext cx="130994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复用能力</a:t>
            </a:r>
          </a:p>
        </p:txBody>
      </p:sp>
      <p:sp>
        <p:nvSpPr>
          <p:cNvPr id="53" name="文字-53-维护能力">
            <a:extLst xmlns:a="http://schemas.openxmlformats.org/drawingml/2006/main">
              <a:ext uri="{FF2B5EF4-FFF2-40B4-BE49-F238E27FC236}">
                <a16:creationId xmlns:a16="http://schemas.microsoft.com/office/drawing/2014/main" id="{50EBD723-0AF1-4D9D-8A33-435C0FE3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1" y="5455920"/>
            <a:ext cx="130994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维护能力</a:t>
            </a:r>
          </a:p>
        </p:txBody>
      </p:sp>
      <p:sp>
        <p:nvSpPr>
          <p:cNvPr id="54" name="文字-54-适配能力">
            <a:extLst xmlns:a="http://schemas.openxmlformats.org/drawingml/2006/main">
              <a:ext uri="{FF2B5EF4-FFF2-40B4-BE49-F238E27FC236}">
                <a16:creationId xmlns:a16="http://schemas.microsoft.com/office/drawing/2014/main" id="{57F4820F-7C6A-4175-B421-C90FE60E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251" y="5806440"/>
            <a:ext cx="130994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适配能力</a:t>
            </a:r>
          </a:p>
        </p:txBody>
      </p:sp>
      <p:sp>
        <p:nvSpPr>
          <p:cNvPr id="55" name="对象-55">
            <a:extLst xmlns:a="http://schemas.openxmlformats.org/drawingml/2006/main">
              <a:ext uri="{FF2B5EF4-FFF2-40B4-BE49-F238E27FC236}">
                <a16:creationId xmlns:a16="http://schemas.microsoft.com/office/drawing/2014/main" id="{9056632D-97E0-4662-8810-A8CA5B87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275" y="5105400"/>
            <a:ext cx="335101" cy="103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文字-56-核">
            <a:extLst xmlns:a="http://schemas.openxmlformats.org/drawingml/2006/main">
              <a:ext uri="{FF2B5EF4-FFF2-40B4-BE49-F238E27FC236}">
                <a16:creationId xmlns:a16="http://schemas.microsoft.com/office/drawing/2014/main" id="{268D00D0-657A-47BD-BFAB-BF81B03E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275" y="5128260"/>
            <a:ext cx="33510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核</a:t>
            </a:r>
          </a:p>
        </p:txBody>
      </p:sp>
      <p:sp>
        <p:nvSpPr>
          <p:cNvPr id="57" name="文字-57-心">
            <a:extLst xmlns:a="http://schemas.openxmlformats.org/drawingml/2006/main">
              <a:ext uri="{FF2B5EF4-FFF2-40B4-BE49-F238E27FC236}">
                <a16:creationId xmlns:a16="http://schemas.microsoft.com/office/drawing/2014/main" id="{EA0EA860-5FD5-400F-80BF-19137D44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275" y="5375910"/>
            <a:ext cx="33510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心</a:t>
            </a:r>
          </a:p>
        </p:txBody>
      </p:sp>
      <p:sp>
        <p:nvSpPr>
          <p:cNvPr id="58" name="文字-58-模">
            <a:extLst xmlns:a="http://schemas.openxmlformats.org/drawingml/2006/main">
              <a:ext uri="{FF2B5EF4-FFF2-40B4-BE49-F238E27FC236}">
                <a16:creationId xmlns:a16="http://schemas.microsoft.com/office/drawing/2014/main" id="{AC1F6A89-81AE-413C-B9D7-D794FD2E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275" y="5623560"/>
            <a:ext cx="33510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模</a:t>
            </a:r>
          </a:p>
        </p:txBody>
      </p:sp>
      <p:sp>
        <p:nvSpPr>
          <p:cNvPr id="59" name="文字-59-块">
            <a:extLst xmlns:a="http://schemas.openxmlformats.org/drawingml/2006/main">
              <a:ext uri="{FF2B5EF4-FFF2-40B4-BE49-F238E27FC236}">
                <a16:creationId xmlns:a16="http://schemas.microsoft.com/office/drawing/2014/main" id="{C5FC5023-E971-4328-8711-D3999BE4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275" y="5871210"/>
            <a:ext cx="33510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块</a:t>
            </a:r>
          </a:p>
        </p:txBody>
      </p:sp>
      <p:sp>
        <p:nvSpPr>
          <p:cNvPr id="60" name="对象-60">
            <a:extLst xmlns:a="http://schemas.openxmlformats.org/drawingml/2006/main">
              <a:ext uri="{FF2B5EF4-FFF2-40B4-BE49-F238E27FC236}">
                <a16:creationId xmlns:a16="http://schemas.microsoft.com/office/drawing/2014/main" id="{779827D6-9509-4F65-AEBE-9C07BA6C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935" y="5029200"/>
            <a:ext cx="434110" cy="1196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文字-61-特">
            <a:extLst xmlns:a="http://schemas.openxmlformats.org/drawingml/2006/main">
              <a:ext uri="{FF2B5EF4-FFF2-40B4-BE49-F238E27FC236}">
                <a16:creationId xmlns:a16="http://schemas.microsoft.com/office/drawing/2014/main" id="{AAEF3BDC-3E30-43B8-A6B2-E9685757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935" y="5072634"/>
            <a:ext cx="43411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特</a:t>
            </a:r>
          </a:p>
        </p:txBody>
      </p:sp>
      <p:sp>
        <p:nvSpPr>
          <p:cNvPr id="62" name="文字-62-征">
            <a:extLst xmlns:a="http://schemas.openxmlformats.org/drawingml/2006/main">
              <a:ext uri="{FF2B5EF4-FFF2-40B4-BE49-F238E27FC236}">
                <a16:creationId xmlns:a16="http://schemas.microsoft.com/office/drawing/2014/main" id="{3D764629-A59A-4AB6-B711-71E953E2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935" y="5350002"/>
            <a:ext cx="43411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征</a:t>
            </a:r>
          </a:p>
        </p:txBody>
      </p:sp>
      <p:sp>
        <p:nvSpPr>
          <p:cNvPr id="63" name="文字-63-工">
            <a:extLst xmlns:a="http://schemas.openxmlformats.org/drawingml/2006/main">
              <a:ext uri="{FF2B5EF4-FFF2-40B4-BE49-F238E27FC236}">
                <a16:creationId xmlns:a16="http://schemas.microsoft.com/office/drawing/2014/main" id="{8A4AA8B1-36A9-4BB0-8202-838D9F9C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935" y="5627370"/>
            <a:ext cx="43411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工</a:t>
            </a:r>
          </a:p>
        </p:txBody>
      </p:sp>
      <p:sp>
        <p:nvSpPr>
          <p:cNvPr id="64" name="文字-64-程">
            <a:extLst xmlns:a="http://schemas.openxmlformats.org/drawingml/2006/main">
              <a:ext uri="{FF2B5EF4-FFF2-40B4-BE49-F238E27FC236}">
                <a16:creationId xmlns:a16="http://schemas.microsoft.com/office/drawing/2014/main" id="{A9D0AE68-7634-4211-B463-6A710450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935" y="5904738"/>
            <a:ext cx="434110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程</a:t>
            </a:r>
          </a:p>
        </p:txBody>
      </p:sp>
      <p:sp>
        <p:nvSpPr>
          <p:cNvPr id="65" name="连线-65">
            <a:extLst xmlns:a="http://schemas.openxmlformats.org/drawingml/2006/main">
              <a:ext uri="{FF2B5EF4-FFF2-40B4-BE49-F238E27FC236}">
                <a16:creationId xmlns:a16="http://schemas.microsoft.com/office/drawing/2014/main" id="{FC7AC4FE-733D-401E-B8EC-8B0ECF3C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6204" y="5631180"/>
            <a:ext cx="373182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5592">
            <a:solidFill>
              <a:srgbClr val="78321F"/>
            </a:solidFill>
            <a:prstDash val="solid"/>
          </a:ln>
        </p:spPr>
      </p:sp>
      <p:sp>
        <p:nvSpPr>
          <p:cNvPr id="66" name="结构-66">
            <a:extLst xmlns:a="http://schemas.openxmlformats.org/drawingml/2006/main">
              <a:ext uri="{FF2B5EF4-FFF2-40B4-BE49-F238E27FC236}">
                <a16:creationId xmlns:a16="http://schemas.microsoft.com/office/drawing/2014/main" id="{22F415B5-59E5-47BC-A181-F3C8F743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451" y="5558790"/>
            <a:ext cx="159935" cy="144780"/>
          </a:xfrm>
          <a:custGeom xmlns:a="http://schemas.openxmlformats.org/drawingml/2006/main">
            <a:pathLst>
              <a:path w="209026" h="189219">
                <a:moveTo>
                  <a:pt x="209026" y="94610"/>
                </a:moveTo>
                <a:lnTo>
                  <a:pt x="0" y="0"/>
                </a:lnTo>
                <a:lnTo>
                  <a:pt x="0" y="189219"/>
                </a:lnTo>
                <a:close/>
              </a:path>
            </a:pathLst>
          </a:cu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</a:ln>
        </p:spPr>
      </p:sp>
      <p:sp>
        <p:nvSpPr>
          <p:cNvPr id="67" name="文字-67-开发要求">
            <a:extLst xmlns:a="http://schemas.openxmlformats.org/drawingml/2006/main">
              <a:ext uri="{FF2B5EF4-FFF2-40B4-BE49-F238E27FC236}">
                <a16:creationId xmlns:a16="http://schemas.microsoft.com/office/drawing/2014/main" id="{4A117732-83BE-4083-9FEE-B2AC86D4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545" y="5029200"/>
            <a:ext cx="799675" cy="1196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  <a:p xmlns:a="http://schemas.openxmlformats.org/drawingml/2006/main">
            <a:pPr algn="ctr">
              <a:buNone/>
              <a:def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68" name="对象-68">
            <a:extLst xmlns:a="http://schemas.openxmlformats.org/drawingml/2006/main">
              <a:ext uri="{FF2B5EF4-FFF2-40B4-BE49-F238E27FC236}">
                <a16:creationId xmlns:a16="http://schemas.microsoft.com/office/drawing/2014/main" id="{FA4F8A75-0B00-4032-977D-A54CFB6E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307" y="1211580"/>
            <a:ext cx="502653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文字-69-系">
            <a:extLst xmlns:a="http://schemas.openxmlformats.org/drawingml/2006/main">
              <a:ext uri="{FF2B5EF4-FFF2-40B4-BE49-F238E27FC236}">
                <a16:creationId xmlns:a16="http://schemas.microsoft.com/office/drawing/2014/main" id="{1F3A1B2C-4B8D-46CE-A640-3A9E8332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307" y="1991868"/>
            <a:ext cx="502653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系</a:t>
            </a:r>
          </a:p>
        </p:txBody>
      </p:sp>
      <p:sp>
        <p:nvSpPr>
          <p:cNvPr id="70" name="文字-70-统">
            <a:extLst xmlns:a="http://schemas.openxmlformats.org/drawingml/2006/main">
              <a:ext uri="{FF2B5EF4-FFF2-40B4-BE49-F238E27FC236}">
                <a16:creationId xmlns:a16="http://schemas.microsoft.com/office/drawing/2014/main" id="{820EDC2E-6C80-46FF-911E-7284BA54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307" y="2249424"/>
            <a:ext cx="502653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统</a:t>
            </a:r>
          </a:p>
        </p:txBody>
      </p:sp>
      <p:sp>
        <p:nvSpPr>
          <p:cNvPr id="71" name="文字-71-能">
            <a:extLst xmlns:a="http://schemas.openxmlformats.org/drawingml/2006/main">
              <a:ext uri="{FF2B5EF4-FFF2-40B4-BE49-F238E27FC236}">
                <a16:creationId xmlns:a16="http://schemas.microsoft.com/office/drawing/2014/main" id="{BDB2E16C-C464-478D-92B5-6B1BE8C3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307" y="2506980"/>
            <a:ext cx="502653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能</a:t>
            </a:r>
          </a:p>
        </p:txBody>
      </p:sp>
      <p:sp>
        <p:nvSpPr>
          <p:cNvPr id="72" name="文字-72-力">
            <a:extLst xmlns:a="http://schemas.openxmlformats.org/drawingml/2006/main">
              <a:ext uri="{FF2B5EF4-FFF2-40B4-BE49-F238E27FC236}">
                <a16:creationId xmlns:a16="http://schemas.microsoft.com/office/drawing/2014/main" id="{AD5B918C-C20C-4765-A63A-04FD412D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307" y="2764536"/>
            <a:ext cx="502653" cy="257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力</a:t>
            </a:r>
          </a:p>
        </p:txBody>
      </p:sp>
      <p:sp>
        <p:nvSpPr>
          <p:cNvPr id="73" name="对象-73">
            <a:extLst xmlns:a="http://schemas.openxmlformats.org/drawingml/2006/main">
              <a:ext uri="{FF2B5EF4-FFF2-40B4-BE49-F238E27FC236}">
                <a16:creationId xmlns:a16="http://schemas.microsoft.com/office/drawing/2014/main" id="{E36CE9D7-410E-4357-AA8A-1702C7C6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742" y="2118360"/>
            <a:ext cx="540732" cy="3307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文字-74-动">
            <a:extLst xmlns:a="http://schemas.openxmlformats.org/drawingml/2006/main">
              <a:ext uri="{FF2B5EF4-FFF2-40B4-BE49-F238E27FC236}">
                <a16:creationId xmlns:a16="http://schemas.microsoft.com/office/drawing/2014/main" id="{C450F5B7-4081-4B21-A735-D70451E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742" y="2801112"/>
            <a:ext cx="540732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</a:t>
            </a:r>
          </a:p>
        </p:txBody>
      </p:sp>
      <p:sp>
        <p:nvSpPr>
          <p:cNvPr id="75" name="文字-75-态">
            <a:extLst xmlns:a="http://schemas.openxmlformats.org/drawingml/2006/main">
              <a:ext uri="{FF2B5EF4-FFF2-40B4-BE49-F238E27FC236}">
                <a16:creationId xmlns:a16="http://schemas.microsoft.com/office/drawing/2014/main" id="{E6C2FB9F-000C-49F6-AE17-572A4261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742" y="3078480"/>
            <a:ext cx="540732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态</a:t>
            </a:r>
          </a:p>
        </p:txBody>
      </p:sp>
      <p:sp>
        <p:nvSpPr>
          <p:cNvPr id="76" name="文字-76-过">
            <a:extLst xmlns:a="http://schemas.openxmlformats.org/drawingml/2006/main">
              <a:ext uri="{FF2B5EF4-FFF2-40B4-BE49-F238E27FC236}">
                <a16:creationId xmlns:a16="http://schemas.microsoft.com/office/drawing/2014/main" id="{4E11747C-535A-42D5-AC81-D4C53E93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742" y="3355848"/>
            <a:ext cx="540732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</a:t>
            </a:r>
          </a:p>
        </p:txBody>
      </p:sp>
      <p:sp>
        <p:nvSpPr>
          <p:cNvPr id="77" name="文字-77-程">
            <a:extLst xmlns:a="http://schemas.openxmlformats.org/drawingml/2006/main">
              <a:ext uri="{FF2B5EF4-FFF2-40B4-BE49-F238E27FC236}">
                <a16:creationId xmlns:a16="http://schemas.microsoft.com/office/drawing/2014/main" id="{C847E6A0-C69A-4801-91B7-1566A682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742" y="3633216"/>
            <a:ext cx="540732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程</a:t>
            </a:r>
          </a:p>
        </p:txBody>
      </p:sp>
      <p:sp>
        <p:nvSpPr>
          <p:cNvPr id="78" name="文字-78-与">
            <a:extLst xmlns:a="http://schemas.openxmlformats.org/drawingml/2006/main">
              <a:ext uri="{FF2B5EF4-FFF2-40B4-BE49-F238E27FC236}">
                <a16:creationId xmlns:a16="http://schemas.microsoft.com/office/drawing/2014/main" id="{919AB462-DC7F-49D7-804A-9E7501CF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742" y="3910584"/>
            <a:ext cx="540732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</a:p>
        </p:txBody>
      </p:sp>
      <p:sp>
        <p:nvSpPr>
          <p:cNvPr id="79" name="文字-79-演">
            <a:extLst xmlns:a="http://schemas.openxmlformats.org/drawingml/2006/main">
              <a:ext uri="{FF2B5EF4-FFF2-40B4-BE49-F238E27FC236}">
                <a16:creationId xmlns:a16="http://schemas.microsoft.com/office/drawing/2014/main" id="{35502433-5CA2-4B5C-97D6-E1F5CAC4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742" y="4187952"/>
            <a:ext cx="540732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</a:t>
            </a:r>
          </a:p>
        </p:txBody>
      </p:sp>
      <p:sp>
        <p:nvSpPr>
          <p:cNvPr id="80" name="文字-80-示">
            <a:extLst xmlns:a="http://schemas.openxmlformats.org/drawingml/2006/main">
              <a:ext uri="{FF2B5EF4-FFF2-40B4-BE49-F238E27FC236}">
                <a16:creationId xmlns:a16="http://schemas.microsoft.com/office/drawing/2014/main" id="{571241D9-56E7-475D-9033-BE804E8A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7742" y="4465320"/>
            <a:ext cx="540732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</a:t>
            </a:r>
          </a:p>
        </p:txBody>
      </p:sp>
      <p:sp>
        <p:nvSpPr>
          <p:cNvPr id="81" name="连线-81">
            <a:extLst xmlns:a="http://schemas.openxmlformats.org/drawingml/2006/main">
              <a:ext uri="{FF2B5EF4-FFF2-40B4-BE49-F238E27FC236}">
                <a16:creationId xmlns:a16="http://schemas.microsoft.com/office/drawing/2014/main" id="{7568532A-3FEB-4D48-A3E7-6E0C9C41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9104301" y="1181100"/>
            <a:ext cx="729" cy="8305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96">
            <a:solidFill>
              <a:srgbClr val="DEA18A"/>
            </a:solidFill>
            <a:prstDash val="solid"/>
          </a:ln>
        </p:spPr>
      </p:sp>
      <p:sp>
        <p:nvSpPr>
          <p:cNvPr id="82" name="结构-82">
            <a:extLst xmlns:a="http://schemas.openxmlformats.org/drawingml/2006/main">
              <a:ext uri="{FF2B5EF4-FFF2-40B4-BE49-F238E27FC236}">
                <a16:creationId xmlns:a16="http://schemas.microsoft.com/office/drawing/2014/main" id="{017F372D-58F2-4D6F-86FD-B694826A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485" y="1181100"/>
            <a:ext cx="205631" cy="220980"/>
          </a:xfrm>
          <a:custGeom xmlns:a="http://schemas.openxmlformats.org/drawingml/2006/main">
            <a:pathLst>
              <a:path w="268748" h="288809">
                <a:moveTo>
                  <a:pt x="134374" y="0"/>
                </a:moveTo>
                <a:lnTo>
                  <a:pt x="0" y="288809"/>
                </a:lnTo>
                <a:lnTo>
                  <a:pt x="268748" y="288809"/>
                </a:lnTo>
                <a:close/>
              </a:path>
            </a:pathLst>
          </a:custGeom>
          <a:solidFill xmlns:a="http://schemas.openxmlformats.org/drawingml/2006/main">
            <a:srgbClr val="DEA18A"/>
          </a:solidFill>
          <a:ln xmlns:a="http://schemas.openxmlformats.org/drawingml/2006/main" w="0">
            <a:noFill/>
          </a:ln>
        </p:spPr>
      </p:sp>
      <p:sp>
        <p:nvSpPr>
          <p:cNvPr id="83" name="连线-83">
            <a:extLst xmlns:a="http://schemas.openxmlformats.org/drawingml/2006/main">
              <a:ext uri="{FF2B5EF4-FFF2-40B4-BE49-F238E27FC236}">
                <a16:creationId xmlns:a16="http://schemas.microsoft.com/office/drawing/2014/main" id="{95B3DE66-9726-4A0C-AEC5-8E0EA219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04301" y="5501640"/>
            <a:ext cx="729" cy="678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96">
            <a:solidFill>
              <a:srgbClr val="DEA18A"/>
            </a:solidFill>
            <a:prstDash val="solid"/>
          </a:ln>
        </p:spPr>
      </p:sp>
      <p:sp>
        <p:nvSpPr>
          <p:cNvPr id="84" name="结构-84">
            <a:extLst xmlns:a="http://schemas.openxmlformats.org/drawingml/2006/main">
              <a:ext uri="{FF2B5EF4-FFF2-40B4-BE49-F238E27FC236}">
                <a16:creationId xmlns:a16="http://schemas.microsoft.com/office/drawing/2014/main" id="{F2F2A072-488B-4B90-AAB8-5A3326D0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485" y="5958840"/>
            <a:ext cx="205631" cy="220980"/>
          </a:xfrm>
          <a:custGeom xmlns:a="http://schemas.openxmlformats.org/drawingml/2006/main">
            <a:pathLst>
              <a:path w="268748" h="288809">
                <a:moveTo>
                  <a:pt x="134374" y="288809"/>
                </a:moveTo>
                <a:lnTo>
                  <a:pt x="2687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EA18A"/>
          </a:solidFill>
          <a:ln xmlns:a="http://schemas.openxmlformats.org/drawingml/2006/main" w="0">
            <a:noFill/>
          </a:ln>
        </p:spPr>
      </p:sp>
      <p:sp>
        <p:nvSpPr>
          <p:cNvPr id="85" name="文字-85-对象类型">
            <a:extLst xmlns:a="http://schemas.openxmlformats.org/drawingml/2006/main">
              <a:ext uri="{FF2B5EF4-FFF2-40B4-BE49-F238E27FC236}">
                <a16:creationId xmlns:a16="http://schemas.microsoft.com/office/drawing/2014/main" id="{591AD3F0-D79B-4472-A45E-88A8D6DA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77" y="1196340"/>
            <a:ext cx="2109618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C988A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对象类型</a:t>
            </a:r>
          </a:p>
        </p:txBody>
      </p:sp>
      <p:sp>
        <p:nvSpPr>
          <p:cNvPr id="86" name="文字-86-场景适配方式">
            <a:extLst xmlns:a="http://schemas.openxmlformats.org/drawingml/2006/main">
              <a:ext uri="{FF2B5EF4-FFF2-40B4-BE49-F238E27FC236}">
                <a16:creationId xmlns:a16="http://schemas.microsoft.com/office/drawing/2014/main" id="{502D8738-CD93-4274-A8D0-8F607E3F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77" y="1661160"/>
            <a:ext cx="2109618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C988A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场景适配方式</a:t>
            </a:r>
          </a:p>
        </p:txBody>
      </p:sp>
      <p:sp>
        <p:nvSpPr>
          <p:cNvPr id="87" name="连线-87">
            <a:extLst xmlns:a="http://schemas.openxmlformats.org/drawingml/2006/main">
              <a:ext uri="{FF2B5EF4-FFF2-40B4-BE49-F238E27FC236}">
                <a16:creationId xmlns:a16="http://schemas.microsoft.com/office/drawing/2014/main" id="{8348B959-93E0-436E-9C4D-EA2E7077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523178" y="2377440"/>
            <a:ext cx="210961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728">
            <a:solidFill>
              <a:srgbClr val="AC111A"/>
            </a:solidFill>
            <a:prstDash val="solid"/>
          </a:ln>
        </p:spPr>
      </p:sp>
      <p:sp>
        <p:nvSpPr>
          <p:cNvPr id="88" name="结构-88">
            <a:extLst xmlns:a="http://schemas.openxmlformats.org/drawingml/2006/main">
              <a:ext uri="{FF2B5EF4-FFF2-40B4-BE49-F238E27FC236}">
                <a16:creationId xmlns:a16="http://schemas.microsoft.com/office/drawing/2014/main" id="{F2BE4815-C1FE-47AA-A5AB-17886DAE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3178" y="2316480"/>
            <a:ext cx="137087" cy="121920"/>
          </a:xfrm>
          <a:custGeom xmlns:a="http://schemas.openxmlformats.org/drawingml/2006/main">
            <a:pathLst>
              <a:path w="179165" h="159343">
                <a:moveTo>
                  <a:pt x="0" y="79671"/>
                </a:moveTo>
                <a:lnTo>
                  <a:pt x="179165" y="159343"/>
                </a:lnTo>
                <a:lnTo>
                  <a:pt x="179165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89" name="文字-89-应用任务">
            <a:extLst xmlns:a="http://schemas.openxmlformats.org/drawingml/2006/main">
              <a:ext uri="{FF2B5EF4-FFF2-40B4-BE49-F238E27FC236}">
                <a16:creationId xmlns:a16="http://schemas.microsoft.com/office/drawing/2014/main" id="{7A04DD43-5D6B-4F22-BB79-7B248B21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701" y="3124200"/>
            <a:ext cx="746363" cy="746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  <a:p xmlns:a="http://schemas.openxmlformats.org/drawingml/2006/main">
            <a:pPr algn="ctr">
              <a:buNone/>
              <a:defRPr sz="14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90" name="文字-90-支撑依据">
            <a:extLst xmlns:a="http://schemas.openxmlformats.org/drawingml/2006/main">
              <a:ext uri="{FF2B5EF4-FFF2-40B4-BE49-F238E27FC236}">
                <a16:creationId xmlns:a16="http://schemas.microsoft.com/office/drawing/2014/main" id="{AC720F9B-FA3E-46F6-90EA-54938EC3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244" y="2606040"/>
            <a:ext cx="609276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E9C92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支撑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91" name="文字-91-场景需求">
            <a:extLst xmlns:a="http://schemas.openxmlformats.org/drawingml/2006/main">
              <a:ext uri="{FF2B5EF4-FFF2-40B4-BE49-F238E27FC236}">
                <a16:creationId xmlns:a16="http://schemas.microsoft.com/office/drawing/2014/main" id="{DE9850C9-A16A-4DD7-912A-25640F03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752" y="3230880"/>
            <a:ext cx="609276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E9C92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92" name="文字-92-灵活组合">
            <a:extLst xmlns:a="http://schemas.openxmlformats.org/drawingml/2006/main">
              <a:ext uri="{FF2B5EF4-FFF2-40B4-BE49-F238E27FC236}">
                <a16:creationId xmlns:a16="http://schemas.microsoft.com/office/drawing/2014/main" id="{5F892A68-6172-40F3-834C-35199EEC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244" y="3855720"/>
            <a:ext cx="609276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E9C92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灵活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组合</a:t>
            </a:r>
          </a:p>
        </p:txBody>
      </p:sp>
      <p:sp>
        <p:nvSpPr>
          <p:cNvPr id="93" name="文字-93-组合模块">
            <a:extLst xmlns:a="http://schemas.openxmlformats.org/drawingml/2006/main">
              <a:ext uri="{FF2B5EF4-FFF2-40B4-BE49-F238E27FC236}">
                <a16:creationId xmlns:a16="http://schemas.microsoft.com/office/drawing/2014/main" id="{94A3C9C4-B944-4E2E-BC65-8EDE31AD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736" y="3230880"/>
            <a:ext cx="609276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E9C92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组合</a:t>
            </a:r>
          </a:p>
          <a:p xmlns:a="http://schemas.openxmlformats.org/drawingml/2006/main">
            <a:pPr algn="ctr">
              <a:buNone/>
              <a:def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94" name="文字-94-基础技术">
            <a:extLst xmlns:a="http://schemas.openxmlformats.org/drawingml/2006/main">
              <a:ext uri="{FF2B5EF4-FFF2-40B4-BE49-F238E27FC236}">
                <a16:creationId xmlns:a16="http://schemas.microsoft.com/office/drawing/2014/main" id="{C443B2C3-2E64-4D7E-AEBE-8C382C63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656" y="4732020"/>
            <a:ext cx="2056307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基础技术</a:t>
            </a:r>
          </a:p>
        </p:txBody>
      </p:sp>
      <p:sp>
        <p:nvSpPr>
          <p:cNvPr id="95" name="对象-95">
            <a:extLst xmlns:a="http://schemas.openxmlformats.org/drawingml/2006/main">
              <a:ext uri="{FF2B5EF4-FFF2-40B4-BE49-F238E27FC236}">
                <a16:creationId xmlns:a16="http://schemas.microsoft.com/office/drawing/2014/main" id="{B08D3907-EC04-40C5-BF6E-8C65D8CF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656" y="5143500"/>
            <a:ext cx="2071539" cy="1082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</p:sp>
      <p:sp>
        <p:nvSpPr>
          <p:cNvPr id="96" name="文字-96-说明模块接口">
            <a:extLst xmlns:a="http://schemas.openxmlformats.org/drawingml/2006/main">
              <a:ext uri="{FF2B5EF4-FFF2-40B4-BE49-F238E27FC236}">
                <a16:creationId xmlns:a16="http://schemas.microsoft.com/office/drawing/2014/main" id="{F7C99B8E-82A0-4846-9EFC-03F0289B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280" y="5250180"/>
            <a:ext cx="18430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模块接口</a:t>
            </a:r>
          </a:p>
        </p:txBody>
      </p:sp>
      <p:sp>
        <p:nvSpPr>
          <p:cNvPr id="97" name="文字-97-说明兼容条件">
            <a:extLst xmlns:a="http://schemas.openxmlformats.org/drawingml/2006/main">
              <a:ext uri="{FF2B5EF4-FFF2-40B4-BE49-F238E27FC236}">
                <a16:creationId xmlns:a16="http://schemas.microsoft.com/office/drawing/2014/main" id="{280B0D19-61A8-498D-BD2E-AF9DD8D5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280" y="5737860"/>
            <a:ext cx="18430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9A87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兼容条件</a:t>
            </a:r>
          </a:p>
        </p:txBody>
      </p:sp>
      <p:sp>
        <p:nvSpPr>
          <p:cNvPr id="98" name="文字-98-图：填写模块化系统的名称">
            <a:extLst xmlns:a="http://schemas.openxmlformats.org/drawingml/2006/main">
              <a:ext uri="{FF2B5EF4-FFF2-40B4-BE49-F238E27FC236}">
                <a16:creationId xmlns:a16="http://schemas.microsoft.com/office/drawing/2014/main" id="{E1848E6B-7486-460F-AEF7-67EAB5C0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705" y="6484620"/>
            <a:ext cx="7920589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模块化系统组织框架</a:t>
            </a:r>
          </a:p>
        </p:txBody>
      </p:sp>
    </p:spTree>
    <p:extLst>
      <p:ext uri="{BB962C8B-B14F-4D97-AF65-F5344CB8AC3E}">
        <p14:creationId xmlns:p14="http://schemas.microsoft.com/office/powerpoint/2010/main" val="81031566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对象-1">
            <a:extLst xmlns:a="http://schemas.openxmlformats.org/drawingml/2006/main">
              <a:ext uri="{FF2B5EF4-FFF2-40B4-BE49-F238E27FC236}">
                <a16:creationId xmlns:a16="http://schemas.microsoft.com/office/drawing/2014/main" id="{A85C7793-7761-4457-8307-3516ACA4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44" y="1013460"/>
            <a:ext cx="11225912" cy="49606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AB8977"/>
            </a:solidFill>
            <a:prstDash val="solid"/>
          </a:ln>
        </p:spPr>
      </p:sp>
      <p:sp>
        <p:nvSpPr>
          <p:cNvPr id="2" name="对象-2">
            <a:extLst xmlns:a="http://schemas.openxmlformats.org/drawingml/2006/main">
              <a:ext uri="{FF2B5EF4-FFF2-40B4-BE49-F238E27FC236}">
                <a16:creationId xmlns:a16="http://schemas.microsoft.com/office/drawing/2014/main" id="{32DCE8EF-41AE-460C-9EB8-82845838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676" y="1615440"/>
            <a:ext cx="8705032" cy="3611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结构-3">
            <a:extLst xmlns:a="http://schemas.openxmlformats.org/drawingml/2006/main">
              <a:ext uri="{FF2B5EF4-FFF2-40B4-BE49-F238E27FC236}">
                <a16:creationId xmlns:a16="http://schemas.microsoft.com/office/drawing/2014/main" id="{847E639F-1646-4164-8C95-9DFF90D1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757" y="990600"/>
            <a:ext cx="3648040" cy="586740"/>
          </a:xfrm>
          <a:custGeom xmlns:a="http://schemas.openxmlformats.org/drawingml/2006/main">
            <a:pathLst>
              <a:path w="4767786" h="766837">
                <a:moveTo>
                  <a:pt x="0" y="0"/>
                </a:moveTo>
                <a:lnTo>
                  <a:pt x="4518946" y="0"/>
                </a:lnTo>
                <a:lnTo>
                  <a:pt x="4767786" y="383418"/>
                </a:lnTo>
                <a:lnTo>
                  <a:pt x="4518946" y="766837"/>
                </a:lnTo>
                <a:lnTo>
                  <a:pt x="0" y="766837"/>
                </a:lnTo>
                <a:close/>
              </a:path>
            </a:pathLst>
          </a:cu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</a:ln>
        </p:spPr>
      </p:sp>
      <p:sp>
        <p:nvSpPr>
          <p:cNvPr id="4" name="文字-4-填写总体转型需求">
            <a:extLst xmlns:a="http://schemas.openxmlformats.org/drawingml/2006/main">
              <a:ext uri="{FF2B5EF4-FFF2-40B4-BE49-F238E27FC236}">
                <a16:creationId xmlns:a16="http://schemas.microsoft.com/office/drawing/2014/main" id="{9EDD4820-99C2-4FFA-9706-5A222CD4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685" y="990600"/>
            <a:ext cx="3419562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总体需求</a:t>
            </a:r>
          </a:p>
        </p:txBody>
      </p:sp>
      <p:sp>
        <p:nvSpPr>
          <p:cNvPr id="5" name="结构-5">
            <a:extLst xmlns:a="http://schemas.openxmlformats.org/drawingml/2006/main">
              <a:ext uri="{FF2B5EF4-FFF2-40B4-BE49-F238E27FC236}">
                <a16:creationId xmlns:a16="http://schemas.microsoft.com/office/drawing/2014/main" id="{0F22B1DC-4584-4BFA-BE6C-3FA87473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805" y="990600"/>
            <a:ext cx="2589423" cy="586740"/>
          </a:xfrm>
          <a:custGeom xmlns:a="http://schemas.openxmlformats.org/drawingml/2006/main">
            <a:pathLst>
              <a:path w="3384232" h="766837">
                <a:moveTo>
                  <a:pt x="0" y="0"/>
                </a:moveTo>
                <a:lnTo>
                  <a:pt x="3135392" y="0"/>
                </a:lnTo>
                <a:lnTo>
                  <a:pt x="3384232" y="383418"/>
                </a:lnTo>
                <a:lnTo>
                  <a:pt x="3135392" y="766837"/>
                </a:lnTo>
                <a:lnTo>
                  <a:pt x="0" y="766837"/>
                </a:lnTo>
                <a:close/>
              </a:path>
            </a:pathLst>
          </a:cu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</a:ln>
        </p:spPr>
      </p:sp>
      <p:sp>
        <p:nvSpPr>
          <p:cNvPr id="6" name="文字-6-填写主要功能目标">
            <a:extLst xmlns:a="http://schemas.openxmlformats.org/drawingml/2006/main">
              <a:ext uri="{FF2B5EF4-FFF2-40B4-BE49-F238E27FC236}">
                <a16:creationId xmlns:a16="http://schemas.microsoft.com/office/drawing/2014/main" id="{BBE44C3F-75B0-418F-AD76-B0BDEF3F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732" y="990600"/>
            <a:ext cx="2360945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功能目标</a:t>
            </a:r>
          </a:p>
        </p:txBody>
      </p:sp>
      <p:sp>
        <p:nvSpPr>
          <p:cNvPr id="7" name="文字-7-共同目标">
            <a:extLst xmlns:a="http://schemas.openxmlformats.org/drawingml/2006/main">
              <a:ext uri="{FF2B5EF4-FFF2-40B4-BE49-F238E27FC236}">
                <a16:creationId xmlns:a16="http://schemas.microsoft.com/office/drawing/2014/main" id="{7D517C13-64C0-4495-884C-4F9CB11E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749" y="1112520"/>
            <a:ext cx="116524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共同目标</a:t>
            </a:r>
          </a:p>
        </p:txBody>
      </p:sp>
      <p:sp>
        <p:nvSpPr>
          <p:cNvPr id="8" name="文字-8-功能组件">
            <a:extLst xmlns:a="http://schemas.openxmlformats.org/drawingml/2006/main">
              <a:ext uri="{FF2B5EF4-FFF2-40B4-BE49-F238E27FC236}">
                <a16:creationId xmlns:a16="http://schemas.microsoft.com/office/drawing/2014/main" id="{059A20C7-9173-4900-B05A-F6200821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859" y="1112520"/>
            <a:ext cx="1447031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功能组件</a:t>
            </a:r>
          </a:p>
        </p:txBody>
      </p:sp>
      <p:sp>
        <p:nvSpPr>
          <p:cNvPr id="9" name="文字-9-模块与版本管理">
            <a:extLst xmlns:a="http://schemas.openxmlformats.org/drawingml/2006/main">
              <a:ext uri="{FF2B5EF4-FFF2-40B4-BE49-F238E27FC236}">
                <a16:creationId xmlns:a16="http://schemas.microsoft.com/office/drawing/2014/main" id="{FFA2E770-8235-498F-9132-57F449B5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793" y="5379720"/>
            <a:ext cx="55672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模块与版本管理</a:t>
            </a:r>
          </a:p>
        </p:txBody>
      </p:sp>
      <p:sp>
        <p:nvSpPr>
          <p:cNvPr id="10" name="文字-10-支撑要素">
            <a:extLst xmlns:a="http://schemas.openxmlformats.org/drawingml/2006/main">
              <a:ext uri="{FF2B5EF4-FFF2-40B4-BE49-F238E27FC236}">
                <a16:creationId xmlns:a16="http://schemas.microsoft.com/office/drawing/2014/main" id="{D5AA7190-A993-48A7-9CAC-A412FBCB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596" y="5433060"/>
            <a:ext cx="1606966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支撑要素</a:t>
            </a:r>
          </a:p>
        </p:txBody>
      </p:sp>
      <p:sp>
        <p:nvSpPr>
          <p:cNvPr id="11" name="文字-11-数据要素">
            <a:extLst xmlns:a="http://schemas.openxmlformats.org/drawingml/2006/main">
              <a:ext uri="{FF2B5EF4-FFF2-40B4-BE49-F238E27FC236}">
                <a16:creationId xmlns:a16="http://schemas.microsoft.com/office/drawing/2014/main" id="{4CE449DC-4BA5-42DF-88C1-9CD01BE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670" y="5433060"/>
            <a:ext cx="1667893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数据要素</a:t>
            </a:r>
          </a:p>
        </p:txBody>
      </p:sp>
      <p:sp>
        <p:nvSpPr>
          <p:cNvPr id="12" name="文字-12-输入">
            <a:extLst xmlns:a="http://schemas.openxmlformats.org/drawingml/2006/main">
              <a:ext uri="{FF2B5EF4-FFF2-40B4-BE49-F238E27FC236}">
                <a16:creationId xmlns:a16="http://schemas.microsoft.com/office/drawing/2014/main" id="{69209F50-1369-4F0E-B161-01D59D86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08" y="1684020"/>
            <a:ext cx="555965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FA7A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3" name="文字-13-建模">
            <a:extLst xmlns:a="http://schemas.openxmlformats.org/drawingml/2006/main">
              <a:ext uri="{FF2B5EF4-FFF2-40B4-BE49-F238E27FC236}">
                <a16:creationId xmlns:a16="http://schemas.microsoft.com/office/drawing/2014/main" id="{F183E1AD-2CA7-42EF-A1C1-4CFDAC44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02" y="2575560"/>
            <a:ext cx="555965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FA7A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建模</a:t>
            </a:r>
          </a:p>
        </p:txBody>
      </p:sp>
      <p:sp>
        <p:nvSpPr>
          <p:cNvPr id="14" name="文字-14-训练">
            <a:extLst xmlns:a="http://schemas.openxmlformats.org/drawingml/2006/main">
              <a:ext uri="{FF2B5EF4-FFF2-40B4-BE49-F238E27FC236}">
                <a16:creationId xmlns:a16="http://schemas.microsoft.com/office/drawing/2014/main" id="{FE4718DA-586C-4967-BA2C-DB7B576E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66" y="3604260"/>
            <a:ext cx="555965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FA7A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15" name="文字-15-应用">
            <a:extLst xmlns:a="http://schemas.openxmlformats.org/drawingml/2006/main">
              <a:ext uri="{FF2B5EF4-FFF2-40B4-BE49-F238E27FC236}">
                <a16:creationId xmlns:a16="http://schemas.microsoft.com/office/drawing/2014/main" id="{9484718F-C1F8-4E44-9BC4-F468C900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19" y="4472940"/>
            <a:ext cx="555965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FA7A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16" name="文字-16-数据">
            <a:extLst xmlns:a="http://schemas.openxmlformats.org/drawingml/2006/main">
              <a:ext uri="{FF2B5EF4-FFF2-40B4-BE49-F238E27FC236}">
                <a16:creationId xmlns:a16="http://schemas.microsoft.com/office/drawing/2014/main" id="{857ADEEB-4ADD-4210-B47F-B67B7ED4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7027" y="1684020"/>
            <a:ext cx="555965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FA7A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7" name="文字-17-采集">
            <a:extLst xmlns:a="http://schemas.openxmlformats.org/drawingml/2006/main">
              <a:ext uri="{FF2B5EF4-FFF2-40B4-BE49-F238E27FC236}">
                <a16:creationId xmlns:a16="http://schemas.microsoft.com/office/drawing/2014/main" id="{E9DB6688-B7C9-4D16-8D0C-41127142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744" y="2575560"/>
            <a:ext cx="555965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FA7A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18" name="文字-18-转换">
            <a:extLst xmlns:a="http://schemas.openxmlformats.org/drawingml/2006/main">
              <a:ext uri="{FF2B5EF4-FFF2-40B4-BE49-F238E27FC236}">
                <a16:creationId xmlns:a16="http://schemas.microsoft.com/office/drawing/2014/main" id="{DD96DC9C-2527-455C-A6A6-080838AF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4513" y="3604260"/>
            <a:ext cx="555965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FA7A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转换</a:t>
            </a:r>
          </a:p>
        </p:txBody>
      </p:sp>
      <p:sp>
        <p:nvSpPr>
          <p:cNvPr id="19" name="文字-19-输出">
            <a:extLst xmlns:a="http://schemas.openxmlformats.org/drawingml/2006/main">
              <a:ext uri="{FF2B5EF4-FFF2-40B4-BE49-F238E27FC236}">
                <a16:creationId xmlns:a16="http://schemas.microsoft.com/office/drawing/2014/main" id="{7248AB82-28C4-4392-A99A-3BE45DAB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549" y="4472940"/>
            <a:ext cx="555965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AFA7A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17602434-1E04-41FC-B304-C5461828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161" y="2004060"/>
            <a:ext cx="2894061" cy="2895600"/>
          </a:xfrm>
          <a:custGeom xmlns:a="http://schemas.openxmlformats.org/drawingml/2006/main">
            <a:pathLst>
              <a:path w="3782377" h="3784388">
                <a:moveTo>
                  <a:pt x="28731" y="1563618"/>
                </a:moveTo>
                <a:lnTo>
                  <a:pt x="56176" y="1434431"/>
                </a:lnTo>
                <a:lnTo>
                  <a:pt x="92561" y="1307474"/>
                </a:lnTo>
                <a:lnTo>
                  <a:pt x="137709" y="1183366"/>
                </a:lnTo>
                <a:lnTo>
                  <a:pt x="191400" y="1062711"/>
                </a:lnTo>
                <a:lnTo>
                  <a:pt x="253371" y="946097"/>
                </a:lnTo>
                <a:lnTo>
                  <a:pt x="323322" y="834093"/>
                </a:lnTo>
                <a:lnTo>
                  <a:pt x="400912" y="727243"/>
                </a:lnTo>
                <a:lnTo>
                  <a:pt x="485762" y="626069"/>
                </a:lnTo>
                <a:lnTo>
                  <a:pt x="577459" y="531064"/>
                </a:lnTo>
                <a:lnTo>
                  <a:pt x="675556" y="442689"/>
                </a:lnTo>
                <a:lnTo>
                  <a:pt x="779576" y="361377"/>
                </a:lnTo>
                <a:lnTo>
                  <a:pt x="889011" y="287523"/>
                </a:lnTo>
                <a:lnTo>
                  <a:pt x="1003329" y="221486"/>
                </a:lnTo>
                <a:lnTo>
                  <a:pt x="1121973" y="163589"/>
                </a:lnTo>
                <a:lnTo>
                  <a:pt x="1244364" y="114113"/>
                </a:lnTo>
                <a:lnTo>
                  <a:pt x="1369906" y="73300"/>
                </a:lnTo>
                <a:lnTo>
                  <a:pt x="1497988" y="41349"/>
                </a:lnTo>
                <a:lnTo>
                  <a:pt x="1627986" y="18415"/>
                </a:lnTo>
                <a:lnTo>
                  <a:pt x="1759266" y="4609"/>
                </a:lnTo>
                <a:lnTo>
                  <a:pt x="1891189" y="0"/>
                </a:lnTo>
                <a:lnTo>
                  <a:pt x="2023111" y="4609"/>
                </a:lnTo>
                <a:lnTo>
                  <a:pt x="2154391" y="18415"/>
                </a:lnTo>
                <a:lnTo>
                  <a:pt x="2284389" y="41349"/>
                </a:lnTo>
                <a:lnTo>
                  <a:pt x="2412471" y="73300"/>
                </a:lnTo>
                <a:lnTo>
                  <a:pt x="2538013" y="114113"/>
                </a:lnTo>
                <a:lnTo>
                  <a:pt x="2660405" y="163589"/>
                </a:lnTo>
                <a:lnTo>
                  <a:pt x="2779048" y="221486"/>
                </a:lnTo>
                <a:lnTo>
                  <a:pt x="2893366" y="287523"/>
                </a:lnTo>
                <a:lnTo>
                  <a:pt x="3002802" y="361377"/>
                </a:lnTo>
                <a:lnTo>
                  <a:pt x="3106821" y="442689"/>
                </a:lnTo>
                <a:lnTo>
                  <a:pt x="3204919" y="531064"/>
                </a:lnTo>
                <a:lnTo>
                  <a:pt x="3296616" y="626069"/>
                </a:lnTo>
                <a:lnTo>
                  <a:pt x="3381466" y="727243"/>
                </a:lnTo>
                <a:lnTo>
                  <a:pt x="3459055" y="834093"/>
                </a:lnTo>
                <a:lnTo>
                  <a:pt x="3529006" y="946097"/>
                </a:lnTo>
                <a:lnTo>
                  <a:pt x="3590978" y="1062711"/>
                </a:lnTo>
                <a:lnTo>
                  <a:pt x="3644668" y="1183366"/>
                </a:lnTo>
                <a:lnTo>
                  <a:pt x="3689816" y="1307474"/>
                </a:lnTo>
                <a:lnTo>
                  <a:pt x="3726201" y="1434431"/>
                </a:lnTo>
                <a:lnTo>
                  <a:pt x="3753646" y="1563618"/>
                </a:lnTo>
                <a:lnTo>
                  <a:pt x="3753646" y="1563618"/>
                </a:lnTo>
                <a:lnTo>
                  <a:pt x="3057675" y="1686402"/>
                </a:lnTo>
                <a:lnTo>
                  <a:pt x="3040486" y="1605490"/>
                </a:lnTo>
                <a:lnTo>
                  <a:pt x="3017697" y="1525975"/>
                </a:lnTo>
                <a:lnTo>
                  <a:pt x="2989421" y="1448244"/>
                </a:lnTo>
                <a:lnTo>
                  <a:pt x="2955794" y="1372676"/>
                </a:lnTo>
                <a:lnTo>
                  <a:pt x="2916980" y="1299639"/>
                </a:lnTo>
                <a:lnTo>
                  <a:pt x="2873168" y="1229488"/>
                </a:lnTo>
                <a:lnTo>
                  <a:pt x="2824573" y="1162567"/>
                </a:lnTo>
                <a:lnTo>
                  <a:pt x="2771430" y="1099200"/>
                </a:lnTo>
                <a:lnTo>
                  <a:pt x="2713999" y="1039697"/>
                </a:lnTo>
                <a:lnTo>
                  <a:pt x="2652559" y="984346"/>
                </a:lnTo>
                <a:lnTo>
                  <a:pt x="2587409" y="933419"/>
                </a:lnTo>
                <a:lnTo>
                  <a:pt x="2518868" y="887163"/>
                </a:lnTo>
                <a:lnTo>
                  <a:pt x="2447269" y="845803"/>
                </a:lnTo>
                <a:lnTo>
                  <a:pt x="2372961" y="809541"/>
                </a:lnTo>
                <a:lnTo>
                  <a:pt x="2296305" y="778554"/>
                </a:lnTo>
                <a:lnTo>
                  <a:pt x="2217676" y="752992"/>
                </a:lnTo>
                <a:lnTo>
                  <a:pt x="2137456" y="732981"/>
                </a:lnTo>
                <a:lnTo>
                  <a:pt x="2056037" y="718617"/>
                </a:lnTo>
                <a:lnTo>
                  <a:pt x="1973814" y="709970"/>
                </a:lnTo>
                <a:lnTo>
                  <a:pt x="1891189" y="707083"/>
                </a:lnTo>
                <a:lnTo>
                  <a:pt x="1808564" y="709970"/>
                </a:lnTo>
                <a:lnTo>
                  <a:pt x="1726341" y="718617"/>
                </a:lnTo>
                <a:lnTo>
                  <a:pt x="1644921" y="732981"/>
                </a:lnTo>
                <a:lnTo>
                  <a:pt x="1564701" y="752992"/>
                </a:lnTo>
                <a:lnTo>
                  <a:pt x="1486072" y="778554"/>
                </a:lnTo>
                <a:lnTo>
                  <a:pt x="1409417" y="809541"/>
                </a:lnTo>
                <a:lnTo>
                  <a:pt x="1335108" y="845803"/>
                </a:lnTo>
                <a:lnTo>
                  <a:pt x="1263509" y="887163"/>
                </a:lnTo>
                <a:lnTo>
                  <a:pt x="1194968" y="933419"/>
                </a:lnTo>
                <a:lnTo>
                  <a:pt x="1129819" y="984346"/>
                </a:lnTo>
                <a:lnTo>
                  <a:pt x="1068379" y="1039697"/>
                </a:lnTo>
                <a:lnTo>
                  <a:pt x="1010948" y="1099200"/>
                </a:lnTo>
                <a:lnTo>
                  <a:pt x="957805" y="1162567"/>
                </a:lnTo>
                <a:lnTo>
                  <a:pt x="909209" y="1229488"/>
                </a:lnTo>
                <a:lnTo>
                  <a:pt x="865398" y="1299639"/>
                </a:lnTo>
                <a:lnTo>
                  <a:pt x="826584" y="1372676"/>
                </a:lnTo>
                <a:lnTo>
                  <a:pt x="792957" y="1448244"/>
                </a:lnTo>
                <a:lnTo>
                  <a:pt x="764680" y="1525975"/>
                </a:lnTo>
                <a:lnTo>
                  <a:pt x="741892" y="1605490"/>
                </a:lnTo>
                <a:lnTo>
                  <a:pt x="724702" y="1686402"/>
                </a:lnTo>
                <a:close/>
              </a:path>
            </a:pathLst>
          </a:custGeom>
          <a:solidFill xmlns:a="http://schemas.openxmlformats.org/drawingml/2006/main">
            <a:srgbClr val="F8DFD4"/>
          </a:solidFill>
          <a:ln xmlns:a="http://schemas.openxmlformats.org/drawingml/2006/main" w="0">
            <a:noFill/>
          </a:ln>
        </p:spPr>
      </p:sp>
      <p:sp>
        <p:nvSpPr>
          <p:cNvPr id="21" name="结构-21">
            <a:extLst xmlns:a="http://schemas.openxmlformats.org/drawingml/2006/main">
              <a:ext uri="{FF2B5EF4-FFF2-40B4-BE49-F238E27FC236}">
                <a16:creationId xmlns:a16="http://schemas.microsoft.com/office/drawing/2014/main" id="{B6F4262C-5109-4512-AD8E-2862E625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161" y="2004060"/>
            <a:ext cx="2894061" cy="2895600"/>
          </a:xfrm>
          <a:custGeom xmlns:a="http://schemas.openxmlformats.org/drawingml/2006/main">
            <a:pathLst>
              <a:path w="3782377" h="3784388">
                <a:moveTo>
                  <a:pt x="3753646" y="2220770"/>
                </a:moveTo>
                <a:lnTo>
                  <a:pt x="3726201" y="2349957"/>
                </a:lnTo>
                <a:lnTo>
                  <a:pt x="3689816" y="2476914"/>
                </a:lnTo>
                <a:lnTo>
                  <a:pt x="3644668" y="2601023"/>
                </a:lnTo>
                <a:lnTo>
                  <a:pt x="3590978" y="2721677"/>
                </a:lnTo>
                <a:lnTo>
                  <a:pt x="3529006" y="2838291"/>
                </a:lnTo>
                <a:lnTo>
                  <a:pt x="3459055" y="2950296"/>
                </a:lnTo>
                <a:lnTo>
                  <a:pt x="3381466" y="3057145"/>
                </a:lnTo>
                <a:lnTo>
                  <a:pt x="3296616" y="3158319"/>
                </a:lnTo>
                <a:lnTo>
                  <a:pt x="3204919" y="3253325"/>
                </a:lnTo>
                <a:lnTo>
                  <a:pt x="3106821" y="3341699"/>
                </a:lnTo>
                <a:lnTo>
                  <a:pt x="3002802" y="3423011"/>
                </a:lnTo>
                <a:lnTo>
                  <a:pt x="2893366" y="3496866"/>
                </a:lnTo>
                <a:lnTo>
                  <a:pt x="2779048" y="3562902"/>
                </a:lnTo>
                <a:lnTo>
                  <a:pt x="2660405" y="3620800"/>
                </a:lnTo>
                <a:lnTo>
                  <a:pt x="2538013" y="3670275"/>
                </a:lnTo>
                <a:lnTo>
                  <a:pt x="2412471" y="3711088"/>
                </a:lnTo>
                <a:lnTo>
                  <a:pt x="2284389" y="3743039"/>
                </a:lnTo>
                <a:lnTo>
                  <a:pt x="2154391" y="3765974"/>
                </a:lnTo>
                <a:lnTo>
                  <a:pt x="2023111" y="3779779"/>
                </a:lnTo>
                <a:lnTo>
                  <a:pt x="1891189" y="3784388"/>
                </a:lnTo>
                <a:lnTo>
                  <a:pt x="1759266" y="3779779"/>
                </a:lnTo>
                <a:lnTo>
                  <a:pt x="1627986" y="3765974"/>
                </a:lnTo>
                <a:lnTo>
                  <a:pt x="1497988" y="3743039"/>
                </a:lnTo>
                <a:lnTo>
                  <a:pt x="1369906" y="3711088"/>
                </a:lnTo>
                <a:lnTo>
                  <a:pt x="1244364" y="3670275"/>
                </a:lnTo>
                <a:lnTo>
                  <a:pt x="1121973" y="3620800"/>
                </a:lnTo>
                <a:lnTo>
                  <a:pt x="1003329" y="3562902"/>
                </a:lnTo>
                <a:lnTo>
                  <a:pt x="889011" y="3496866"/>
                </a:lnTo>
                <a:lnTo>
                  <a:pt x="779576" y="3423011"/>
                </a:lnTo>
                <a:lnTo>
                  <a:pt x="675556" y="3341699"/>
                </a:lnTo>
                <a:lnTo>
                  <a:pt x="577459" y="3253325"/>
                </a:lnTo>
                <a:lnTo>
                  <a:pt x="485762" y="3158319"/>
                </a:lnTo>
                <a:lnTo>
                  <a:pt x="400912" y="3057145"/>
                </a:lnTo>
                <a:lnTo>
                  <a:pt x="323322" y="2950296"/>
                </a:lnTo>
                <a:lnTo>
                  <a:pt x="253371" y="2838291"/>
                </a:lnTo>
                <a:lnTo>
                  <a:pt x="191400" y="2721677"/>
                </a:lnTo>
                <a:lnTo>
                  <a:pt x="137709" y="2601023"/>
                </a:lnTo>
                <a:lnTo>
                  <a:pt x="92561" y="2476914"/>
                </a:lnTo>
                <a:lnTo>
                  <a:pt x="56176" y="2349957"/>
                </a:lnTo>
                <a:lnTo>
                  <a:pt x="28731" y="2220770"/>
                </a:lnTo>
                <a:lnTo>
                  <a:pt x="28731" y="2220770"/>
                </a:lnTo>
                <a:lnTo>
                  <a:pt x="724702" y="2097987"/>
                </a:lnTo>
                <a:lnTo>
                  <a:pt x="741892" y="2178898"/>
                </a:lnTo>
                <a:lnTo>
                  <a:pt x="764680" y="2258414"/>
                </a:lnTo>
                <a:lnTo>
                  <a:pt x="792957" y="2336145"/>
                </a:lnTo>
                <a:lnTo>
                  <a:pt x="826584" y="2411713"/>
                </a:lnTo>
                <a:lnTo>
                  <a:pt x="865398" y="2484750"/>
                </a:lnTo>
                <a:lnTo>
                  <a:pt x="909209" y="2554900"/>
                </a:lnTo>
                <a:lnTo>
                  <a:pt x="957805" y="2621821"/>
                </a:lnTo>
                <a:lnTo>
                  <a:pt x="1010948" y="2685188"/>
                </a:lnTo>
                <a:lnTo>
                  <a:pt x="1068379" y="2744692"/>
                </a:lnTo>
                <a:lnTo>
                  <a:pt x="1129819" y="2800042"/>
                </a:lnTo>
                <a:lnTo>
                  <a:pt x="1194968" y="2850969"/>
                </a:lnTo>
                <a:lnTo>
                  <a:pt x="1263509" y="2897225"/>
                </a:lnTo>
                <a:lnTo>
                  <a:pt x="1335108" y="2938585"/>
                </a:lnTo>
                <a:lnTo>
                  <a:pt x="1409417" y="2974847"/>
                </a:lnTo>
                <a:lnTo>
                  <a:pt x="1486072" y="3005834"/>
                </a:lnTo>
                <a:lnTo>
                  <a:pt x="1564701" y="3031396"/>
                </a:lnTo>
                <a:lnTo>
                  <a:pt x="1644921" y="3051408"/>
                </a:lnTo>
                <a:lnTo>
                  <a:pt x="1726341" y="3065772"/>
                </a:lnTo>
                <a:lnTo>
                  <a:pt x="1808564" y="3074418"/>
                </a:lnTo>
                <a:lnTo>
                  <a:pt x="1891189" y="3077305"/>
                </a:lnTo>
                <a:lnTo>
                  <a:pt x="1973814" y="3074418"/>
                </a:lnTo>
                <a:lnTo>
                  <a:pt x="2056037" y="3065772"/>
                </a:lnTo>
                <a:lnTo>
                  <a:pt x="2137456" y="3051408"/>
                </a:lnTo>
                <a:lnTo>
                  <a:pt x="2217676" y="3031396"/>
                </a:lnTo>
                <a:lnTo>
                  <a:pt x="2296305" y="3005834"/>
                </a:lnTo>
                <a:lnTo>
                  <a:pt x="2372961" y="2974847"/>
                </a:lnTo>
                <a:lnTo>
                  <a:pt x="2447269" y="2938585"/>
                </a:lnTo>
                <a:lnTo>
                  <a:pt x="2518868" y="2897225"/>
                </a:lnTo>
                <a:lnTo>
                  <a:pt x="2587409" y="2850969"/>
                </a:lnTo>
                <a:lnTo>
                  <a:pt x="2652559" y="2800042"/>
                </a:lnTo>
                <a:lnTo>
                  <a:pt x="2713999" y="2744692"/>
                </a:lnTo>
                <a:lnTo>
                  <a:pt x="2771430" y="2685188"/>
                </a:lnTo>
                <a:lnTo>
                  <a:pt x="2824573" y="2621821"/>
                </a:lnTo>
                <a:lnTo>
                  <a:pt x="2873168" y="2554900"/>
                </a:lnTo>
                <a:lnTo>
                  <a:pt x="2916980" y="2484750"/>
                </a:lnTo>
                <a:lnTo>
                  <a:pt x="2955794" y="2411713"/>
                </a:lnTo>
                <a:lnTo>
                  <a:pt x="2989421" y="2336145"/>
                </a:lnTo>
                <a:lnTo>
                  <a:pt x="3017697" y="2258414"/>
                </a:lnTo>
                <a:lnTo>
                  <a:pt x="3040486" y="2178898"/>
                </a:lnTo>
                <a:lnTo>
                  <a:pt x="3057675" y="2097987"/>
                </a:lnTo>
                <a:close/>
              </a:path>
            </a:pathLst>
          </a:custGeom>
          <a:solidFill xmlns:a="http://schemas.openxmlformats.org/drawingml/2006/main">
            <a:srgbClr val="F5E0D3"/>
          </a:solidFill>
          <a:ln xmlns:a="http://schemas.openxmlformats.org/drawingml/2006/main" w="0">
            <a:noFill/>
          </a:ln>
        </p:spPr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8E7A665A-97ED-4B5D-8AF0-9371A849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12" y="2362200"/>
            <a:ext cx="2178162" cy="2179320"/>
          </a:xfrm>
          <a:custGeom xmlns:a="http://schemas.openxmlformats.org/drawingml/2006/main">
            <a:pathLst>
              <a:path w="2846737" h="2848250">
                <a:moveTo>
                  <a:pt x="21624" y="1176828"/>
                </a:moveTo>
                <a:lnTo>
                  <a:pt x="42280" y="1079598"/>
                </a:lnTo>
                <a:lnTo>
                  <a:pt x="69665" y="984046"/>
                </a:lnTo>
                <a:lnTo>
                  <a:pt x="103644" y="890638"/>
                </a:lnTo>
                <a:lnTo>
                  <a:pt x="144053" y="799830"/>
                </a:lnTo>
                <a:lnTo>
                  <a:pt x="190695" y="712063"/>
                </a:lnTo>
                <a:lnTo>
                  <a:pt x="243343" y="627764"/>
                </a:lnTo>
                <a:lnTo>
                  <a:pt x="301739" y="547346"/>
                </a:lnTo>
                <a:lnTo>
                  <a:pt x="365600" y="471199"/>
                </a:lnTo>
                <a:lnTo>
                  <a:pt x="434614" y="399695"/>
                </a:lnTo>
                <a:lnTo>
                  <a:pt x="508445" y="333182"/>
                </a:lnTo>
                <a:lnTo>
                  <a:pt x="586733" y="271984"/>
                </a:lnTo>
                <a:lnTo>
                  <a:pt x="669098" y="216399"/>
                </a:lnTo>
                <a:lnTo>
                  <a:pt x="755137" y="166697"/>
                </a:lnTo>
                <a:lnTo>
                  <a:pt x="844432" y="123122"/>
                </a:lnTo>
                <a:lnTo>
                  <a:pt x="936548" y="85885"/>
                </a:lnTo>
                <a:lnTo>
                  <a:pt x="1031035" y="55168"/>
                </a:lnTo>
                <a:lnTo>
                  <a:pt x="1127433" y="31121"/>
                </a:lnTo>
                <a:lnTo>
                  <a:pt x="1225274" y="13859"/>
                </a:lnTo>
                <a:lnTo>
                  <a:pt x="1324079" y="3469"/>
                </a:lnTo>
                <a:lnTo>
                  <a:pt x="1423368" y="0"/>
                </a:lnTo>
                <a:lnTo>
                  <a:pt x="1423368" y="0"/>
                </a:lnTo>
                <a:lnTo>
                  <a:pt x="1423368" y="398357"/>
                </a:lnTo>
                <a:lnTo>
                  <a:pt x="1351852" y="400855"/>
                </a:lnTo>
                <a:lnTo>
                  <a:pt x="1280685" y="408339"/>
                </a:lnTo>
                <a:lnTo>
                  <a:pt x="1210212" y="420772"/>
                </a:lnTo>
                <a:lnTo>
                  <a:pt x="1140779" y="438093"/>
                </a:lnTo>
                <a:lnTo>
                  <a:pt x="1072721" y="460218"/>
                </a:lnTo>
                <a:lnTo>
                  <a:pt x="1006372" y="487039"/>
                </a:lnTo>
                <a:lnTo>
                  <a:pt x="942055" y="518425"/>
                </a:lnTo>
                <a:lnTo>
                  <a:pt x="880083" y="554224"/>
                </a:lnTo>
                <a:lnTo>
                  <a:pt x="820757" y="594261"/>
                </a:lnTo>
                <a:lnTo>
                  <a:pt x="764367" y="638341"/>
                </a:lnTo>
                <a:lnTo>
                  <a:pt x="711188" y="686249"/>
                </a:lnTo>
                <a:lnTo>
                  <a:pt x="661479" y="737752"/>
                </a:lnTo>
                <a:lnTo>
                  <a:pt x="615481" y="792599"/>
                </a:lnTo>
                <a:lnTo>
                  <a:pt x="573420" y="850523"/>
                </a:lnTo>
                <a:lnTo>
                  <a:pt x="535499" y="911241"/>
                </a:lnTo>
                <a:lnTo>
                  <a:pt x="501904" y="974458"/>
                </a:lnTo>
                <a:lnTo>
                  <a:pt x="472798" y="1039865"/>
                </a:lnTo>
                <a:lnTo>
                  <a:pt x="448323" y="1107145"/>
                </a:lnTo>
                <a:lnTo>
                  <a:pt x="428599" y="1175969"/>
                </a:lnTo>
                <a:lnTo>
                  <a:pt x="413720" y="1246002"/>
                </a:lnTo>
                <a:close/>
              </a:path>
            </a:pathLst>
          </a:cu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</a:ln>
        </p:spPr>
      </p:sp>
      <p:sp>
        <p:nvSpPr>
          <p:cNvPr id="23" name="结构-23">
            <a:extLst xmlns:a="http://schemas.openxmlformats.org/drawingml/2006/main">
              <a:ext uri="{FF2B5EF4-FFF2-40B4-BE49-F238E27FC236}">
                <a16:creationId xmlns:a16="http://schemas.microsoft.com/office/drawing/2014/main" id="{CB43A215-7B5D-4E7D-9AE0-365E3226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12" y="2362200"/>
            <a:ext cx="2178162" cy="2179320"/>
          </a:xfrm>
          <a:custGeom xmlns:a="http://schemas.openxmlformats.org/drawingml/2006/main">
            <a:pathLst>
              <a:path w="2846737" h="2848250">
                <a:moveTo>
                  <a:pt x="1473043" y="868"/>
                </a:moveTo>
                <a:lnTo>
                  <a:pt x="1572151" y="7802"/>
                </a:lnTo>
                <a:lnTo>
                  <a:pt x="1670534" y="21636"/>
                </a:lnTo>
                <a:lnTo>
                  <a:pt x="1767712" y="42303"/>
                </a:lnTo>
                <a:lnTo>
                  <a:pt x="1863213" y="69702"/>
                </a:lnTo>
                <a:lnTo>
                  <a:pt x="1956572" y="103699"/>
                </a:lnTo>
                <a:lnTo>
                  <a:pt x="2047332" y="144130"/>
                </a:lnTo>
                <a:lnTo>
                  <a:pt x="2135053" y="190797"/>
                </a:lnTo>
                <a:lnTo>
                  <a:pt x="2219306" y="243472"/>
                </a:lnTo>
                <a:lnTo>
                  <a:pt x="2299681" y="301899"/>
                </a:lnTo>
                <a:lnTo>
                  <a:pt x="2375788" y="365794"/>
                </a:lnTo>
                <a:lnTo>
                  <a:pt x="2447254" y="434845"/>
                </a:lnTo>
                <a:lnTo>
                  <a:pt x="2513732" y="508715"/>
                </a:lnTo>
                <a:lnTo>
                  <a:pt x="2574898" y="587045"/>
                </a:lnTo>
                <a:lnTo>
                  <a:pt x="2630453" y="669454"/>
                </a:lnTo>
                <a:lnTo>
                  <a:pt x="2680128" y="755539"/>
                </a:lnTo>
                <a:lnTo>
                  <a:pt x="2723680" y="844881"/>
                </a:lnTo>
                <a:lnTo>
                  <a:pt x="2760897" y="937046"/>
                </a:lnTo>
                <a:lnTo>
                  <a:pt x="2791598" y="1031583"/>
                </a:lnTo>
                <a:lnTo>
                  <a:pt x="2815633" y="1128033"/>
                </a:lnTo>
                <a:lnTo>
                  <a:pt x="2825113" y="1176828"/>
                </a:lnTo>
                <a:lnTo>
                  <a:pt x="2433016" y="1246002"/>
                </a:lnTo>
                <a:lnTo>
                  <a:pt x="2418138" y="1175969"/>
                </a:lnTo>
                <a:lnTo>
                  <a:pt x="2398414" y="1107145"/>
                </a:lnTo>
                <a:lnTo>
                  <a:pt x="2373939" y="1039865"/>
                </a:lnTo>
                <a:lnTo>
                  <a:pt x="2344833" y="974458"/>
                </a:lnTo>
                <a:lnTo>
                  <a:pt x="2311238" y="911241"/>
                </a:lnTo>
                <a:lnTo>
                  <a:pt x="2273317" y="850523"/>
                </a:lnTo>
                <a:lnTo>
                  <a:pt x="2231255" y="792599"/>
                </a:lnTo>
                <a:lnTo>
                  <a:pt x="2185258" y="737752"/>
                </a:lnTo>
                <a:lnTo>
                  <a:pt x="2135548" y="686249"/>
                </a:lnTo>
                <a:lnTo>
                  <a:pt x="2082369" y="638341"/>
                </a:lnTo>
                <a:lnTo>
                  <a:pt x="2025980" y="594261"/>
                </a:lnTo>
                <a:lnTo>
                  <a:pt x="1966654" y="554224"/>
                </a:lnTo>
                <a:lnTo>
                  <a:pt x="1904682" y="518425"/>
                </a:lnTo>
                <a:lnTo>
                  <a:pt x="1840364" y="487039"/>
                </a:lnTo>
                <a:lnTo>
                  <a:pt x="1774015" y="460218"/>
                </a:lnTo>
                <a:lnTo>
                  <a:pt x="1705958" y="438093"/>
                </a:lnTo>
                <a:lnTo>
                  <a:pt x="1636524" y="420772"/>
                </a:lnTo>
                <a:lnTo>
                  <a:pt x="1566052" y="408339"/>
                </a:lnTo>
                <a:lnTo>
                  <a:pt x="1494884" y="400855"/>
                </a:lnTo>
                <a:close/>
              </a:path>
            </a:pathLst>
          </a:cu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</a:ln>
        </p:spPr>
      </p:sp>
      <p:sp>
        <p:nvSpPr>
          <p:cNvPr id="24" name="结构-24">
            <a:extLst xmlns:a="http://schemas.openxmlformats.org/drawingml/2006/main">
              <a:ext uri="{FF2B5EF4-FFF2-40B4-BE49-F238E27FC236}">
                <a16:creationId xmlns:a16="http://schemas.microsoft.com/office/drawing/2014/main" id="{2D5000E0-05FD-4B33-880B-00C8B0C1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12" y="2362200"/>
            <a:ext cx="2178162" cy="2179320"/>
          </a:xfrm>
          <a:custGeom xmlns:a="http://schemas.openxmlformats.org/drawingml/2006/main">
            <a:pathLst>
              <a:path w="2846737" h="2848250">
                <a:moveTo>
                  <a:pt x="2825113" y="1671422"/>
                </a:moveTo>
                <a:lnTo>
                  <a:pt x="2804457" y="1768652"/>
                </a:lnTo>
                <a:lnTo>
                  <a:pt x="2777072" y="1864204"/>
                </a:lnTo>
                <a:lnTo>
                  <a:pt x="2743093" y="1957612"/>
                </a:lnTo>
                <a:lnTo>
                  <a:pt x="2702683" y="2048420"/>
                </a:lnTo>
                <a:lnTo>
                  <a:pt x="2656042" y="2136188"/>
                </a:lnTo>
                <a:lnTo>
                  <a:pt x="2603394" y="2220486"/>
                </a:lnTo>
                <a:lnTo>
                  <a:pt x="2544998" y="2300904"/>
                </a:lnTo>
                <a:lnTo>
                  <a:pt x="2481137" y="2377051"/>
                </a:lnTo>
                <a:lnTo>
                  <a:pt x="2412123" y="2448555"/>
                </a:lnTo>
                <a:lnTo>
                  <a:pt x="2338292" y="2515068"/>
                </a:lnTo>
                <a:lnTo>
                  <a:pt x="2260003" y="2576266"/>
                </a:lnTo>
                <a:lnTo>
                  <a:pt x="2177639" y="2631852"/>
                </a:lnTo>
                <a:lnTo>
                  <a:pt x="2091599" y="2681553"/>
                </a:lnTo>
                <a:lnTo>
                  <a:pt x="2002304" y="2725128"/>
                </a:lnTo>
                <a:lnTo>
                  <a:pt x="1910189" y="2762365"/>
                </a:lnTo>
                <a:lnTo>
                  <a:pt x="1815702" y="2793082"/>
                </a:lnTo>
                <a:lnTo>
                  <a:pt x="1719303" y="2817130"/>
                </a:lnTo>
                <a:lnTo>
                  <a:pt x="1621463" y="2834391"/>
                </a:lnTo>
                <a:lnTo>
                  <a:pt x="1522658" y="2844781"/>
                </a:lnTo>
                <a:lnTo>
                  <a:pt x="1423368" y="2848250"/>
                </a:lnTo>
                <a:lnTo>
                  <a:pt x="1423368" y="2848250"/>
                </a:lnTo>
                <a:lnTo>
                  <a:pt x="1423368" y="2449894"/>
                </a:lnTo>
                <a:lnTo>
                  <a:pt x="1494884" y="2447395"/>
                </a:lnTo>
                <a:lnTo>
                  <a:pt x="1566052" y="2439911"/>
                </a:lnTo>
                <a:lnTo>
                  <a:pt x="1636524" y="2427478"/>
                </a:lnTo>
                <a:lnTo>
                  <a:pt x="1705958" y="2410157"/>
                </a:lnTo>
                <a:lnTo>
                  <a:pt x="1774015" y="2388032"/>
                </a:lnTo>
                <a:lnTo>
                  <a:pt x="1840364" y="2361211"/>
                </a:lnTo>
                <a:lnTo>
                  <a:pt x="1904682" y="2329825"/>
                </a:lnTo>
                <a:lnTo>
                  <a:pt x="1966654" y="2294026"/>
                </a:lnTo>
                <a:lnTo>
                  <a:pt x="2025980" y="2253989"/>
                </a:lnTo>
                <a:lnTo>
                  <a:pt x="2082369" y="2209909"/>
                </a:lnTo>
                <a:lnTo>
                  <a:pt x="2135548" y="2162001"/>
                </a:lnTo>
                <a:lnTo>
                  <a:pt x="2185258" y="2110498"/>
                </a:lnTo>
                <a:lnTo>
                  <a:pt x="2231255" y="2055651"/>
                </a:lnTo>
                <a:lnTo>
                  <a:pt x="2273317" y="1997728"/>
                </a:lnTo>
                <a:lnTo>
                  <a:pt x="2311238" y="1937009"/>
                </a:lnTo>
                <a:lnTo>
                  <a:pt x="2344833" y="1873792"/>
                </a:lnTo>
                <a:lnTo>
                  <a:pt x="2373939" y="1808385"/>
                </a:lnTo>
                <a:lnTo>
                  <a:pt x="2398414" y="1741105"/>
                </a:lnTo>
                <a:lnTo>
                  <a:pt x="2418138" y="1672281"/>
                </a:lnTo>
                <a:lnTo>
                  <a:pt x="2433016" y="1602248"/>
                </a:lnTo>
                <a:close/>
              </a:path>
            </a:pathLst>
          </a:cu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</a:ln>
        </p:spPr>
      </p:sp>
      <p:sp>
        <p:nvSpPr>
          <p:cNvPr id="25" name="结构-25">
            <a:extLst xmlns:a="http://schemas.openxmlformats.org/drawingml/2006/main">
              <a:ext uri="{FF2B5EF4-FFF2-40B4-BE49-F238E27FC236}">
                <a16:creationId xmlns:a16="http://schemas.microsoft.com/office/drawing/2014/main" id="{8A7A80D4-358B-4A61-89FD-8C25171C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112" y="2362200"/>
            <a:ext cx="2178162" cy="2179320"/>
          </a:xfrm>
          <a:custGeom xmlns:a="http://schemas.openxmlformats.org/drawingml/2006/main">
            <a:pathLst>
              <a:path w="2846737" h="2848250">
                <a:moveTo>
                  <a:pt x="1373694" y="2847383"/>
                </a:moveTo>
                <a:lnTo>
                  <a:pt x="1274586" y="2840449"/>
                </a:lnTo>
                <a:lnTo>
                  <a:pt x="1176203" y="2826615"/>
                </a:lnTo>
                <a:lnTo>
                  <a:pt x="1079024" y="2805948"/>
                </a:lnTo>
                <a:lnTo>
                  <a:pt x="983523" y="2778549"/>
                </a:lnTo>
                <a:lnTo>
                  <a:pt x="890165" y="2744551"/>
                </a:lnTo>
                <a:lnTo>
                  <a:pt x="799405" y="2704120"/>
                </a:lnTo>
                <a:lnTo>
                  <a:pt x="711684" y="2657454"/>
                </a:lnTo>
                <a:lnTo>
                  <a:pt x="627431" y="2604778"/>
                </a:lnTo>
                <a:lnTo>
                  <a:pt x="547055" y="2546351"/>
                </a:lnTo>
                <a:lnTo>
                  <a:pt x="470949" y="2482456"/>
                </a:lnTo>
                <a:lnTo>
                  <a:pt x="399483" y="2413405"/>
                </a:lnTo>
                <a:lnTo>
                  <a:pt x="333005" y="2339535"/>
                </a:lnTo>
                <a:lnTo>
                  <a:pt x="271839" y="2261205"/>
                </a:lnTo>
                <a:lnTo>
                  <a:pt x="216284" y="2178796"/>
                </a:lnTo>
                <a:lnTo>
                  <a:pt x="166609" y="2092711"/>
                </a:lnTo>
                <a:lnTo>
                  <a:pt x="123057" y="2003369"/>
                </a:lnTo>
                <a:lnTo>
                  <a:pt x="85840" y="1911205"/>
                </a:lnTo>
                <a:lnTo>
                  <a:pt x="55139" y="1816667"/>
                </a:lnTo>
                <a:lnTo>
                  <a:pt x="31104" y="1720217"/>
                </a:lnTo>
                <a:lnTo>
                  <a:pt x="21624" y="1671422"/>
                </a:lnTo>
                <a:lnTo>
                  <a:pt x="413720" y="1602248"/>
                </a:lnTo>
                <a:lnTo>
                  <a:pt x="428599" y="1672281"/>
                </a:lnTo>
                <a:lnTo>
                  <a:pt x="448323" y="1741105"/>
                </a:lnTo>
                <a:lnTo>
                  <a:pt x="472798" y="1808385"/>
                </a:lnTo>
                <a:lnTo>
                  <a:pt x="501904" y="1873792"/>
                </a:lnTo>
                <a:lnTo>
                  <a:pt x="535499" y="1937009"/>
                </a:lnTo>
                <a:lnTo>
                  <a:pt x="573420" y="1997728"/>
                </a:lnTo>
                <a:lnTo>
                  <a:pt x="615481" y="2055651"/>
                </a:lnTo>
                <a:lnTo>
                  <a:pt x="661479" y="2110498"/>
                </a:lnTo>
                <a:lnTo>
                  <a:pt x="711188" y="2162001"/>
                </a:lnTo>
                <a:lnTo>
                  <a:pt x="764367" y="2209909"/>
                </a:lnTo>
                <a:lnTo>
                  <a:pt x="820757" y="2253989"/>
                </a:lnTo>
                <a:lnTo>
                  <a:pt x="880083" y="2294026"/>
                </a:lnTo>
                <a:lnTo>
                  <a:pt x="942055" y="2329825"/>
                </a:lnTo>
                <a:lnTo>
                  <a:pt x="1006372" y="2361211"/>
                </a:lnTo>
                <a:lnTo>
                  <a:pt x="1072721" y="2388032"/>
                </a:lnTo>
                <a:lnTo>
                  <a:pt x="1140779" y="2410157"/>
                </a:lnTo>
                <a:lnTo>
                  <a:pt x="1210212" y="2427478"/>
                </a:lnTo>
                <a:lnTo>
                  <a:pt x="1280685" y="2439911"/>
                </a:lnTo>
                <a:lnTo>
                  <a:pt x="1351852" y="2447395"/>
                </a:lnTo>
                <a:close/>
              </a:path>
            </a:pathLst>
          </a:cu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</a:ln>
        </p:spPr>
      </p:sp>
      <p:sp>
        <p:nvSpPr>
          <p:cNvPr id="26" name="文字-26-关键特性">
            <a:extLst xmlns:a="http://schemas.openxmlformats.org/drawingml/2006/main">
              <a:ext uri="{FF2B5EF4-FFF2-40B4-BE49-F238E27FC236}">
                <a16:creationId xmlns:a16="http://schemas.microsoft.com/office/drawing/2014/main" id="{9341CA55-9902-4878-AB27-C8CE7E21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837" y="2811780"/>
            <a:ext cx="1294711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</a:t>
            </a:r>
          </a:p>
          <a:p xmlns:a="http://schemas.openxmlformats.org/drawingml/2006/main">
            <a:pPr algn="ctr">
              <a:buNone/>
              <a:defRPr sz="23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特性</a:t>
            </a:r>
          </a:p>
        </p:txBody>
      </p:sp>
      <p:sp>
        <p:nvSpPr>
          <p:cNvPr id="27" name="文字-27-组成说明">
            <a:extLst xmlns:a="http://schemas.openxmlformats.org/drawingml/2006/main">
              <a:ext uri="{FF2B5EF4-FFF2-40B4-BE49-F238E27FC236}">
                <a16:creationId xmlns:a16="http://schemas.microsoft.com/office/drawing/2014/main" id="{A84FDE57-E1E6-41EF-AD8E-22CD244A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082" y="2301240"/>
            <a:ext cx="121855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主要组成</a:t>
            </a:r>
          </a:p>
        </p:txBody>
      </p:sp>
      <p:sp>
        <p:nvSpPr>
          <p:cNvPr id="28" name="文字-28-能力说明">
            <a:extLst xmlns:a="http://schemas.openxmlformats.org/drawingml/2006/main">
              <a:ext uri="{FF2B5EF4-FFF2-40B4-BE49-F238E27FC236}">
                <a16:creationId xmlns:a16="http://schemas.microsoft.com/office/drawing/2014/main" id="{A15D8E5C-401C-4D66-A9F3-B7FA9379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082" y="4472940"/>
            <a:ext cx="121855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关键能力</a:t>
            </a:r>
          </a:p>
        </p:txBody>
      </p:sp>
      <p:sp>
        <p:nvSpPr>
          <p:cNvPr id="29" name="结构-29">
            <a:extLst xmlns:a="http://schemas.openxmlformats.org/drawingml/2006/main">
              <a:ext uri="{FF2B5EF4-FFF2-40B4-BE49-F238E27FC236}">
                <a16:creationId xmlns:a16="http://schemas.microsoft.com/office/drawing/2014/main" id="{0AD94C92-D6CE-4709-889D-5385297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559" y="2004060"/>
            <a:ext cx="2894061" cy="2895600"/>
          </a:xfrm>
          <a:custGeom xmlns:a="http://schemas.openxmlformats.org/drawingml/2006/main">
            <a:pathLst>
              <a:path w="3782377" h="3784388">
                <a:moveTo>
                  <a:pt x="28731" y="1563618"/>
                </a:moveTo>
                <a:lnTo>
                  <a:pt x="56176" y="1434431"/>
                </a:lnTo>
                <a:lnTo>
                  <a:pt x="92561" y="1307474"/>
                </a:lnTo>
                <a:lnTo>
                  <a:pt x="137709" y="1183366"/>
                </a:lnTo>
                <a:lnTo>
                  <a:pt x="191400" y="1062711"/>
                </a:lnTo>
                <a:lnTo>
                  <a:pt x="253371" y="946097"/>
                </a:lnTo>
                <a:lnTo>
                  <a:pt x="323322" y="834093"/>
                </a:lnTo>
                <a:lnTo>
                  <a:pt x="400912" y="727243"/>
                </a:lnTo>
                <a:lnTo>
                  <a:pt x="485762" y="626069"/>
                </a:lnTo>
                <a:lnTo>
                  <a:pt x="577459" y="531064"/>
                </a:lnTo>
                <a:lnTo>
                  <a:pt x="675556" y="442689"/>
                </a:lnTo>
                <a:lnTo>
                  <a:pt x="779576" y="361377"/>
                </a:lnTo>
                <a:lnTo>
                  <a:pt x="889011" y="287523"/>
                </a:lnTo>
                <a:lnTo>
                  <a:pt x="1003329" y="221486"/>
                </a:lnTo>
                <a:lnTo>
                  <a:pt x="1121973" y="163589"/>
                </a:lnTo>
                <a:lnTo>
                  <a:pt x="1244364" y="114113"/>
                </a:lnTo>
                <a:lnTo>
                  <a:pt x="1369906" y="73300"/>
                </a:lnTo>
                <a:lnTo>
                  <a:pt x="1497988" y="41349"/>
                </a:lnTo>
                <a:lnTo>
                  <a:pt x="1627986" y="18415"/>
                </a:lnTo>
                <a:lnTo>
                  <a:pt x="1759266" y="4609"/>
                </a:lnTo>
                <a:lnTo>
                  <a:pt x="1891189" y="0"/>
                </a:lnTo>
                <a:lnTo>
                  <a:pt x="2023111" y="4609"/>
                </a:lnTo>
                <a:lnTo>
                  <a:pt x="2154391" y="18415"/>
                </a:lnTo>
                <a:lnTo>
                  <a:pt x="2284389" y="41349"/>
                </a:lnTo>
                <a:lnTo>
                  <a:pt x="2412471" y="73300"/>
                </a:lnTo>
                <a:lnTo>
                  <a:pt x="2538013" y="114113"/>
                </a:lnTo>
                <a:lnTo>
                  <a:pt x="2660405" y="163589"/>
                </a:lnTo>
                <a:lnTo>
                  <a:pt x="2779048" y="221486"/>
                </a:lnTo>
                <a:lnTo>
                  <a:pt x="2893366" y="287523"/>
                </a:lnTo>
                <a:lnTo>
                  <a:pt x="3002802" y="361377"/>
                </a:lnTo>
                <a:lnTo>
                  <a:pt x="3106821" y="442689"/>
                </a:lnTo>
                <a:lnTo>
                  <a:pt x="3204919" y="531064"/>
                </a:lnTo>
                <a:lnTo>
                  <a:pt x="3296616" y="626069"/>
                </a:lnTo>
                <a:lnTo>
                  <a:pt x="3381466" y="727243"/>
                </a:lnTo>
                <a:lnTo>
                  <a:pt x="3459055" y="834093"/>
                </a:lnTo>
                <a:lnTo>
                  <a:pt x="3529006" y="946097"/>
                </a:lnTo>
                <a:lnTo>
                  <a:pt x="3590978" y="1062711"/>
                </a:lnTo>
                <a:lnTo>
                  <a:pt x="3644668" y="1183366"/>
                </a:lnTo>
                <a:lnTo>
                  <a:pt x="3689816" y="1307474"/>
                </a:lnTo>
                <a:lnTo>
                  <a:pt x="3726201" y="1434431"/>
                </a:lnTo>
                <a:lnTo>
                  <a:pt x="3753646" y="1563618"/>
                </a:lnTo>
                <a:lnTo>
                  <a:pt x="3753646" y="1563618"/>
                </a:lnTo>
                <a:lnTo>
                  <a:pt x="3057675" y="1686402"/>
                </a:lnTo>
                <a:lnTo>
                  <a:pt x="3040486" y="1605490"/>
                </a:lnTo>
                <a:lnTo>
                  <a:pt x="3017697" y="1525975"/>
                </a:lnTo>
                <a:lnTo>
                  <a:pt x="2989421" y="1448244"/>
                </a:lnTo>
                <a:lnTo>
                  <a:pt x="2955794" y="1372676"/>
                </a:lnTo>
                <a:lnTo>
                  <a:pt x="2916980" y="1299639"/>
                </a:lnTo>
                <a:lnTo>
                  <a:pt x="2873168" y="1229488"/>
                </a:lnTo>
                <a:lnTo>
                  <a:pt x="2824573" y="1162567"/>
                </a:lnTo>
                <a:lnTo>
                  <a:pt x="2771430" y="1099200"/>
                </a:lnTo>
                <a:lnTo>
                  <a:pt x="2713999" y="1039697"/>
                </a:lnTo>
                <a:lnTo>
                  <a:pt x="2652559" y="984346"/>
                </a:lnTo>
                <a:lnTo>
                  <a:pt x="2587409" y="933419"/>
                </a:lnTo>
                <a:lnTo>
                  <a:pt x="2518868" y="887163"/>
                </a:lnTo>
                <a:lnTo>
                  <a:pt x="2447269" y="845803"/>
                </a:lnTo>
                <a:lnTo>
                  <a:pt x="2372961" y="809541"/>
                </a:lnTo>
                <a:lnTo>
                  <a:pt x="2296305" y="778554"/>
                </a:lnTo>
                <a:lnTo>
                  <a:pt x="2217676" y="752992"/>
                </a:lnTo>
                <a:lnTo>
                  <a:pt x="2137456" y="732981"/>
                </a:lnTo>
                <a:lnTo>
                  <a:pt x="2056037" y="718617"/>
                </a:lnTo>
                <a:lnTo>
                  <a:pt x="1973814" y="709970"/>
                </a:lnTo>
                <a:lnTo>
                  <a:pt x="1891189" y="707083"/>
                </a:lnTo>
                <a:lnTo>
                  <a:pt x="1808564" y="709970"/>
                </a:lnTo>
                <a:lnTo>
                  <a:pt x="1726341" y="718617"/>
                </a:lnTo>
                <a:lnTo>
                  <a:pt x="1644921" y="732981"/>
                </a:lnTo>
                <a:lnTo>
                  <a:pt x="1564701" y="752992"/>
                </a:lnTo>
                <a:lnTo>
                  <a:pt x="1486072" y="778554"/>
                </a:lnTo>
                <a:lnTo>
                  <a:pt x="1409417" y="809541"/>
                </a:lnTo>
                <a:lnTo>
                  <a:pt x="1335108" y="845803"/>
                </a:lnTo>
                <a:lnTo>
                  <a:pt x="1263509" y="887163"/>
                </a:lnTo>
                <a:lnTo>
                  <a:pt x="1194968" y="933419"/>
                </a:lnTo>
                <a:lnTo>
                  <a:pt x="1129819" y="984346"/>
                </a:lnTo>
                <a:lnTo>
                  <a:pt x="1068379" y="1039697"/>
                </a:lnTo>
                <a:lnTo>
                  <a:pt x="1010948" y="1099200"/>
                </a:lnTo>
                <a:lnTo>
                  <a:pt x="957805" y="1162567"/>
                </a:lnTo>
                <a:lnTo>
                  <a:pt x="909209" y="1229488"/>
                </a:lnTo>
                <a:lnTo>
                  <a:pt x="865398" y="1299639"/>
                </a:lnTo>
                <a:lnTo>
                  <a:pt x="826584" y="1372676"/>
                </a:lnTo>
                <a:lnTo>
                  <a:pt x="792957" y="1448244"/>
                </a:lnTo>
                <a:lnTo>
                  <a:pt x="764680" y="1525975"/>
                </a:lnTo>
                <a:lnTo>
                  <a:pt x="741892" y="1605490"/>
                </a:lnTo>
                <a:lnTo>
                  <a:pt x="724702" y="1686402"/>
                </a:lnTo>
                <a:close/>
              </a:path>
            </a:pathLst>
          </a:custGeom>
          <a:solidFill xmlns:a="http://schemas.openxmlformats.org/drawingml/2006/main">
            <a:srgbClr val="F8DFD4"/>
          </a:solidFill>
          <a:ln xmlns:a="http://schemas.openxmlformats.org/drawingml/2006/main" w="0">
            <a:noFill/>
          </a:ln>
        </p:spPr>
      </p:sp>
      <p:sp>
        <p:nvSpPr>
          <p:cNvPr id="30" name="结构-30">
            <a:extLst xmlns:a="http://schemas.openxmlformats.org/drawingml/2006/main">
              <a:ext uri="{FF2B5EF4-FFF2-40B4-BE49-F238E27FC236}">
                <a16:creationId xmlns:a16="http://schemas.microsoft.com/office/drawing/2014/main" id="{1DC96212-18B6-42F0-953D-648E49D7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559" y="2004060"/>
            <a:ext cx="2894061" cy="2895600"/>
          </a:xfrm>
          <a:custGeom xmlns:a="http://schemas.openxmlformats.org/drawingml/2006/main">
            <a:pathLst>
              <a:path w="3782377" h="3784388">
                <a:moveTo>
                  <a:pt x="3753646" y="2220770"/>
                </a:moveTo>
                <a:lnTo>
                  <a:pt x="3726201" y="2349957"/>
                </a:lnTo>
                <a:lnTo>
                  <a:pt x="3689816" y="2476914"/>
                </a:lnTo>
                <a:lnTo>
                  <a:pt x="3644668" y="2601023"/>
                </a:lnTo>
                <a:lnTo>
                  <a:pt x="3590978" y="2721677"/>
                </a:lnTo>
                <a:lnTo>
                  <a:pt x="3529006" y="2838291"/>
                </a:lnTo>
                <a:lnTo>
                  <a:pt x="3459055" y="2950296"/>
                </a:lnTo>
                <a:lnTo>
                  <a:pt x="3381466" y="3057145"/>
                </a:lnTo>
                <a:lnTo>
                  <a:pt x="3296616" y="3158319"/>
                </a:lnTo>
                <a:lnTo>
                  <a:pt x="3204919" y="3253325"/>
                </a:lnTo>
                <a:lnTo>
                  <a:pt x="3106821" y="3341699"/>
                </a:lnTo>
                <a:lnTo>
                  <a:pt x="3002802" y="3423011"/>
                </a:lnTo>
                <a:lnTo>
                  <a:pt x="2893366" y="3496866"/>
                </a:lnTo>
                <a:lnTo>
                  <a:pt x="2779048" y="3562902"/>
                </a:lnTo>
                <a:lnTo>
                  <a:pt x="2660405" y="3620800"/>
                </a:lnTo>
                <a:lnTo>
                  <a:pt x="2538013" y="3670275"/>
                </a:lnTo>
                <a:lnTo>
                  <a:pt x="2412471" y="3711088"/>
                </a:lnTo>
                <a:lnTo>
                  <a:pt x="2284389" y="3743039"/>
                </a:lnTo>
                <a:lnTo>
                  <a:pt x="2154391" y="3765974"/>
                </a:lnTo>
                <a:lnTo>
                  <a:pt x="2023111" y="3779779"/>
                </a:lnTo>
                <a:lnTo>
                  <a:pt x="1891189" y="3784388"/>
                </a:lnTo>
                <a:lnTo>
                  <a:pt x="1759266" y="3779779"/>
                </a:lnTo>
                <a:lnTo>
                  <a:pt x="1627986" y="3765974"/>
                </a:lnTo>
                <a:lnTo>
                  <a:pt x="1497988" y="3743039"/>
                </a:lnTo>
                <a:lnTo>
                  <a:pt x="1369906" y="3711088"/>
                </a:lnTo>
                <a:lnTo>
                  <a:pt x="1244364" y="3670275"/>
                </a:lnTo>
                <a:lnTo>
                  <a:pt x="1121973" y="3620800"/>
                </a:lnTo>
                <a:lnTo>
                  <a:pt x="1003329" y="3562902"/>
                </a:lnTo>
                <a:lnTo>
                  <a:pt x="889011" y="3496866"/>
                </a:lnTo>
                <a:lnTo>
                  <a:pt x="779576" y="3423011"/>
                </a:lnTo>
                <a:lnTo>
                  <a:pt x="675556" y="3341699"/>
                </a:lnTo>
                <a:lnTo>
                  <a:pt x="577459" y="3253325"/>
                </a:lnTo>
                <a:lnTo>
                  <a:pt x="485762" y="3158319"/>
                </a:lnTo>
                <a:lnTo>
                  <a:pt x="400912" y="3057145"/>
                </a:lnTo>
                <a:lnTo>
                  <a:pt x="323322" y="2950296"/>
                </a:lnTo>
                <a:lnTo>
                  <a:pt x="253371" y="2838291"/>
                </a:lnTo>
                <a:lnTo>
                  <a:pt x="191400" y="2721677"/>
                </a:lnTo>
                <a:lnTo>
                  <a:pt x="137709" y="2601023"/>
                </a:lnTo>
                <a:lnTo>
                  <a:pt x="92561" y="2476914"/>
                </a:lnTo>
                <a:lnTo>
                  <a:pt x="56176" y="2349957"/>
                </a:lnTo>
                <a:lnTo>
                  <a:pt x="28731" y="2220770"/>
                </a:lnTo>
                <a:lnTo>
                  <a:pt x="28731" y="2220770"/>
                </a:lnTo>
                <a:lnTo>
                  <a:pt x="724702" y="2097987"/>
                </a:lnTo>
                <a:lnTo>
                  <a:pt x="741892" y="2178898"/>
                </a:lnTo>
                <a:lnTo>
                  <a:pt x="764680" y="2258414"/>
                </a:lnTo>
                <a:lnTo>
                  <a:pt x="792957" y="2336145"/>
                </a:lnTo>
                <a:lnTo>
                  <a:pt x="826584" y="2411713"/>
                </a:lnTo>
                <a:lnTo>
                  <a:pt x="865398" y="2484750"/>
                </a:lnTo>
                <a:lnTo>
                  <a:pt x="909209" y="2554900"/>
                </a:lnTo>
                <a:lnTo>
                  <a:pt x="957805" y="2621821"/>
                </a:lnTo>
                <a:lnTo>
                  <a:pt x="1010948" y="2685188"/>
                </a:lnTo>
                <a:lnTo>
                  <a:pt x="1068379" y="2744692"/>
                </a:lnTo>
                <a:lnTo>
                  <a:pt x="1129819" y="2800042"/>
                </a:lnTo>
                <a:lnTo>
                  <a:pt x="1194968" y="2850969"/>
                </a:lnTo>
                <a:lnTo>
                  <a:pt x="1263509" y="2897225"/>
                </a:lnTo>
                <a:lnTo>
                  <a:pt x="1335108" y="2938585"/>
                </a:lnTo>
                <a:lnTo>
                  <a:pt x="1409417" y="2974847"/>
                </a:lnTo>
                <a:lnTo>
                  <a:pt x="1486072" y="3005834"/>
                </a:lnTo>
                <a:lnTo>
                  <a:pt x="1564701" y="3031396"/>
                </a:lnTo>
                <a:lnTo>
                  <a:pt x="1644921" y="3051408"/>
                </a:lnTo>
                <a:lnTo>
                  <a:pt x="1726341" y="3065772"/>
                </a:lnTo>
                <a:lnTo>
                  <a:pt x="1808564" y="3074418"/>
                </a:lnTo>
                <a:lnTo>
                  <a:pt x="1891189" y="3077305"/>
                </a:lnTo>
                <a:lnTo>
                  <a:pt x="1973814" y="3074418"/>
                </a:lnTo>
                <a:lnTo>
                  <a:pt x="2056037" y="3065772"/>
                </a:lnTo>
                <a:lnTo>
                  <a:pt x="2137456" y="3051408"/>
                </a:lnTo>
                <a:lnTo>
                  <a:pt x="2217676" y="3031396"/>
                </a:lnTo>
                <a:lnTo>
                  <a:pt x="2296305" y="3005834"/>
                </a:lnTo>
                <a:lnTo>
                  <a:pt x="2372961" y="2974847"/>
                </a:lnTo>
                <a:lnTo>
                  <a:pt x="2447269" y="2938585"/>
                </a:lnTo>
                <a:lnTo>
                  <a:pt x="2518868" y="2897225"/>
                </a:lnTo>
                <a:lnTo>
                  <a:pt x="2587409" y="2850969"/>
                </a:lnTo>
                <a:lnTo>
                  <a:pt x="2652559" y="2800042"/>
                </a:lnTo>
                <a:lnTo>
                  <a:pt x="2713999" y="2744692"/>
                </a:lnTo>
                <a:lnTo>
                  <a:pt x="2771430" y="2685188"/>
                </a:lnTo>
                <a:lnTo>
                  <a:pt x="2824573" y="2621821"/>
                </a:lnTo>
                <a:lnTo>
                  <a:pt x="2873168" y="2554900"/>
                </a:lnTo>
                <a:lnTo>
                  <a:pt x="2916980" y="2484750"/>
                </a:lnTo>
                <a:lnTo>
                  <a:pt x="2955794" y="2411713"/>
                </a:lnTo>
                <a:lnTo>
                  <a:pt x="2989421" y="2336145"/>
                </a:lnTo>
                <a:lnTo>
                  <a:pt x="3017697" y="2258414"/>
                </a:lnTo>
                <a:lnTo>
                  <a:pt x="3040486" y="2178898"/>
                </a:lnTo>
                <a:lnTo>
                  <a:pt x="3057675" y="2097987"/>
                </a:lnTo>
                <a:close/>
              </a:path>
            </a:pathLst>
          </a:custGeom>
          <a:solidFill xmlns:a="http://schemas.openxmlformats.org/drawingml/2006/main">
            <a:srgbClr val="F5E0D3"/>
          </a:solidFill>
          <a:ln xmlns:a="http://schemas.openxmlformats.org/drawingml/2006/main" w="0">
            <a:noFill/>
          </a:ln>
        </p:spPr>
      </p:sp>
      <p:sp>
        <p:nvSpPr>
          <p:cNvPr id="31" name="结构-31">
            <a:extLst xmlns:a="http://schemas.openxmlformats.org/drawingml/2006/main">
              <a:ext uri="{FF2B5EF4-FFF2-40B4-BE49-F238E27FC236}">
                <a16:creationId xmlns:a16="http://schemas.microsoft.com/office/drawing/2014/main" id="{70FE1551-54ED-4258-9BC2-4E38975B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509" y="2362200"/>
            <a:ext cx="2178162" cy="2179320"/>
          </a:xfrm>
          <a:custGeom xmlns:a="http://schemas.openxmlformats.org/drawingml/2006/main">
            <a:pathLst>
              <a:path w="2846737" h="2848250">
                <a:moveTo>
                  <a:pt x="21624" y="1176828"/>
                </a:moveTo>
                <a:lnTo>
                  <a:pt x="42280" y="1079598"/>
                </a:lnTo>
                <a:lnTo>
                  <a:pt x="69665" y="984046"/>
                </a:lnTo>
                <a:lnTo>
                  <a:pt x="103644" y="890638"/>
                </a:lnTo>
                <a:lnTo>
                  <a:pt x="144053" y="799830"/>
                </a:lnTo>
                <a:lnTo>
                  <a:pt x="190695" y="712063"/>
                </a:lnTo>
                <a:lnTo>
                  <a:pt x="243343" y="627764"/>
                </a:lnTo>
                <a:lnTo>
                  <a:pt x="301739" y="547346"/>
                </a:lnTo>
                <a:lnTo>
                  <a:pt x="365600" y="471199"/>
                </a:lnTo>
                <a:lnTo>
                  <a:pt x="434614" y="399695"/>
                </a:lnTo>
                <a:lnTo>
                  <a:pt x="508445" y="333182"/>
                </a:lnTo>
                <a:lnTo>
                  <a:pt x="586733" y="271984"/>
                </a:lnTo>
                <a:lnTo>
                  <a:pt x="669098" y="216399"/>
                </a:lnTo>
                <a:lnTo>
                  <a:pt x="755137" y="166697"/>
                </a:lnTo>
                <a:lnTo>
                  <a:pt x="844432" y="123122"/>
                </a:lnTo>
                <a:lnTo>
                  <a:pt x="936548" y="85885"/>
                </a:lnTo>
                <a:lnTo>
                  <a:pt x="1031035" y="55168"/>
                </a:lnTo>
                <a:lnTo>
                  <a:pt x="1127433" y="31121"/>
                </a:lnTo>
                <a:lnTo>
                  <a:pt x="1225274" y="13859"/>
                </a:lnTo>
                <a:lnTo>
                  <a:pt x="1324079" y="3469"/>
                </a:lnTo>
                <a:lnTo>
                  <a:pt x="1423368" y="0"/>
                </a:lnTo>
                <a:lnTo>
                  <a:pt x="1423368" y="0"/>
                </a:lnTo>
                <a:lnTo>
                  <a:pt x="1423368" y="398357"/>
                </a:lnTo>
                <a:lnTo>
                  <a:pt x="1351852" y="400855"/>
                </a:lnTo>
                <a:lnTo>
                  <a:pt x="1280685" y="408339"/>
                </a:lnTo>
                <a:lnTo>
                  <a:pt x="1210212" y="420772"/>
                </a:lnTo>
                <a:lnTo>
                  <a:pt x="1140779" y="438093"/>
                </a:lnTo>
                <a:lnTo>
                  <a:pt x="1072721" y="460218"/>
                </a:lnTo>
                <a:lnTo>
                  <a:pt x="1006372" y="487039"/>
                </a:lnTo>
                <a:lnTo>
                  <a:pt x="942055" y="518425"/>
                </a:lnTo>
                <a:lnTo>
                  <a:pt x="880083" y="554224"/>
                </a:lnTo>
                <a:lnTo>
                  <a:pt x="820757" y="594261"/>
                </a:lnTo>
                <a:lnTo>
                  <a:pt x="764367" y="638341"/>
                </a:lnTo>
                <a:lnTo>
                  <a:pt x="711188" y="686249"/>
                </a:lnTo>
                <a:lnTo>
                  <a:pt x="661479" y="737752"/>
                </a:lnTo>
                <a:lnTo>
                  <a:pt x="615481" y="792599"/>
                </a:lnTo>
                <a:lnTo>
                  <a:pt x="573420" y="850523"/>
                </a:lnTo>
                <a:lnTo>
                  <a:pt x="535499" y="911241"/>
                </a:lnTo>
                <a:lnTo>
                  <a:pt x="501904" y="974458"/>
                </a:lnTo>
                <a:lnTo>
                  <a:pt x="472798" y="1039865"/>
                </a:lnTo>
                <a:lnTo>
                  <a:pt x="448323" y="1107145"/>
                </a:lnTo>
                <a:lnTo>
                  <a:pt x="428599" y="1175969"/>
                </a:lnTo>
                <a:lnTo>
                  <a:pt x="413720" y="1246002"/>
                </a:lnTo>
                <a:close/>
              </a:path>
            </a:pathLst>
          </a:cu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</a:ln>
        </p:spPr>
      </p:sp>
      <p:sp>
        <p:nvSpPr>
          <p:cNvPr id="32" name="结构-32">
            <a:extLst xmlns:a="http://schemas.openxmlformats.org/drawingml/2006/main">
              <a:ext uri="{FF2B5EF4-FFF2-40B4-BE49-F238E27FC236}">
                <a16:creationId xmlns:a16="http://schemas.microsoft.com/office/drawing/2014/main" id="{96783A5A-6549-445B-B8B3-36BC8D26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509" y="2362200"/>
            <a:ext cx="2178162" cy="2179320"/>
          </a:xfrm>
          <a:custGeom xmlns:a="http://schemas.openxmlformats.org/drawingml/2006/main">
            <a:pathLst>
              <a:path w="2846737" h="2848250">
                <a:moveTo>
                  <a:pt x="1473043" y="868"/>
                </a:moveTo>
                <a:lnTo>
                  <a:pt x="1572151" y="7802"/>
                </a:lnTo>
                <a:lnTo>
                  <a:pt x="1670534" y="21636"/>
                </a:lnTo>
                <a:lnTo>
                  <a:pt x="1767712" y="42303"/>
                </a:lnTo>
                <a:lnTo>
                  <a:pt x="1863213" y="69702"/>
                </a:lnTo>
                <a:lnTo>
                  <a:pt x="1956572" y="103699"/>
                </a:lnTo>
                <a:lnTo>
                  <a:pt x="2047332" y="144130"/>
                </a:lnTo>
                <a:lnTo>
                  <a:pt x="2135053" y="190797"/>
                </a:lnTo>
                <a:lnTo>
                  <a:pt x="2219306" y="243472"/>
                </a:lnTo>
                <a:lnTo>
                  <a:pt x="2299681" y="301899"/>
                </a:lnTo>
                <a:lnTo>
                  <a:pt x="2375788" y="365794"/>
                </a:lnTo>
                <a:lnTo>
                  <a:pt x="2447254" y="434845"/>
                </a:lnTo>
                <a:lnTo>
                  <a:pt x="2513732" y="508715"/>
                </a:lnTo>
                <a:lnTo>
                  <a:pt x="2574898" y="587045"/>
                </a:lnTo>
                <a:lnTo>
                  <a:pt x="2630453" y="669454"/>
                </a:lnTo>
                <a:lnTo>
                  <a:pt x="2680128" y="755539"/>
                </a:lnTo>
                <a:lnTo>
                  <a:pt x="2723680" y="844881"/>
                </a:lnTo>
                <a:lnTo>
                  <a:pt x="2760897" y="937046"/>
                </a:lnTo>
                <a:lnTo>
                  <a:pt x="2791598" y="1031583"/>
                </a:lnTo>
                <a:lnTo>
                  <a:pt x="2815633" y="1128033"/>
                </a:lnTo>
                <a:lnTo>
                  <a:pt x="2825113" y="1176828"/>
                </a:lnTo>
                <a:lnTo>
                  <a:pt x="2433016" y="1246002"/>
                </a:lnTo>
                <a:lnTo>
                  <a:pt x="2418138" y="1175969"/>
                </a:lnTo>
                <a:lnTo>
                  <a:pt x="2398414" y="1107145"/>
                </a:lnTo>
                <a:lnTo>
                  <a:pt x="2373939" y="1039865"/>
                </a:lnTo>
                <a:lnTo>
                  <a:pt x="2344833" y="974458"/>
                </a:lnTo>
                <a:lnTo>
                  <a:pt x="2311238" y="911241"/>
                </a:lnTo>
                <a:lnTo>
                  <a:pt x="2273317" y="850523"/>
                </a:lnTo>
                <a:lnTo>
                  <a:pt x="2231255" y="792599"/>
                </a:lnTo>
                <a:lnTo>
                  <a:pt x="2185258" y="737752"/>
                </a:lnTo>
                <a:lnTo>
                  <a:pt x="2135548" y="686249"/>
                </a:lnTo>
                <a:lnTo>
                  <a:pt x="2082369" y="638341"/>
                </a:lnTo>
                <a:lnTo>
                  <a:pt x="2025980" y="594261"/>
                </a:lnTo>
                <a:lnTo>
                  <a:pt x="1966654" y="554224"/>
                </a:lnTo>
                <a:lnTo>
                  <a:pt x="1904682" y="518425"/>
                </a:lnTo>
                <a:lnTo>
                  <a:pt x="1840364" y="487039"/>
                </a:lnTo>
                <a:lnTo>
                  <a:pt x="1774015" y="460218"/>
                </a:lnTo>
                <a:lnTo>
                  <a:pt x="1705958" y="438093"/>
                </a:lnTo>
                <a:lnTo>
                  <a:pt x="1636524" y="420772"/>
                </a:lnTo>
                <a:lnTo>
                  <a:pt x="1566052" y="408339"/>
                </a:lnTo>
                <a:lnTo>
                  <a:pt x="1494884" y="400855"/>
                </a:lnTo>
                <a:close/>
              </a:path>
            </a:pathLst>
          </a:cu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</a:ln>
        </p:spPr>
      </p:sp>
      <p:sp>
        <p:nvSpPr>
          <p:cNvPr id="33" name="结构-33">
            <a:extLst xmlns:a="http://schemas.openxmlformats.org/drawingml/2006/main">
              <a:ext uri="{FF2B5EF4-FFF2-40B4-BE49-F238E27FC236}">
                <a16:creationId xmlns:a16="http://schemas.microsoft.com/office/drawing/2014/main" id="{BFEE3E77-C6F8-4E09-8065-BAA60129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509" y="2362200"/>
            <a:ext cx="2178162" cy="2179320"/>
          </a:xfrm>
          <a:custGeom xmlns:a="http://schemas.openxmlformats.org/drawingml/2006/main">
            <a:pathLst>
              <a:path w="2846737" h="2848250">
                <a:moveTo>
                  <a:pt x="2825113" y="1671422"/>
                </a:moveTo>
                <a:lnTo>
                  <a:pt x="2804457" y="1768652"/>
                </a:lnTo>
                <a:lnTo>
                  <a:pt x="2777072" y="1864204"/>
                </a:lnTo>
                <a:lnTo>
                  <a:pt x="2743093" y="1957612"/>
                </a:lnTo>
                <a:lnTo>
                  <a:pt x="2702683" y="2048420"/>
                </a:lnTo>
                <a:lnTo>
                  <a:pt x="2656042" y="2136188"/>
                </a:lnTo>
                <a:lnTo>
                  <a:pt x="2603394" y="2220486"/>
                </a:lnTo>
                <a:lnTo>
                  <a:pt x="2544998" y="2300904"/>
                </a:lnTo>
                <a:lnTo>
                  <a:pt x="2481137" y="2377051"/>
                </a:lnTo>
                <a:lnTo>
                  <a:pt x="2412123" y="2448555"/>
                </a:lnTo>
                <a:lnTo>
                  <a:pt x="2338292" y="2515068"/>
                </a:lnTo>
                <a:lnTo>
                  <a:pt x="2260003" y="2576266"/>
                </a:lnTo>
                <a:lnTo>
                  <a:pt x="2177639" y="2631852"/>
                </a:lnTo>
                <a:lnTo>
                  <a:pt x="2091599" y="2681553"/>
                </a:lnTo>
                <a:lnTo>
                  <a:pt x="2002304" y="2725128"/>
                </a:lnTo>
                <a:lnTo>
                  <a:pt x="1910189" y="2762365"/>
                </a:lnTo>
                <a:lnTo>
                  <a:pt x="1815702" y="2793082"/>
                </a:lnTo>
                <a:lnTo>
                  <a:pt x="1719303" y="2817130"/>
                </a:lnTo>
                <a:lnTo>
                  <a:pt x="1621463" y="2834391"/>
                </a:lnTo>
                <a:lnTo>
                  <a:pt x="1522658" y="2844781"/>
                </a:lnTo>
                <a:lnTo>
                  <a:pt x="1423368" y="2848250"/>
                </a:lnTo>
                <a:lnTo>
                  <a:pt x="1423368" y="2848250"/>
                </a:lnTo>
                <a:lnTo>
                  <a:pt x="1423368" y="2449894"/>
                </a:lnTo>
                <a:lnTo>
                  <a:pt x="1494884" y="2447395"/>
                </a:lnTo>
                <a:lnTo>
                  <a:pt x="1566052" y="2439911"/>
                </a:lnTo>
                <a:lnTo>
                  <a:pt x="1636524" y="2427478"/>
                </a:lnTo>
                <a:lnTo>
                  <a:pt x="1705958" y="2410157"/>
                </a:lnTo>
                <a:lnTo>
                  <a:pt x="1774015" y="2388032"/>
                </a:lnTo>
                <a:lnTo>
                  <a:pt x="1840364" y="2361211"/>
                </a:lnTo>
                <a:lnTo>
                  <a:pt x="1904682" y="2329825"/>
                </a:lnTo>
                <a:lnTo>
                  <a:pt x="1966654" y="2294026"/>
                </a:lnTo>
                <a:lnTo>
                  <a:pt x="2025980" y="2253989"/>
                </a:lnTo>
                <a:lnTo>
                  <a:pt x="2082369" y="2209909"/>
                </a:lnTo>
                <a:lnTo>
                  <a:pt x="2135548" y="2162001"/>
                </a:lnTo>
                <a:lnTo>
                  <a:pt x="2185258" y="2110498"/>
                </a:lnTo>
                <a:lnTo>
                  <a:pt x="2231255" y="2055651"/>
                </a:lnTo>
                <a:lnTo>
                  <a:pt x="2273317" y="1997728"/>
                </a:lnTo>
                <a:lnTo>
                  <a:pt x="2311238" y="1937009"/>
                </a:lnTo>
                <a:lnTo>
                  <a:pt x="2344833" y="1873792"/>
                </a:lnTo>
                <a:lnTo>
                  <a:pt x="2373939" y="1808385"/>
                </a:lnTo>
                <a:lnTo>
                  <a:pt x="2398414" y="1741105"/>
                </a:lnTo>
                <a:lnTo>
                  <a:pt x="2418138" y="1672281"/>
                </a:lnTo>
                <a:lnTo>
                  <a:pt x="2433016" y="1602248"/>
                </a:lnTo>
                <a:close/>
              </a:path>
            </a:pathLst>
          </a:cu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</a:ln>
        </p:spPr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43FD7403-51A7-472B-B2E2-65FED65B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1509" y="2362200"/>
            <a:ext cx="2178162" cy="2179320"/>
          </a:xfrm>
          <a:custGeom xmlns:a="http://schemas.openxmlformats.org/drawingml/2006/main">
            <a:pathLst>
              <a:path w="2846737" h="2848250">
                <a:moveTo>
                  <a:pt x="1373694" y="2847383"/>
                </a:moveTo>
                <a:lnTo>
                  <a:pt x="1274586" y="2840449"/>
                </a:lnTo>
                <a:lnTo>
                  <a:pt x="1176203" y="2826615"/>
                </a:lnTo>
                <a:lnTo>
                  <a:pt x="1079024" y="2805948"/>
                </a:lnTo>
                <a:lnTo>
                  <a:pt x="983523" y="2778549"/>
                </a:lnTo>
                <a:lnTo>
                  <a:pt x="890165" y="2744551"/>
                </a:lnTo>
                <a:lnTo>
                  <a:pt x="799405" y="2704120"/>
                </a:lnTo>
                <a:lnTo>
                  <a:pt x="711684" y="2657454"/>
                </a:lnTo>
                <a:lnTo>
                  <a:pt x="627431" y="2604778"/>
                </a:lnTo>
                <a:lnTo>
                  <a:pt x="547055" y="2546351"/>
                </a:lnTo>
                <a:lnTo>
                  <a:pt x="470949" y="2482456"/>
                </a:lnTo>
                <a:lnTo>
                  <a:pt x="399483" y="2413405"/>
                </a:lnTo>
                <a:lnTo>
                  <a:pt x="333005" y="2339535"/>
                </a:lnTo>
                <a:lnTo>
                  <a:pt x="271839" y="2261205"/>
                </a:lnTo>
                <a:lnTo>
                  <a:pt x="216284" y="2178796"/>
                </a:lnTo>
                <a:lnTo>
                  <a:pt x="166609" y="2092711"/>
                </a:lnTo>
                <a:lnTo>
                  <a:pt x="123057" y="2003369"/>
                </a:lnTo>
                <a:lnTo>
                  <a:pt x="85840" y="1911205"/>
                </a:lnTo>
                <a:lnTo>
                  <a:pt x="55139" y="1816667"/>
                </a:lnTo>
                <a:lnTo>
                  <a:pt x="31104" y="1720217"/>
                </a:lnTo>
                <a:lnTo>
                  <a:pt x="21624" y="1671422"/>
                </a:lnTo>
                <a:lnTo>
                  <a:pt x="413720" y="1602248"/>
                </a:lnTo>
                <a:lnTo>
                  <a:pt x="428599" y="1672281"/>
                </a:lnTo>
                <a:lnTo>
                  <a:pt x="448323" y="1741105"/>
                </a:lnTo>
                <a:lnTo>
                  <a:pt x="472798" y="1808385"/>
                </a:lnTo>
                <a:lnTo>
                  <a:pt x="501904" y="1873792"/>
                </a:lnTo>
                <a:lnTo>
                  <a:pt x="535499" y="1937009"/>
                </a:lnTo>
                <a:lnTo>
                  <a:pt x="573420" y="1997728"/>
                </a:lnTo>
                <a:lnTo>
                  <a:pt x="615481" y="2055651"/>
                </a:lnTo>
                <a:lnTo>
                  <a:pt x="661479" y="2110498"/>
                </a:lnTo>
                <a:lnTo>
                  <a:pt x="711188" y="2162001"/>
                </a:lnTo>
                <a:lnTo>
                  <a:pt x="764367" y="2209909"/>
                </a:lnTo>
                <a:lnTo>
                  <a:pt x="820757" y="2253989"/>
                </a:lnTo>
                <a:lnTo>
                  <a:pt x="880083" y="2294026"/>
                </a:lnTo>
                <a:lnTo>
                  <a:pt x="942055" y="2329825"/>
                </a:lnTo>
                <a:lnTo>
                  <a:pt x="1006372" y="2361211"/>
                </a:lnTo>
                <a:lnTo>
                  <a:pt x="1072721" y="2388032"/>
                </a:lnTo>
                <a:lnTo>
                  <a:pt x="1140779" y="2410157"/>
                </a:lnTo>
                <a:lnTo>
                  <a:pt x="1210212" y="2427478"/>
                </a:lnTo>
                <a:lnTo>
                  <a:pt x="1280685" y="2439911"/>
                </a:lnTo>
                <a:lnTo>
                  <a:pt x="1351852" y="2447395"/>
                </a:lnTo>
                <a:close/>
              </a:path>
            </a:pathLst>
          </a:cu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</a:ln>
        </p:spPr>
      </p:sp>
      <p:sp>
        <p:nvSpPr>
          <p:cNvPr id="35" name="文字-35-核心功能">
            <a:extLst xmlns:a="http://schemas.openxmlformats.org/drawingml/2006/main">
              <a:ext uri="{FF2B5EF4-FFF2-40B4-BE49-F238E27FC236}">
                <a16:creationId xmlns:a16="http://schemas.microsoft.com/office/drawing/2014/main" id="{E0D4FDB0-5495-409B-BC37-44C961FB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234" y="2811780"/>
            <a:ext cx="1294711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  <a:p xmlns:a="http://schemas.openxmlformats.org/drawingml/2006/main">
            <a:pPr algn="ctr">
              <a:buNone/>
              <a:defRPr sz="23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</a:t>
            </a:r>
          </a:p>
        </p:txBody>
      </p:sp>
      <p:sp>
        <p:nvSpPr>
          <p:cNvPr id="36" name="文字-36-组成说明">
            <a:extLst xmlns:a="http://schemas.openxmlformats.org/drawingml/2006/main">
              <a:ext uri="{FF2B5EF4-FFF2-40B4-BE49-F238E27FC236}">
                <a16:creationId xmlns:a16="http://schemas.microsoft.com/office/drawing/2014/main" id="{6EE2CB55-DA15-4909-AC8F-3479C21C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460" y="2301240"/>
            <a:ext cx="121855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主要组成</a:t>
            </a:r>
          </a:p>
        </p:txBody>
      </p:sp>
      <p:sp>
        <p:nvSpPr>
          <p:cNvPr id="37" name="文字-37-能力说明">
            <a:extLst xmlns:a="http://schemas.openxmlformats.org/drawingml/2006/main">
              <a:ext uri="{FF2B5EF4-FFF2-40B4-BE49-F238E27FC236}">
                <a16:creationId xmlns:a16="http://schemas.microsoft.com/office/drawing/2014/main" id="{3CC13EE2-4501-4197-A094-58FC16D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460" y="4472940"/>
            <a:ext cx="121855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关键能力</a:t>
            </a:r>
          </a:p>
        </p:txBody>
      </p:sp>
      <p:sp>
        <p:nvSpPr>
          <p:cNvPr id="38" name="文字-38-功能支撑">
            <a:extLst xmlns:a="http://schemas.openxmlformats.org/drawingml/2006/main">
              <a:ext uri="{FF2B5EF4-FFF2-40B4-BE49-F238E27FC236}">
                <a16:creationId xmlns:a16="http://schemas.microsoft.com/office/drawing/2014/main" id="{09B50A51-DA70-4175-AAD8-E2D4AD16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817" y="1905000"/>
            <a:ext cx="13632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功能支撑</a:t>
            </a:r>
          </a:p>
        </p:txBody>
      </p:sp>
      <p:sp>
        <p:nvSpPr>
          <p:cNvPr id="39" name="文字-39-核心组件">
            <a:extLst xmlns:a="http://schemas.openxmlformats.org/drawingml/2006/main">
              <a:ext uri="{FF2B5EF4-FFF2-40B4-BE49-F238E27FC236}">
                <a16:creationId xmlns:a16="http://schemas.microsoft.com/office/drawing/2014/main" id="{9E7942B5-9A54-4797-97F2-BDC7E506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131" y="1905000"/>
            <a:ext cx="136325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核心组件</a:t>
            </a:r>
          </a:p>
        </p:txBody>
      </p:sp>
      <p:sp>
        <p:nvSpPr>
          <p:cNvPr id="40" name="连线-40">
            <a:extLst xmlns:a="http://schemas.openxmlformats.org/drawingml/2006/main">
              <a:ext uri="{FF2B5EF4-FFF2-40B4-BE49-F238E27FC236}">
                <a16:creationId xmlns:a16="http://schemas.microsoft.com/office/drawing/2014/main" id="{02C8FF1F-5854-43B5-9667-E916509F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940686" y="2133600"/>
            <a:ext cx="693052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6440">
            <a:solidFill>
              <a:srgbClr val="CFAC4F"/>
            </a:solidFill>
            <a:prstDash val="solid"/>
          </a:ln>
        </p:spPr>
      </p:sp>
      <p:sp>
        <p:nvSpPr>
          <p:cNvPr id="41" name="结构-41">
            <a:extLst xmlns:a="http://schemas.openxmlformats.org/drawingml/2006/main">
              <a:ext uri="{FF2B5EF4-FFF2-40B4-BE49-F238E27FC236}">
                <a16:creationId xmlns:a16="http://schemas.microsoft.com/office/drawing/2014/main" id="{040C3A12-D6C4-446E-B061-9F5EEC3F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0686" y="2076450"/>
            <a:ext cx="129471" cy="114300"/>
          </a:xfrm>
          <a:custGeom xmlns:a="http://schemas.openxmlformats.org/drawingml/2006/main">
            <a:pathLst>
              <a:path w="169212" h="149384">
                <a:moveTo>
                  <a:pt x="0" y="74692"/>
                </a:moveTo>
                <a:lnTo>
                  <a:pt x="169212" y="149384"/>
                </a:lnTo>
                <a:lnTo>
                  <a:pt x="169212" y="0"/>
                </a:lnTo>
                <a:close/>
              </a:path>
            </a:pathLst>
          </a:custGeom>
          <a:solidFill xmlns:a="http://schemas.openxmlformats.org/drawingml/2006/main">
            <a:srgbClr val="CFAC4F"/>
          </a:solidFill>
          <a:ln xmlns:a="http://schemas.openxmlformats.org/drawingml/2006/main" w="0">
            <a:noFill/>
          </a:ln>
        </p:spPr>
      </p:sp>
      <p:sp>
        <p:nvSpPr>
          <p:cNvPr id="42" name="连线-42">
            <a:extLst xmlns:a="http://schemas.openxmlformats.org/drawingml/2006/main">
              <a:ext uri="{FF2B5EF4-FFF2-40B4-BE49-F238E27FC236}">
                <a16:creationId xmlns:a16="http://schemas.microsoft.com/office/drawing/2014/main" id="{28078828-6C0E-4B21-8636-46E6D960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58930" y="2133600"/>
            <a:ext cx="63212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6440">
            <a:solidFill>
              <a:srgbClr val="CFAC4F"/>
            </a:solidFill>
            <a:prstDash val="solid"/>
          </a:ln>
        </p:spPr>
      </p:sp>
      <p:sp>
        <p:nvSpPr>
          <p:cNvPr id="43" name="结构-43">
            <a:extLst xmlns:a="http://schemas.openxmlformats.org/drawingml/2006/main">
              <a:ext uri="{FF2B5EF4-FFF2-40B4-BE49-F238E27FC236}">
                <a16:creationId xmlns:a16="http://schemas.microsoft.com/office/drawing/2014/main" id="{3B3D597B-CF9D-4371-8C64-C39EE7F5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1583" y="2076450"/>
            <a:ext cx="129471" cy="114300"/>
          </a:xfrm>
          <a:custGeom xmlns:a="http://schemas.openxmlformats.org/drawingml/2006/main">
            <a:pathLst>
              <a:path w="169212" h="149384">
                <a:moveTo>
                  <a:pt x="169212" y="74692"/>
                </a:moveTo>
                <a:lnTo>
                  <a:pt x="0" y="0"/>
                </a:lnTo>
                <a:lnTo>
                  <a:pt x="0" y="149384"/>
                </a:lnTo>
                <a:close/>
              </a:path>
            </a:pathLst>
          </a:custGeom>
          <a:solidFill xmlns:a="http://schemas.openxmlformats.org/drawingml/2006/main">
            <a:srgbClr val="CFAC4F"/>
          </a:solidFill>
          <a:ln xmlns:a="http://schemas.openxmlformats.org/drawingml/2006/main" w="0">
            <a:noFill/>
          </a:ln>
        </p:spPr>
      </p:sp>
      <p:sp>
        <p:nvSpPr>
          <p:cNvPr id="44" name="文字-44-应用场景">
            <a:extLst xmlns:a="http://schemas.openxmlformats.org/drawingml/2006/main">
              <a:ext uri="{FF2B5EF4-FFF2-40B4-BE49-F238E27FC236}">
                <a16:creationId xmlns:a16="http://schemas.microsoft.com/office/drawing/2014/main" id="{CD058478-4472-4C60-A8DF-AC85A340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817" y="2484120"/>
            <a:ext cx="136325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FC0C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45" name="文字-45-模型能力">
            <a:extLst xmlns:a="http://schemas.openxmlformats.org/drawingml/2006/main">
              <a:ext uri="{FF2B5EF4-FFF2-40B4-BE49-F238E27FC236}">
                <a16:creationId xmlns:a16="http://schemas.microsoft.com/office/drawing/2014/main" id="{D5C995CE-3623-429D-9EA8-7F97B96F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817" y="3169920"/>
            <a:ext cx="136325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FC0C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模型能力</a:t>
            </a:r>
          </a:p>
        </p:txBody>
      </p:sp>
      <p:sp>
        <p:nvSpPr>
          <p:cNvPr id="46" name="文字-46-管理方式">
            <a:extLst xmlns:a="http://schemas.openxmlformats.org/drawingml/2006/main">
              <a:ext uri="{FF2B5EF4-FFF2-40B4-BE49-F238E27FC236}">
                <a16:creationId xmlns:a16="http://schemas.microsoft.com/office/drawing/2014/main" id="{4B83D487-2A24-4FA0-B3F9-BA60FDB2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131" y="2484120"/>
            <a:ext cx="136325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FC0C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管理方式</a:t>
            </a:r>
          </a:p>
        </p:txBody>
      </p:sp>
      <p:sp>
        <p:nvSpPr>
          <p:cNvPr id="47" name="文字-47-场景适配">
            <a:extLst xmlns:a="http://schemas.openxmlformats.org/drawingml/2006/main">
              <a:ext uri="{FF2B5EF4-FFF2-40B4-BE49-F238E27FC236}">
                <a16:creationId xmlns:a16="http://schemas.microsoft.com/office/drawing/2014/main" id="{AD7D87A3-6A8F-4149-82D3-BD3FDA1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131" y="3169920"/>
            <a:ext cx="136325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FC0C4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场景适配</a:t>
            </a:r>
          </a:p>
        </p:txBody>
      </p:sp>
      <p:sp>
        <p:nvSpPr>
          <p:cNvPr id="48" name="对象-48">
            <a:extLst xmlns:a="http://schemas.openxmlformats.org/drawingml/2006/main">
              <a:ext uri="{FF2B5EF4-FFF2-40B4-BE49-F238E27FC236}">
                <a16:creationId xmlns:a16="http://schemas.microsoft.com/office/drawing/2014/main" id="{5B77A43E-9112-44AC-A05E-2D145624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007" y="2171700"/>
            <a:ext cx="441725" cy="188214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BEB4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对象-49">
            <a:extLst xmlns:a="http://schemas.openxmlformats.org/drawingml/2006/main">
              <a:ext uri="{FF2B5EF4-FFF2-40B4-BE49-F238E27FC236}">
                <a16:creationId xmlns:a16="http://schemas.microsoft.com/office/drawing/2014/main" id="{21CA6327-AC0C-43CE-8178-1BDB076A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03" y="2712720"/>
            <a:ext cx="350334" cy="1242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文字-50-组">
            <a:extLst xmlns:a="http://schemas.openxmlformats.org/drawingml/2006/main">
              <a:ext uri="{FF2B5EF4-FFF2-40B4-BE49-F238E27FC236}">
                <a16:creationId xmlns:a16="http://schemas.microsoft.com/office/drawing/2014/main" id="{C522CDD3-7BD4-4027-83A4-9DE9ACA5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03" y="2779014"/>
            <a:ext cx="350334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组</a:t>
            </a:r>
          </a:p>
        </p:txBody>
      </p:sp>
      <p:sp>
        <p:nvSpPr>
          <p:cNvPr id="51" name="文字-51-织">
            <a:extLst xmlns:a="http://schemas.openxmlformats.org/drawingml/2006/main">
              <a:ext uri="{FF2B5EF4-FFF2-40B4-BE49-F238E27FC236}">
                <a16:creationId xmlns:a16="http://schemas.microsoft.com/office/drawing/2014/main" id="{C509B4D8-87E8-465E-8D23-F1100EF2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03" y="3056382"/>
            <a:ext cx="350334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织</a:t>
            </a:r>
          </a:p>
        </p:txBody>
      </p:sp>
      <p:sp>
        <p:nvSpPr>
          <p:cNvPr id="52" name="文字-52-层">
            <a:extLst xmlns:a="http://schemas.openxmlformats.org/drawingml/2006/main">
              <a:ext uri="{FF2B5EF4-FFF2-40B4-BE49-F238E27FC236}">
                <a16:creationId xmlns:a16="http://schemas.microsoft.com/office/drawing/2014/main" id="{6CF7E0A6-F520-46F3-AF22-C6572A1B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03" y="3333750"/>
            <a:ext cx="350334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53" name="文字-53-级">
            <a:extLst xmlns:a="http://schemas.openxmlformats.org/drawingml/2006/main">
              <a:ext uri="{FF2B5EF4-FFF2-40B4-BE49-F238E27FC236}">
                <a16:creationId xmlns:a16="http://schemas.microsoft.com/office/drawing/2014/main" id="{D8B61A15-EE18-4A92-AB8F-57E6FDB8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03" y="3611118"/>
            <a:ext cx="350334" cy="277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级</a:t>
            </a:r>
          </a:p>
        </p:txBody>
      </p:sp>
      <p:sp>
        <p:nvSpPr>
          <p:cNvPr id="54" name="对象-54">
            <a:extLst xmlns:a="http://schemas.openxmlformats.org/drawingml/2006/main">
              <a:ext uri="{FF2B5EF4-FFF2-40B4-BE49-F238E27FC236}">
                <a16:creationId xmlns:a16="http://schemas.microsoft.com/office/drawing/2014/main" id="{8F275486-5D4B-4917-BC76-D5B35D13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773" y="4175760"/>
            <a:ext cx="4927520" cy="9829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C5B8AF"/>
            </a:solidFill>
            <a:prstDash val="solid"/>
          </a:ln>
        </p:spPr>
      </p:sp>
      <p:sp>
        <p:nvSpPr>
          <p:cNvPr id="55" name="文字-55-支撑接口协同计算">
            <a:extLst xmlns:a="http://schemas.openxmlformats.org/drawingml/2006/main">
              <a:ext uri="{FF2B5EF4-FFF2-40B4-BE49-F238E27FC236}">
                <a16:creationId xmlns:a16="http://schemas.microsoft.com/office/drawing/2014/main" id="{91250394-F1DE-4A34-85F5-B509516E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60" y="4198620"/>
            <a:ext cx="1477494" cy="80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C5B8A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支撑接口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协同计算</a:t>
            </a:r>
          </a:p>
        </p:txBody>
      </p:sp>
      <p:sp>
        <p:nvSpPr>
          <p:cNvPr id="56" name="文字-56-基础条件稳定运行">
            <a:extLst xmlns:a="http://schemas.openxmlformats.org/drawingml/2006/main">
              <a:ext uri="{FF2B5EF4-FFF2-40B4-BE49-F238E27FC236}">
                <a16:creationId xmlns:a16="http://schemas.microsoft.com/office/drawing/2014/main" id="{06A15F21-C103-418E-88A1-284A4F1B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80" y="4198620"/>
            <a:ext cx="126424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5C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基础条件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稳定运行</a:t>
            </a:r>
          </a:p>
        </p:txBody>
      </p:sp>
      <p:sp>
        <p:nvSpPr>
          <p:cNvPr id="57" name="文字-57-填写共享平台">
            <a:extLst xmlns:a="http://schemas.openxmlformats.org/drawingml/2006/main">
              <a:ext uri="{FF2B5EF4-FFF2-40B4-BE49-F238E27FC236}">
                <a16:creationId xmlns:a16="http://schemas.microsoft.com/office/drawing/2014/main" id="{B9024490-CD4B-491C-A4B5-5C5E92E0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442" y="4831080"/>
            <a:ext cx="15231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AC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共享平台</a:t>
            </a:r>
          </a:p>
        </p:txBody>
      </p:sp>
      <p:sp>
        <p:nvSpPr>
          <p:cNvPr id="58" name="文字-58-数据采集运行状态">
            <a:extLst xmlns:a="http://schemas.openxmlformats.org/drawingml/2006/main">
              <a:ext uri="{FF2B5EF4-FFF2-40B4-BE49-F238E27FC236}">
                <a16:creationId xmlns:a16="http://schemas.microsoft.com/office/drawing/2014/main" id="{F963E18D-7260-49E0-84C9-21EDDD9E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719" y="4198620"/>
            <a:ext cx="1355639" cy="807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C5B8A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数据采集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59" name="文字-59-图：填写双核心关联框架的名称">
            <a:extLst xmlns:a="http://schemas.openxmlformats.org/drawingml/2006/main">
              <a:ext uri="{FF2B5EF4-FFF2-40B4-BE49-F238E27FC236}">
                <a16:creationId xmlns:a16="http://schemas.microsoft.com/office/drawing/2014/main" id="{30F29A4C-951E-47F8-B30B-CDE16269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865" y="6301740"/>
            <a:ext cx="776827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双核心关联与共同支撑框架</a:t>
            </a:r>
          </a:p>
        </p:txBody>
      </p:sp>
    </p:spTree>
    <p:extLst>
      <p:ext uri="{BB962C8B-B14F-4D97-AF65-F5344CB8AC3E}">
        <p14:creationId xmlns:p14="http://schemas.microsoft.com/office/powerpoint/2010/main" val="208632276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文字-1-填写总体系统组织方式">
            <a:extLst xmlns:a="http://schemas.openxmlformats.org/drawingml/2006/main">
              <a:ext uri="{FF2B5EF4-FFF2-40B4-BE49-F238E27FC236}">
                <a16:creationId xmlns:a16="http://schemas.microsoft.com/office/drawing/2014/main" id="{71B95C9F-DBEB-47AA-A509-D240A4C0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077" y="426720"/>
            <a:ext cx="408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总体系统组织方式</a:t>
            </a:r>
          </a:p>
        </p:txBody>
      </p:sp>
      <p:sp>
        <p:nvSpPr>
          <p:cNvPr id="2" name="对象-2">
            <a:extLst xmlns:a="http://schemas.openxmlformats.org/drawingml/2006/main">
              <a:ext uri="{FF2B5EF4-FFF2-40B4-BE49-F238E27FC236}">
                <a16:creationId xmlns:a16="http://schemas.microsoft.com/office/drawing/2014/main" id="{6EF10491-06B6-4389-A3A6-1ED464F9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" y="1082040"/>
            <a:ext cx="2079155" cy="1729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3" name="文字-3-多源输入">
            <a:extLst xmlns:a="http://schemas.openxmlformats.org/drawingml/2006/main">
              <a:ext uri="{FF2B5EF4-FFF2-40B4-BE49-F238E27FC236}">
                <a16:creationId xmlns:a16="http://schemas.microsoft.com/office/drawing/2014/main" id="{0B699536-8AB7-4E47-9654-57167C0A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35" y="1082040"/>
            <a:ext cx="1926836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多源输入</a:t>
            </a:r>
          </a:p>
        </p:txBody>
      </p:sp>
      <p:sp>
        <p:nvSpPr>
          <p:cNvPr id="4" name="文字-4-填写数据质量要求填写来源与采">
            <a:extLst xmlns:a="http://schemas.openxmlformats.org/drawingml/2006/main">
              <a:ext uri="{FF2B5EF4-FFF2-40B4-BE49-F238E27FC236}">
                <a16:creationId xmlns:a16="http://schemas.microsoft.com/office/drawing/2014/main" id="{5A50810F-9329-4A14-9174-AABA33DD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31" y="1600200"/>
            <a:ext cx="1835445" cy="1043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数据质量要求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来源与采集接口</a:t>
            </a:r>
          </a:p>
        </p:txBody>
      </p:sp>
      <p:sp>
        <p:nvSpPr>
          <p:cNvPr id="5" name="对象-5">
            <a:extLst xmlns:a="http://schemas.openxmlformats.org/drawingml/2006/main">
              <a:ext uri="{FF2B5EF4-FFF2-40B4-BE49-F238E27FC236}">
                <a16:creationId xmlns:a16="http://schemas.microsoft.com/office/drawing/2014/main" id="{322BF5C5-6281-4885-88E9-9B9C2A7B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" y="4442460"/>
            <a:ext cx="2079155" cy="172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6" name="文字-6-模型引擎">
            <a:extLst xmlns:a="http://schemas.openxmlformats.org/drawingml/2006/main">
              <a:ext uri="{FF2B5EF4-FFF2-40B4-BE49-F238E27FC236}">
                <a16:creationId xmlns:a16="http://schemas.microsoft.com/office/drawing/2014/main" id="{B483DB4F-E1CC-4274-BC88-46331A8E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35" y="4442460"/>
            <a:ext cx="1926836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模型引擎</a:t>
            </a:r>
          </a:p>
        </p:txBody>
      </p:sp>
      <p:sp>
        <p:nvSpPr>
          <p:cNvPr id="7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48329FDD-C589-4C8E-AD76-1E4FA969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47" y="4937760"/>
            <a:ext cx="1820212" cy="1082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8" name="连线-8">
            <a:extLst xmlns:a="http://schemas.openxmlformats.org/drawingml/2006/main">
              <a:ext uri="{FF2B5EF4-FFF2-40B4-BE49-F238E27FC236}">
                <a16:creationId xmlns:a16="http://schemas.microsoft.com/office/drawing/2014/main" id="{97A08D95-CADE-48D6-9FD6-056907A6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41661" y="2948940"/>
            <a:ext cx="729" cy="1356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68">
            <a:solidFill>
              <a:srgbClr val="B95F24"/>
            </a:solidFill>
            <a:prstDash val="solid"/>
          </a:ln>
        </p:spPr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457B16C1-1367-4625-8B48-31A96D01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693" y="4130040"/>
            <a:ext cx="159935" cy="175260"/>
          </a:xfrm>
          <a:custGeom xmlns:a="http://schemas.openxmlformats.org/drawingml/2006/main">
            <a:pathLst>
              <a:path w="209026" h="229055">
                <a:moveTo>
                  <a:pt x="104513" y="229055"/>
                </a:moveTo>
                <a:lnTo>
                  <a:pt x="20902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</a:ln>
        </p:spPr>
      </p:sp>
      <p:sp>
        <p:nvSpPr>
          <p:cNvPr id="10" name="文字-10-算法支撑">
            <a:extLst xmlns:a="http://schemas.openxmlformats.org/drawingml/2006/main">
              <a:ext uri="{FF2B5EF4-FFF2-40B4-BE49-F238E27FC236}">
                <a16:creationId xmlns:a16="http://schemas.microsoft.com/office/drawing/2014/main" id="{88AB1348-5E84-445D-BF5D-1C7E0BA0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14" y="3406140"/>
            <a:ext cx="1485111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算法支撑</a:t>
            </a:r>
          </a:p>
        </p:txBody>
      </p:sp>
      <p:sp>
        <p:nvSpPr>
          <p:cNvPr id="11" name="对象-11">
            <a:extLst xmlns:a="http://schemas.openxmlformats.org/drawingml/2006/main">
              <a:ext uri="{FF2B5EF4-FFF2-40B4-BE49-F238E27FC236}">
                <a16:creationId xmlns:a16="http://schemas.microsoft.com/office/drawing/2014/main" id="{6C63C4FA-A243-403F-8566-3DEB8F18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033" y="1082040"/>
            <a:ext cx="2071539" cy="1729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2" name="文字-12-监控模块">
            <a:extLst xmlns:a="http://schemas.openxmlformats.org/drawingml/2006/main">
              <a:ext uri="{FF2B5EF4-FFF2-40B4-BE49-F238E27FC236}">
                <a16:creationId xmlns:a16="http://schemas.microsoft.com/office/drawing/2014/main" id="{136C43C5-C0B7-4C42-B4AC-CFE38B6A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192" y="1082040"/>
            <a:ext cx="191921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监控模块</a:t>
            </a:r>
          </a:p>
        </p:txBody>
      </p:sp>
      <p:sp>
        <p:nvSpPr>
          <p:cNvPr id="13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ECF61889-8F4F-4159-852C-8796439A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736" y="1623060"/>
            <a:ext cx="1789749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4" name="对象-14">
            <a:extLst xmlns:a="http://schemas.openxmlformats.org/drawingml/2006/main">
              <a:ext uri="{FF2B5EF4-FFF2-40B4-BE49-F238E27FC236}">
                <a16:creationId xmlns:a16="http://schemas.microsoft.com/office/drawing/2014/main" id="{B3DA6C6C-CF7C-4283-95A5-41B8DEE3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033" y="4442460"/>
            <a:ext cx="2071539" cy="1722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5" name="文字-15-应用适配">
            <a:extLst xmlns:a="http://schemas.openxmlformats.org/drawingml/2006/main">
              <a:ext uri="{FF2B5EF4-FFF2-40B4-BE49-F238E27FC236}">
                <a16:creationId xmlns:a16="http://schemas.microsoft.com/office/drawing/2014/main" id="{9E1FA47E-CF8A-4E0D-8F97-FB36D517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192" y="4442460"/>
            <a:ext cx="191921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应用适配</a:t>
            </a:r>
          </a:p>
        </p:txBody>
      </p:sp>
      <p:sp>
        <p:nvSpPr>
          <p:cNvPr id="16" name="文字-16-填写实际应用场景填写异常处理">
            <a:extLst xmlns:a="http://schemas.openxmlformats.org/drawingml/2006/main">
              <a:ext uri="{FF2B5EF4-FFF2-40B4-BE49-F238E27FC236}">
                <a16:creationId xmlns:a16="http://schemas.microsoft.com/office/drawing/2014/main" id="{5BD86BAC-F456-4A8D-BB2D-F9FEFE39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21" y="4960620"/>
            <a:ext cx="179736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实际应用场景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异常处理方式</a:t>
            </a:r>
          </a:p>
        </p:txBody>
      </p:sp>
      <p:sp>
        <p:nvSpPr>
          <p:cNvPr id="17" name="连线-17">
            <a:extLst xmlns:a="http://schemas.openxmlformats.org/drawingml/2006/main">
              <a:ext uri="{FF2B5EF4-FFF2-40B4-BE49-F238E27FC236}">
                <a16:creationId xmlns:a16="http://schemas.microsoft.com/office/drawing/2014/main" id="{261999DF-E213-421C-A20A-99B4FED0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680802" y="2956560"/>
            <a:ext cx="729" cy="13639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68">
            <a:solidFill>
              <a:srgbClr val="B95F24"/>
            </a:solidFill>
            <a:prstDash val="solid"/>
          </a:ln>
        </p:spPr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970329AE-9B27-4EC3-BCD0-35D7E2D7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835" y="2956560"/>
            <a:ext cx="159935" cy="175260"/>
          </a:xfrm>
          <a:custGeom xmlns:a="http://schemas.openxmlformats.org/drawingml/2006/main">
            <a:pathLst>
              <a:path w="209026" h="229055">
                <a:moveTo>
                  <a:pt x="104513" y="0"/>
                </a:moveTo>
                <a:lnTo>
                  <a:pt x="0" y="229055"/>
                </a:lnTo>
                <a:lnTo>
                  <a:pt x="209026" y="229055"/>
                </a:lnTo>
                <a:close/>
              </a:path>
            </a:pathLst>
          </a:cu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</a:ln>
        </p:spPr>
      </p:sp>
      <p:sp>
        <p:nvSpPr>
          <p:cNvPr id="19" name="文字-19-自动编排">
            <a:extLst xmlns:a="http://schemas.openxmlformats.org/drawingml/2006/main">
              <a:ext uri="{FF2B5EF4-FFF2-40B4-BE49-F238E27FC236}">
                <a16:creationId xmlns:a16="http://schemas.microsoft.com/office/drawing/2014/main" id="{AB6701F6-6B35-4A54-BFAD-DCBBE500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287" y="3413760"/>
            <a:ext cx="1447031" cy="358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自动编排</a:t>
            </a:r>
          </a:p>
        </p:txBody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B52B2033-1051-4F5B-A07E-AED7EDD9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286" y="1120140"/>
            <a:ext cx="2033459" cy="449580"/>
          </a:xfrm>
          <a:custGeom xmlns:a="http://schemas.openxmlformats.org/drawingml/2006/main">
            <a:pathLst>
              <a:path w="2657618" h="587576">
                <a:moveTo>
                  <a:pt x="0" y="0"/>
                </a:moveTo>
                <a:lnTo>
                  <a:pt x="2408777" y="0"/>
                </a:lnTo>
                <a:lnTo>
                  <a:pt x="2657618" y="293788"/>
                </a:lnTo>
                <a:lnTo>
                  <a:pt x="2408777" y="587576"/>
                </a:lnTo>
                <a:lnTo>
                  <a:pt x="0" y="587576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21" name="文字-21-多源数据">
            <a:extLst xmlns:a="http://schemas.openxmlformats.org/drawingml/2006/main">
              <a:ext uri="{FF2B5EF4-FFF2-40B4-BE49-F238E27FC236}">
                <a16:creationId xmlns:a16="http://schemas.microsoft.com/office/drawing/2014/main" id="{958BC5BC-06AB-45AB-84AD-891B856D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213" y="1120140"/>
            <a:ext cx="1804980" cy="449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多源数据</a:t>
            </a:r>
          </a:p>
        </p:txBody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4FED3A9C-5284-4AC0-A02F-9DCCE8D8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286" y="5730240"/>
            <a:ext cx="2033459" cy="434340"/>
          </a:xfrm>
          <a:custGeom xmlns:a="http://schemas.openxmlformats.org/drawingml/2006/main">
            <a:pathLst>
              <a:path w="2657618" h="567658">
                <a:moveTo>
                  <a:pt x="0" y="0"/>
                </a:moveTo>
                <a:lnTo>
                  <a:pt x="2408777" y="0"/>
                </a:lnTo>
                <a:lnTo>
                  <a:pt x="2657618" y="283829"/>
                </a:lnTo>
                <a:lnTo>
                  <a:pt x="2408777" y="567658"/>
                </a:lnTo>
                <a:lnTo>
                  <a:pt x="0" y="567658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23" name="文字-23-模型转换">
            <a:extLst xmlns:a="http://schemas.openxmlformats.org/drawingml/2006/main">
              <a:ext uri="{FF2B5EF4-FFF2-40B4-BE49-F238E27FC236}">
                <a16:creationId xmlns:a16="http://schemas.microsoft.com/office/drawing/2014/main" id="{32A7415C-0AB3-41DF-856B-7B1EF0B4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213" y="5730240"/>
            <a:ext cx="180498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模型转换</a:t>
            </a:r>
          </a:p>
        </p:txBody>
      </p:sp>
      <p:sp>
        <p:nvSpPr>
          <p:cNvPr id="24" name="结构-24">
            <a:extLst xmlns:a="http://schemas.openxmlformats.org/drawingml/2006/main">
              <a:ext uri="{FF2B5EF4-FFF2-40B4-BE49-F238E27FC236}">
                <a16:creationId xmlns:a16="http://schemas.microsoft.com/office/drawing/2014/main" id="{275AF38A-4C1F-44D9-A3F2-2A64208F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646" y="1120140"/>
            <a:ext cx="1865908" cy="449580"/>
          </a:xfrm>
          <a:custGeom xmlns:a="http://schemas.openxmlformats.org/drawingml/2006/main">
            <a:pathLst>
              <a:path w="2438638" h="587576">
                <a:moveTo>
                  <a:pt x="0" y="0"/>
                </a:moveTo>
                <a:lnTo>
                  <a:pt x="2189798" y="0"/>
                </a:lnTo>
                <a:lnTo>
                  <a:pt x="2438638" y="293788"/>
                </a:lnTo>
                <a:lnTo>
                  <a:pt x="2189798" y="587576"/>
                </a:lnTo>
                <a:lnTo>
                  <a:pt x="0" y="587576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25" name="文字-25-导出工具">
            <a:extLst xmlns:a="http://schemas.openxmlformats.org/drawingml/2006/main">
              <a:ext uri="{FF2B5EF4-FFF2-40B4-BE49-F238E27FC236}">
                <a16:creationId xmlns:a16="http://schemas.microsoft.com/office/drawing/2014/main" id="{AF951E2C-8021-48E0-882E-627D746C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574" y="1120140"/>
            <a:ext cx="1637429" cy="449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导出工具</a:t>
            </a:r>
          </a:p>
        </p:txBody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139DEC8A-B7F7-413A-86AD-028AD455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0646" y="5730240"/>
            <a:ext cx="1865908" cy="434340"/>
          </a:xfrm>
          <a:custGeom xmlns:a="http://schemas.openxmlformats.org/drawingml/2006/main">
            <a:pathLst>
              <a:path w="2438638" h="567658">
                <a:moveTo>
                  <a:pt x="0" y="0"/>
                </a:moveTo>
                <a:lnTo>
                  <a:pt x="2189798" y="0"/>
                </a:lnTo>
                <a:lnTo>
                  <a:pt x="2438638" y="283829"/>
                </a:lnTo>
                <a:lnTo>
                  <a:pt x="2189798" y="567658"/>
                </a:lnTo>
                <a:lnTo>
                  <a:pt x="0" y="567658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27" name="文字-27-模型评价">
            <a:extLst xmlns:a="http://schemas.openxmlformats.org/drawingml/2006/main">
              <a:ext uri="{FF2B5EF4-FFF2-40B4-BE49-F238E27FC236}">
                <a16:creationId xmlns:a16="http://schemas.microsoft.com/office/drawing/2014/main" id="{043E8E1E-B03D-404C-BCB1-3711947B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574" y="5730240"/>
            <a:ext cx="1637429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模型评价</a:t>
            </a:r>
          </a:p>
        </p:txBody>
      </p:sp>
      <p:sp>
        <p:nvSpPr>
          <p:cNvPr id="28" name="文字-28-数据采集">
            <a:extLst xmlns:a="http://schemas.openxmlformats.org/drawingml/2006/main">
              <a:ext uri="{FF2B5EF4-FFF2-40B4-BE49-F238E27FC236}">
                <a16:creationId xmlns:a16="http://schemas.microsoft.com/office/drawing/2014/main" id="{D2B054B7-C80B-4ACC-B1A5-C50420D4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837" y="1661160"/>
            <a:ext cx="1020538" cy="1021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29" name="文字-29-自动提取">
            <a:extLst xmlns:a="http://schemas.openxmlformats.org/drawingml/2006/main">
              <a:ext uri="{FF2B5EF4-FFF2-40B4-BE49-F238E27FC236}">
                <a16:creationId xmlns:a16="http://schemas.microsoft.com/office/drawing/2014/main" id="{141EB7C8-0819-43D6-9688-1CB6482C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837" y="4488180"/>
            <a:ext cx="1020538" cy="1021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</a:t>
            </a:r>
          </a:p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提取</a:t>
            </a:r>
          </a:p>
        </p:txBody>
      </p:sp>
      <p:sp>
        <p:nvSpPr>
          <p:cNvPr id="30" name="文字-30-流程编排">
            <a:extLst xmlns:a="http://schemas.openxmlformats.org/drawingml/2006/main">
              <a:ext uri="{FF2B5EF4-FFF2-40B4-BE49-F238E27FC236}">
                <a16:creationId xmlns:a16="http://schemas.microsoft.com/office/drawing/2014/main" id="{7E51EA04-DB7F-4F65-8D71-332917BF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314" y="1661160"/>
            <a:ext cx="1020538" cy="1021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编排</a:t>
            </a:r>
          </a:p>
        </p:txBody>
      </p:sp>
      <p:sp>
        <p:nvSpPr>
          <p:cNvPr id="31" name="文字-31-处理机制">
            <a:extLst xmlns:a="http://schemas.openxmlformats.org/drawingml/2006/main">
              <a:ext uri="{FF2B5EF4-FFF2-40B4-BE49-F238E27FC236}">
                <a16:creationId xmlns:a16="http://schemas.microsoft.com/office/drawing/2014/main" id="{7F727018-89A2-4F2F-AC2B-D1C7ABEC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314" y="4488180"/>
            <a:ext cx="1020538" cy="1021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32" name="文字-32-模型参数与优化机制">
            <a:extLst xmlns:a="http://schemas.openxmlformats.org/drawingml/2006/main">
              <a:ext uri="{FF2B5EF4-FFF2-40B4-BE49-F238E27FC236}">
                <a16:creationId xmlns:a16="http://schemas.microsoft.com/office/drawing/2014/main" id="{35A10A82-F423-4D0B-BA2F-518F887E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144" y="1165860"/>
            <a:ext cx="2475184" cy="403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模型参数与优化机制</a:t>
            </a:r>
          </a:p>
        </p:txBody>
      </p:sp>
      <p:sp>
        <p:nvSpPr>
          <p:cNvPr id="33" name="文字-33-策略  ＋  参数  ＋  ">
            <a:extLst xmlns:a="http://schemas.openxmlformats.org/drawingml/2006/main">
              <a:ext uri="{FF2B5EF4-FFF2-40B4-BE49-F238E27FC236}">
                <a16:creationId xmlns:a16="http://schemas.microsoft.com/office/drawing/2014/main" id="{7759265F-8AFC-47BD-ACE1-3B572024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296" y="1684020"/>
            <a:ext cx="252088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BFA89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策略  ＋  参数  ＋  数据</a:t>
            </a:r>
          </a:p>
        </p:txBody>
      </p:sp>
      <p:sp>
        <p:nvSpPr>
          <p:cNvPr id="34" name="对象-34">
            <a:extLst xmlns:a="http://schemas.openxmlformats.org/drawingml/2006/main">
              <a:ext uri="{FF2B5EF4-FFF2-40B4-BE49-F238E27FC236}">
                <a16:creationId xmlns:a16="http://schemas.microsoft.com/office/drawing/2014/main" id="{3B55CC41-E032-4E91-95F5-6606066F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765" y="2537460"/>
            <a:ext cx="4226853" cy="23164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文字-35-核心能力">
            <a:extLst xmlns:a="http://schemas.openxmlformats.org/drawingml/2006/main">
              <a:ext uri="{FF2B5EF4-FFF2-40B4-BE49-F238E27FC236}">
                <a16:creationId xmlns:a16="http://schemas.microsoft.com/office/drawing/2014/main" id="{C672F0C0-4B9A-478D-9330-600E6A2A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766" y="2476500"/>
            <a:ext cx="2140083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36" name="文字-36-数据校验">
            <a:extLst xmlns:a="http://schemas.openxmlformats.org/drawingml/2006/main">
              <a:ext uri="{FF2B5EF4-FFF2-40B4-BE49-F238E27FC236}">
                <a16:creationId xmlns:a16="http://schemas.microsoft.com/office/drawing/2014/main" id="{60A53DDA-F5C0-4BA8-8624-FFC24FBC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548" y="3261360"/>
            <a:ext cx="898682" cy="899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37" name="文字-37-模型评估">
            <a:extLst xmlns:a="http://schemas.openxmlformats.org/drawingml/2006/main">
              <a:ext uri="{FF2B5EF4-FFF2-40B4-BE49-F238E27FC236}">
                <a16:creationId xmlns:a16="http://schemas.microsoft.com/office/drawing/2014/main" id="{B4B13339-4F70-4EE1-9A99-96848101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697" y="3261360"/>
            <a:ext cx="898682" cy="899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38" name="文字-38-说明支撑方式">
            <a:extLst xmlns:a="http://schemas.openxmlformats.org/drawingml/2006/main">
              <a:ext uri="{FF2B5EF4-FFF2-40B4-BE49-F238E27FC236}">
                <a16:creationId xmlns:a16="http://schemas.microsoft.com/office/drawing/2014/main" id="{EF5AD411-CBDF-465D-B53F-0F0BDD3A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789" y="3048000"/>
            <a:ext cx="1584118" cy="403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2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支撑方式</a:t>
            </a:r>
          </a:p>
        </p:txBody>
      </p:sp>
      <p:sp>
        <p:nvSpPr>
          <p:cNvPr id="39" name="文字-39-说明操作方式">
            <a:extLst xmlns:a="http://schemas.openxmlformats.org/drawingml/2006/main">
              <a:ext uri="{FF2B5EF4-FFF2-40B4-BE49-F238E27FC236}">
                <a16:creationId xmlns:a16="http://schemas.microsoft.com/office/drawing/2014/main" id="{178CD8BD-0CF5-4CE4-AAE0-2BDBB8C8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789" y="3573780"/>
            <a:ext cx="1584118" cy="403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2C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操作方式</a:t>
            </a:r>
          </a:p>
        </p:txBody>
      </p:sp>
      <p:sp>
        <p:nvSpPr>
          <p:cNvPr id="40" name="文字-40-说明结果呈现">
            <a:extLst xmlns:a="http://schemas.openxmlformats.org/drawingml/2006/main">
              <a:ext uri="{FF2B5EF4-FFF2-40B4-BE49-F238E27FC236}">
                <a16:creationId xmlns:a16="http://schemas.microsoft.com/office/drawing/2014/main" id="{0F316703-F277-4AAC-85A5-A8C52AF8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789" y="4099560"/>
            <a:ext cx="1584118" cy="403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结果呈现</a:t>
            </a:r>
          </a:p>
        </p:txBody>
      </p:sp>
      <p:sp>
        <p:nvSpPr>
          <p:cNvPr id="41" name="连线-41">
            <a:extLst xmlns:a="http://schemas.openxmlformats.org/drawingml/2006/main">
              <a:ext uri="{FF2B5EF4-FFF2-40B4-BE49-F238E27FC236}">
                <a16:creationId xmlns:a16="http://schemas.microsoft.com/office/drawing/2014/main" id="{CE860BC3-BD2E-4182-AE43-F05D6D9B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51622" y="3695700"/>
            <a:ext cx="137087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CFAC4F"/>
            </a:solidFill>
            <a:prstDash val="solid"/>
          </a:ln>
        </p:spPr>
      </p:sp>
      <p:sp>
        <p:nvSpPr>
          <p:cNvPr id="42" name="结构-42">
            <a:extLst xmlns:a="http://schemas.openxmlformats.org/drawingml/2006/main">
              <a:ext uri="{FF2B5EF4-FFF2-40B4-BE49-F238E27FC236}">
                <a16:creationId xmlns:a16="http://schemas.microsoft.com/office/drawing/2014/main" id="{1AE4AD34-DE3C-4A4F-8F2D-55B38982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854" y="3642360"/>
            <a:ext cx="121855" cy="106680"/>
          </a:xfrm>
          <a:custGeom xmlns:a="http://schemas.openxmlformats.org/drawingml/2006/main">
            <a:pathLst>
              <a:path w="159258" h="139425">
                <a:moveTo>
                  <a:pt x="159258" y="69712"/>
                </a:moveTo>
                <a:lnTo>
                  <a:pt x="0" y="0"/>
                </a:lnTo>
                <a:lnTo>
                  <a:pt x="0" y="139425"/>
                </a:lnTo>
                <a:close/>
              </a:path>
            </a:pathLst>
          </a:custGeom>
          <a:solidFill xmlns:a="http://schemas.openxmlformats.org/drawingml/2006/main">
            <a:srgbClr val="CFAC4F"/>
          </a:solidFill>
          <a:ln xmlns:a="http://schemas.openxmlformats.org/drawingml/2006/main" w="0">
            <a:noFill/>
          </a:ln>
        </p:spPr>
      </p:sp>
      <p:sp>
        <p:nvSpPr>
          <p:cNvPr id="43" name="连线-43">
            <a:extLst xmlns:a="http://schemas.openxmlformats.org/drawingml/2006/main">
              <a:ext uri="{FF2B5EF4-FFF2-40B4-BE49-F238E27FC236}">
                <a16:creationId xmlns:a16="http://schemas.microsoft.com/office/drawing/2014/main" id="{93C0D356-8A98-4330-8171-190F856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64218" y="3695700"/>
            <a:ext cx="190399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CFAC4F"/>
            </a:solidFill>
            <a:prstDash val="solid"/>
          </a:ln>
        </p:spPr>
      </p:sp>
      <p:sp>
        <p:nvSpPr>
          <p:cNvPr id="44" name="结构-44">
            <a:extLst xmlns:a="http://schemas.openxmlformats.org/drawingml/2006/main">
              <a:ext uri="{FF2B5EF4-FFF2-40B4-BE49-F238E27FC236}">
                <a16:creationId xmlns:a16="http://schemas.microsoft.com/office/drawing/2014/main" id="{F0108CD0-5E37-44C0-825D-F683DCE8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762" y="3642360"/>
            <a:ext cx="121855" cy="106680"/>
          </a:xfrm>
          <a:custGeom xmlns:a="http://schemas.openxmlformats.org/drawingml/2006/main">
            <a:pathLst>
              <a:path w="159258" h="139425">
                <a:moveTo>
                  <a:pt x="159258" y="69712"/>
                </a:moveTo>
                <a:lnTo>
                  <a:pt x="0" y="0"/>
                </a:lnTo>
                <a:lnTo>
                  <a:pt x="0" y="139425"/>
                </a:lnTo>
                <a:close/>
              </a:path>
            </a:pathLst>
          </a:custGeom>
          <a:solidFill xmlns:a="http://schemas.openxmlformats.org/drawingml/2006/main">
            <a:srgbClr val="CFAC4F"/>
          </a:solidFill>
          <a:ln xmlns:a="http://schemas.openxmlformats.org/drawingml/2006/main" w="0">
            <a:noFill/>
          </a:ln>
        </p:spPr>
      </p:sp>
      <p:sp>
        <p:nvSpPr>
          <p:cNvPr id="45" name="文字-45-模型可用性与异常处理">
            <a:extLst xmlns:a="http://schemas.openxmlformats.org/drawingml/2006/main">
              <a:ext uri="{FF2B5EF4-FFF2-40B4-BE49-F238E27FC236}">
                <a16:creationId xmlns:a16="http://schemas.microsoft.com/office/drawing/2014/main" id="{B0AEEA4F-89D8-43CE-A261-DAB771EE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345" y="5052060"/>
            <a:ext cx="3198700" cy="754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模型可用性与异常处理</a:t>
            </a:r>
          </a:p>
        </p:txBody>
      </p:sp>
      <p:sp>
        <p:nvSpPr>
          <p:cNvPr id="46" name="文字-46-填写输出质量保障目标">
            <a:extLst xmlns:a="http://schemas.openxmlformats.org/drawingml/2006/main">
              <a:ext uri="{FF2B5EF4-FFF2-40B4-BE49-F238E27FC236}">
                <a16:creationId xmlns:a16="http://schemas.microsoft.com/office/drawing/2014/main" id="{5E1673E9-9183-4809-AEB0-44BFBF73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164" y="6248400"/>
            <a:ext cx="4143077" cy="403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输出质量与可靠性保障</a:t>
            </a:r>
          </a:p>
        </p:txBody>
      </p:sp>
      <p:sp>
        <p:nvSpPr>
          <p:cNvPr id="47" name="连线-47">
            <a:extLst xmlns:a="http://schemas.openxmlformats.org/drawingml/2006/main">
              <a:ext uri="{FF2B5EF4-FFF2-40B4-BE49-F238E27FC236}">
                <a16:creationId xmlns:a16="http://schemas.microsoft.com/office/drawing/2014/main" id="{DFCDC786-2C7D-4BAC-88CB-88334CF5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64509" y="830580"/>
            <a:ext cx="729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78321F"/>
            </a:solidFill>
            <a:prstDash val="dash"/>
          </a:ln>
        </p:spPr>
      </p:sp>
      <p:sp>
        <p:nvSpPr>
          <p:cNvPr id="48" name="连线-48">
            <a:extLst xmlns:a="http://schemas.openxmlformats.org/drawingml/2006/main">
              <a:ext uri="{FF2B5EF4-FFF2-40B4-BE49-F238E27FC236}">
                <a16:creationId xmlns:a16="http://schemas.microsoft.com/office/drawing/2014/main" id="{EA2E6330-B1DD-434A-ADFE-6507F8C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64509" y="830580"/>
            <a:ext cx="2383793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78321F"/>
            </a:solidFill>
            <a:prstDash val="dash"/>
          </a:ln>
        </p:spPr>
      </p:sp>
      <p:sp>
        <p:nvSpPr>
          <p:cNvPr id="49" name="结构-49">
            <a:extLst xmlns:a="http://schemas.openxmlformats.org/drawingml/2006/main">
              <a:ext uri="{FF2B5EF4-FFF2-40B4-BE49-F238E27FC236}">
                <a16:creationId xmlns:a16="http://schemas.microsoft.com/office/drawing/2014/main" id="{560AE0F0-4B3D-45D8-8ACA-BCCB0C1B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678" y="784860"/>
            <a:ext cx="106624" cy="91440"/>
          </a:xfrm>
          <a:custGeom xmlns:a="http://schemas.openxmlformats.org/drawingml/2006/main">
            <a:pathLst>
              <a:path w="139351" h="119507">
                <a:moveTo>
                  <a:pt x="139351" y="59754"/>
                </a:moveTo>
                <a:lnTo>
                  <a:pt x="0" y="0"/>
                </a:lnTo>
                <a:lnTo>
                  <a:pt x="0" y="119507"/>
                </a:lnTo>
                <a:close/>
              </a:path>
            </a:pathLst>
          </a:cu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</a:ln>
        </p:spPr>
      </p:sp>
      <p:sp>
        <p:nvSpPr>
          <p:cNvPr id="50" name="连线-50">
            <a:extLst xmlns:a="http://schemas.openxmlformats.org/drawingml/2006/main">
              <a:ext uri="{FF2B5EF4-FFF2-40B4-BE49-F238E27FC236}">
                <a16:creationId xmlns:a16="http://schemas.microsoft.com/office/drawing/2014/main" id="{076A7873-0865-4545-A91E-6C185EF5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5155" y="830580"/>
            <a:ext cx="2490416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78321F"/>
            </a:solidFill>
            <a:prstDash val="dash"/>
          </a:ln>
        </p:spPr>
      </p:sp>
      <p:sp>
        <p:nvSpPr>
          <p:cNvPr id="51" name="连线-51">
            <a:extLst xmlns:a="http://schemas.openxmlformats.org/drawingml/2006/main">
              <a:ext uri="{FF2B5EF4-FFF2-40B4-BE49-F238E27FC236}">
                <a16:creationId xmlns:a16="http://schemas.microsoft.com/office/drawing/2014/main" id="{A27817DA-AFAE-4694-A084-ACD6FF5B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5571" y="830580"/>
            <a:ext cx="729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78321F"/>
            </a:solidFill>
            <a:prstDash val="dash"/>
          </a:ln>
        </p:spPr>
      </p:sp>
      <p:sp>
        <p:nvSpPr>
          <p:cNvPr id="52" name="结构-52">
            <a:extLst xmlns:a="http://schemas.openxmlformats.org/drawingml/2006/main">
              <a:ext uri="{FF2B5EF4-FFF2-40B4-BE49-F238E27FC236}">
                <a16:creationId xmlns:a16="http://schemas.microsoft.com/office/drawing/2014/main" id="{5A5EB964-B4D9-4159-88D1-C67F906B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9875" y="90678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</a:ln>
        </p:spPr>
      </p:sp>
      <p:sp>
        <p:nvSpPr>
          <p:cNvPr id="53" name="文字-53-说明适配条件">
            <a:extLst xmlns:a="http://schemas.openxmlformats.org/drawingml/2006/main">
              <a:ext uri="{FF2B5EF4-FFF2-40B4-BE49-F238E27FC236}">
                <a16:creationId xmlns:a16="http://schemas.microsoft.com/office/drawing/2014/main" id="{43BBC942-EDF3-44D2-BF0F-9B4FC8E0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133" y="3246120"/>
            <a:ext cx="1279480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DAAA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适配条件</a:t>
            </a:r>
          </a:p>
        </p:txBody>
      </p:sp>
      <p:sp>
        <p:nvSpPr>
          <p:cNvPr id="54" name="文字-54-说明集成方式">
            <a:extLst xmlns:a="http://schemas.openxmlformats.org/drawingml/2006/main">
              <a:ext uri="{FF2B5EF4-FFF2-40B4-BE49-F238E27FC236}">
                <a16:creationId xmlns:a16="http://schemas.microsoft.com/office/drawing/2014/main" id="{0A03E40C-AC40-4037-83C6-B7D2436F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234" y="3246120"/>
            <a:ext cx="1271864" cy="441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DAAA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集成方式</a:t>
            </a:r>
          </a:p>
        </p:txBody>
      </p:sp>
    </p:spTree>
    <p:extLst>
      <p:ext uri="{BB962C8B-B14F-4D97-AF65-F5344CB8AC3E}">
        <p14:creationId xmlns:p14="http://schemas.microsoft.com/office/powerpoint/2010/main" val="120203445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结构-1">
            <a:extLst xmlns:a="http://schemas.openxmlformats.org/drawingml/2006/main">
              <a:ext uri="{FF2B5EF4-FFF2-40B4-BE49-F238E27FC236}">
                <a16:creationId xmlns:a16="http://schemas.microsoft.com/office/drawing/2014/main" id="{8FFFF53E-3965-467A-BBE6-EDD43961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DC1EEF3A-ED24-414D-9D03-FADE5809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0FCB38D6-C3D3-4DDC-9153-402CA604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C2A0443D-AD1A-43A8-A0FA-CE6E39DF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填写案例对象、主要作业过">
            <a:extLst xmlns:a="http://schemas.openxmlformats.org/drawingml/2006/main">
              <a:ext uri="{FF2B5EF4-FFF2-40B4-BE49-F238E27FC236}">
                <a16:creationId xmlns:a16="http://schemas.microsoft.com/office/drawing/2014/main" id="{941CC78C-25B7-4991-8DA7-CE0C1426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填写案例对象、主要作业过程与实验范围，说明案例为什么适合验证该方法</a:t>
            </a:r>
          </a:p>
        </p:txBody>
      </p:sp>
      <p:sp>
        <p:nvSpPr>
          <p:cNvPr id="6" name="文字-6-场景规模：填写站位、设备">
            <a:extLst xmlns:a="http://schemas.openxmlformats.org/drawingml/2006/main">
              <a:ext uri="{FF2B5EF4-FFF2-40B4-BE49-F238E27FC236}">
                <a16:creationId xmlns:a16="http://schemas.microsoft.com/office/drawing/2014/main" id="{22ACD5BA-3683-4A4A-BE36-F6C61915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811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场景规模：填写站位、设备、任务或样本数量</a:t>
            </a:r>
          </a:p>
        </p:txBody>
      </p:sp>
      <p:sp>
        <p:nvSpPr>
          <p:cNvPr id="7" name="结构-7">
            <a:extLst xmlns:a="http://schemas.openxmlformats.org/drawingml/2006/main">
              <a:ext uri="{FF2B5EF4-FFF2-40B4-BE49-F238E27FC236}">
                <a16:creationId xmlns:a16="http://schemas.microsoft.com/office/drawing/2014/main" id="{D05E422D-AF31-4113-B7EC-B92C5963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47900"/>
            <a:ext cx="2657475" cy="371475"/>
          </a:xfrm>
          <a:custGeom xmlns:a="http://schemas.openxmlformats.org/drawingml/2006/main">
            <a:pathLst>
              <a:path w="2657475" h="371475">
                <a:moveTo>
                  <a:pt x="0" y="0"/>
                </a:moveTo>
                <a:lnTo>
                  <a:pt x="2486025" y="0"/>
                </a:lnTo>
                <a:lnTo>
                  <a:pt x="2657475" y="185738"/>
                </a:lnTo>
                <a:lnTo>
                  <a:pt x="2486025" y="371475"/>
                </a:lnTo>
                <a:lnTo>
                  <a:pt x="0" y="371475"/>
                </a:lnTo>
                <a:close/>
              </a:path>
            </a:pathLst>
          </a:cu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</a:ln>
        </p:spPr>
      </p:sp>
      <p:sp>
        <p:nvSpPr>
          <p:cNvPr id="8" name="文字-8-研究阶段1">
            <a:extLst xmlns:a="http://schemas.openxmlformats.org/drawingml/2006/main">
              <a:ext uri="{FF2B5EF4-FFF2-40B4-BE49-F238E27FC236}">
                <a16:creationId xmlns:a16="http://schemas.microsoft.com/office/drawing/2014/main" id="{29B0B387-5A6A-455D-B8A4-4E4CBFCD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4790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研究阶段1</a:t>
            </a:r>
          </a:p>
        </p:txBody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224F3A35-FC00-44F8-9A24-A6C0BE68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47900"/>
            <a:ext cx="2657475" cy="371475"/>
          </a:xfrm>
          <a:custGeom xmlns:a="http://schemas.openxmlformats.org/drawingml/2006/main">
            <a:pathLst>
              <a:path w="2657475" h="371475">
                <a:moveTo>
                  <a:pt x="0" y="0"/>
                </a:moveTo>
                <a:lnTo>
                  <a:pt x="2486025" y="0"/>
                </a:lnTo>
                <a:lnTo>
                  <a:pt x="2657475" y="185738"/>
                </a:lnTo>
                <a:lnTo>
                  <a:pt x="2486025" y="371475"/>
                </a:lnTo>
                <a:lnTo>
                  <a:pt x="0" y="371475"/>
                </a:lnTo>
                <a:close/>
              </a:path>
            </a:pathLst>
          </a:cu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</a:ln>
        </p:spPr>
      </p:sp>
      <p:sp>
        <p:nvSpPr>
          <p:cNvPr id="10" name="文字-10-研究阶段2">
            <a:extLst xmlns:a="http://schemas.openxmlformats.org/drawingml/2006/main">
              <a:ext uri="{FF2B5EF4-FFF2-40B4-BE49-F238E27FC236}">
                <a16:creationId xmlns:a16="http://schemas.microsoft.com/office/drawing/2014/main" id="{ADFF9CBB-574B-48CF-AAA6-49624124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4790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研究阶段2</a:t>
            </a:r>
          </a:p>
        </p:txBody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E7E55F95-E2FD-41FD-8091-91A4A590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47900"/>
            <a:ext cx="2657475" cy="371475"/>
          </a:xfrm>
          <a:custGeom xmlns:a="http://schemas.openxmlformats.org/drawingml/2006/main">
            <a:pathLst>
              <a:path w="2657475" h="371475">
                <a:moveTo>
                  <a:pt x="0" y="0"/>
                </a:moveTo>
                <a:lnTo>
                  <a:pt x="2486025" y="0"/>
                </a:lnTo>
                <a:lnTo>
                  <a:pt x="2657475" y="185738"/>
                </a:lnTo>
                <a:lnTo>
                  <a:pt x="2486025" y="371475"/>
                </a:lnTo>
                <a:lnTo>
                  <a:pt x="0" y="371475"/>
                </a:lnTo>
                <a:close/>
              </a:path>
            </a:pathLst>
          </a:cu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</a:ln>
        </p:spPr>
      </p:sp>
      <p:sp>
        <p:nvSpPr>
          <p:cNvPr id="12" name="文字-12-研究阶段3">
            <a:extLst xmlns:a="http://schemas.openxmlformats.org/drawingml/2006/main">
              <a:ext uri="{FF2B5EF4-FFF2-40B4-BE49-F238E27FC236}">
                <a16:creationId xmlns:a16="http://schemas.microsoft.com/office/drawing/2014/main" id="{0B38277E-6296-4998-8777-B19036E0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2428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研究阶段3</a:t>
            </a:r>
          </a:p>
        </p:txBody>
      </p:sp>
      <p:sp>
        <p:nvSpPr>
          <p:cNvPr id="13" name="图片区-13">
            <a:extLst xmlns:a="http://schemas.openxmlformats.org/drawingml/2006/main">
              <a:ext uri="{FF2B5EF4-FFF2-40B4-BE49-F238E27FC236}">
                <a16:creationId xmlns:a16="http://schemas.microsoft.com/office/drawing/2014/main" id="{BE1FA0F4-E3C1-4380-B0DD-5D022615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52725"/>
            <a:ext cx="795337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4" name="结构-14">
            <a:extLst xmlns:a="http://schemas.openxmlformats.org/drawingml/2006/main">
              <a:ext uri="{FF2B5EF4-FFF2-40B4-BE49-F238E27FC236}">
                <a16:creationId xmlns:a16="http://schemas.microsoft.com/office/drawing/2014/main" id="{7B6F1AE2-127C-4EEB-A034-E85D9C6E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981325"/>
            <a:ext cx="2581275" cy="2571750"/>
          </a:xfrm>
          <a:prstGeom xmlns:a="http://schemas.openxmlformats.org/drawingml/2006/main" prst="roundRect">
            <a:avLst>
              <a:gd name="adj" fmla="val 29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73F88"/>
            </a:solidFill>
            <a:prstDash val="dash"/>
          </a:ln>
        </p:spPr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818468D0-3182-4500-A884-694425D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4733925" cy="2571750"/>
          </a:xfrm>
          <a:prstGeom xmlns:a="http://schemas.openxmlformats.org/drawingml/2006/main" prst="roundRect">
            <a:avLst>
              <a:gd name="adj" fmla="val 29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90D12"/>
            </a:solidFill>
            <a:prstDash val="dash"/>
          </a:ln>
        </p:spPr>
      </p:sp>
      <p:sp>
        <p:nvSpPr>
          <p:cNvPr id="16" name="文字-16-子场景一">
            <a:extLst xmlns:a="http://schemas.openxmlformats.org/drawingml/2006/main">
              <a:ext uri="{FF2B5EF4-FFF2-40B4-BE49-F238E27FC236}">
                <a16:creationId xmlns:a16="http://schemas.microsoft.com/office/drawing/2014/main" id="{2B62934A-4583-4DCB-B9A1-F7A83CDF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1240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子场景一</a:t>
            </a:r>
          </a:p>
        </p:txBody>
      </p:sp>
      <p:sp>
        <p:nvSpPr>
          <p:cNvPr id="17" name="文字-17-子场景二">
            <a:extLst xmlns:a="http://schemas.openxmlformats.org/drawingml/2006/main">
              <a:ext uri="{FF2B5EF4-FFF2-40B4-BE49-F238E27FC236}">
                <a16:creationId xmlns:a16="http://schemas.microsoft.com/office/drawing/2014/main" id="{9D387743-B9A6-45EE-A94B-E1A448CB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067050"/>
            <a:ext cx="4257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子场景二</a:t>
            </a:r>
          </a:p>
        </p:txBody>
      </p:sp>
      <p:sp>
        <p:nvSpPr>
          <p:cNvPr id="18" name="结构-18">
            <a:extLst xmlns:a="http://schemas.openxmlformats.org/drawingml/2006/main">
              <a:ext uri="{FF2B5EF4-FFF2-40B4-BE49-F238E27FC236}">
                <a16:creationId xmlns:a16="http://schemas.microsoft.com/office/drawing/2014/main" id="{808AD154-2FE0-4CD5-B8B7-33BD0097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53125"/>
            <a:ext cx="2657475" cy="361950"/>
          </a:xfrm>
          <a:custGeom xmlns:a="http://schemas.openxmlformats.org/drawingml/2006/main">
            <a:pathLst>
              <a:path w="2657475" h="361950">
                <a:moveTo>
                  <a:pt x="0" y="0"/>
                </a:moveTo>
                <a:lnTo>
                  <a:pt x="2486025" y="0"/>
                </a:lnTo>
                <a:lnTo>
                  <a:pt x="2657475" y="180975"/>
                </a:lnTo>
                <a:lnTo>
                  <a:pt x="2486025" y="361950"/>
                </a:lnTo>
                <a:lnTo>
                  <a:pt x="0" y="361950"/>
                </a:lnTo>
                <a:close/>
              </a:path>
            </a:pathLst>
          </a:cu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</a:ln>
        </p:spPr>
      </p:sp>
      <p:sp>
        <p:nvSpPr>
          <p:cNvPr id="19" name="文字-19-对应步骤1">
            <a:extLst xmlns:a="http://schemas.openxmlformats.org/drawingml/2006/main">
              <a:ext uri="{FF2B5EF4-FFF2-40B4-BE49-F238E27FC236}">
                <a16:creationId xmlns:a16="http://schemas.microsoft.com/office/drawing/2014/main" id="{C2ED8261-34D9-4761-8C3D-DF65B534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5312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对应步骤1</a:t>
            </a:r>
          </a:p>
        </p:txBody>
      </p:sp>
      <p:sp>
        <p:nvSpPr>
          <p:cNvPr id="20" name="图片区-20">
            <a:extLst xmlns:a="http://schemas.openxmlformats.org/drawingml/2006/main">
              <a:ext uri="{FF2B5EF4-FFF2-40B4-BE49-F238E27FC236}">
                <a16:creationId xmlns:a16="http://schemas.microsoft.com/office/drawing/2014/main" id="{25D93A85-4593-470E-9B87-967190D6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86000"/>
            <a:ext cx="1495425" cy="1133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1" name="文字-21-多设备协作">
            <a:extLst xmlns:a="http://schemas.openxmlformats.org/drawingml/2006/main">
              <a:ext uri="{FF2B5EF4-FFF2-40B4-BE49-F238E27FC236}">
                <a16:creationId xmlns:a16="http://schemas.microsoft.com/office/drawing/2014/main" id="{5152B172-4991-4745-83FD-50DEA19B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590800"/>
            <a:ext cx="1685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多设备协作</a:t>
            </a:r>
          </a:p>
        </p:txBody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1218D942-5FD4-4352-92E6-046AF0ED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953125"/>
            <a:ext cx="2657475" cy="361950"/>
          </a:xfrm>
          <a:custGeom xmlns:a="http://schemas.openxmlformats.org/drawingml/2006/main">
            <a:pathLst>
              <a:path w="2657475" h="361950">
                <a:moveTo>
                  <a:pt x="0" y="0"/>
                </a:moveTo>
                <a:lnTo>
                  <a:pt x="2486025" y="0"/>
                </a:lnTo>
                <a:lnTo>
                  <a:pt x="2657475" y="180975"/>
                </a:lnTo>
                <a:lnTo>
                  <a:pt x="2486025" y="361950"/>
                </a:lnTo>
                <a:lnTo>
                  <a:pt x="0" y="361950"/>
                </a:lnTo>
                <a:close/>
              </a:path>
            </a:pathLst>
          </a:cu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</a:ln>
        </p:spPr>
      </p:sp>
      <p:sp>
        <p:nvSpPr>
          <p:cNvPr id="23" name="文字-23-对应步骤2">
            <a:extLst xmlns:a="http://schemas.openxmlformats.org/drawingml/2006/main">
              <a:ext uri="{FF2B5EF4-FFF2-40B4-BE49-F238E27FC236}">
                <a16:creationId xmlns:a16="http://schemas.microsoft.com/office/drawing/2014/main" id="{16DA2F93-617C-4E6F-AD6A-B19FFE4E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95312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对应步骤2</a:t>
            </a:r>
          </a:p>
        </p:txBody>
      </p:sp>
      <p:sp>
        <p:nvSpPr>
          <p:cNvPr id="24" name="图片区-24">
            <a:extLst xmlns:a="http://schemas.openxmlformats.org/drawingml/2006/main">
              <a:ext uri="{FF2B5EF4-FFF2-40B4-BE49-F238E27FC236}">
                <a16:creationId xmlns:a16="http://schemas.microsoft.com/office/drawing/2014/main" id="{E4B3C8E7-1C68-4BD2-88E5-66E53E53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38550"/>
            <a:ext cx="1495425" cy="1133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5" name="文字-25-人机协作">
            <a:extLst xmlns:a="http://schemas.openxmlformats.org/drawingml/2006/main">
              <a:ext uri="{FF2B5EF4-FFF2-40B4-BE49-F238E27FC236}">
                <a16:creationId xmlns:a16="http://schemas.microsoft.com/office/drawing/2014/main" id="{0B230318-6078-44A9-BAE8-61EC8D1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943350"/>
            <a:ext cx="1685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人机协作</a:t>
            </a:r>
          </a:p>
        </p:txBody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79F0E9E4-4871-4ED7-A374-A4AF5D11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953125"/>
            <a:ext cx="2657475" cy="361950"/>
          </a:xfrm>
          <a:custGeom xmlns:a="http://schemas.openxmlformats.org/drawingml/2006/main">
            <a:pathLst>
              <a:path w="2657475" h="361950">
                <a:moveTo>
                  <a:pt x="0" y="0"/>
                </a:moveTo>
                <a:lnTo>
                  <a:pt x="2486025" y="0"/>
                </a:lnTo>
                <a:lnTo>
                  <a:pt x="2657475" y="180975"/>
                </a:lnTo>
                <a:lnTo>
                  <a:pt x="2486025" y="361950"/>
                </a:lnTo>
                <a:lnTo>
                  <a:pt x="0" y="361950"/>
                </a:lnTo>
                <a:close/>
              </a:path>
            </a:pathLst>
          </a:cu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</a:ln>
        </p:spPr>
      </p:sp>
      <p:sp>
        <p:nvSpPr>
          <p:cNvPr id="27" name="文字-27-对应步骤3">
            <a:extLst xmlns:a="http://schemas.openxmlformats.org/drawingml/2006/main">
              <a:ext uri="{FF2B5EF4-FFF2-40B4-BE49-F238E27FC236}">
                <a16:creationId xmlns:a16="http://schemas.microsoft.com/office/drawing/2014/main" id="{39053CA5-E4DB-435A-8C84-B12CDFE2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5312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对应步骤3</a:t>
            </a:r>
          </a:p>
        </p:txBody>
      </p:sp>
      <p:sp>
        <p:nvSpPr>
          <p:cNvPr id="28" name="图片区-28">
            <a:extLst xmlns:a="http://schemas.openxmlformats.org/drawingml/2006/main">
              <a:ext uri="{FF2B5EF4-FFF2-40B4-BE49-F238E27FC236}">
                <a16:creationId xmlns:a16="http://schemas.microsoft.com/office/drawing/2014/main" id="{189BB254-9374-43BB-8E90-0B0D840D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991100"/>
            <a:ext cx="1495425" cy="1133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9" name="文字-29-任务耦合">
            <a:extLst xmlns:a="http://schemas.openxmlformats.org/drawingml/2006/main">
              <a:ext uri="{FF2B5EF4-FFF2-40B4-BE49-F238E27FC236}">
                <a16:creationId xmlns:a16="http://schemas.microsoft.com/office/drawing/2014/main" id="{41CE471E-5E8B-4CC3-A282-5CF7DB2A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295900"/>
            <a:ext cx="1685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任务耦合</a:t>
            </a:r>
          </a:p>
        </p:txBody>
      </p:sp>
      <p:sp>
        <p:nvSpPr>
          <p:cNvPr id="30" name="文字-30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A87947AB-0BD1-4BCC-BDD6-BD42AAA6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77655973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结构-1">
            <a:extLst xmlns:a="http://schemas.openxmlformats.org/drawingml/2006/main">
              <a:ext uri="{FF2B5EF4-FFF2-40B4-BE49-F238E27FC236}">
                <a16:creationId xmlns:a16="http://schemas.microsoft.com/office/drawing/2014/main" id="{46FB6BAE-E070-41E1-85F7-060ADD4E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C5917496-8B44-4F19-9BE4-921EB563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EF07F480-C0EE-4897-8A0A-0F78FA36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02DF95E3-48D5-43DB-9F81-0D2C82F6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填写构建的模型规模与主要">
            <a:extLst xmlns:a="http://schemas.openxmlformats.org/drawingml/2006/main">
              <a:ext uri="{FF2B5EF4-FFF2-40B4-BE49-F238E27FC236}">
                <a16:creationId xmlns:a16="http://schemas.microsoft.com/office/drawing/2014/main" id="{61523004-EF01-409B-8225-1AEE00D0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填写构建的模型规模与主要组成，说明整体关系及局部结构的观察重点</a:t>
            </a:r>
          </a:p>
        </p:txBody>
      </p:sp>
      <p:sp>
        <p:nvSpPr>
          <p:cNvPr id="6" name="图片区-6">
            <a:extLst xmlns:a="http://schemas.openxmlformats.org/drawingml/2006/main">
              <a:ext uri="{FF2B5EF4-FFF2-40B4-BE49-F238E27FC236}">
                <a16:creationId xmlns:a16="http://schemas.microsoft.com/office/drawing/2014/main" id="{CCD8A3C9-A093-4430-9FDB-DCBDF04E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6638925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7" name="图片区-7">
            <a:extLst xmlns:a="http://schemas.openxmlformats.org/drawingml/2006/main">
              <a:ext uri="{FF2B5EF4-FFF2-40B4-BE49-F238E27FC236}">
                <a16:creationId xmlns:a16="http://schemas.microsoft.com/office/drawing/2014/main" id="{30A91A34-9A19-4A51-9CD1-79D12A5E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36385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8" name="文字-8-节点数量：填写关系数量：">
            <a:extLst xmlns:a="http://schemas.openxmlformats.org/drawingml/2006/main">
              <a:ext uri="{FF2B5EF4-FFF2-40B4-BE49-F238E27FC236}">
                <a16:creationId xmlns:a16="http://schemas.microsoft.com/office/drawing/2014/main" id="{B98F9D6D-64A1-4F7A-BA88-894B026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38375"/>
            <a:ext cx="2486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节点数量：填写</a:t>
            </a:r>
          </a:p>
          <a:p xmlns:a="http://schemas.openxmlformats.org/drawingml/2006/main">
            <a:pPr algn="ctr">
              <a:def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关系数量：填写</a:t>
            </a:r>
          </a:p>
        </p:txBody>
      </p:sp>
      <p:sp>
        <p:nvSpPr>
          <p:cNvPr id="9" name="文字-9-局部结构或典型关系">
            <a:extLst xmlns:a="http://schemas.openxmlformats.org/drawingml/2006/main">
              <a:ext uri="{FF2B5EF4-FFF2-40B4-BE49-F238E27FC236}">
                <a16:creationId xmlns:a16="http://schemas.microsoft.com/office/drawing/2014/main" id="{FD4F3E18-61B4-4D83-83B1-3D1F6466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43200"/>
            <a:ext cx="3924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局部结构或典型关系</a:t>
            </a:r>
          </a:p>
        </p:txBody>
      </p:sp>
      <p:sp>
        <p:nvSpPr>
          <p:cNvPr id="10" name="文字-10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F4483A2B-5139-4B80-B4F6-884CF228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111140050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结构-1">
            <a:extLst xmlns:a="http://schemas.openxmlformats.org/drawingml/2006/main">
              <a:ext uri="{FF2B5EF4-FFF2-40B4-BE49-F238E27FC236}">
                <a16:creationId xmlns:a16="http://schemas.microsoft.com/office/drawing/2014/main" id="{EFCC7253-6A28-437A-A82A-0412CD79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二：知识约束与增">
            <a:extLst xmlns:a="http://schemas.openxmlformats.org/drawingml/2006/main">
              <a:ext uri="{FF2B5EF4-FFF2-40B4-BE49-F238E27FC236}">
                <a16:creationId xmlns:a16="http://schemas.microsoft.com/office/drawing/2014/main" id="{2986EBBC-2BA2-4FEC-BA9C-EF558A3E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研究进展二：知识约束与增强推理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90437230-CEC0-4768-94B3-3385EE3C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C1A5D200-B8E3-4550-B291-77C742EA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案例设计：说明数据来源、">
            <a:extLst xmlns:a="http://schemas.openxmlformats.org/drawingml/2006/main">
              <a:ext uri="{FF2B5EF4-FFF2-40B4-BE49-F238E27FC236}">
                <a16:creationId xmlns:a16="http://schemas.microsoft.com/office/drawing/2014/main" id="{CB2A88F9-E57B-4AF3-8E70-9A4180C0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案例设计：说明数据来源、预处理方法与测试样本的构建原则</a:t>
            </a:r>
          </a:p>
        </p:txBody>
      </p:sp>
      <p:sp>
        <p:nvSpPr>
          <p:cNvPr id="6" name="文字-6-补充样本清洗、质量校验与">
            <a:extLst xmlns:a="http://schemas.openxmlformats.org/drawingml/2006/main">
              <a:ext uri="{FF2B5EF4-FFF2-40B4-BE49-F238E27FC236}">
                <a16:creationId xmlns:a16="http://schemas.microsoft.com/office/drawing/2014/main" id="{2EDFFA74-6A35-45FC-8A74-CF42D0C3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38300"/>
            <a:ext cx="1148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补充样本清洗、质量校验与难度划分方式</a:t>
            </a:r>
          </a:p>
        </p:txBody>
      </p:sp>
      <p:sp>
        <p:nvSpPr>
          <p:cNvPr id="7" name="文字-7-原始研究材料">
            <a:extLst xmlns:a="http://schemas.openxmlformats.org/drawingml/2006/main">
              <a:ext uri="{FF2B5EF4-FFF2-40B4-BE49-F238E27FC236}">
                <a16:creationId xmlns:a16="http://schemas.microsoft.com/office/drawing/2014/main" id="{70E1F41C-5231-4648-97CB-7B15DB8F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590800"/>
            <a:ext cx="3152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原始研究材料</a:t>
            </a:r>
          </a:p>
        </p:txBody>
      </p:sp>
      <p:sp>
        <p:nvSpPr>
          <p:cNvPr id="8" name="图片区-8">
            <a:extLst xmlns:a="http://schemas.openxmlformats.org/drawingml/2006/main">
              <a:ext uri="{FF2B5EF4-FFF2-40B4-BE49-F238E27FC236}">
                <a16:creationId xmlns:a16="http://schemas.microsoft.com/office/drawing/2014/main" id="{0652586C-24FE-4970-A69F-A8C92137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28975"/>
            <a:ext cx="28765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连线-9">
            <a:extLst xmlns:a="http://schemas.openxmlformats.org/drawingml/2006/main">
              <a:ext uri="{FF2B5EF4-FFF2-40B4-BE49-F238E27FC236}">
                <a16:creationId xmlns:a16="http://schemas.microsoft.com/office/drawing/2014/main" id="{F3BF352B-8088-4962-BE7C-F58899FF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1850" y="4391025"/>
            <a:ext cx="895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73F88"/>
            </a:solidFill>
            <a:prstDash val="solid"/>
          </a:ln>
        </p:spPr>
      </p:sp>
      <p:sp>
        <p:nvSpPr>
          <p:cNvPr id="10" name="结构-10">
            <a:extLst xmlns:a="http://schemas.openxmlformats.org/drawingml/2006/main">
              <a:ext uri="{FF2B5EF4-FFF2-40B4-BE49-F238E27FC236}">
                <a16:creationId xmlns:a16="http://schemas.microsoft.com/office/drawing/2014/main" id="{9FC4FB1E-608B-439E-95B5-E670303E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24350"/>
            <a:ext cx="152400" cy="133350"/>
          </a:xfrm>
          <a:custGeom xmlns:a="http://schemas.openxmlformats.org/drawingml/2006/main">
            <a:pathLst>
              <a:path w="152400" h="133350">
                <a:moveTo>
                  <a:pt x="152400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476750" y="2257425"/>
          <a:ext xmlns:a="http://schemas.openxmlformats.org/drawingml/2006/main" cx="7391400" cy="4105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04925"/>
                <a:gridCol w="2076450"/>
                <a:gridCol w="2133600"/>
                <a:gridCol w="1876425"/>
              </a:tblGrid>
              <a:tr h="1026319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难度等级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描述与数量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示例输入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标准输出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</a:tr>
              <a:tr h="1026319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简单任务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填写单项条件</a:t>
                      </a:r>
                    </a:p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样本数：待填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填写典型问题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填写正确结果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6319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组合任务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填写跨对象条件</a:t>
                      </a:r>
                    </a:p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样本数：待填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填写典型问题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填写正确结果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1026319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填写多步骤约束</a:t>
                      </a:r>
                    </a:p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样本数：待填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填写典型问题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填写正确结果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330505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结构-1">
            <a:extLst xmlns:a="http://schemas.openxmlformats.org/drawingml/2006/main">
              <a:ext uri="{FF2B5EF4-FFF2-40B4-BE49-F238E27FC236}">
                <a16:creationId xmlns:a16="http://schemas.microsoft.com/office/drawing/2014/main" id="{63787C96-D07F-4598-8C05-3A0242CF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二：知识约束与增">
            <a:extLst xmlns:a="http://schemas.openxmlformats.org/drawingml/2006/main">
              <a:ext uri="{FF2B5EF4-FFF2-40B4-BE49-F238E27FC236}">
                <a16:creationId xmlns:a16="http://schemas.microsoft.com/office/drawing/2014/main" id="{24F91672-558E-4782-85E7-4A5C4994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研究进展二：知识约束与增强推理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D40AAB21-20A0-4122-9AE4-56C322E6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42159CCA-D683-4E4F-8367-01F1644A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案例设计：填写模型构建对">
            <a:extLst xmlns:a="http://schemas.openxmlformats.org/drawingml/2006/main">
              <a:ext uri="{FF2B5EF4-FFF2-40B4-BE49-F238E27FC236}">
                <a16:creationId xmlns:a16="http://schemas.microsoft.com/office/drawing/2014/main" id="{2A87D995-1F06-4EB8-B5E9-6C810AF0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案例设计：填写模型构建对象与范围</a:t>
            </a:r>
          </a:p>
        </p:txBody>
      </p:sp>
      <p:sp>
        <p:nvSpPr>
          <p:cNvPr id="6" name="文字-6-填写主要组成数量、关系数">
            <a:extLst xmlns:a="http://schemas.openxmlformats.org/drawingml/2006/main">
              <a:ext uri="{FF2B5EF4-FFF2-40B4-BE49-F238E27FC236}">
                <a16:creationId xmlns:a16="http://schemas.microsoft.com/office/drawing/2014/main" id="{6CB81547-5215-4F7A-A5CF-FB714F0D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47850"/>
            <a:ext cx="1143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填写主要组成数量、关系数量与样本规模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19100" y="2447925"/>
          <a:ext xmlns:a="http://schemas.openxmlformats.org/drawingml/2006/main" cx="113538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2857500"/>
                <a:gridCol w="1571625"/>
                <a:gridCol w="4638675"/>
              </a:tblGrid>
              <a:tr h="44450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组成层次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示例或解释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</a:tr>
              <a:tr h="44450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实体与节点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填写该类型的实例或含义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类型2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填写该类型的实例或含义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44450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填写该类型的实例或含义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类型4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填写该类型的实例或含义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44450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填写该类型的实例或含义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类型6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填写该类型的实例或含义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44450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低阶关系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直接关联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填写直接关系示例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高阶关系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多对象约束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填写组合关系示例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8930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结构-1">
            <a:extLst xmlns:a="http://schemas.openxmlformats.org/drawingml/2006/main">
              <a:ext uri="{FF2B5EF4-FFF2-40B4-BE49-F238E27FC236}">
                <a16:creationId xmlns:a16="http://schemas.microsoft.com/office/drawing/2014/main" id="{C800E900-4A96-4C1E-8B7D-FE6DCA58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98CA1FFE-B03D-4815-A1C6-824E39CE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F8B68D35-A4C0-4518-B670-52C60A0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54234BA4-1B6F-4709-9850-937C048A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参数选择的评价依据，">
            <a:extLst xmlns:a="http://schemas.openxmlformats.org/drawingml/2006/main">
              <a:ext uri="{FF2B5EF4-FFF2-40B4-BE49-F238E27FC236}">
                <a16:creationId xmlns:a16="http://schemas.microsoft.com/office/drawing/2014/main" id="{DC45675F-A73F-4957-AEC3-6B51C4B8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说明参数选择的评价依据，并概括综合比较得到的选择结果</a:t>
            </a:r>
          </a:p>
        </p:txBody>
      </p:sp>
      <p:sp>
        <p:nvSpPr>
          <p:cNvPr id="6" name="图片区-6">
            <a:extLst xmlns:a="http://schemas.openxmlformats.org/drawingml/2006/main">
              <a:ext uri="{FF2B5EF4-FFF2-40B4-BE49-F238E27FC236}">
                <a16:creationId xmlns:a16="http://schemas.microsoft.com/office/drawing/2014/main" id="{6B2E331D-908D-4BA8-8EE2-8CFBED6A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57425"/>
            <a:ext cx="352425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7" name="文字-7-评价指标1">
            <a:extLst xmlns:a="http://schemas.openxmlformats.org/drawingml/2006/main">
              <a:ext uri="{FF2B5EF4-FFF2-40B4-BE49-F238E27FC236}">
                <a16:creationId xmlns:a16="http://schemas.microsoft.com/office/drawing/2014/main" id="{FA59E18F-753A-4AC0-A2E1-F25C9B70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781300"/>
            <a:ext cx="1676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评价指标1</a:t>
            </a:r>
          </a:p>
        </p:txBody>
      </p:sp>
      <p:sp>
        <p:nvSpPr>
          <p:cNvPr id="8" name="图片区-8">
            <a:extLst xmlns:a="http://schemas.openxmlformats.org/drawingml/2006/main">
              <a:ext uri="{FF2B5EF4-FFF2-40B4-BE49-F238E27FC236}">
                <a16:creationId xmlns:a16="http://schemas.microsoft.com/office/drawing/2014/main" id="{4E0837C0-F9D6-4CAD-9F28-87D7166E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57425"/>
            <a:ext cx="352425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文字-9-评价指标2">
            <a:extLst xmlns:a="http://schemas.openxmlformats.org/drawingml/2006/main">
              <a:ext uri="{FF2B5EF4-FFF2-40B4-BE49-F238E27FC236}">
                <a16:creationId xmlns:a16="http://schemas.microsoft.com/office/drawing/2014/main" id="{B12F031E-F537-4C33-AB00-75F91C17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81300"/>
            <a:ext cx="1676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评价指标2</a:t>
            </a:r>
          </a:p>
        </p:txBody>
      </p:sp>
      <p:sp>
        <p:nvSpPr>
          <p:cNvPr id="10" name="图片区-10">
            <a:extLst xmlns:a="http://schemas.openxmlformats.org/drawingml/2006/main">
              <a:ext uri="{FF2B5EF4-FFF2-40B4-BE49-F238E27FC236}">
                <a16:creationId xmlns:a16="http://schemas.microsoft.com/office/drawing/2014/main" id="{CA467642-489E-40FE-A6A5-A2A97D67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76725"/>
            <a:ext cx="352425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1" name="文字-11-评价指标3">
            <a:extLst xmlns:a="http://schemas.openxmlformats.org/drawingml/2006/main">
              <a:ext uri="{FF2B5EF4-FFF2-40B4-BE49-F238E27FC236}">
                <a16:creationId xmlns:a16="http://schemas.microsoft.com/office/drawing/2014/main" id="{9287FBEF-AA4F-475B-8C3E-D25B5A1D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800600"/>
            <a:ext cx="1676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评价指标3</a:t>
            </a:r>
          </a:p>
        </p:txBody>
      </p:sp>
      <p:sp>
        <p:nvSpPr>
          <p:cNvPr id="12" name="图片区-12">
            <a:extLst xmlns:a="http://schemas.openxmlformats.org/drawingml/2006/main">
              <a:ext uri="{FF2B5EF4-FFF2-40B4-BE49-F238E27FC236}">
                <a16:creationId xmlns:a16="http://schemas.microsoft.com/office/drawing/2014/main" id="{6258DD10-1DE1-4CFA-B149-F005D7FE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76725"/>
            <a:ext cx="352425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3" name="文字-13-评价指标4">
            <a:extLst xmlns:a="http://schemas.openxmlformats.org/drawingml/2006/main">
              <a:ext uri="{FF2B5EF4-FFF2-40B4-BE49-F238E27FC236}">
                <a16:creationId xmlns:a16="http://schemas.microsoft.com/office/drawing/2014/main" id="{6E9EDE5A-82F5-4E67-A5AE-35749618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00600"/>
            <a:ext cx="1676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评价指标4</a:t>
            </a:r>
          </a:p>
        </p:txBody>
      </p:sp>
    </p:spTree>
    <p:extLst>
      <p:ext uri="{BB962C8B-B14F-4D97-AF65-F5344CB8AC3E}">
        <p14:creationId xmlns:p14="http://schemas.microsoft.com/office/powerpoint/2010/main" val="40066800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结构-1">
            <a:extLst xmlns:a="http://schemas.openxmlformats.org/drawingml/2006/main">
              <a:ext uri="{FF2B5EF4-FFF2-40B4-BE49-F238E27FC236}">
                <a16:creationId xmlns:a16="http://schemas.microsoft.com/office/drawing/2014/main" id="{0CC17F99-C7BF-4647-B3DF-FE741CED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B7A14D14-3706-4E14-A69F-82330BBE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B2167260-AA18-4AA6-9081-EC2B971F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E6FD468B-716E-448B-8FA7-5F39A0EF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不同参数取值如何改变">
            <a:extLst xmlns:a="http://schemas.openxmlformats.org/drawingml/2006/main">
              <a:ext uri="{FF2B5EF4-FFF2-40B4-BE49-F238E27FC236}">
                <a16:creationId xmlns:a16="http://schemas.microsoft.com/office/drawing/2014/main" id="{72965B39-80B2-447A-B501-9A01510F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说明不同参数取值如何改变结果，并突出较合适取值的判定依据</a:t>
            </a:r>
          </a:p>
        </p:txBody>
      </p:sp>
      <p:sp>
        <p:nvSpPr>
          <p:cNvPr id="6" name="文字-6-关键结果或矩阵">
            <a:extLst xmlns:a="http://schemas.openxmlformats.org/drawingml/2006/main">
              <a:ext uri="{FF2B5EF4-FFF2-40B4-BE49-F238E27FC236}">
                <a16:creationId xmlns:a16="http://schemas.microsoft.com/office/drawing/2014/main" id="{89CEEB4E-C8A3-4EA1-9247-09838A86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248025"/>
            <a:ext cx="1428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关键结果</a:t>
            </a:r>
          </a:p>
          <a:p xmlns:a="http://schemas.openxmlformats.org/drawingml/2006/main">
            <a:pPr algn="ctr">
              <a:defRPr sz="18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或矩阵</a:t>
            </a:r>
          </a:p>
        </p:txBody>
      </p:sp>
      <p:sp>
        <p:nvSpPr>
          <p:cNvPr id="7" name="图片区-7">
            <a:extLst xmlns:a="http://schemas.openxmlformats.org/drawingml/2006/main">
              <a:ext uri="{FF2B5EF4-FFF2-40B4-BE49-F238E27FC236}">
                <a16:creationId xmlns:a16="http://schemas.microsoft.com/office/drawing/2014/main" id="{42950C57-83CF-4C11-B02D-97BF6DB7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343150"/>
            <a:ext cx="23431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8" name="文字-8-参数条件1">
            <a:extLst xmlns:a="http://schemas.openxmlformats.org/drawingml/2006/main">
              <a:ext uri="{FF2B5EF4-FFF2-40B4-BE49-F238E27FC236}">
                <a16:creationId xmlns:a16="http://schemas.microsoft.com/office/drawing/2014/main" id="{2750F5E2-E17B-44A3-A3F4-8F202299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838825"/>
            <a:ext cx="2343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参数条件1</a:t>
            </a:r>
          </a:p>
        </p:txBody>
      </p:sp>
      <p:sp>
        <p:nvSpPr>
          <p:cNvPr id="9" name="图片区-9">
            <a:extLst xmlns:a="http://schemas.openxmlformats.org/drawingml/2006/main">
              <a:ext uri="{FF2B5EF4-FFF2-40B4-BE49-F238E27FC236}">
                <a16:creationId xmlns:a16="http://schemas.microsoft.com/office/drawing/2014/main" id="{4874F139-CCFF-47F5-83BA-CFCF9871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23431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0" name="文字-10-参数条件2">
            <a:extLst xmlns:a="http://schemas.openxmlformats.org/drawingml/2006/main">
              <a:ext uri="{FF2B5EF4-FFF2-40B4-BE49-F238E27FC236}">
                <a16:creationId xmlns:a16="http://schemas.microsoft.com/office/drawing/2014/main" id="{0171D0C1-D488-41D2-9DBE-AA004F23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38825"/>
            <a:ext cx="2343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参数条件2</a:t>
            </a:r>
          </a:p>
        </p:txBody>
      </p:sp>
      <p:sp>
        <p:nvSpPr>
          <p:cNvPr id="11" name="图片区-11">
            <a:extLst xmlns:a="http://schemas.openxmlformats.org/drawingml/2006/main">
              <a:ext uri="{FF2B5EF4-FFF2-40B4-BE49-F238E27FC236}">
                <a16:creationId xmlns:a16="http://schemas.microsoft.com/office/drawing/2014/main" id="{785A5AC4-E30A-4C3F-B353-2E5128D1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343150"/>
            <a:ext cx="23431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2" name="文字-12-参数条件3">
            <a:extLst xmlns:a="http://schemas.openxmlformats.org/drawingml/2006/main">
              <a:ext uri="{FF2B5EF4-FFF2-40B4-BE49-F238E27FC236}">
                <a16:creationId xmlns:a16="http://schemas.microsoft.com/office/drawing/2014/main" id="{46D710D4-42F4-42BD-88D2-A970FE0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838825"/>
            <a:ext cx="2343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参数条件3</a:t>
            </a:r>
          </a:p>
        </p:txBody>
      </p:sp>
      <p:sp>
        <p:nvSpPr>
          <p:cNvPr id="13" name="图片区-13">
            <a:extLst xmlns:a="http://schemas.openxmlformats.org/drawingml/2006/main">
              <a:ext uri="{FF2B5EF4-FFF2-40B4-BE49-F238E27FC236}">
                <a16:creationId xmlns:a16="http://schemas.microsoft.com/office/drawing/2014/main" id="{F83D22FB-19DD-4E08-BBEB-40C57950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23431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4" name="文字-14-参数条件4">
            <a:extLst xmlns:a="http://schemas.openxmlformats.org/drawingml/2006/main">
              <a:ext uri="{FF2B5EF4-FFF2-40B4-BE49-F238E27FC236}">
                <a16:creationId xmlns:a16="http://schemas.microsoft.com/office/drawing/2014/main" id="{422E2702-68FE-4D55-9675-F4EA4351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838825"/>
            <a:ext cx="2343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参数条件4</a:t>
            </a:r>
          </a:p>
        </p:txBody>
      </p:sp>
      <p:sp>
        <p:nvSpPr>
          <p:cNvPr id="15" name="文字-15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06AF3202-DD66-40E7-AE03-EFBE273D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74986955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结构-1">
            <a:extLst xmlns:a="http://schemas.openxmlformats.org/drawingml/2006/main">
              <a:ext uri="{FF2B5EF4-FFF2-40B4-BE49-F238E27FC236}">
                <a16:creationId xmlns:a16="http://schemas.microsoft.com/office/drawing/2014/main" id="{A26DAA77-93BD-405A-9BC5-061CFF31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825A4119-75FB-4633-A39F-CCF8418B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392D6287-3037-494A-802E-71761001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2CA2E3D5-CE48-4FBD-8F70-776C4ACE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概括结果识别出的类别及其">
            <a:extLst xmlns:a="http://schemas.openxmlformats.org/drawingml/2006/main">
              <a:ext uri="{FF2B5EF4-FFF2-40B4-BE49-F238E27FC236}">
                <a16:creationId xmlns:a16="http://schemas.microsoft.com/office/drawing/2014/main" id="{01DE5EC7-801C-4622-90DD-41497B05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概括结果识别出的类别及其研究含义，建立图形结果与可解释名称之间的对应</a:t>
            </a:r>
          </a:p>
        </p:txBody>
      </p:sp>
      <p:sp>
        <p:nvSpPr>
          <p:cNvPr id="6" name="图片区-6">
            <a:extLst xmlns:a="http://schemas.openxmlformats.org/drawingml/2006/main">
              <a:ext uri="{FF2B5EF4-FFF2-40B4-BE49-F238E27FC236}">
                <a16:creationId xmlns:a16="http://schemas.microsoft.com/office/drawing/2014/main" id="{BE1B67BC-7CE7-4BBE-99EB-F4AD4B1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105025"/>
            <a:ext cx="3467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7" name="文字-7-结果维度1">
            <a:extLst xmlns:a="http://schemas.openxmlformats.org/drawingml/2006/main">
              <a:ext uri="{FF2B5EF4-FFF2-40B4-BE49-F238E27FC236}">
                <a16:creationId xmlns:a16="http://schemas.microsoft.com/office/drawing/2014/main" id="{F397E267-E387-4BC2-AFB3-2B2F4896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43350"/>
            <a:ext cx="3467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结果维度1</a:t>
            </a:r>
          </a:p>
        </p:txBody>
      </p:sp>
      <p:sp>
        <p:nvSpPr>
          <p:cNvPr id="8" name="图片区-8">
            <a:extLst xmlns:a="http://schemas.openxmlformats.org/drawingml/2006/main">
              <a:ext uri="{FF2B5EF4-FFF2-40B4-BE49-F238E27FC236}">
                <a16:creationId xmlns:a16="http://schemas.microsoft.com/office/drawing/2014/main" id="{6DB54B06-78FE-44DB-B7D0-693D199D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05025"/>
            <a:ext cx="3467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文字-9-结果维度2">
            <a:extLst xmlns:a="http://schemas.openxmlformats.org/drawingml/2006/main">
              <a:ext uri="{FF2B5EF4-FFF2-40B4-BE49-F238E27FC236}">
                <a16:creationId xmlns:a16="http://schemas.microsoft.com/office/drawing/2014/main" id="{037554DD-5B37-4654-9158-B8A3B4CE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467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结果维度2</a:t>
            </a:r>
          </a:p>
        </p:txBody>
      </p:sp>
      <p:sp>
        <p:nvSpPr>
          <p:cNvPr id="10" name="图片区-10">
            <a:extLst xmlns:a="http://schemas.openxmlformats.org/drawingml/2006/main">
              <a:ext uri="{FF2B5EF4-FFF2-40B4-BE49-F238E27FC236}">
                <a16:creationId xmlns:a16="http://schemas.microsoft.com/office/drawing/2014/main" id="{7D4D802A-E402-476F-9168-78795A63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105025"/>
            <a:ext cx="3467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1" name="文字-11-结果维度3">
            <a:extLst xmlns:a="http://schemas.openxmlformats.org/drawingml/2006/main">
              <a:ext uri="{FF2B5EF4-FFF2-40B4-BE49-F238E27FC236}">
                <a16:creationId xmlns:a16="http://schemas.microsoft.com/office/drawing/2014/main" id="{2182E70C-E10E-4113-AC17-A648E87C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943350"/>
            <a:ext cx="3467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结果维度3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485775" y="4352925"/>
          <a:ext xmlns:a="http://schemas.openxmlformats.org/drawingml/2006/main" cx="11220450" cy="1714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09700"/>
                <a:gridCol w="3562350"/>
                <a:gridCol w="6248400"/>
              </a:tblGrid>
              <a:tr h="28575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含义解释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对应对象或要素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</a:tr>
              <a:tr h="28575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填写该类别的研究含义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填写该类别对应的对象、节点或要素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类别2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填写该类别的研究含义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填写该类别对应的对象、节点或要素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28575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填写该类别的研究含义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填写该类别对应的对象、节点或要素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类别4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填写该类别的研究含义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填写该类别对应的对象、节点或要素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285750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填写该类别的研究含义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填写该类别对应的对象、节点或要素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文字-12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6B7CED6C-A540-4317-BFB2-B103A762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166626961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结构-1">
            <a:extLst xmlns:a="http://schemas.openxmlformats.org/drawingml/2006/main">
              <a:ext uri="{FF2B5EF4-FFF2-40B4-BE49-F238E27FC236}">
                <a16:creationId xmlns:a16="http://schemas.microsoft.com/office/drawing/2014/main" id="{8FCC9DDF-00FE-4BE7-81C9-B8ED2F6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一：方法建模与结">
            <a:extLst xmlns:a="http://schemas.openxmlformats.org/drawingml/2006/main">
              <a:ext uri="{FF2B5EF4-FFF2-40B4-BE49-F238E27FC236}">
                <a16:creationId xmlns:a16="http://schemas.microsoft.com/office/drawing/2014/main" id="{AFD080FA-F481-4BFE-9375-E618A905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研究进展一：方法建模与结构分析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CEC94199-024B-49EE-A49C-1FA09BC2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6D6A86F6-4B9F-4CE9-BC21-B3FC8C4B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概括关键对象的识别结果，">
            <a:extLst xmlns:a="http://schemas.openxmlformats.org/drawingml/2006/main">
              <a:ext uri="{FF2B5EF4-FFF2-40B4-BE49-F238E27FC236}">
                <a16:creationId xmlns:a16="http://schemas.microsoft.com/office/drawing/2014/main" id="{A90CCDEE-03E1-4EE8-B704-1DA02DA3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概括关键对象的识别结果，说明其排名靠前的原因及对系统的影响</a:t>
            </a:r>
          </a:p>
        </p:txBody>
      </p:sp>
      <p:sp>
        <p:nvSpPr>
          <p:cNvPr id="6" name="图片区-6">
            <a:extLst xmlns:a="http://schemas.openxmlformats.org/drawingml/2006/main">
              <a:ext uri="{FF2B5EF4-FFF2-40B4-BE49-F238E27FC236}">
                <a16:creationId xmlns:a16="http://schemas.microsoft.com/office/drawing/2014/main" id="{E40F6D29-C35C-4F05-9A99-E6ED3787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62200"/>
            <a:ext cx="3667125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238625" y="2276475"/>
          <a:ext xmlns:a="http://schemas.openxmlformats.org/drawingml/2006/main" cx="7620000" cy="3486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28650"/>
                <a:gridCol w="1762125"/>
                <a:gridCol w="1143000"/>
                <a:gridCol w="1143000"/>
                <a:gridCol w="1143000"/>
                <a:gridCol w="1800225"/>
              </a:tblGrid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指标一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指标二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综合分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所属类别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</a:tr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填写归属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对象2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填写归属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填写归属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对象4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填写归属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填写归属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对象6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填写归属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填写归属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对象8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填写归属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填写归属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692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对象10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填写归属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</a:tbl>
          </a:graphicData>
        </a:graphic>
      </p:graphicFrame>
      <p:sp>
        <p:nvSpPr>
          <p:cNvPr id="8" name="文字-7-研究小结：填写关键发现，">
            <a:extLst xmlns:a="http://schemas.openxmlformats.org/drawingml/2006/main">
              <a:ext uri="{FF2B5EF4-FFF2-40B4-BE49-F238E27FC236}">
                <a16:creationId xmlns:a16="http://schemas.microsoft.com/office/drawing/2014/main" id="{891E32A9-3A57-47BC-9B28-0763D1FD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67425"/>
            <a:ext cx="115919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研究小结：填写关键发现，以及对资源配置、结构优化或管理的启示</a:t>
            </a:r>
          </a:p>
        </p:txBody>
      </p:sp>
    </p:spTree>
    <p:extLst>
      <p:ext uri="{BB962C8B-B14F-4D97-AF65-F5344CB8AC3E}">
        <p14:creationId xmlns:p14="http://schemas.microsoft.com/office/powerpoint/2010/main" val="28979500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结构-1">
            <a:extLst xmlns:a="http://schemas.openxmlformats.org/drawingml/2006/main">
              <a:ext uri="{FF2B5EF4-FFF2-40B4-BE49-F238E27FC236}">
                <a16:creationId xmlns:a16="http://schemas.microsoft.com/office/drawing/2014/main" id="{9C950D7E-D143-49B3-BFCF-410A283D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二：知识约束与增">
            <a:extLst xmlns:a="http://schemas.openxmlformats.org/drawingml/2006/main">
              <a:ext uri="{FF2B5EF4-FFF2-40B4-BE49-F238E27FC236}">
                <a16:creationId xmlns:a16="http://schemas.microsoft.com/office/drawing/2014/main" id="{12698C4B-15F3-4731-859A-B2C57B25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研究进展二：知识约束与增强推理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59EBD5B8-A173-4F49-8CB7-EDC1B7EA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7CA96847-934C-4F13-B71E-76367A83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案例分析：填写基线对比结">
            <a:extLst xmlns:a="http://schemas.openxmlformats.org/drawingml/2006/main">
              <a:ext uri="{FF2B5EF4-FFF2-40B4-BE49-F238E27FC236}">
                <a16:creationId xmlns:a16="http://schemas.microsoft.com/office/drawing/2014/main" id="{21A61A4C-F6C9-4228-9369-44A9404E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案例分析：填写基线对比结果与最重要的结论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257175" y="2057400"/>
          <a:ext xmlns:a="http://schemas.openxmlformats.org/drawingml/2006/main" cx="5238750" cy="23241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1143000"/>
                <a:gridCol w="1143000"/>
                <a:gridCol w="1143000"/>
              </a:tblGrid>
              <a:tr h="29051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指标一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指标二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指标三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</a:tr>
              <a:tr h="29051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051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基线2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29051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051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基线4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29051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051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基线6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290513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本方法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图片区-6">
            <a:extLst xmlns:a="http://schemas.openxmlformats.org/drawingml/2006/main">
              <a:ext uri="{FF2B5EF4-FFF2-40B4-BE49-F238E27FC236}">
                <a16:creationId xmlns:a16="http://schemas.microsoft.com/office/drawing/2014/main" id="{5BA795E5-665C-4006-BAB0-ED85FC9D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19625"/>
            <a:ext cx="5210175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8" name="文字-7-填写定量结果的关键发现">
            <a:extLst xmlns:a="http://schemas.openxmlformats.org/drawingml/2006/main">
              <a:ext uri="{FF2B5EF4-FFF2-40B4-BE49-F238E27FC236}">
                <a16:creationId xmlns:a16="http://schemas.microsoft.com/office/drawing/2014/main" id="{3A4DB527-EA1E-46D9-8BE9-96E2D929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00625"/>
            <a:ext cx="4495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填写定量结果的关键发现</a:t>
            </a:r>
          </a:p>
        </p:txBody>
      </p:sp>
      <p:sp>
        <p:nvSpPr>
          <p:cNvPr id="9" name="图片区-8">
            <a:extLst xmlns:a="http://schemas.openxmlformats.org/drawingml/2006/main">
              <a:ext uri="{FF2B5EF4-FFF2-40B4-BE49-F238E27FC236}">
                <a16:creationId xmlns:a16="http://schemas.microsoft.com/office/drawing/2014/main" id="{24918A4F-0BAF-405E-BFC2-A99F703B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00250"/>
            <a:ext cx="598170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0" name="文字-9-填写定性证据与代表性案例">
            <a:extLst xmlns:a="http://schemas.openxmlformats.org/drawingml/2006/main">
              <a:ext uri="{FF2B5EF4-FFF2-40B4-BE49-F238E27FC236}">
                <a16:creationId xmlns:a16="http://schemas.microsoft.com/office/drawing/2014/main" id="{F385AC54-44D0-42F1-956D-0E6C9EDF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914775"/>
            <a:ext cx="50768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C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填写定性证据与代表性案例</a:t>
            </a:r>
          </a:p>
        </p:txBody>
      </p:sp>
      <p:sp>
        <p:nvSpPr>
          <p:cNvPr id="11" name="文字-10-用一句话说明结果优势、适">
            <a:extLst xmlns:a="http://schemas.openxmlformats.org/drawingml/2006/main">
              <a:ext uri="{FF2B5EF4-FFF2-40B4-BE49-F238E27FC236}">
                <a16:creationId xmlns:a16="http://schemas.microsoft.com/office/drawing/2014/main" id="{54A364B1-1AFA-406F-82F9-4C598F94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248400"/>
            <a:ext cx="11696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用一句话说明结果优势、适用范围与贡献</a:t>
            </a:r>
          </a:p>
        </p:txBody>
      </p:sp>
    </p:spTree>
    <p:extLst>
      <p:ext uri="{BB962C8B-B14F-4D97-AF65-F5344CB8AC3E}">
        <p14:creationId xmlns:p14="http://schemas.microsoft.com/office/powerpoint/2010/main" val="1320333714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结构-1">
            <a:extLst xmlns:a="http://schemas.openxmlformats.org/drawingml/2006/main">
              <a:ext uri="{FF2B5EF4-FFF2-40B4-BE49-F238E27FC236}">
                <a16:creationId xmlns:a16="http://schemas.microsoft.com/office/drawing/2014/main" id="{35E90747-3A49-4405-A05C-11E26872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二：知识约束与增">
            <a:extLst xmlns:a="http://schemas.openxmlformats.org/drawingml/2006/main">
              <a:ext uri="{FF2B5EF4-FFF2-40B4-BE49-F238E27FC236}">
                <a16:creationId xmlns:a16="http://schemas.microsoft.com/office/drawing/2014/main" id="{1CEB5FD0-3BC7-4777-BDE4-C977F9A3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研究进展二：知识约束与增强推理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1DAA1A88-BF1B-47F5-8003-EC50B90B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6A4A1BB8-DCC0-4A0D-8650-7027FDD7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案例分析：填写消融实验设">
            <a:extLst xmlns:a="http://schemas.openxmlformats.org/drawingml/2006/main">
              <a:ext uri="{FF2B5EF4-FFF2-40B4-BE49-F238E27FC236}">
                <a16:creationId xmlns:a16="http://schemas.microsoft.com/office/drawing/2014/main" id="{EBE1E5BF-6B63-46C0-B99E-FA0FA231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案例分析：填写消融实验设计与组件作用</a:t>
            </a:r>
          </a:p>
        </p:txBody>
      </p:sp>
      <p:sp>
        <p:nvSpPr>
          <p:cNvPr id="6" name="文字-6-说明移除某个组件后结果的">
            <a:extLst xmlns:a="http://schemas.openxmlformats.org/drawingml/2006/main">
              <a:ext uri="{FF2B5EF4-FFF2-40B4-BE49-F238E27FC236}">
                <a16:creationId xmlns:a16="http://schemas.microsoft.com/office/drawing/2014/main" id="{D1339A89-BB3D-45C5-AF7A-46276DDB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0"/>
            <a:ext cx="11620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说明移除某个组件后结果的变化，区分各组件的作用</a:t>
            </a:r>
          </a:p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概括多路径或多模块设计为什么能够互相补充</a:t>
            </a:r>
          </a:p>
        </p:txBody>
      </p:sp>
      <p:sp>
        <p:nvSpPr>
          <p:cNvPr id="7" name="图片区-7">
            <a:extLst xmlns:a="http://schemas.openxmlformats.org/drawingml/2006/main">
              <a:ext uri="{FF2B5EF4-FFF2-40B4-BE49-F238E27FC236}">
                <a16:creationId xmlns:a16="http://schemas.microsoft.com/office/drawing/2014/main" id="{1F0EF9FD-41B3-4D50-8CF4-4D524FDE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24175"/>
            <a:ext cx="3714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8" name="文字-8-指标1变化情况">
            <a:extLst xmlns:a="http://schemas.openxmlformats.org/drawingml/2006/main">
              <a:ext uri="{FF2B5EF4-FFF2-40B4-BE49-F238E27FC236}">
                <a16:creationId xmlns:a16="http://schemas.microsoft.com/office/drawing/2014/main" id="{A455BE56-6480-499D-BC27-08C436EB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53075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指标1变化情况</a:t>
            </a:r>
          </a:p>
        </p:txBody>
      </p:sp>
      <p:sp>
        <p:nvSpPr>
          <p:cNvPr id="9" name="图片区-9">
            <a:extLst xmlns:a="http://schemas.openxmlformats.org/drawingml/2006/main">
              <a:ext uri="{FF2B5EF4-FFF2-40B4-BE49-F238E27FC236}">
                <a16:creationId xmlns:a16="http://schemas.microsoft.com/office/drawing/2014/main" id="{5B33157A-1C21-44F8-A88D-E822B57E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24175"/>
            <a:ext cx="3714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0" name="文字-10-指标2变化情况">
            <a:extLst xmlns:a="http://schemas.openxmlformats.org/drawingml/2006/main">
              <a:ext uri="{FF2B5EF4-FFF2-40B4-BE49-F238E27FC236}">
                <a16:creationId xmlns:a16="http://schemas.microsoft.com/office/drawing/2014/main" id="{E224A657-44FC-46A0-811B-83ADA630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553075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指标2变化情况</a:t>
            </a:r>
          </a:p>
        </p:txBody>
      </p:sp>
      <p:sp>
        <p:nvSpPr>
          <p:cNvPr id="11" name="图片区-11">
            <a:extLst xmlns:a="http://schemas.openxmlformats.org/drawingml/2006/main">
              <a:ext uri="{FF2B5EF4-FFF2-40B4-BE49-F238E27FC236}">
                <a16:creationId xmlns:a16="http://schemas.microsoft.com/office/drawing/2014/main" id="{3F01D816-11C3-475B-B6CD-646E4225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24175"/>
            <a:ext cx="3714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2" name="文字-12-指标3变化情况">
            <a:extLst xmlns:a="http://schemas.openxmlformats.org/drawingml/2006/main">
              <a:ext uri="{FF2B5EF4-FFF2-40B4-BE49-F238E27FC236}">
                <a16:creationId xmlns:a16="http://schemas.microsoft.com/office/drawing/2014/main" id="{5B96CF9F-D2A9-473E-9EDE-A8BFEC68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53075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指标3变化情况</a:t>
            </a:r>
          </a:p>
        </p:txBody>
      </p:sp>
      <p:sp>
        <p:nvSpPr>
          <p:cNvPr id="13" name="文字-13-研究小结：填写消融结果支">
            <a:extLst xmlns:a="http://schemas.openxmlformats.org/drawingml/2006/main">
              <a:ext uri="{FF2B5EF4-FFF2-40B4-BE49-F238E27FC236}">
                <a16:creationId xmlns:a16="http://schemas.microsoft.com/office/drawing/2014/main" id="{0602DBA1-F2AB-4C0C-8DA3-0FA059F5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124575"/>
            <a:ext cx="11658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研究小结：填写消融结果支持的机制解释与研究贡献</a:t>
            </a:r>
          </a:p>
        </p:txBody>
      </p:sp>
    </p:spTree>
    <p:extLst>
      <p:ext uri="{BB962C8B-B14F-4D97-AF65-F5344CB8AC3E}">
        <p14:creationId xmlns:p14="http://schemas.microsoft.com/office/powerpoint/2010/main" val="166773779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结构-1">
            <a:extLst xmlns:a="http://schemas.openxmlformats.org/drawingml/2006/main">
              <a:ext uri="{FF2B5EF4-FFF2-40B4-BE49-F238E27FC236}">
                <a16:creationId xmlns:a16="http://schemas.microsoft.com/office/drawing/2014/main" id="{04F12299-0D82-4289-A67F-0BEA2ED1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三：动态决策与算">
            <a:extLst xmlns:a="http://schemas.openxmlformats.org/drawingml/2006/main">
              <a:ext uri="{FF2B5EF4-FFF2-40B4-BE49-F238E27FC236}">
                <a16:creationId xmlns:a16="http://schemas.microsoft.com/office/drawing/2014/main" id="{684D80C5-EAEC-4D73-88CB-C81EDA5B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研究进展三：动态决策与算法优化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49437C15-29AF-47BB-8F84-209FFF1E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A700937B-0D1D-4E5A-AA23-45E17146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预备实验：填写候选模型的">
            <a:extLst xmlns:a="http://schemas.openxmlformats.org/drawingml/2006/main">
              <a:ext uri="{FF2B5EF4-FFF2-40B4-BE49-F238E27FC236}">
                <a16:creationId xmlns:a16="http://schemas.microsoft.com/office/drawing/2014/main" id="{BE53B81D-0965-4D7A-85EA-A6613DDA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预备实验：填写候选模型的选择依据与主要结果</a:t>
            </a:r>
          </a:p>
        </p:txBody>
      </p:sp>
      <p:sp>
        <p:nvSpPr>
          <p:cNvPr id="6" name="文字-6-用一句话说明最重要的实验">
            <a:extLst xmlns:a="http://schemas.openxmlformats.org/drawingml/2006/main">
              <a:ext uri="{FF2B5EF4-FFF2-40B4-BE49-F238E27FC236}">
                <a16:creationId xmlns:a16="http://schemas.microsoft.com/office/drawing/2014/main" id="{9096391A-2574-4118-85B3-0184DE01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00200"/>
            <a:ext cx="11601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用一句话说明最重要的实验结论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00050" y="2181225"/>
          <a:ext xmlns:a="http://schemas.openxmlformats.org/drawingml/2006/main" cx="8134350" cy="1266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1390650"/>
                <a:gridCol w="1390650"/>
                <a:gridCol w="1390650"/>
                <a:gridCol w="1390650"/>
              </a:tblGrid>
              <a:tr h="316706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标准差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最好值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最差值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</a:tr>
              <a:tr h="316706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6706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方法2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16706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本方法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图片区-7">
            <a:extLst xmlns:a="http://schemas.openxmlformats.org/drawingml/2006/main">
              <a:ext uri="{FF2B5EF4-FFF2-40B4-BE49-F238E27FC236}">
                <a16:creationId xmlns:a16="http://schemas.microsoft.com/office/drawing/2014/main" id="{A91DA30F-4B64-44B8-81BA-1DFA6434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14750"/>
            <a:ext cx="3857625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图片区-8">
            <a:extLst xmlns:a="http://schemas.openxmlformats.org/drawingml/2006/main">
              <a:ext uri="{FF2B5EF4-FFF2-40B4-BE49-F238E27FC236}">
                <a16:creationId xmlns:a16="http://schemas.microsoft.com/office/drawing/2014/main" id="{6B8E04DC-493F-4AF2-A622-1648A94F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14750"/>
            <a:ext cx="3895725" cy="2371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0" name="结构-9">
            <a:extLst xmlns:a="http://schemas.openxmlformats.org/drawingml/2006/main">
              <a:ext uri="{FF2B5EF4-FFF2-40B4-BE49-F238E27FC236}">
                <a16:creationId xmlns:a16="http://schemas.microsoft.com/office/drawing/2014/main" id="{857B89A9-D1B7-4862-B30A-51DFFD7F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00275"/>
            <a:ext cx="2971800" cy="387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文字-10-填写评价公式或关键指标">
            <a:extLst xmlns:a="http://schemas.openxmlformats.org/drawingml/2006/main">
              <a:ext uri="{FF2B5EF4-FFF2-40B4-BE49-F238E27FC236}">
                <a16:creationId xmlns:a16="http://schemas.microsoft.com/office/drawing/2014/main" id="{12BCF6F2-41C9-4478-BAAD-DFF9F7BB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81250"/>
            <a:ext cx="2667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填写评价公式</a:t>
            </a:r>
          </a:p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或关键指标</a:t>
            </a:r>
          </a:p>
        </p:txBody>
      </p:sp>
      <p:sp>
        <p:nvSpPr>
          <p:cNvPr id="12" name="文字-11-说明差异的可能原因填写统">
            <a:extLst xmlns:a="http://schemas.openxmlformats.org/drawingml/2006/main">
              <a:ext uri="{FF2B5EF4-FFF2-40B4-BE49-F238E27FC236}">
                <a16:creationId xmlns:a16="http://schemas.microsoft.com/office/drawing/2014/main" id="{AE38F57C-4B83-4948-B0EC-018BE3CC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62325"/>
            <a:ext cx="26003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说明差异的可能原因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填写统计检验结果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说明结论的适用边界</a:t>
            </a:r>
          </a:p>
        </p:txBody>
      </p:sp>
      <p:sp>
        <p:nvSpPr>
          <p:cNvPr id="13" name="文字-12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46221DF3-C23D-48A8-AFCE-F49B0EA0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208964597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结构-1">
            <a:extLst xmlns:a="http://schemas.openxmlformats.org/drawingml/2006/main">
              <a:ext uri="{FF2B5EF4-FFF2-40B4-BE49-F238E27FC236}">
                <a16:creationId xmlns:a16="http://schemas.microsoft.com/office/drawing/2014/main" id="{2D55D520-184E-403B-B56C-BB3B05FE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三：动态决策与算">
            <a:extLst xmlns:a="http://schemas.openxmlformats.org/drawingml/2006/main">
              <a:ext uri="{FF2B5EF4-FFF2-40B4-BE49-F238E27FC236}">
                <a16:creationId xmlns:a16="http://schemas.microsoft.com/office/drawing/2014/main" id="{1FAEEC25-55EA-4478-91C7-DA45CAD1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研究进展三：动态决策与算法优化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541AE243-897A-430D-A648-A2BE111E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78036C3F-44E5-4239-895C-62237E02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实验验证：填写方法在质量">
            <a:extLst xmlns:a="http://schemas.openxmlformats.org/drawingml/2006/main">
              <a:ext uri="{FF2B5EF4-FFF2-40B4-BE49-F238E27FC236}">
                <a16:creationId xmlns:a16="http://schemas.microsoft.com/office/drawing/2014/main" id="{061F627A-37A8-45D4-BE6D-17310242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实验验证：填写方法在质量或精度方面的比较结果</a:t>
            </a:r>
          </a:p>
        </p:txBody>
      </p:sp>
      <p:sp>
        <p:nvSpPr>
          <p:cNvPr id="6" name="文字-6-用一句话说明最重要的实验">
            <a:extLst xmlns:a="http://schemas.openxmlformats.org/drawingml/2006/main">
              <a:ext uri="{FF2B5EF4-FFF2-40B4-BE49-F238E27FC236}">
                <a16:creationId xmlns:a16="http://schemas.microsoft.com/office/drawing/2014/main" id="{45E1C02C-49BD-4D1D-A73B-1D6C6E08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600200"/>
            <a:ext cx="11601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用一句话说明最重要的实验结论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00050" y="2181225"/>
          <a:ext xmlns:a="http://schemas.openxmlformats.org/drawingml/2006/main" cx="8134350" cy="2514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1390650"/>
                <a:gridCol w="1390650"/>
                <a:gridCol w="1390650"/>
                <a:gridCol w="1390650"/>
              </a:tblGrid>
              <a:tr h="3143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标准差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最好值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最差值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</a:tr>
              <a:tr h="3143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方法2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143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方法4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143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方法6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  <a:tr h="3143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本方法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图片区-7">
            <a:extLst xmlns:a="http://schemas.openxmlformats.org/drawingml/2006/main">
              <a:ext uri="{FF2B5EF4-FFF2-40B4-BE49-F238E27FC236}">
                <a16:creationId xmlns:a16="http://schemas.microsoft.com/office/drawing/2014/main" id="{B0B0BBC7-1922-42DF-8DD8-C3B233A1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905375"/>
            <a:ext cx="385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图片区-8">
            <a:extLst xmlns:a="http://schemas.openxmlformats.org/drawingml/2006/main">
              <a:ext uri="{FF2B5EF4-FFF2-40B4-BE49-F238E27FC236}">
                <a16:creationId xmlns:a16="http://schemas.microsoft.com/office/drawing/2014/main" id="{1A5CFEF8-D2A5-4AE0-AFF0-9185B703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38957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0" name="结构-9">
            <a:extLst xmlns:a="http://schemas.openxmlformats.org/drawingml/2006/main">
              <a:ext uri="{FF2B5EF4-FFF2-40B4-BE49-F238E27FC236}">
                <a16:creationId xmlns:a16="http://schemas.microsoft.com/office/drawing/2014/main" id="{786927B4-C24A-4816-8F88-FAF6D083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00275"/>
            <a:ext cx="2971800" cy="387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文字-10-填写评价公式或关键指标">
            <a:extLst xmlns:a="http://schemas.openxmlformats.org/drawingml/2006/main">
              <a:ext uri="{FF2B5EF4-FFF2-40B4-BE49-F238E27FC236}">
                <a16:creationId xmlns:a16="http://schemas.microsoft.com/office/drawing/2014/main" id="{D9A39A7A-862E-4A3A-9DEF-7A8CC8A8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81250"/>
            <a:ext cx="2667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填写评价公式</a:t>
            </a:r>
          </a:p>
          <a:p xmlns:a="http://schemas.openxmlformats.org/drawingml/2006/main">
            <a:pPr algn="ctr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或关键指标</a:t>
            </a:r>
          </a:p>
        </p:txBody>
      </p:sp>
      <p:sp>
        <p:nvSpPr>
          <p:cNvPr id="12" name="文字-11-说明差异的可能原因填写统">
            <a:extLst xmlns:a="http://schemas.openxmlformats.org/drawingml/2006/main">
              <a:ext uri="{FF2B5EF4-FFF2-40B4-BE49-F238E27FC236}">
                <a16:creationId xmlns:a16="http://schemas.microsoft.com/office/drawing/2014/main" id="{E137E75D-4487-4D1E-903F-C99F7BFA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62325"/>
            <a:ext cx="26003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说明差异的可能原因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填写统计检验结果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说明结论的适用边界</a:t>
            </a:r>
          </a:p>
        </p:txBody>
      </p:sp>
      <p:sp>
        <p:nvSpPr>
          <p:cNvPr id="13" name="文字-12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EA9D33D3-5394-4B1C-8F0E-E615BB7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638272244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结构-1">
            <a:extLst xmlns:a="http://schemas.openxmlformats.org/drawingml/2006/main">
              <a:ext uri="{FF2B5EF4-FFF2-40B4-BE49-F238E27FC236}">
                <a16:creationId xmlns:a16="http://schemas.microsoft.com/office/drawing/2014/main" id="{F487A6D5-B896-4741-A627-250E66DF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研究进展三：动态决策与算">
            <a:extLst xmlns:a="http://schemas.openxmlformats.org/drawingml/2006/main">
              <a:ext uri="{FF2B5EF4-FFF2-40B4-BE49-F238E27FC236}">
                <a16:creationId xmlns:a16="http://schemas.microsoft.com/office/drawing/2014/main" id="{D664ED87-7C1C-4FDA-AEA1-310FC6D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研究进展三：动态决策与算法优化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7217DEF5-F889-4294-8198-5D9E2CF6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84BC05F7-B2AC-4E18-8EF0-2FCEB5E7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实验验证：填写方法的生成">
            <a:extLst xmlns:a="http://schemas.openxmlformats.org/drawingml/2006/main">
              <a:ext uri="{FF2B5EF4-FFF2-40B4-BE49-F238E27FC236}">
                <a16:creationId xmlns:a16="http://schemas.microsoft.com/office/drawing/2014/main" id="{5DE70C5E-5E3E-4868-8534-D78F8F4D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实验验证：填写方法的生成效率与迭代改进能力</a:t>
            </a:r>
          </a:p>
        </p:txBody>
      </p:sp>
      <p:sp>
        <p:nvSpPr>
          <p:cNvPr id="6" name="文字-6-概括效率提升与性能变化，">
            <a:extLst xmlns:a="http://schemas.openxmlformats.org/drawingml/2006/main">
              <a:ext uri="{FF2B5EF4-FFF2-40B4-BE49-F238E27FC236}">
                <a16:creationId xmlns:a16="http://schemas.microsoft.com/office/drawing/2014/main" id="{2C62A6D0-1B4C-4A8A-B4BF-CE9905C7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609725"/>
            <a:ext cx="11563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概括效率提升与性能变化，说明两类指标的关系</a:t>
            </a:r>
          </a:p>
        </p:txBody>
      </p:sp>
      <p:sp>
        <p:nvSpPr>
          <p:cNvPr id="7" name="图片区-7">
            <a:extLst xmlns:a="http://schemas.openxmlformats.org/drawingml/2006/main">
              <a:ext uri="{FF2B5EF4-FFF2-40B4-BE49-F238E27FC236}">
                <a16:creationId xmlns:a16="http://schemas.microsoft.com/office/drawing/2014/main" id="{B457310C-E601-4A52-8237-B064CABA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95525"/>
            <a:ext cx="71437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7915275" y="2524125"/>
          <a:ext xmlns:a="http://schemas.openxmlformats.org/drawingml/2006/main" cx="3924300" cy="15144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62100"/>
                <a:gridCol w="1181100"/>
                <a:gridCol w="1181100"/>
              </a:tblGrid>
              <a:tr h="5048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评价指标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基线方案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本方法</a:t>
                      </a:r>
                    </a:p>
                  </a:txBody>
                  <a:tcPr marL="91440" marR="91440" marT="45720" marB="45720" anchor="ctr">
                    <a:solidFill>
                      <a:srgbClr val="DCEAF6"/>
                    </a:solidFill>
                  </a:tcPr>
                </a:tc>
              </a:tr>
              <a:tr h="5048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性能指标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  <a:tc>
                  <a:txBody>
                    <a:bodyPr wrap="square" lIns="47625" tIns="28575" rIns="47625" bIns="28575">
                      <a:no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424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</a:t>
                      </a:r>
                    </a:p>
                  </a:txBody>
                  <a:tcPr marL="91440" marR="91440" marT="45720" marB="45720" anchor="ctr">
                    <a:solidFill>
                      <a:srgbClr val="EDF5FB"/>
                    </a:solidFill>
                  </a:tcPr>
                </a:tc>
              </a:tr>
            </a:tbl>
          </a:graphicData>
        </a:graphic>
      </p:graphicFrame>
      <p:sp>
        <p:nvSpPr>
          <p:cNvPr id="9" name="文字-8-说明面向需求的方案生成能">
            <a:extLst xmlns:a="http://schemas.openxmlformats.org/drawingml/2006/main">
              <a:ext uri="{FF2B5EF4-FFF2-40B4-BE49-F238E27FC236}">
                <a16:creationId xmlns:a16="http://schemas.microsoft.com/office/drawing/2014/main" id="{9DE0B70E-B4A3-45ED-B42F-9ECD4E93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295775"/>
            <a:ext cx="39243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说明面向需求的方案生成能力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说明已有方案上的持续改进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填写性能与效率的平衡</a:t>
            </a:r>
          </a:p>
        </p:txBody>
      </p:sp>
      <p:sp>
        <p:nvSpPr>
          <p:cNvPr id="10" name="文字-9-参考文献：填写作者、题目">
            <a:extLst xmlns:a="http://schemas.openxmlformats.org/drawingml/2006/main">
              <a:ext uri="{FF2B5EF4-FFF2-40B4-BE49-F238E27FC236}">
                <a16:creationId xmlns:a16="http://schemas.microsoft.com/office/drawing/2014/main" id="{E8B9E59C-12F1-4AF6-B6DC-00019062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477000"/>
            <a:ext cx="11696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76C"/>
                </a:solidFill>
                <a:latin typeface="Microsoft YaHei"/>
                <a:ea typeface="Microsoft YaHei"/>
                <a:cs typeface="Microsoft YaHei"/>
              </a:rPr>
              <a:t>参考文献：填写作者、题目、来源与年份</a:t>
            </a:r>
          </a:p>
        </p:txBody>
      </p:sp>
    </p:spTree>
    <p:extLst>
      <p:ext uri="{BB962C8B-B14F-4D97-AF65-F5344CB8AC3E}">
        <p14:creationId xmlns:p14="http://schemas.microsoft.com/office/powerpoint/2010/main" val="126737872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对象-1">
            <a:extLst xmlns:a="http://schemas.openxmlformats.org/drawingml/2006/main">
              <a:ext uri="{FF2B5EF4-FFF2-40B4-BE49-F238E27FC236}">
                <a16:creationId xmlns:a16="http://schemas.microsoft.com/office/drawing/2014/main" id="{4C65A096-0BCD-4898-8E40-A24E3AB7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" y="0"/>
            <a:ext cx="12185522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文字-2-2.3 主要研究成果">
            <a:extLst xmlns:a="http://schemas.openxmlformats.org/drawingml/2006/main">
              <a:ext uri="{FF2B5EF4-FFF2-40B4-BE49-F238E27FC236}">
                <a16:creationId xmlns:a16="http://schemas.microsoft.com/office/drawing/2014/main" id="{DBAAB652-3018-4FA5-8BB4-EC889B38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25" y="99060"/>
            <a:ext cx="11309687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2.3 主要研究成果</a:t>
            </a:r>
          </a:p>
        </p:txBody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67A97B3D-955B-4DBA-A473-53B37EDD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891540"/>
            <a:ext cx="11454390" cy="525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26602F1D-3364-4814-9B93-95968342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062990"/>
            <a:ext cx="182783" cy="18288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文字-5-填写本项研究形成的核心发现或">
            <a:extLst xmlns:a="http://schemas.openxmlformats.org/drawingml/2006/main">
              <a:ext uri="{FF2B5EF4-FFF2-40B4-BE49-F238E27FC236}">
                <a16:creationId xmlns:a16="http://schemas.microsoft.com/office/drawing/2014/main" id="{9C702E2B-5B25-4E77-AC7A-E96ED521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26" y="952500"/>
            <a:ext cx="10814650" cy="403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本项研究形成的核心发现或成果</a:t>
            </a:r>
          </a:p>
        </p:txBody>
      </p:sp>
      <p:sp>
        <p:nvSpPr>
          <p:cNvPr id="6" name="文字-6-用一句话说明该成果涉及的研究">
            <a:extLst xmlns:a="http://schemas.openxmlformats.org/drawingml/2006/main">
              <a:ext uri="{FF2B5EF4-FFF2-40B4-BE49-F238E27FC236}">
                <a16:creationId xmlns:a16="http://schemas.microsoft.com/office/drawing/2014/main" id="{21A2F7F6-4EFB-422C-B266-6377AA92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01" y="1531620"/>
            <a:ext cx="11347767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研究对象、作用过程与成果意义</a:t>
            </a:r>
          </a:p>
        </p:txBody>
      </p:sp>
      <p:sp>
        <p:nvSpPr>
          <p:cNvPr id="7" name="图片区-1-研究流程或主图">
            <a:extLst xmlns:a="http://schemas.openxmlformats.org/drawingml/2006/main">
              <a:ext uri="{FF2B5EF4-FFF2-40B4-BE49-F238E27FC236}">
                <a16:creationId xmlns:a16="http://schemas.microsoft.com/office/drawing/2014/main" id="{F90B0054-B0C4-4F88-A181-89AAAEEE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278380"/>
            <a:ext cx="7494096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8" name="文字-8-研究阶段一">
            <a:extLst xmlns:a="http://schemas.openxmlformats.org/drawingml/2006/main">
              <a:ext uri="{FF2B5EF4-FFF2-40B4-BE49-F238E27FC236}">
                <a16:creationId xmlns:a16="http://schemas.microsoft.com/office/drawing/2014/main" id="{4E70EED9-B139-4337-9B0E-C76E99C9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36" y="6156960"/>
            <a:ext cx="178213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9C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研究阶段一</a:t>
            </a:r>
          </a:p>
        </p:txBody>
      </p:sp>
      <p:sp>
        <p:nvSpPr>
          <p:cNvPr id="9" name="文字-9-研究阶段二">
            <a:extLst xmlns:a="http://schemas.openxmlformats.org/drawingml/2006/main">
              <a:ext uri="{FF2B5EF4-FFF2-40B4-BE49-F238E27FC236}">
                <a16:creationId xmlns:a16="http://schemas.microsoft.com/office/drawing/2014/main" id="{5331C1BD-B98A-4FA0-BBCE-B565E188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177" y="6156960"/>
            <a:ext cx="178213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3B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研究阶段二</a:t>
            </a:r>
          </a:p>
        </p:txBody>
      </p:sp>
      <p:sp>
        <p:nvSpPr>
          <p:cNvPr id="10" name="文字-10-研究阶段三">
            <a:extLst xmlns:a="http://schemas.openxmlformats.org/drawingml/2006/main">
              <a:ext uri="{FF2B5EF4-FFF2-40B4-BE49-F238E27FC236}">
                <a16:creationId xmlns:a16="http://schemas.microsoft.com/office/drawing/2014/main" id="{7E7F29FA-2FD8-49B0-8F30-3EEB6FC2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316" y="6156960"/>
            <a:ext cx="178213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D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研究阶段三</a:t>
            </a:r>
          </a:p>
        </p:txBody>
      </p:sp>
      <p:sp>
        <p:nvSpPr>
          <p:cNvPr id="11" name="文字-11-研究阶段四">
            <a:extLst xmlns:a="http://schemas.openxmlformats.org/drawingml/2006/main">
              <a:ext uri="{FF2B5EF4-FFF2-40B4-BE49-F238E27FC236}">
                <a16:creationId xmlns:a16="http://schemas.microsoft.com/office/drawing/2014/main" id="{643EBFC6-0D6B-4829-A0A1-5788D3B2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456" y="6156960"/>
            <a:ext cx="178213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研究阶段四</a:t>
            </a:r>
          </a:p>
        </p:txBody>
      </p:sp>
      <p:sp>
        <p:nvSpPr>
          <p:cNvPr id="12" name="文字-12-研究发现一">
            <a:extLst xmlns:a="http://schemas.openxmlformats.org/drawingml/2006/main">
              <a:ext uri="{FF2B5EF4-FFF2-40B4-BE49-F238E27FC236}">
                <a16:creationId xmlns:a16="http://schemas.microsoft.com/office/drawing/2014/main" id="{9C9C0F4F-C114-4C44-96EF-6D0A0C99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147" y="2316480"/>
            <a:ext cx="3747048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研究发现一</a:t>
            </a:r>
          </a:p>
        </p:txBody>
      </p:sp>
      <p:sp>
        <p:nvSpPr>
          <p:cNvPr id="13" name="文字-13-填写核心发现填写对应的现象或">
            <a:extLst xmlns:a="http://schemas.openxmlformats.org/drawingml/2006/main">
              <a:ext uri="{FF2B5EF4-FFF2-40B4-BE49-F238E27FC236}">
                <a16:creationId xmlns:a16="http://schemas.microsoft.com/office/drawing/2014/main" id="{F395A840-611D-499A-8A2A-D1627FD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155" y="2887980"/>
            <a:ext cx="3526185" cy="195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核心发现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对应现象或证据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意义与适用边界</a:t>
            </a:r>
          </a:p>
        </p:txBody>
      </p:sp>
      <p:sp>
        <p:nvSpPr>
          <p:cNvPr id="14" name="文字-14-研究发现二">
            <a:extLst xmlns:a="http://schemas.openxmlformats.org/drawingml/2006/main">
              <a:ext uri="{FF2B5EF4-FFF2-40B4-BE49-F238E27FC236}">
                <a16:creationId xmlns:a16="http://schemas.microsoft.com/office/drawing/2014/main" id="{91993613-41E5-416B-8F0C-EDC30F40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147" y="4937760"/>
            <a:ext cx="3747048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研究发现二</a:t>
            </a:r>
          </a:p>
        </p:txBody>
      </p:sp>
      <p:sp>
        <p:nvSpPr>
          <p:cNvPr id="15" name="文字-15-填写另一项研究发现填写作用与">
            <a:extLst xmlns:a="http://schemas.openxmlformats.org/drawingml/2006/main">
              <a:ext uri="{FF2B5EF4-FFF2-40B4-BE49-F238E27FC236}">
                <a16:creationId xmlns:a16="http://schemas.microsoft.com/office/drawing/2014/main" id="{7FF3B50B-FCDD-40B3-BD99-40C2377E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155" y="5463540"/>
            <a:ext cx="3526185" cy="94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另一项研究发现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作用与应用意义</a:t>
            </a:r>
          </a:p>
        </p:txBody>
      </p:sp>
    </p:spTree>
    <p:extLst>
      <p:ext uri="{BB962C8B-B14F-4D97-AF65-F5344CB8AC3E}">
        <p14:creationId xmlns:p14="http://schemas.microsoft.com/office/powerpoint/2010/main" val="71397298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文字-1-2.3 学术成果">
            <a:extLst xmlns:a="http://schemas.openxmlformats.org/drawingml/2006/main">
              <a:ext uri="{FF2B5EF4-FFF2-40B4-BE49-F238E27FC236}">
                <a16:creationId xmlns:a16="http://schemas.microsoft.com/office/drawing/2014/main" id="{8605EEAE-7B45-4B07-995E-76E3FE93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2.3 学术成果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03FE45CA-A05D-4D82-9672-EC461A6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填写本项成果的研究主题">
            <a:extLst xmlns:a="http://schemas.openxmlformats.org/drawingml/2006/main">
              <a:ext uri="{FF2B5EF4-FFF2-40B4-BE49-F238E27FC236}">
                <a16:creationId xmlns:a16="http://schemas.microsoft.com/office/drawing/2014/main" id="{675F99C8-8CF9-4745-8030-3F0E01CF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270" y="906780"/>
            <a:ext cx="9291460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本项成果的研究主题</a:t>
            </a:r>
          </a:p>
        </p:txBody>
      </p:sp>
      <p:sp>
        <p:nvSpPr>
          <p:cNvPr id="4" name="文字-4-填写作用机制、功能实现或方法">
            <a:extLst xmlns:a="http://schemas.openxmlformats.org/drawingml/2006/main">
              <a:ext uri="{FF2B5EF4-FFF2-40B4-BE49-F238E27FC236}">
                <a16:creationId xmlns:a16="http://schemas.microsoft.com/office/drawing/2014/main" id="{DA576019-8226-4008-B064-B4FE83F1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440180"/>
            <a:ext cx="1145439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作用机制、功能实现或方法创新的核心说明</a:t>
            </a:r>
          </a:p>
        </p:txBody>
      </p:sp>
      <p:sp>
        <p:nvSpPr>
          <p:cNvPr id="5" name="图片区-1-主机制图">
            <a:extLst xmlns:a="http://schemas.openxmlformats.org/drawingml/2006/main">
              <a:ext uri="{FF2B5EF4-FFF2-40B4-BE49-F238E27FC236}">
                <a16:creationId xmlns:a16="http://schemas.microsoft.com/office/drawing/2014/main" id="{1A55E9D5-5E76-4ADB-95AD-CC1C92C5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2057400"/>
            <a:ext cx="6663957" cy="3954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" name="图片区-2-机制插图一">
            <a:extLst xmlns:a="http://schemas.openxmlformats.org/drawingml/2006/main">
              <a:ext uri="{FF2B5EF4-FFF2-40B4-BE49-F238E27FC236}">
                <a16:creationId xmlns:a16="http://schemas.microsoft.com/office/drawing/2014/main" id="{7BDDE57B-3F99-4BC4-B6BF-45E9FAE6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313" y="2057400"/>
            <a:ext cx="1957300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7" name="图片区-3-机制插图二">
            <a:extLst xmlns:a="http://schemas.openxmlformats.org/drawingml/2006/main">
              <a:ext uri="{FF2B5EF4-FFF2-40B4-BE49-F238E27FC236}">
                <a16:creationId xmlns:a16="http://schemas.microsoft.com/office/drawing/2014/main" id="{5AD08CDB-98A9-4EAF-9DB0-6FBF7E01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313" y="4099560"/>
            <a:ext cx="1957300" cy="1912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8" name="对象-8">
            <a:extLst xmlns:a="http://schemas.openxmlformats.org/drawingml/2006/main">
              <a:ext uri="{FF2B5EF4-FFF2-40B4-BE49-F238E27FC236}">
                <a16:creationId xmlns:a16="http://schemas.microsoft.com/office/drawing/2014/main" id="{08D5F957-1016-4BF8-A39D-3911576C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2057400"/>
            <a:ext cx="2482800" cy="1889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9" name="对象-9">
            <a:extLst xmlns:a="http://schemas.openxmlformats.org/drawingml/2006/main">
              <a:ext uri="{FF2B5EF4-FFF2-40B4-BE49-F238E27FC236}">
                <a16:creationId xmlns:a16="http://schemas.microsoft.com/office/drawing/2014/main" id="{F6C623E8-5B48-4E3A-98D2-2E8BA722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2057400"/>
            <a:ext cx="578812" cy="1889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文字-10-内">
            <a:extLst xmlns:a="http://schemas.openxmlformats.org/drawingml/2006/main">
              <a:ext uri="{FF2B5EF4-FFF2-40B4-BE49-F238E27FC236}">
                <a16:creationId xmlns:a16="http://schemas.microsoft.com/office/drawing/2014/main" id="{9D5E7170-B297-4400-B25D-54CFA97C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2407920"/>
            <a:ext cx="57881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</a:t>
            </a:r>
          </a:p>
        </p:txBody>
      </p:sp>
      <p:sp>
        <p:nvSpPr>
          <p:cNvPr id="11" name="文字-11-部">
            <a:extLst xmlns:a="http://schemas.openxmlformats.org/drawingml/2006/main">
              <a:ext uri="{FF2B5EF4-FFF2-40B4-BE49-F238E27FC236}">
                <a16:creationId xmlns:a16="http://schemas.microsoft.com/office/drawing/2014/main" id="{BE18053E-B00F-47ED-8B28-D9043A80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2705100"/>
            <a:ext cx="57881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</a:t>
            </a:r>
          </a:p>
        </p:txBody>
      </p:sp>
      <p:sp>
        <p:nvSpPr>
          <p:cNvPr id="12" name="文字-12-组">
            <a:extLst xmlns:a="http://schemas.openxmlformats.org/drawingml/2006/main">
              <a:ext uri="{FF2B5EF4-FFF2-40B4-BE49-F238E27FC236}">
                <a16:creationId xmlns:a16="http://schemas.microsoft.com/office/drawing/2014/main" id="{9F5B6CDC-5A4B-4D4F-AA11-5704E30E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3002280"/>
            <a:ext cx="57881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</a:t>
            </a:r>
          </a:p>
        </p:txBody>
      </p:sp>
      <p:sp>
        <p:nvSpPr>
          <p:cNvPr id="13" name="文字-13-成">
            <a:extLst xmlns:a="http://schemas.openxmlformats.org/drawingml/2006/main">
              <a:ext uri="{FF2B5EF4-FFF2-40B4-BE49-F238E27FC236}">
                <a16:creationId xmlns:a16="http://schemas.microsoft.com/office/drawing/2014/main" id="{1305AAC3-0056-4FAD-A975-4C785382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3299460"/>
            <a:ext cx="57881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</a:t>
            </a:r>
          </a:p>
        </p:txBody>
      </p:sp>
      <p:sp>
        <p:nvSpPr>
          <p:cNvPr id="14" name="文字-14-填写要素一">
            <a:extLst xmlns:a="http://schemas.openxmlformats.org/drawingml/2006/main">
              <a:ext uri="{FF2B5EF4-FFF2-40B4-BE49-F238E27FC236}">
                <a16:creationId xmlns:a16="http://schemas.microsoft.com/office/drawing/2014/main" id="{D6E82818-4208-4745-B317-E405C70A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367" y="2225040"/>
            <a:ext cx="1751669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组成要素一</a:t>
            </a:r>
          </a:p>
        </p:txBody>
      </p:sp>
      <p:sp>
        <p:nvSpPr>
          <p:cNvPr id="15" name="文字-15-填写要素二">
            <a:extLst xmlns:a="http://schemas.openxmlformats.org/drawingml/2006/main">
              <a:ext uri="{FF2B5EF4-FFF2-40B4-BE49-F238E27FC236}">
                <a16:creationId xmlns:a16="http://schemas.microsoft.com/office/drawing/2014/main" id="{D0CFADF2-23EE-4522-96C7-77579ADC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367" y="2804160"/>
            <a:ext cx="1751669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组成要素二</a:t>
            </a:r>
          </a:p>
        </p:txBody>
      </p:sp>
      <p:sp>
        <p:nvSpPr>
          <p:cNvPr id="16" name="文字-16-填写要素三">
            <a:extLst xmlns:a="http://schemas.openxmlformats.org/drawingml/2006/main">
              <a:ext uri="{FF2B5EF4-FFF2-40B4-BE49-F238E27FC236}">
                <a16:creationId xmlns:a16="http://schemas.microsoft.com/office/drawing/2014/main" id="{A3732F4C-23CA-4D67-BB99-623C7A7F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367" y="3383280"/>
            <a:ext cx="1751669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组成要素三</a:t>
            </a:r>
          </a:p>
        </p:txBody>
      </p:sp>
      <p:sp>
        <p:nvSpPr>
          <p:cNvPr id="17" name="对象-17">
            <a:extLst xmlns:a="http://schemas.openxmlformats.org/drawingml/2006/main">
              <a:ext uri="{FF2B5EF4-FFF2-40B4-BE49-F238E27FC236}">
                <a16:creationId xmlns:a16="http://schemas.microsoft.com/office/drawing/2014/main" id="{5ABDA896-F05D-4471-86B4-88431C5A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4114800"/>
            <a:ext cx="2482800" cy="1889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8" name="对象-18">
            <a:extLst xmlns:a="http://schemas.openxmlformats.org/drawingml/2006/main">
              <a:ext uri="{FF2B5EF4-FFF2-40B4-BE49-F238E27FC236}">
                <a16:creationId xmlns:a16="http://schemas.microsoft.com/office/drawing/2014/main" id="{9256ABD8-1ADB-4638-8562-EF4C3979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4114800"/>
            <a:ext cx="578812" cy="1889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文字-19-外">
            <a:extLst xmlns:a="http://schemas.openxmlformats.org/drawingml/2006/main">
              <a:ext uri="{FF2B5EF4-FFF2-40B4-BE49-F238E27FC236}">
                <a16:creationId xmlns:a16="http://schemas.microsoft.com/office/drawing/2014/main" id="{1A831AC5-617D-45B3-AF07-7FC845B5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4465320"/>
            <a:ext cx="57881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</a:t>
            </a:r>
          </a:p>
        </p:txBody>
      </p:sp>
      <p:sp>
        <p:nvSpPr>
          <p:cNvPr id="20" name="文字-20-部">
            <a:extLst xmlns:a="http://schemas.openxmlformats.org/drawingml/2006/main">
              <a:ext uri="{FF2B5EF4-FFF2-40B4-BE49-F238E27FC236}">
                <a16:creationId xmlns:a16="http://schemas.microsoft.com/office/drawing/2014/main" id="{22FE0A18-5CC3-446C-922C-1A7F7D36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4762500"/>
            <a:ext cx="57881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</a:t>
            </a:r>
          </a:p>
        </p:txBody>
      </p:sp>
      <p:sp>
        <p:nvSpPr>
          <p:cNvPr id="21" name="文字-21-作">
            <a:extLst xmlns:a="http://schemas.openxmlformats.org/drawingml/2006/main">
              <a:ext uri="{FF2B5EF4-FFF2-40B4-BE49-F238E27FC236}">
                <a16:creationId xmlns:a16="http://schemas.microsoft.com/office/drawing/2014/main" id="{FA6C225D-F548-4B25-952A-082DC6B6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5059680"/>
            <a:ext cx="57881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</a:t>
            </a:r>
          </a:p>
        </p:txBody>
      </p:sp>
      <p:sp>
        <p:nvSpPr>
          <p:cNvPr id="22" name="文字-22-用">
            <a:extLst xmlns:a="http://schemas.openxmlformats.org/drawingml/2006/main">
              <a:ext uri="{FF2B5EF4-FFF2-40B4-BE49-F238E27FC236}">
                <a16:creationId xmlns:a16="http://schemas.microsoft.com/office/drawing/2014/main" id="{9BA01685-87D2-4C62-BBB7-23BE2B42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95" y="5356860"/>
            <a:ext cx="57881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</a:t>
            </a:r>
          </a:p>
        </p:txBody>
      </p:sp>
      <p:sp>
        <p:nvSpPr>
          <p:cNvPr id="23" name="文字-23-填写要素一">
            <a:extLst xmlns:a="http://schemas.openxmlformats.org/drawingml/2006/main">
              <a:ext uri="{FF2B5EF4-FFF2-40B4-BE49-F238E27FC236}">
                <a16:creationId xmlns:a16="http://schemas.microsoft.com/office/drawing/2014/main" id="{2A52B0A1-F022-4764-BD89-9F555974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367" y="4282440"/>
            <a:ext cx="1751669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作用要素一</a:t>
            </a:r>
          </a:p>
        </p:txBody>
      </p:sp>
      <p:sp>
        <p:nvSpPr>
          <p:cNvPr id="24" name="文字-24-填写要素二">
            <a:extLst xmlns:a="http://schemas.openxmlformats.org/drawingml/2006/main">
              <a:ext uri="{FF2B5EF4-FFF2-40B4-BE49-F238E27FC236}">
                <a16:creationId xmlns:a16="http://schemas.microsoft.com/office/drawing/2014/main" id="{7C7A55BD-2AAF-4A61-84FF-1C80B5ED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367" y="4861560"/>
            <a:ext cx="1751669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作用要素二</a:t>
            </a:r>
          </a:p>
        </p:txBody>
      </p:sp>
      <p:sp>
        <p:nvSpPr>
          <p:cNvPr id="25" name="文字-25-填写要素三">
            <a:extLst xmlns:a="http://schemas.openxmlformats.org/drawingml/2006/main">
              <a:ext uri="{FF2B5EF4-FFF2-40B4-BE49-F238E27FC236}">
                <a16:creationId xmlns:a16="http://schemas.microsoft.com/office/drawing/2014/main" id="{45941AFB-854A-4224-A87B-D0A0C11A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5367" y="5440680"/>
            <a:ext cx="1751669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作用要素三</a:t>
            </a:r>
          </a:p>
        </p:txBody>
      </p:sp>
      <p:sp>
        <p:nvSpPr>
          <p:cNvPr id="26" name="文字-26-填写机理分析得到的关键认识与">
            <a:extLst xmlns:a="http://schemas.openxmlformats.org/drawingml/2006/main">
              <a:ext uri="{FF2B5EF4-FFF2-40B4-BE49-F238E27FC236}">
                <a16:creationId xmlns:a16="http://schemas.microsoft.com/office/drawing/2014/main" id="{0642A078-E9F6-4AFA-BD48-E539A535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195060"/>
            <a:ext cx="11454390" cy="434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机理分析形成的关键认识与研究贡献</a:t>
            </a:r>
          </a:p>
        </p:txBody>
      </p:sp>
    </p:spTree>
    <p:extLst>
      <p:ext uri="{BB962C8B-B14F-4D97-AF65-F5344CB8AC3E}">
        <p14:creationId xmlns:p14="http://schemas.microsoft.com/office/powerpoint/2010/main" val="921002905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结构-1">
            <a:extLst xmlns:a="http://schemas.openxmlformats.org/drawingml/2006/main">
              <a:ext uri="{FF2B5EF4-FFF2-40B4-BE49-F238E27FC236}">
                <a16:creationId xmlns:a16="http://schemas.microsoft.com/office/drawing/2014/main" id="{8C71B139-5798-4A41-A19A-61FADE3D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系统架构设计">
            <a:extLst xmlns:a="http://schemas.openxmlformats.org/drawingml/2006/main">
              <a:ext uri="{FF2B5EF4-FFF2-40B4-BE49-F238E27FC236}">
                <a16:creationId xmlns:a16="http://schemas.microsoft.com/office/drawing/2014/main" id="{51E6749D-2886-479C-93DF-4DE87A4C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系统架构设计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3752F30B-82C8-49D9-8328-D3179420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C75E01A2-F87F-46C1-AAE2-F32E6977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填写系统核心、执行主体、">
            <a:extLst xmlns:a="http://schemas.openxmlformats.org/drawingml/2006/main">
              <a:ext uri="{FF2B5EF4-FFF2-40B4-BE49-F238E27FC236}">
                <a16:creationId xmlns:a16="http://schemas.microsoft.com/office/drawing/2014/main" id="{19C84A6E-9D5C-49E9-BEB1-205F560F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填写系统核心、执行主体、外部能力与各模块职责，说明共同实现的应用目标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28096AAC-5ED3-4438-B23A-C7F4AB51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028825"/>
            <a:ext cx="11601450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7" name="文字-7-应用层">
            <a:extLst xmlns:a="http://schemas.openxmlformats.org/drawingml/2006/main">
              <a:ext uri="{FF2B5EF4-FFF2-40B4-BE49-F238E27FC236}">
                <a16:creationId xmlns:a16="http://schemas.microsoft.com/office/drawing/2014/main" id="{78A37467-04ED-476D-A2A2-EC7E73D7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19325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8" name="文字-8-功能一">
            <a:extLst xmlns:a="http://schemas.openxmlformats.org/drawingml/2006/main">
              <a:ext uri="{FF2B5EF4-FFF2-40B4-BE49-F238E27FC236}">
                <a16:creationId xmlns:a16="http://schemas.microsoft.com/office/drawing/2014/main" id="{E39B9F18-9E20-4760-ACFE-6016F2EA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09800"/>
            <a:ext cx="2257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功能一</a:t>
            </a:r>
          </a:p>
        </p:txBody>
      </p:sp>
      <p:sp>
        <p:nvSpPr>
          <p:cNvPr id="9" name="文字-9-功能二">
            <a:extLst xmlns:a="http://schemas.openxmlformats.org/drawingml/2006/main">
              <a:ext uri="{FF2B5EF4-FFF2-40B4-BE49-F238E27FC236}">
                <a16:creationId xmlns:a16="http://schemas.microsoft.com/office/drawing/2014/main" id="{3575C440-57B8-4AC0-AADF-BE664458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209800"/>
            <a:ext cx="2257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功能二</a:t>
            </a:r>
          </a:p>
        </p:txBody>
      </p:sp>
      <p:sp>
        <p:nvSpPr>
          <p:cNvPr id="10" name="文字-10-功能三">
            <a:extLst xmlns:a="http://schemas.openxmlformats.org/drawingml/2006/main">
              <a:ext uri="{FF2B5EF4-FFF2-40B4-BE49-F238E27FC236}">
                <a16:creationId xmlns:a16="http://schemas.microsoft.com/office/drawing/2014/main" id="{C22FF722-1A44-41C7-993F-A997A2FA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09800"/>
            <a:ext cx="2257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功能三</a:t>
            </a:r>
          </a:p>
        </p:txBody>
      </p:sp>
      <p:sp>
        <p:nvSpPr>
          <p:cNvPr id="11" name="文字-11-功能四">
            <a:extLst xmlns:a="http://schemas.openxmlformats.org/drawingml/2006/main">
              <a:ext uri="{FF2B5EF4-FFF2-40B4-BE49-F238E27FC236}">
                <a16:creationId xmlns:a16="http://schemas.microsoft.com/office/drawing/2014/main" id="{7A627EB8-84E5-4504-83C4-3EB3F114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09800"/>
            <a:ext cx="22574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功能四</a:t>
            </a:r>
          </a:p>
        </p:txBody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609B92E2-E98D-4A19-90D7-9C00F406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076575"/>
            <a:ext cx="116014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13" name="文字-13-核心架构">
            <a:extLst xmlns:a="http://schemas.openxmlformats.org/drawingml/2006/main">
              <a:ext uri="{FF2B5EF4-FFF2-40B4-BE49-F238E27FC236}">
                <a16:creationId xmlns:a16="http://schemas.microsoft.com/office/drawing/2014/main" id="{84957297-0105-42A2-89DF-2D35045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0400"/>
            <a:ext cx="95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  <a:p xmlns:a="http://schemas.openxmlformats.org/drawingml/2006/main">
            <a:pPr algn="ctr">
              <a:defRPr sz="18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14" name="文字-14-知识与配置管理">
            <a:extLst xmlns:a="http://schemas.openxmlformats.org/drawingml/2006/main">
              <a:ext uri="{FF2B5EF4-FFF2-40B4-BE49-F238E27FC236}">
                <a16:creationId xmlns:a16="http://schemas.microsoft.com/office/drawing/2014/main" id="{75AC736E-92A8-417F-8DAF-3269F69C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389572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知识与配置管理</a:t>
            </a:r>
          </a:p>
        </p:txBody>
      </p:sp>
      <p:sp>
        <p:nvSpPr>
          <p:cNvPr id="15" name="文字-15-事件与状态管理">
            <a:extLst xmlns:a="http://schemas.openxmlformats.org/drawingml/2006/main">
              <a:ext uri="{FF2B5EF4-FFF2-40B4-BE49-F238E27FC236}">
                <a16:creationId xmlns:a16="http://schemas.microsoft.com/office/drawing/2014/main" id="{BCAB52A2-FFD6-4AD6-BCCE-C7F67D62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00400"/>
            <a:ext cx="44958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事件与状态管理</a:t>
            </a:r>
          </a:p>
        </p:txBody>
      </p:sp>
      <p:sp>
        <p:nvSpPr>
          <p:cNvPr id="16" name="连线-16">
            <a:extLst xmlns:a="http://schemas.openxmlformats.org/drawingml/2006/main">
              <a:ext uri="{FF2B5EF4-FFF2-40B4-BE49-F238E27FC236}">
                <a16:creationId xmlns:a16="http://schemas.microsoft.com/office/drawing/2014/main" id="{95675A3B-98A6-472D-9918-7C92070A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600325" y="28384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17" name="结构-17">
            <a:extLst xmlns:a="http://schemas.openxmlformats.org/drawingml/2006/main">
              <a:ext uri="{FF2B5EF4-FFF2-40B4-BE49-F238E27FC236}">
                <a16:creationId xmlns:a16="http://schemas.microsoft.com/office/drawing/2014/main" id="{96D7D793-2F26-4A9E-8068-D24BD92E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938" y="2838450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0"/>
                </a:moveTo>
                <a:lnTo>
                  <a:pt x="0" y="123825"/>
                </a:lnTo>
                <a:lnTo>
                  <a:pt x="104775" y="12382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0514B555-EC55-4EFD-9CFA-35958511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181725" y="28384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C5743689-17FE-4AB6-B25A-1458E64B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338" y="2838450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0"/>
                </a:moveTo>
                <a:lnTo>
                  <a:pt x="0" y="123825"/>
                </a:lnTo>
                <a:lnTo>
                  <a:pt x="104775" y="12382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0" name="连线-20">
            <a:extLst xmlns:a="http://schemas.openxmlformats.org/drawingml/2006/main">
              <a:ext uri="{FF2B5EF4-FFF2-40B4-BE49-F238E27FC236}">
                <a16:creationId xmlns:a16="http://schemas.microsoft.com/office/drawing/2014/main" id="{7713834A-52E4-4DD8-A4E4-C0E2C56B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258425" y="283845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21" name="结构-21">
            <a:extLst xmlns:a="http://schemas.openxmlformats.org/drawingml/2006/main">
              <a:ext uri="{FF2B5EF4-FFF2-40B4-BE49-F238E27FC236}">
                <a16:creationId xmlns:a16="http://schemas.microsoft.com/office/drawing/2014/main" id="{A2438D18-EDA4-4AFE-81AF-7780049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038" y="2838450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0"/>
                </a:moveTo>
                <a:lnTo>
                  <a:pt x="0" y="123825"/>
                </a:lnTo>
                <a:lnTo>
                  <a:pt x="104775" y="12382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2" name="文字-22-交互端">
            <a:extLst xmlns:a="http://schemas.openxmlformats.org/drawingml/2006/main">
              <a:ext uri="{FF2B5EF4-FFF2-40B4-BE49-F238E27FC236}">
                <a16:creationId xmlns:a16="http://schemas.microsoft.com/office/drawing/2014/main" id="{0A412480-7F2C-4DC6-A0C9-D5DB3B46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交互端</a:t>
            </a:r>
          </a:p>
        </p:txBody>
      </p:sp>
      <p:sp>
        <p:nvSpPr>
          <p:cNvPr id="23" name="结构-23">
            <a:extLst xmlns:a="http://schemas.openxmlformats.org/drawingml/2006/main">
              <a:ext uri="{FF2B5EF4-FFF2-40B4-BE49-F238E27FC236}">
                <a16:creationId xmlns:a16="http://schemas.microsoft.com/office/drawing/2014/main" id="{51F1BB0A-5A72-42F3-B78A-98258775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1381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24" name="文字-24-能力一">
            <a:extLst xmlns:a="http://schemas.openxmlformats.org/drawingml/2006/main">
              <a:ext uri="{FF2B5EF4-FFF2-40B4-BE49-F238E27FC236}">
                <a16:creationId xmlns:a16="http://schemas.microsoft.com/office/drawing/2014/main" id="{0D215839-E406-41CB-8F9E-0DD4E7EA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381500"/>
            <a:ext cx="1247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能力一</a:t>
            </a:r>
          </a:p>
        </p:txBody>
      </p:sp>
      <p:sp>
        <p:nvSpPr>
          <p:cNvPr id="25" name="文字-25-能力二">
            <a:extLst xmlns:a="http://schemas.openxmlformats.org/drawingml/2006/main">
              <a:ext uri="{FF2B5EF4-FFF2-40B4-BE49-F238E27FC236}">
                <a16:creationId xmlns:a16="http://schemas.microsoft.com/office/drawing/2014/main" id="{5CE28F29-27C7-43AF-8A9E-63DA68D0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724400"/>
            <a:ext cx="1247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能力二</a:t>
            </a:r>
          </a:p>
        </p:txBody>
      </p:sp>
      <p:sp>
        <p:nvSpPr>
          <p:cNvPr id="26" name="文字-26-能力三">
            <a:extLst xmlns:a="http://schemas.openxmlformats.org/drawingml/2006/main">
              <a:ext uri="{FF2B5EF4-FFF2-40B4-BE49-F238E27FC236}">
                <a16:creationId xmlns:a16="http://schemas.microsoft.com/office/drawing/2014/main" id="{4DBBA202-95A3-459B-ADBA-6CB5029A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67300"/>
            <a:ext cx="12477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能力三</a:t>
            </a:r>
          </a:p>
        </p:txBody>
      </p:sp>
      <p:sp>
        <p:nvSpPr>
          <p:cNvPr id="27" name="文字-27-业务网关">
            <a:extLst xmlns:a="http://schemas.openxmlformats.org/drawingml/2006/main">
              <a:ext uri="{FF2B5EF4-FFF2-40B4-BE49-F238E27FC236}">
                <a16:creationId xmlns:a16="http://schemas.microsoft.com/office/drawing/2014/main" id="{86A1605C-B77F-4822-A694-BBB44C4A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14775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业务网关</a:t>
            </a:r>
          </a:p>
        </p:txBody>
      </p:sp>
      <p:sp>
        <p:nvSpPr>
          <p:cNvPr id="28" name="结构-28">
            <a:extLst xmlns:a="http://schemas.openxmlformats.org/drawingml/2006/main">
              <a:ext uri="{FF2B5EF4-FFF2-40B4-BE49-F238E27FC236}">
                <a16:creationId xmlns:a16="http://schemas.microsoft.com/office/drawing/2014/main" id="{3FA9147D-5101-4DA8-9171-A0C245ED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305300"/>
            <a:ext cx="1562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29" name="文字-29-能力一">
            <a:extLst xmlns:a="http://schemas.openxmlformats.org/drawingml/2006/main">
              <a:ext uri="{FF2B5EF4-FFF2-40B4-BE49-F238E27FC236}">
                <a16:creationId xmlns:a16="http://schemas.microsoft.com/office/drawing/2014/main" id="{BA292A2F-E4DE-4A41-BF1F-6DEAFA2E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81500"/>
            <a:ext cx="1428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能力一</a:t>
            </a:r>
          </a:p>
        </p:txBody>
      </p:sp>
      <p:sp>
        <p:nvSpPr>
          <p:cNvPr id="30" name="文字-30-能力二">
            <a:extLst xmlns:a="http://schemas.openxmlformats.org/drawingml/2006/main">
              <a:ext uri="{FF2B5EF4-FFF2-40B4-BE49-F238E27FC236}">
                <a16:creationId xmlns:a16="http://schemas.microsoft.com/office/drawing/2014/main" id="{E86EE744-F649-4027-AF43-B9E790F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724400"/>
            <a:ext cx="1428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能力二</a:t>
            </a:r>
          </a:p>
        </p:txBody>
      </p:sp>
      <p:sp>
        <p:nvSpPr>
          <p:cNvPr id="31" name="文字-31-能力三">
            <a:extLst xmlns:a="http://schemas.openxmlformats.org/drawingml/2006/main">
              <a:ext uri="{FF2B5EF4-FFF2-40B4-BE49-F238E27FC236}">
                <a16:creationId xmlns:a16="http://schemas.microsoft.com/office/drawing/2014/main" id="{24F7FCB1-D652-4E54-A035-F8F2C34A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67300"/>
            <a:ext cx="1428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能力三</a:t>
            </a:r>
          </a:p>
        </p:txBody>
      </p:sp>
      <p:sp>
        <p:nvSpPr>
          <p:cNvPr id="32" name="文字-32-核心处理与执行模块">
            <a:extLst xmlns:a="http://schemas.openxmlformats.org/drawingml/2006/main">
              <a:ext uri="{FF2B5EF4-FFF2-40B4-BE49-F238E27FC236}">
                <a16:creationId xmlns:a16="http://schemas.microsoft.com/office/drawing/2014/main" id="{CBE89A07-F35F-4247-A6C4-46B40D64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14775"/>
            <a:ext cx="433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核心处理与执行模块</a:t>
            </a:r>
          </a:p>
        </p:txBody>
      </p:sp>
      <p:sp>
        <p:nvSpPr>
          <p:cNvPr id="33" name="结构-33">
            <a:extLst xmlns:a="http://schemas.openxmlformats.org/drawingml/2006/main">
              <a:ext uri="{FF2B5EF4-FFF2-40B4-BE49-F238E27FC236}">
                <a16:creationId xmlns:a16="http://schemas.microsoft.com/office/drawing/2014/main" id="{5C5207B6-0746-4893-A494-B4962F0C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05300"/>
            <a:ext cx="4333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34" name="文字-34-分析模块">
            <a:extLst xmlns:a="http://schemas.openxmlformats.org/drawingml/2006/main">
              <a:ext uri="{FF2B5EF4-FFF2-40B4-BE49-F238E27FC236}">
                <a16:creationId xmlns:a16="http://schemas.microsoft.com/office/drawing/2014/main" id="{FB574B53-5F4E-4FC3-9F2F-D313DAA9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38650"/>
            <a:ext cx="17430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分析模块</a:t>
            </a:r>
          </a:p>
        </p:txBody>
      </p:sp>
      <p:sp>
        <p:nvSpPr>
          <p:cNvPr id="35" name="文字-35-检索模块">
            <a:extLst xmlns:a="http://schemas.openxmlformats.org/drawingml/2006/main">
              <a:ext uri="{FF2B5EF4-FFF2-40B4-BE49-F238E27FC236}">
                <a16:creationId xmlns:a16="http://schemas.microsoft.com/office/drawing/2014/main" id="{B99F72F5-E0F0-4E53-8194-48EE3FE3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38650"/>
            <a:ext cx="18764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检索模块</a:t>
            </a:r>
          </a:p>
        </p:txBody>
      </p:sp>
      <p:sp>
        <p:nvSpPr>
          <p:cNvPr id="36" name="文字-36-约束">
            <a:extLst xmlns:a="http://schemas.openxmlformats.org/drawingml/2006/main">
              <a:ext uri="{FF2B5EF4-FFF2-40B4-BE49-F238E27FC236}">
                <a16:creationId xmlns:a16="http://schemas.microsoft.com/office/drawing/2014/main" id="{55031C91-5DB2-4DD0-90C6-07330A8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019675"/>
            <a:ext cx="1171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37" name="文字-37-优化">
            <a:extLst xmlns:a="http://schemas.openxmlformats.org/drawingml/2006/main">
              <a:ext uri="{FF2B5EF4-FFF2-40B4-BE49-F238E27FC236}">
                <a16:creationId xmlns:a16="http://schemas.microsoft.com/office/drawing/2014/main" id="{ECF1765F-26C6-4226-84B8-216CDDD8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019675"/>
            <a:ext cx="1171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优化</a:t>
            </a:r>
          </a:p>
        </p:txBody>
      </p:sp>
      <p:sp>
        <p:nvSpPr>
          <p:cNvPr id="38" name="文字-38-求解">
            <a:extLst xmlns:a="http://schemas.openxmlformats.org/drawingml/2006/main">
              <a:ext uri="{FF2B5EF4-FFF2-40B4-BE49-F238E27FC236}">
                <a16:creationId xmlns:a16="http://schemas.microsoft.com/office/drawing/2014/main" id="{A1DE4887-76D6-4C2C-9B45-5CAC5908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19675"/>
            <a:ext cx="1171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求解</a:t>
            </a:r>
          </a:p>
        </p:txBody>
      </p:sp>
      <p:sp>
        <p:nvSpPr>
          <p:cNvPr id="39" name="文字-39-模型网关">
            <a:extLst xmlns:a="http://schemas.openxmlformats.org/drawingml/2006/main">
              <a:ext uri="{FF2B5EF4-FFF2-40B4-BE49-F238E27FC236}">
                <a16:creationId xmlns:a16="http://schemas.microsoft.com/office/drawing/2014/main" id="{A9231028-F856-477F-9FF8-C3DDD672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14775"/>
            <a:ext cx="1590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模型网关</a:t>
            </a:r>
          </a:p>
        </p:txBody>
      </p:sp>
      <p:sp>
        <p:nvSpPr>
          <p:cNvPr id="40" name="结构-40">
            <a:extLst xmlns:a="http://schemas.openxmlformats.org/drawingml/2006/main">
              <a:ext uri="{FF2B5EF4-FFF2-40B4-BE49-F238E27FC236}">
                <a16:creationId xmlns:a16="http://schemas.microsoft.com/office/drawing/2014/main" id="{FB97FEFF-B1A6-4075-A6A5-6FB30DB6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1590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41" name="文字-41-能力一">
            <a:extLst xmlns:a="http://schemas.openxmlformats.org/drawingml/2006/main">
              <a:ext uri="{FF2B5EF4-FFF2-40B4-BE49-F238E27FC236}">
                <a16:creationId xmlns:a16="http://schemas.microsoft.com/office/drawing/2014/main" id="{3C2B65E3-496C-40F1-B371-34674F05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81500"/>
            <a:ext cx="14573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能力一</a:t>
            </a:r>
          </a:p>
        </p:txBody>
      </p:sp>
      <p:sp>
        <p:nvSpPr>
          <p:cNvPr id="42" name="文字-42-能力二">
            <a:extLst xmlns:a="http://schemas.openxmlformats.org/drawingml/2006/main">
              <a:ext uri="{FF2B5EF4-FFF2-40B4-BE49-F238E27FC236}">
                <a16:creationId xmlns:a16="http://schemas.microsoft.com/office/drawing/2014/main" id="{1D035298-1166-4E59-A820-3C21B8DB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24400"/>
            <a:ext cx="14573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能力二</a:t>
            </a:r>
          </a:p>
        </p:txBody>
      </p:sp>
      <p:sp>
        <p:nvSpPr>
          <p:cNvPr id="43" name="文字-43-能力三">
            <a:extLst xmlns:a="http://schemas.openxmlformats.org/drawingml/2006/main">
              <a:ext uri="{FF2B5EF4-FFF2-40B4-BE49-F238E27FC236}">
                <a16:creationId xmlns:a16="http://schemas.microsoft.com/office/drawing/2014/main" id="{9021B819-CD1F-4734-8EB9-C0DB52AD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067300"/>
            <a:ext cx="14573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能力三</a:t>
            </a:r>
          </a:p>
        </p:txBody>
      </p:sp>
      <p:sp>
        <p:nvSpPr>
          <p:cNvPr id="44" name="文字-44-模型层">
            <a:extLst xmlns:a="http://schemas.openxmlformats.org/drawingml/2006/main">
              <a:ext uri="{FF2B5EF4-FFF2-40B4-BE49-F238E27FC236}">
                <a16:creationId xmlns:a16="http://schemas.microsoft.com/office/drawing/2014/main" id="{CFC451F0-C2F9-4F57-8D5B-8A83F26B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914775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模型层</a:t>
            </a:r>
          </a:p>
        </p:txBody>
      </p:sp>
      <p:sp>
        <p:nvSpPr>
          <p:cNvPr id="45" name="结构-45">
            <a:extLst xmlns:a="http://schemas.openxmlformats.org/drawingml/2006/main">
              <a:ext uri="{FF2B5EF4-FFF2-40B4-BE49-F238E27FC236}">
                <a16:creationId xmlns:a16="http://schemas.microsoft.com/office/drawing/2014/main" id="{93921264-E0E3-4F15-83B0-8A2D546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305300"/>
            <a:ext cx="1581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46" name="文字-46-能力一">
            <a:extLst xmlns:a="http://schemas.openxmlformats.org/drawingml/2006/main">
              <a:ext uri="{FF2B5EF4-FFF2-40B4-BE49-F238E27FC236}">
                <a16:creationId xmlns:a16="http://schemas.microsoft.com/office/drawing/2014/main" id="{133B9A6C-BC0D-46DF-BAA9-8BE4C7C8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81500"/>
            <a:ext cx="1447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能力一</a:t>
            </a:r>
          </a:p>
        </p:txBody>
      </p:sp>
      <p:sp>
        <p:nvSpPr>
          <p:cNvPr id="47" name="文字-47-能力二">
            <a:extLst xmlns:a="http://schemas.openxmlformats.org/drawingml/2006/main">
              <a:ext uri="{FF2B5EF4-FFF2-40B4-BE49-F238E27FC236}">
                <a16:creationId xmlns:a16="http://schemas.microsoft.com/office/drawing/2014/main" id="{28C09B35-C336-4773-8A68-C1E81C04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24400"/>
            <a:ext cx="1447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能力二</a:t>
            </a:r>
          </a:p>
        </p:txBody>
      </p:sp>
      <p:sp>
        <p:nvSpPr>
          <p:cNvPr id="48" name="文字-48-能力三">
            <a:extLst xmlns:a="http://schemas.openxmlformats.org/drawingml/2006/main">
              <a:ext uri="{FF2B5EF4-FFF2-40B4-BE49-F238E27FC236}">
                <a16:creationId xmlns:a16="http://schemas.microsoft.com/office/drawing/2014/main" id="{3212306A-B922-43D6-B3D7-3A54F580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067300"/>
            <a:ext cx="1447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能力三</a:t>
            </a:r>
          </a:p>
        </p:txBody>
      </p:sp>
      <p:sp>
        <p:nvSpPr>
          <p:cNvPr id="49" name="文字-49-观测、评价与质量保障">
            <a:extLst xmlns:a="http://schemas.openxmlformats.org/drawingml/2006/main">
              <a:ext uri="{FF2B5EF4-FFF2-40B4-BE49-F238E27FC236}">
                <a16:creationId xmlns:a16="http://schemas.microsoft.com/office/drawing/2014/main" id="{605D4712-8DD0-4B9C-B590-678EEE0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53100"/>
            <a:ext cx="3971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观测、评价与质量保障</a:t>
            </a:r>
          </a:p>
        </p:txBody>
      </p:sp>
      <p:sp>
        <p:nvSpPr>
          <p:cNvPr id="50" name="文字-50-工具集与知识／数据基础">
            <a:extLst xmlns:a="http://schemas.openxmlformats.org/drawingml/2006/main">
              <a:ext uri="{FF2B5EF4-FFF2-40B4-BE49-F238E27FC236}">
                <a16:creationId xmlns:a16="http://schemas.microsoft.com/office/drawing/2014/main" id="{003E82C3-24E4-4B9F-A865-ACECA378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75310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工具集与知识／数据基础</a:t>
            </a:r>
          </a:p>
        </p:txBody>
      </p:sp>
    </p:spTree>
    <p:extLst>
      <p:ext uri="{BB962C8B-B14F-4D97-AF65-F5344CB8AC3E}">
        <p14:creationId xmlns:p14="http://schemas.microsoft.com/office/powerpoint/2010/main" val="184248178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对象-1">
            <a:extLst xmlns:a="http://schemas.openxmlformats.org/drawingml/2006/main">
              <a:ext uri="{FF2B5EF4-FFF2-40B4-BE49-F238E27FC236}">
                <a16:creationId xmlns:a16="http://schemas.microsoft.com/office/drawing/2014/main" id="{5CD1F88F-5899-46B4-B654-04316B84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73" y="609600"/>
            <a:ext cx="6778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算">
            <a:extLst xmlns:a="http://schemas.openxmlformats.org/drawingml/2006/main">
              <a:ext uri="{FF2B5EF4-FFF2-40B4-BE49-F238E27FC236}">
                <a16:creationId xmlns:a16="http://schemas.microsoft.com/office/drawing/2014/main" id="{25D25579-6BCD-47F2-B26C-1134A5A1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73" y="663702"/>
            <a:ext cx="67782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</a:t>
            </a:r>
          </a:p>
        </p:txBody>
      </p:sp>
      <p:sp>
        <p:nvSpPr>
          <p:cNvPr id="3" name="文字-3-力">
            <a:extLst xmlns:a="http://schemas.openxmlformats.org/drawingml/2006/main">
              <a:ext uri="{FF2B5EF4-FFF2-40B4-BE49-F238E27FC236}">
                <a16:creationId xmlns:a16="http://schemas.microsoft.com/office/drawing/2014/main" id="{6135D7B2-3DE6-490F-B213-96A7662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73" y="950976"/>
            <a:ext cx="67782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力</a:t>
            </a:r>
          </a:p>
        </p:txBody>
      </p:sp>
      <p:sp>
        <p:nvSpPr>
          <p:cNvPr id="4" name="文字-4-支">
            <a:extLst xmlns:a="http://schemas.openxmlformats.org/drawingml/2006/main">
              <a:ext uri="{FF2B5EF4-FFF2-40B4-BE49-F238E27FC236}">
                <a16:creationId xmlns:a16="http://schemas.microsoft.com/office/drawing/2014/main" id="{E3C43B60-7C35-4FA3-990A-AC8FFDC9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73" y="1238250"/>
            <a:ext cx="67782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</a:t>
            </a:r>
          </a:p>
        </p:txBody>
      </p:sp>
      <p:sp>
        <p:nvSpPr>
          <p:cNvPr id="5" name="文字-5-撑">
            <a:extLst xmlns:a="http://schemas.openxmlformats.org/drawingml/2006/main">
              <a:ext uri="{FF2B5EF4-FFF2-40B4-BE49-F238E27FC236}">
                <a16:creationId xmlns:a16="http://schemas.microsoft.com/office/drawing/2014/main" id="{1666ABE1-4ED7-448F-8959-091E0688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73" y="1525524"/>
            <a:ext cx="67782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撑</a:t>
            </a:r>
          </a:p>
        </p:txBody>
      </p:sp>
      <p:sp>
        <p:nvSpPr>
          <p:cNvPr id="6" name="对象-6">
            <a:extLst xmlns:a="http://schemas.openxmlformats.org/drawingml/2006/main">
              <a:ext uri="{FF2B5EF4-FFF2-40B4-BE49-F238E27FC236}">
                <a16:creationId xmlns:a16="http://schemas.microsoft.com/office/drawing/2014/main" id="{D9CBB4E5-133F-4F09-A387-537148BD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608" y="609600"/>
            <a:ext cx="67782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文字-7-数">
            <a:extLst xmlns:a="http://schemas.openxmlformats.org/drawingml/2006/main">
              <a:ext uri="{FF2B5EF4-FFF2-40B4-BE49-F238E27FC236}">
                <a16:creationId xmlns:a16="http://schemas.microsoft.com/office/drawing/2014/main" id="{E510DDC0-CC27-4045-A51B-1BF65A23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608" y="663702"/>
            <a:ext cx="67782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</a:t>
            </a:r>
          </a:p>
        </p:txBody>
      </p:sp>
      <p:sp>
        <p:nvSpPr>
          <p:cNvPr id="8" name="文字-8-据">
            <a:extLst xmlns:a="http://schemas.openxmlformats.org/drawingml/2006/main">
              <a:ext uri="{FF2B5EF4-FFF2-40B4-BE49-F238E27FC236}">
                <a16:creationId xmlns:a16="http://schemas.microsoft.com/office/drawing/2014/main" id="{1FDB17A8-3194-40CD-B871-A284C2A6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608" y="950976"/>
            <a:ext cx="67782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据</a:t>
            </a:r>
          </a:p>
        </p:txBody>
      </p:sp>
      <p:sp>
        <p:nvSpPr>
          <p:cNvPr id="9" name="文字-9-支">
            <a:extLst xmlns:a="http://schemas.openxmlformats.org/drawingml/2006/main">
              <a:ext uri="{FF2B5EF4-FFF2-40B4-BE49-F238E27FC236}">
                <a16:creationId xmlns:a16="http://schemas.microsoft.com/office/drawing/2014/main" id="{09881F90-E546-434C-A591-2D076D73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608" y="1238250"/>
            <a:ext cx="67782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</a:t>
            </a:r>
          </a:p>
        </p:txBody>
      </p:sp>
      <p:sp>
        <p:nvSpPr>
          <p:cNvPr id="10" name="文字-10-撑">
            <a:extLst xmlns:a="http://schemas.openxmlformats.org/drawingml/2006/main">
              <a:ext uri="{FF2B5EF4-FFF2-40B4-BE49-F238E27FC236}">
                <a16:creationId xmlns:a16="http://schemas.microsoft.com/office/drawing/2014/main" id="{F8565451-267C-4B4B-8F80-E839E4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0608" y="1525524"/>
            <a:ext cx="677820" cy="287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撑</a:t>
            </a:r>
          </a:p>
        </p:txBody>
      </p:sp>
      <p:sp>
        <p:nvSpPr>
          <p:cNvPr id="11" name="文字-11-基础设施与共同条件">
            <a:extLst xmlns:a="http://schemas.openxmlformats.org/drawingml/2006/main">
              <a:ext uri="{FF2B5EF4-FFF2-40B4-BE49-F238E27FC236}">
                <a16:creationId xmlns:a16="http://schemas.microsoft.com/office/drawing/2014/main" id="{F1C12BE2-48E7-4E84-83EF-35FBCB0B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1752" y="609600"/>
            <a:ext cx="2932141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基础设施与共同条件</a:t>
            </a:r>
          </a:p>
        </p:txBody>
      </p:sp>
      <p:sp>
        <p:nvSpPr>
          <p:cNvPr id="12" name="文字-12-核心逻辑">
            <a:extLst xmlns:a="http://schemas.openxmlformats.org/drawingml/2006/main">
              <a:ext uri="{FF2B5EF4-FFF2-40B4-BE49-F238E27FC236}">
                <a16:creationId xmlns:a16="http://schemas.microsoft.com/office/drawing/2014/main" id="{29972FF9-8A05-4072-ACAD-C25780EB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68" y="586740"/>
            <a:ext cx="1172856" cy="861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逻辑</a:t>
            </a:r>
          </a:p>
        </p:txBody>
      </p:sp>
      <p:sp>
        <p:nvSpPr>
          <p:cNvPr id="13" name="文字-13-安全性能">
            <a:extLst xmlns:a="http://schemas.openxmlformats.org/drawingml/2006/main">
              <a:ext uri="{FF2B5EF4-FFF2-40B4-BE49-F238E27FC236}">
                <a16:creationId xmlns:a16="http://schemas.microsoft.com/office/drawing/2014/main" id="{CCE61F95-D6BE-4358-A48C-2A165F8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2437" y="586740"/>
            <a:ext cx="1172856" cy="8610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14" name="文字-14-工具条件">
            <a:extLst xmlns:a="http://schemas.openxmlformats.org/drawingml/2006/main">
              <a:ext uri="{FF2B5EF4-FFF2-40B4-BE49-F238E27FC236}">
                <a16:creationId xmlns:a16="http://schemas.microsoft.com/office/drawing/2014/main" id="{12D1C458-EF7C-4CC3-B4C4-530A212C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63" y="1295400"/>
            <a:ext cx="959610" cy="830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CFAC4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15" name="文字-15-计算资源">
            <a:extLst xmlns:a="http://schemas.openxmlformats.org/drawingml/2006/main">
              <a:ext uri="{FF2B5EF4-FFF2-40B4-BE49-F238E27FC236}">
                <a16:creationId xmlns:a16="http://schemas.microsoft.com/office/drawing/2014/main" id="{B7777A6F-7495-4D58-845F-DEDBFF46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423" y="1295400"/>
            <a:ext cx="959610" cy="830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CFAC4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16" name="文字-16-数据来源">
            <a:extLst xmlns:a="http://schemas.openxmlformats.org/drawingml/2006/main">
              <a:ext uri="{FF2B5EF4-FFF2-40B4-BE49-F238E27FC236}">
                <a16:creationId xmlns:a16="http://schemas.microsoft.com/office/drawing/2014/main" id="{BD153FCC-BF2B-4407-9ACF-D79A51D5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1119" y="1295400"/>
            <a:ext cx="959610" cy="830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CFAC4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7" name="文字-17-算法资源">
            <a:extLst xmlns:a="http://schemas.openxmlformats.org/drawingml/2006/main">
              <a:ext uri="{FF2B5EF4-FFF2-40B4-BE49-F238E27FC236}">
                <a16:creationId xmlns:a16="http://schemas.microsoft.com/office/drawing/2014/main" id="{00C840DB-A013-4C8B-8570-BAF9111B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895" y="1295400"/>
            <a:ext cx="959610" cy="830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CFAC4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算法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资源</a:t>
            </a:r>
          </a:p>
        </p:txBody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DA8E5D5B-212E-420B-82AF-A20BDCA8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2784" y="449580"/>
            <a:ext cx="729" cy="5257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68">
            <a:solidFill>
              <a:srgbClr val="B95F24"/>
            </a:solidFill>
            <a:prstDash val="solid"/>
          </a:ln>
        </p:spPr>
      </p:sp>
      <p:sp>
        <p:nvSpPr>
          <p:cNvPr id="19" name="连线-19">
            <a:extLst xmlns:a="http://schemas.openxmlformats.org/drawingml/2006/main">
              <a:ext uri="{FF2B5EF4-FFF2-40B4-BE49-F238E27FC236}">
                <a16:creationId xmlns:a16="http://schemas.microsoft.com/office/drawing/2014/main" id="{A2048531-ED10-4478-8B49-13C5EAA7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2784" y="449580"/>
            <a:ext cx="2338097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68">
            <a:solidFill>
              <a:srgbClr val="B95F24"/>
            </a:solidFill>
            <a:prstDash val="solid"/>
          </a:ln>
        </p:spPr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83880265-12C1-4528-84A9-4F1490EE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714" y="369570"/>
            <a:ext cx="175167" cy="160020"/>
          </a:xfrm>
          <a:custGeom xmlns:a="http://schemas.openxmlformats.org/drawingml/2006/main">
            <a:pathLst>
              <a:path w="228933" h="209137">
                <a:moveTo>
                  <a:pt x="228933" y="104569"/>
                </a:moveTo>
                <a:lnTo>
                  <a:pt x="0" y="0"/>
                </a:lnTo>
                <a:lnTo>
                  <a:pt x="0" y="209137"/>
                </a:lnTo>
                <a:close/>
              </a:path>
            </a:pathLst>
          </a:cu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</a:ln>
        </p:spPr>
      </p:sp>
      <p:sp>
        <p:nvSpPr>
          <p:cNvPr id="21" name="连线-21">
            <a:extLst xmlns:a="http://schemas.openxmlformats.org/drawingml/2006/main">
              <a:ext uri="{FF2B5EF4-FFF2-40B4-BE49-F238E27FC236}">
                <a16:creationId xmlns:a16="http://schemas.microsoft.com/office/drawing/2014/main" id="{DFE76475-47C6-411E-A9EE-248B1590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084448" y="449580"/>
            <a:ext cx="729" cy="5257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68">
            <a:solidFill>
              <a:srgbClr val="B95F24"/>
            </a:solidFill>
            <a:prstDash val="solid"/>
          </a:ln>
        </p:spPr>
      </p:sp>
      <p:sp>
        <p:nvSpPr>
          <p:cNvPr id="22" name="连线-22">
            <a:extLst xmlns:a="http://schemas.openxmlformats.org/drawingml/2006/main">
              <a:ext uri="{FF2B5EF4-FFF2-40B4-BE49-F238E27FC236}">
                <a16:creationId xmlns:a16="http://schemas.microsoft.com/office/drawing/2014/main" id="{7CB0BBA3-73D8-4A21-BA66-AE8ECAA3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104301" y="449580"/>
            <a:ext cx="198014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0168">
            <a:solidFill>
              <a:srgbClr val="B95F24"/>
            </a:solidFill>
            <a:prstDash val="solid"/>
          </a:ln>
        </p:spPr>
      </p:sp>
      <p:sp>
        <p:nvSpPr>
          <p:cNvPr id="23" name="结构-23">
            <a:extLst xmlns:a="http://schemas.openxmlformats.org/drawingml/2006/main">
              <a:ext uri="{FF2B5EF4-FFF2-40B4-BE49-F238E27FC236}">
                <a16:creationId xmlns:a16="http://schemas.microsoft.com/office/drawing/2014/main" id="{67387A54-519D-4863-B7A2-8962D2CF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301" y="369570"/>
            <a:ext cx="175167" cy="160020"/>
          </a:xfrm>
          <a:custGeom xmlns:a="http://schemas.openxmlformats.org/drawingml/2006/main">
            <a:pathLst>
              <a:path w="228933" h="209137">
                <a:moveTo>
                  <a:pt x="0" y="104569"/>
                </a:moveTo>
                <a:lnTo>
                  <a:pt x="228933" y="209137"/>
                </a:lnTo>
                <a:lnTo>
                  <a:pt x="228933" y="0"/>
                </a:lnTo>
                <a:close/>
              </a:path>
            </a:pathLst>
          </a:custGeom>
          <a:solidFill xmlns:a="http://schemas.openxmlformats.org/drawingml/2006/main">
            <a:srgbClr val="B95F24"/>
          </a:solidFill>
          <a:ln xmlns:a="http://schemas.openxmlformats.org/drawingml/2006/main" w="0">
            <a:noFill/>
          </a:ln>
        </p:spPr>
      </p:sp>
      <p:sp>
        <p:nvSpPr>
          <p:cNvPr id="24" name="对象-24">
            <a:extLst xmlns:a="http://schemas.openxmlformats.org/drawingml/2006/main">
              <a:ext uri="{FF2B5EF4-FFF2-40B4-BE49-F238E27FC236}">
                <a16:creationId xmlns:a16="http://schemas.microsoft.com/office/drawing/2014/main" id="{C37EE5A1-0A98-4D51-88D6-5BD345EE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84" y="2537460"/>
            <a:ext cx="2140083" cy="216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25" name="文字-25-能力模块一">
            <a:extLst xmlns:a="http://schemas.openxmlformats.org/drawingml/2006/main">
              <a:ext uri="{FF2B5EF4-FFF2-40B4-BE49-F238E27FC236}">
                <a16:creationId xmlns:a16="http://schemas.microsoft.com/office/drawing/2014/main" id="{46E121E4-9B3D-4676-916F-20D1EEB5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44" y="2537460"/>
            <a:ext cx="1987763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能力模块一</a:t>
            </a:r>
          </a:p>
        </p:txBody>
      </p:sp>
      <p:sp>
        <p:nvSpPr>
          <p:cNvPr id="26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9EC13D22-79CB-4641-AA7C-FA883E27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3009900"/>
            <a:ext cx="1850676" cy="1150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7" name="文字-27-说明支持的任务">
            <a:extLst xmlns:a="http://schemas.openxmlformats.org/drawingml/2006/main">
              <a:ext uri="{FF2B5EF4-FFF2-40B4-BE49-F238E27FC236}">
                <a16:creationId xmlns:a16="http://schemas.microsoft.com/office/drawing/2014/main" id="{AD878610-AE6F-4233-A170-2D508F33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92" y="4244340"/>
            <a:ext cx="1942067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支持的任务</a:t>
            </a:r>
          </a:p>
        </p:txBody>
      </p:sp>
      <p:sp>
        <p:nvSpPr>
          <p:cNvPr id="28" name="对象-28">
            <a:extLst xmlns:a="http://schemas.openxmlformats.org/drawingml/2006/main">
              <a:ext uri="{FF2B5EF4-FFF2-40B4-BE49-F238E27FC236}">
                <a16:creationId xmlns:a16="http://schemas.microsoft.com/office/drawing/2014/main" id="{608BB995-F0B7-4C2D-8B6E-1AE60F72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3" y="2537460"/>
            <a:ext cx="2147698" cy="2164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29" name="文字-29-能力模块二">
            <a:extLst xmlns:a="http://schemas.openxmlformats.org/drawingml/2006/main">
              <a:ext uri="{FF2B5EF4-FFF2-40B4-BE49-F238E27FC236}">
                <a16:creationId xmlns:a16="http://schemas.microsoft.com/office/drawing/2014/main" id="{632F0C69-03B4-49FB-A718-122F76EB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273" y="2537460"/>
            <a:ext cx="199537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能力模块二</a:t>
            </a:r>
          </a:p>
        </p:txBody>
      </p:sp>
      <p:sp>
        <p:nvSpPr>
          <p:cNvPr id="30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CAE99497-FF3A-451D-BB64-8DFBBA8B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432" y="3009900"/>
            <a:ext cx="1843060" cy="1150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1" name="文字-31-说明兼容的场景">
            <a:extLst xmlns:a="http://schemas.openxmlformats.org/drawingml/2006/main">
              <a:ext uri="{FF2B5EF4-FFF2-40B4-BE49-F238E27FC236}">
                <a16:creationId xmlns:a16="http://schemas.microsoft.com/office/drawing/2014/main" id="{03A3E5F3-858C-4D41-A7C7-B7355FE9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736" y="4244340"/>
            <a:ext cx="1942067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兼容的场景</a:t>
            </a:r>
          </a:p>
        </p:txBody>
      </p:sp>
      <p:sp>
        <p:nvSpPr>
          <p:cNvPr id="32" name="文字-32-核心架构填写系统对象与输入范">
            <a:extLst xmlns:a="http://schemas.openxmlformats.org/drawingml/2006/main">
              <a:ext uri="{FF2B5EF4-FFF2-40B4-BE49-F238E27FC236}">
                <a16:creationId xmlns:a16="http://schemas.microsoft.com/office/drawing/2014/main" id="{D674844C-53AB-43F6-A968-F29FB941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520" y="2179320"/>
            <a:ext cx="2520880" cy="1935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BF7"/>
          </a:solidFill>
          <a:ln xmlns:a="http://schemas.openxmlformats.org/drawingml/2006/main" w="8017">
            <a:solidFill>
              <a:srgbClr val="C68F6E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核心架构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系统对象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与输入范围</a:t>
            </a:r>
          </a:p>
        </p:txBody>
      </p:sp>
      <p:sp>
        <p:nvSpPr>
          <p:cNvPr id="33" name="文字-33-核心能力一">
            <a:extLst xmlns:a="http://schemas.openxmlformats.org/drawingml/2006/main">
              <a:ext uri="{FF2B5EF4-FFF2-40B4-BE49-F238E27FC236}">
                <a16:creationId xmlns:a16="http://schemas.microsoft.com/office/drawing/2014/main" id="{D5EA7E96-8E97-4675-9602-A8C3B797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974" y="2766060"/>
            <a:ext cx="2063922" cy="1028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1D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能力一</a:t>
            </a:r>
          </a:p>
        </p:txBody>
      </p:sp>
      <p:sp>
        <p:nvSpPr>
          <p:cNvPr id="34" name="文字-34-核心能力二">
            <a:extLst xmlns:a="http://schemas.openxmlformats.org/drawingml/2006/main">
              <a:ext uri="{FF2B5EF4-FFF2-40B4-BE49-F238E27FC236}">
                <a16:creationId xmlns:a16="http://schemas.microsoft.com/office/drawing/2014/main" id="{F4FD354D-220E-49F4-A32A-8E5B2B7D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4487" y="2766060"/>
            <a:ext cx="2079155" cy="1028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1D3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能力二</a:t>
            </a:r>
          </a:p>
        </p:txBody>
      </p:sp>
      <p:sp>
        <p:nvSpPr>
          <p:cNvPr id="35" name="文字-35-模块">
            <a:extLst xmlns:a="http://schemas.openxmlformats.org/drawingml/2006/main">
              <a:ext uri="{FF2B5EF4-FFF2-40B4-BE49-F238E27FC236}">
                <a16:creationId xmlns:a16="http://schemas.microsoft.com/office/drawing/2014/main" id="{6404AB81-BF59-467C-8879-4DCD7F5A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286" y="2118360"/>
            <a:ext cx="830139" cy="678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36" name="文字-36-数据">
            <a:extLst xmlns:a="http://schemas.openxmlformats.org/drawingml/2006/main">
              <a:ext uri="{FF2B5EF4-FFF2-40B4-BE49-F238E27FC236}">
                <a16:creationId xmlns:a16="http://schemas.microsoft.com/office/drawing/2014/main" id="{A73AAD71-7074-4DCF-B58E-5CAC75FB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39" y="2118360"/>
            <a:ext cx="830139" cy="678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37" name="文字-37-集成">
            <a:extLst xmlns:a="http://schemas.openxmlformats.org/drawingml/2006/main">
              <a:ext uri="{FF2B5EF4-FFF2-40B4-BE49-F238E27FC236}">
                <a16:creationId xmlns:a16="http://schemas.microsoft.com/office/drawing/2014/main" id="{334B9027-5585-443A-BAE1-7027B8F7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3494" y="2118360"/>
            <a:ext cx="830139" cy="678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集成</a:t>
            </a:r>
          </a:p>
        </p:txBody>
      </p:sp>
      <p:sp>
        <p:nvSpPr>
          <p:cNvPr id="38" name="文字-38-任务">
            <a:extLst xmlns:a="http://schemas.openxmlformats.org/drawingml/2006/main">
              <a:ext uri="{FF2B5EF4-FFF2-40B4-BE49-F238E27FC236}">
                <a16:creationId xmlns:a16="http://schemas.microsoft.com/office/drawing/2014/main" id="{C8A2EB13-7550-456E-9759-25A1052C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648" y="2118360"/>
            <a:ext cx="830139" cy="6781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321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39" name="文字-39-标准化">
            <a:extLst xmlns:a="http://schemas.openxmlformats.org/drawingml/2006/main">
              <a:ext uri="{FF2B5EF4-FFF2-40B4-BE49-F238E27FC236}">
                <a16:creationId xmlns:a16="http://schemas.microsoft.com/office/drawing/2014/main" id="{21414347-4787-4255-9F04-CD95A26F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300" y="3977640"/>
            <a:ext cx="1317559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标准化</a:t>
            </a:r>
          </a:p>
        </p:txBody>
      </p:sp>
      <p:sp>
        <p:nvSpPr>
          <p:cNvPr id="40" name="文字-40-扩展性">
            <a:extLst xmlns:a="http://schemas.openxmlformats.org/drawingml/2006/main">
              <a:ext uri="{FF2B5EF4-FFF2-40B4-BE49-F238E27FC236}">
                <a16:creationId xmlns:a16="http://schemas.microsoft.com/office/drawing/2014/main" id="{85162971-D360-402E-90F7-D290B943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197" y="3977640"/>
            <a:ext cx="1317559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B95F24"/>
                </a:solidFill>
                <a:latin typeface="Microsoft YaHei"/>
                <a:ea typeface="Microsoft YaHei"/>
                <a:cs typeface="Microsoft YaHei"/>
              </a:rPr>
              <a:t>扩展性</a:t>
            </a:r>
          </a:p>
        </p:txBody>
      </p:sp>
      <p:sp>
        <p:nvSpPr>
          <p:cNvPr id="41" name="文字-41-评价体系">
            <a:extLst xmlns:a="http://schemas.openxmlformats.org/drawingml/2006/main">
              <a:ext uri="{FF2B5EF4-FFF2-40B4-BE49-F238E27FC236}">
                <a16:creationId xmlns:a16="http://schemas.microsoft.com/office/drawing/2014/main" id="{25C1A13B-0D12-40B3-A129-18CBD7E8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9702" y="4328160"/>
            <a:ext cx="1766901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评价体系</a:t>
            </a:r>
          </a:p>
        </p:txBody>
      </p:sp>
      <p:sp>
        <p:nvSpPr>
          <p:cNvPr id="42" name="文字-42-数据分析">
            <a:extLst xmlns:a="http://schemas.openxmlformats.org/drawingml/2006/main">
              <a:ext uri="{FF2B5EF4-FFF2-40B4-BE49-F238E27FC236}">
                <a16:creationId xmlns:a16="http://schemas.microsoft.com/office/drawing/2014/main" id="{44471647-B865-4611-B573-77DC3864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476" y="4853940"/>
            <a:ext cx="1218552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9C8A8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数据分析</a:t>
            </a:r>
          </a:p>
        </p:txBody>
      </p:sp>
      <p:sp>
        <p:nvSpPr>
          <p:cNvPr id="43" name="文字-43-设计应用">
            <a:extLst xmlns:a="http://schemas.openxmlformats.org/drawingml/2006/main">
              <a:ext uri="{FF2B5EF4-FFF2-40B4-BE49-F238E27FC236}">
                <a16:creationId xmlns:a16="http://schemas.microsoft.com/office/drawing/2014/main" id="{50642AFD-9B2C-4946-9DA5-739AF83F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7651" y="4853940"/>
            <a:ext cx="1218552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9C8A8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设计应用</a:t>
            </a:r>
          </a:p>
        </p:txBody>
      </p:sp>
      <p:sp>
        <p:nvSpPr>
          <p:cNvPr id="44" name="文字-44-软件工具">
            <a:extLst xmlns:a="http://schemas.openxmlformats.org/drawingml/2006/main">
              <a:ext uri="{FF2B5EF4-FFF2-40B4-BE49-F238E27FC236}">
                <a16:creationId xmlns:a16="http://schemas.microsoft.com/office/drawing/2014/main" id="{4DBBDFE2-F4C9-4E82-8716-3C2236C9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827" y="4853940"/>
            <a:ext cx="1218552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9C8A80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软件工具</a:t>
            </a:r>
          </a:p>
        </p:txBody>
      </p:sp>
      <p:sp>
        <p:nvSpPr>
          <p:cNvPr id="45" name="文字-45-接口规范与工具集成">
            <a:extLst xmlns:a="http://schemas.openxmlformats.org/drawingml/2006/main">
              <a:ext uri="{FF2B5EF4-FFF2-40B4-BE49-F238E27FC236}">
                <a16:creationId xmlns:a16="http://schemas.microsoft.com/office/drawing/2014/main" id="{46C724D7-159E-48C3-9527-856D25A8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60" y="5760720"/>
            <a:ext cx="4120229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21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接口规范与工具集成</a:t>
            </a:r>
          </a:p>
        </p:txBody>
      </p:sp>
      <p:sp>
        <p:nvSpPr>
          <p:cNvPr id="46" name="文字-46-说明自动化队列">
            <a:extLst xmlns:a="http://schemas.openxmlformats.org/drawingml/2006/main">
              <a:ext uri="{FF2B5EF4-FFF2-40B4-BE49-F238E27FC236}">
                <a16:creationId xmlns:a16="http://schemas.microsoft.com/office/drawing/2014/main" id="{29FD48E8-A107-4EE4-91F6-A265BA4C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9" y="4968240"/>
            <a:ext cx="32367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AA9589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自动化队列</a:t>
            </a:r>
          </a:p>
        </p:txBody>
      </p:sp>
      <p:sp>
        <p:nvSpPr>
          <p:cNvPr id="47" name="文字-47-说明可视化方式">
            <a:extLst xmlns:a="http://schemas.openxmlformats.org/drawingml/2006/main">
              <a:ext uri="{FF2B5EF4-FFF2-40B4-BE49-F238E27FC236}">
                <a16:creationId xmlns:a16="http://schemas.microsoft.com/office/drawing/2014/main" id="{330AE4BC-16E2-4066-A074-A6DDBCCC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9" y="5402580"/>
            <a:ext cx="32367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AA9589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可视化方式</a:t>
            </a:r>
          </a:p>
        </p:txBody>
      </p:sp>
      <p:sp>
        <p:nvSpPr>
          <p:cNvPr id="48" name="文字-48-说明数据存储">
            <a:extLst xmlns:a="http://schemas.openxmlformats.org/drawingml/2006/main">
              <a:ext uri="{FF2B5EF4-FFF2-40B4-BE49-F238E27FC236}">
                <a16:creationId xmlns:a16="http://schemas.microsoft.com/office/drawing/2014/main" id="{A4502FF2-C7F5-4641-BC59-393A38DB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49" y="5836920"/>
            <a:ext cx="32367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AA9589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数据存储</a:t>
            </a:r>
          </a:p>
        </p:txBody>
      </p:sp>
      <p:sp>
        <p:nvSpPr>
          <p:cNvPr id="49" name="文字-49-说明模块化设计">
            <a:extLst xmlns:a="http://schemas.openxmlformats.org/drawingml/2006/main">
              <a:ext uri="{FF2B5EF4-FFF2-40B4-BE49-F238E27FC236}">
                <a16:creationId xmlns:a16="http://schemas.microsoft.com/office/drawing/2014/main" id="{5DE01966-CC18-4BA1-ACCB-764C44CD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815" y="4968240"/>
            <a:ext cx="303114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AA9589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模块化设计</a:t>
            </a:r>
          </a:p>
        </p:txBody>
      </p:sp>
      <p:sp>
        <p:nvSpPr>
          <p:cNvPr id="50" name="文字-50-说明核心组件">
            <a:extLst xmlns:a="http://schemas.openxmlformats.org/drawingml/2006/main">
              <a:ext uri="{FF2B5EF4-FFF2-40B4-BE49-F238E27FC236}">
                <a16:creationId xmlns:a16="http://schemas.microsoft.com/office/drawing/2014/main" id="{10B45D88-F620-4006-A5AE-1351402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815" y="5402580"/>
            <a:ext cx="303114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AA9589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核心组件</a:t>
            </a:r>
          </a:p>
        </p:txBody>
      </p:sp>
      <p:sp>
        <p:nvSpPr>
          <p:cNvPr id="51" name="文字-51-说明维护与兼容">
            <a:extLst xmlns:a="http://schemas.openxmlformats.org/drawingml/2006/main">
              <a:ext uri="{FF2B5EF4-FFF2-40B4-BE49-F238E27FC236}">
                <a16:creationId xmlns:a16="http://schemas.microsoft.com/office/drawing/2014/main" id="{99D96476-C49B-4D57-AA8D-30E79ED5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6815" y="5836920"/>
            <a:ext cx="3031149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D"/>
          </a:solidFill>
          <a:ln xmlns:a="http://schemas.openxmlformats.org/drawingml/2006/main" w="8017">
            <a:solidFill>
              <a:srgbClr val="AA9589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4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维护与兼容</a:t>
            </a:r>
          </a:p>
        </p:txBody>
      </p:sp>
      <p:sp>
        <p:nvSpPr>
          <p:cNvPr id="52" name="连线-52">
            <a:extLst xmlns:a="http://schemas.openxmlformats.org/drawingml/2006/main">
              <a:ext uri="{FF2B5EF4-FFF2-40B4-BE49-F238E27FC236}">
                <a16:creationId xmlns:a16="http://schemas.microsoft.com/office/drawing/2014/main" id="{ADE0DB3B-CE77-43B7-B599-689316C9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42671" y="6012180"/>
            <a:ext cx="43411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1016">
            <a:solidFill>
              <a:srgbClr val="AC111A"/>
            </a:solidFill>
            <a:prstDash val="solid"/>
          </a:ln>
        </p:spPr>
      </p:sp>
      <p:sp>
        <p:nvSpPr>
          <p:cNvPr id="53" name="结构-53">
            <a:extLst xmlns:a="http://schemas.openxmlformats.org/drawingml/2006/main">
              <a:ext uri="{FF2B5EF4-FFF2-40B4-BE49-F238E27FC236}">
                <a16:creationId xmlns:a16="http://schemas.microsoft.com/office/drawing/2014/main" id="{9557D192-AAC3-44BF-9160-3A5C518A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671" y="5947410"/>
            <a:ext cx="144703" cy="129540"/>
          </a:xfrm>
          <a:custGeom xmlns:a="http://schemas.openxmlformats.org/drawingml/2006/main">
            <a:pathLst>
              <a:path w="189119" h="169302">
                <a:moveTo>
                  <a:pt x="0" y="84651"/>
                </a:moveTo>
                <a:lnTo>
                  <a:pt x="189119" y="169302"/>
                </a:lnTo>
                <a:lnTo>
                  <a:pt x="189119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54" name="连线-54">
            <a:extLst xmlns:a="http://schemas.openxmlformats.org/drawingml/2006/main">
              <a:ext uri="{FF2B5EF4-FFF2-40B4-BE49-F238E27FC236}">
                <a16:creationId xmlns:a16="http://schemas.microsoft.com/office/drawing/2014/main" id="{4130229B-2F93-42CE-A53E-6A1FB754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73169" y="6012180"/>
            <a:ext cx="335101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1016">
            <a:solidFill>
              <a:srgbClr val="AC111A"/>
            </a:solidFill>
            <a:prstDash val="solid"/>
          </a:ln>
        </p:spPr>
      </p:sp>
      <p:sp>
        <p:nvSpPr>
          <p:cNvPr id="55" name="结构-55">
            <a:extLst xmlns:a="http://schemas.openxmlformats.org/drawingml/2006/main">
              <a:ext uri="{FF2B5EF4-FFF2-40B4-BE49-F238E27FC236}">
                <a16:creationId xmlns:a16="http://schemas.microsoft.com/office/drawing/2014/main" id="{49767681-EB94-4FEB-A4DD-0B655618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568" y="5947410"/>
            <a:ext cx="144703" cy="129540"/>
          </a:xfrm>
          <a:custGeom xmlns:a="http://schemas.openxmlformats.org/drawingml/2006/main">
            <a:pathLst>
              <a:path w="189119" h="169302">
                <a:moveTo>
                  <a:pt x="189119" y="84651"/>
                </a:moveTo>
                <a:lnTo>
                  <a:pt x="0" y="0"/>
                </a:lnTo>
                <a:lnTo>
                  <a:pt x="0" y="169302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56" name="文字-56-图：填写关键技术支撑架构的名">
            <a:extLst xmlns:a="http://schemas.openxmlformats.org/drawingml/2006/main">
              <a:ext uri="{FF2B5EF4-FFF2-40B4-BE49-F238E27FC236}">
                <a16:creationId xmlns:a16="http://schemas.microsoft.com/office/drawing/2014/main" id="{1BEC81B3-B5A6-4B50-B202-3D7F0BFE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416" y="6499860"/>
            <a:ext cx="739508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核心架构与共享支撑条件</a:t>
            </a:r>
          </a:p>
        </p:txBody>
      </p:sp>
    </p:spTree>
    <p:extLst>
      <p:ext uri="{BB962C8B-B14F-4D97-AF65-F5344CB8AC3E}">
        <p14:creationId xmlns:p14="http://schemas.microsoft.com/office/powerpoint/2010/main" val="57458155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结构-1">
            <a:extLst xmlns:a="http://schemas.openxmlformats.org/drawingml/2006/main">
              <a:ext uri="{FF2B5EF4-FFF2-40B4-BE49-F238E27FC236}">
                <a16:creationId xmlns:a16="http://schemas.microsoft.com/office/drawing/2014/main" id="{31F45CF3-2D4F-44D6-B6BD-732E1985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推理与问答功能">
            <a:extLst xmlns:a="http://schemas.openxmlformats.org/drawingml/2006/main">
              <a:ext uri="{FF2B5EF4-FFF2-40B4-BE49-F238E27FC236}">
                <a16:creationId xmlns:a16="http://schemas.microsoft.com/office/drawing/2014/main" id="{6453F568-AD4B-4305-A88A-45421DA9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推理与问答功能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3973E9D5-DB27-4776-9D55-69A8BAFC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A5F3FCEE-08B1-461F-B711-D5ED162D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用户如何输入问题，系">
            <a:extLst xmlns:a="http://schemas.openxmlformats.org/drawingml/2006/main">
              <a:ext uri="{FF2B5EF4-FFF2-40B4-BE49-F238E27FC236}">
                <a16:creationId xmlns:a16="http://schemas.microsoft.com/office/drawing/2014/main" id="{EF88BE89-5920-42AD-A869-7B6DDEBE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说明用户如何输入问题，系统如何检索证据并生成有依据的结果</a:t>
            </a:r>
          </a:p>
        </p:txBody>
      </p:sp>
      <p:sp>
        <p:nvSpPr>
          <p:cNvPr id="6" name="图片区-6">
            <a:extLst xmlns:a="http://schemas.openxmlformats.org/drawingml/2006/main">
              <a:ext uri="{FF2B5EF4-FFF2-40B4-BE49-F238E27FC236}">
                <a16:creationId xmlns:a16="http://schemas.microsoft.com/office/drawing/2014/main" id="{A72A7550-3C58-40B1-BA61-4AF141A3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10668000" cy="446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43234259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结构-1">
            <a:extLst xmlns:a="http://schemas.openxmlformats.org/drawingml/2006/main">
              <a:ext uri="{FF2B5EF4-FFF2-40B4-BE49-F238E27FC236}">
                <a16:creationId xmlns:a16="http://schemas.microsoft.com/office/drawing/2014/main" id="{16CA3FA9-C6D1-4291-B9FB-A4FA9AC3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场景认知功能">
            <a:extLst xmlns:a="http://schemas.openxmlformats.org/drawingml/2006/main">
              <a:ext uri="{FF2B5EF4-FFF2-40B4-BE49-F238E27FC236}">
                <a16:creationId xmlns:a16="http://schemas.microsoft.com/office/drawing/2014/main" id="{5F16EA48-5BEE-4761-9873-CD77F53C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场景认知功能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A386FCAC-6BCD-4F50-AF96-9B583276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B74A164B-F28D-4ABA-A872-BA367CE0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系统接入的数据、识别">
            <a:extLst xmlns:a="http://schemas.openxmlformats.org/drawingml/2006/main">
              <a:ext uri="{FF2B5EF4-FFF2-40B4-BE49-F238E27FC236}">
                <a16:creationId xmlns:a16="http://schemas.microsoft.com/office/drawing/2014/main" id="{F8937B17-3BEF-4E36-B803-CDD6CABA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说明系统接入的数据、识别的状态以及这些状态如何支持后续任务</a:t>
            </a:r>
          </a:p>
        </p:txBody>
      </p:sp>
      <p:sp>
        <p:nvSpPr>
          <p:cNvPr id="6" name="图片区-6">
            <a:extLst xmlns:a="http://schemas.openxmlformats.org/drawingml/2006/main">
              <a:ext uri="{FF2B5EF4-FFF2-40B4-BE49-F238E27FC236}">
                <a16:creationId xmlns:a16="http://schemas.microsoft.com/office/drawing/2014/main" id="{B09643A7-52A3-4251-B0A2-386D3F5D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10668000" cy="446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649585844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结构-1">
            <a:extLst xmlns:a="http://schemas.openxmlformats.org/drawingml/2006/main">
              <a:ext uri="{FF2B5EF4-FFF2-40B4-BE49-F238E27FC236}">
                <a16:creationId xmlns:a16="http://schemas.microsoft.com/office/drawing/2014/main" id="{A3F1E10A-BDC9-446C-BA36-FAC229DB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任务规划功能">
            <a:extLst xmlns:a="http://schemas.openxmlformats.org/drawingml/2006/main">
              <a:ext uri="{FF2B5EF4-FFF2-40B4-BE49-F238E27FC236}">
                <a16:creationId xmlns:a16="http://schemas.microsoft.com/office/drawing/2014/main" id="{7B15193F-2108-4423-9613-89FF5D9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任务规划功能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F9D4B681-978E-4108-9D04-70384D22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A50EB74F-DEC0-4D06-BB30-42017A1B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系统根据约束生成任务">
            <a:extLst xmlns:a="http://schemas.openxmlformats.org/drawingml/2006/main">
              <a:ext uri="{FF2B5EF4-FFF2-40B4-BE49-F238E27FC236}">
                <a16:creationId xmlns:a16="http://schemas.microsoft.com/office/drawing/2014/main" id="{66B45BEB-4280-4C0D-A8AA-461283E1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说明系统根据约束生成任务方案，并如何展示、确认与执行</a:t>
            </a:r>
          </a:p>
        </p:txBody>
      </p:sp>
      <p:sp>
        <p:nvSpPr>
          <p:cNvPr id="6" name="图片区-6">
            <a:extLst xmlns:a="http://schemas.openxmlformats.org/drawingml/2006/main">
              <a:ext uri="{FF2B5EF4-FFF2-40B4-BE49-F238E27FC236}">
                <a16:creationId xmlns:a16="http://schemas.microsoft.com/office/drawing/2014/main" id="{442F0899-928C-43A7-84E9-9B6E69DA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10668000" cy="446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7" name="图片区-7">
            <a:extLst xmlns:a="http://schemas.openxmlformats.org/drawingml/2006/main">
              <a:ext uri="{FF2B5EF4-FFF2-40B4-BE49-F238E27FC236}">
                <a16:creationId xmlns:a16="http://schemas.microsoft.com/office/drawing/2014/main" id="{ABC468F8-F1C2-49A5-959A-B9F436FA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19525"/>
            <a:ext cx="4914900" cy="254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8" name="文字-8-局部结果或任务视图">
            <a:extLst xmlns:a="http://schemas.openxmlformats.org/drawingml/2006/main">
              <a:ext uri="{FF2B5EF4-FFF2-40B4-BE49-F238E27FC236}">
                <a16:creationId xmlns:a16="http://schemas.microsoft.com/office/drawing/2014/main" id="{06660BA5-58D2-4FD7-A494-B5B22552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886200"/>
            <a:ext cx="4629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局部结果或任务视图</a:t>
            </a:r>
          </a:p>
        </p:txBody>
      </p:sp>
    </p:spTree>
    <p:extLst>
      <p:ext uri="{BB962C8B-B14F-4D97-AF65-F5344CB8AC3E}">
        <p14:creationId xmlns:p14="http://schemas.microsoft.com/office/powerpoint/2010/main" val="118725424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对象-1">
            <a:extLst xmlns:a="http://schemas.openxmlformats.org/drawingml/2006/main">
              <a:ext uri="{FF2B5EF4-FFF2-40B4-BE49-F238E27FC236}">
                <a16:creationId xmlns:a16="http://schemas.microsoft.com/office/drawing/2014/main" id="{5CEEC894-249D-4422-89E1-BCC55E65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" y="0"/>
            <a:ext cx="12185522" cy="792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文字-2-填写研究技术与应用领域">
            <a:extLst xmlns:a="http://schemas.openxmlformats.org/drawingml/2006/main">
              <a:ext uri="{FF2B5EF4-FFF2-40B4-BE49-F238E27FC236}">
                <a16:creationId xmlns:a16="http://schemas.microsoft.com/office/drawing/2014/main" id="{CDAD2725-4462-4BE3-97BD-29E98E73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16" y="121920"/>
            <a:ext cx="11347767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研究技术与应用领域</a:t>
            </a:r>
          </a:p>
        </p:txBody>
      </p:sp>
      <p:sp>
        <p:nvSpPr>
          <p:cNvPr id="3" name="连线-3">
            <a:extLst xmlns:a="http://schemas.openxmlformats.org/drawingml/2006/main">
              <a:ext uri="{FF2B5EF4-FFF2-40B4-BE49-F238E27FC236}">
                <a16:creationId xmlns:a16="http://schemas.microsoft.com/office/drawing/2014/main" id="{4B7481FF-5C1C-499B-B9AD-DD3FDBFB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9" y="830580"/>
            <a:ext cx="12185522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4" name="文字-4-说明该技术的基本作用与应用方">
            <a:extLst xmlns:a="http://schemas.openxmlformats.org/drawingml/2006/main">
              <a:ext uri="{FF2B5EF4-FFF2-40B4-BE49-F238E27FC236}">
                <a16:creationId xmlns:a16="http://schemas.microsoft.com/office/drawing/2014/main" id="{3384840F-B352-43DF-B853-C75DD8A0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35" y="944880"/>
            <a:ext cx="11043129" cy="434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0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该技术的基本作用与应用方式</a:t>
            </a:r>
          </a:p>
        </p:txBody>
      </p:sp>
      <p:sp>
        <p:nvSpPr>
          <p:cNvPr id="5" name="对象-5">
            <a:extLst xmlns:a="http://schemas.openxmlformats.org/drawingml/2006/main">
              <a:ext uri="{FF2B5EF4-FFF2-40B4-BE49-F238E27FC236}">
                <a16:creationId xmlns:a16="http://schemas.microsoft.com/office/drawing/2014/main" id="{4641B3D4-32E5-45AE-8EAF-2A9C8C2C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546860"/>
            <a:ext cx="1145439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6" name="文字-6-项目背景">
            <a:extLst xmlns:a="http://schemas.openxmlformats.org/drawingml/2006/main">
              <a:ext uri="{FF2B5EF4-FFF2-40B4-BE49-F238E27FC236}">
                <a16:creationId xmlns:a16="http://schemas.microsoft.com/office/drawing/2014/main" id="{152234FF-29D4-4655-9291-9FF5023E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04" y="1714500"/>
            <a:ext cx="1279480" cy="388620"/>
          </a:xfrm>
          <a:prstGeom xmlns:a="http://schemas.openxmlformats.org/drawingml/2006/main" prst="roundRect">
            <a:avLst>
              <a:gd name="adj" fmla="val 15003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7" name="文字-7-说明研究背景、应用对象与开展">
            <a:extLst xmlns:a="http://schemas.openxmlformats.org/drawingml/2006/main">
              <a:ext uri="{FF2B5EF4-FFF2-40B4-BE49-F238E27FC236}">
                <a16:creationId xmlns:a16="http://schemas.microsoft.com/office/drawing/2014/main" id="{55AFA7A2-D05F-4BE1-BE4A-4E8DD548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387" y="1714500"/>
            <a:ext cx="9596098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研究背景、应用对象与开展该工作的必要性</a:t>
            </a:r>
          </a:p>
        </p:txBody>
      </p:sp>
      <p:sp>
        <p:nvSpPr>
          <p:cNvPr id="8" name="文字-8-聚焦问题">
            <a:extLst xmlns:a="http://schemas.openxmlformats.org/drawingml/2006/main">
              <a:ext uri="{FF2B5EF4-FFF2-40B4-BE49-F238E27FC236}">
                <a16:creationId xmlns:a16="http://schemas.microsoft.com/office/drawing/2014/main" id="{28A4C731-EC0B-4EB0-B862-A565C0A2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04" y="2240280"/>
            <a:ext cx="1279480" cy="388620"/>
          </a:xfrm>
          <a:prstGeom xmlns:a="http://schemas.openxmlformats.org/drawingml/2006/main" prst="roundRect">
            <a:avLst>
              <a:gd name="adj" fmla="val 15003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聚焦问题</a:t>
            </a:r>
          </a:p>
        </p:txBody>
      </p:sp>
      <p:sp>
        <p:nvSpPr>
          <p:cNvPr id="9" name="文字-9-说明现有方法存在的关键不足与">
            <a:extLst xmlns:a="http://schemas.openxmlformats.org/drawingml/2006/main">
              <a:ext uri="{FF2B5EF4-FFF2-40B4-BE49-F238E27FC236}">
                <a16:creationId xmlns:a16="http://schemas.microsoft.com/office/drawing/2014/main" id="{BD2E576E-F29A-4132-B7F4-7D8D7B2F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387" y="2240280"/>
            <a:ext cx="9596098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现有方法存在的关键不足与具体研究需求</a:t>
            </a:r>
          </a:p>
        </p:txBody>
      </p:sp>
      <p:sp>
        <p:nvSpPr>
          <p:cNvPr id="10" name="对象-10">
            <a:extLst xmlns:a="http://schemas.openxmlformats.org/drawingml/2006/main">
              <a:ext uri="{FF2B5EF4-FFF2-40B4-BE49-F238E27FC236}">
                <a16:creationId xmlns:a16="http://schemas.microsoft.com/office/drawing/2014/main" id="{B3D89D8E-CFCA-42BA-9F46-0BC442B8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3078480"/>
            <a:ext cx="3655657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1" name="文字-11-应用场景一">
            <a:extLst xmlns:a="http://schemas.openxmlformats.org/drawingml/2006/main">
              <a:ext uri="{FF2B5EF4-FFF2-40B4-BE49-F238E27FC236}">
                <a16:creationId xmlns:a16="http://schemas.microsoft.com/office/drawing/2014/main" id="{CD2BB6E5-5106-46BD-BBEF-8B756E5B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" y="3192780"/>
            <a:ext cx="3396714" cy="472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应用场景一</a:t>
            </a:r>
          </a:p>
        </p:txBody>
      </p:sp>
      <p:sp>
        <p:nvSpPr>
          <p:cNvPr id="12" name="图片区-1-图片区">
            <a:extLst xmlns:a="http://schemas.openxmlformats.org/drawingml/2006/main">
              <a:ext uri="{FF2B5EF4-FFF2-40B4-BE49-F238E27FC236}">
                <a16:creationId xmlns:a16="http://schemas.microsoft.com/office/drawing/2014/main" id="{E29CF981-F7D8-407C-94B3-B4393320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3810000"/>
            <a:ext cx="3290091" cy="170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3" name="文字-13-填写场景或案例名称说明技术的">
            <a:extLst xmlns:a="http://schemas.openxmlformats.org/drawingml/2006/main">
              <a:ext uri="{FF2B5EF4-FFF2-40B4-BE49-F238E27FC236}">
                <a16:creationId xmlns:a16="http://schemas.microsoft.com/office/drawing/2014/main" id="{7ED11D1F-4296-40E5-9966-B5B1F4DB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5631180"/>
            <a:ext cx="3290091" cy="62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场景或案例名称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技术的应用作用</a:t>
            </a:r>
          </a:p>
        </p:txBody>
      </p:sp>
      <p:sp>
        <p:nvSpPr>
          <p:cNvPr id="14" name="对象-14">
            <a:extLst xmlns:a="http://schemas.openxmlformats.org/drawingml/2006/main">
              <a:ext uri="{FF2B5EF4-FFF2-40B4-BE49-F238E27FC236}">
                <a16:creationId xmlns:a16="http://schemas.microsoft.com/office/drawing/2014/main" id="{4E6224CD-89AF-4446-A128-FBEE840D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172" y="3078480"/>
            <a:ext cx="3655657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5" name="文字-15-应用场景二">
            <a:extLst xmlns:a="http://schemas.openxmlformats.org/drawingml/2006/main">
              <a:ext uri="{FF2B5EF4-FFF2-40B4-BE49-F238E27FC236}">
                <a16:creationId xmlns:a16="http://schemas.microsoft.com/office/drawing/2014/main" id="{FCFB1446-4102-420B-9658-2FD10CC8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643" y="3192780"/>
            <a:ext cx="3396714" cy="472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应用场景二</a:t>
            </a:r>
          </a:p>
        </p:txBody>
      </p:sp>
      <p:sp>
        <p:nvSpPr>
          <p:cNvPr id="16" name="图片区-2-图片区">
            <a:extLst xmlns:a="http://schemas.openxmlformats.org/drawingml/2006/main">
              <a:ext uri="{FF2B5EF4-FFF2-40B4-BE49-F238E27FC236}">
                <a16:creationId xmlns:a16="http://schemas.microsoft.com/office/drawing/2014/main" id="{4E3238E5-88D7-4477-A87E-1166E37E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954" y="3810000"/>
            <a:ext cx="3290091" cy="170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7" name="文字-17-填写场景或案例名称说明技术的">
            <a:extLst xmlns:a="http://schemas.openxmlformats.org/drawingml/2006/main">
              <a:ext uri="{FF2B5EF4-FFF2-40B4-BE49-F238E27FC236}">
                <a16:creationId xmlns:a16="http://schemas.microsoft.com/office/drawing/2014/main" id="{C421A4DB-3470-4A7D-A85B-4822C54F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954" y="5631180"/>
            <a:ext cx="3290091" cy="62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场景或案例名称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技术的应用作用</a:t>
            </a:r>
          </a:p>
        </p:txBody>
      </p:sp>
      <p:sp>
        <p:nvSpPr>
          <p:cNvPr id="18" name="对象-18">
            <a:extLst xmlns:a="http://schemas.openxmlformats.org/drawingml/2006/main">
              <a:ext uri="{FF2B5EF4-FFF2-40B4-BE49-F238E27FC236}">
                <a16:creationId xmlns:a16="http://schemas.microsoft.com/office/drawing/2014/main" id="{206562F8-97F8-45B9-A00C-8497ACC1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539" y="3078480"/>
            <a:ext cx="3655657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19" name="文字-19-应用场景三">
            <a:extLst xmlns:a="http://schemas.openxmlformats.org/drawingml/2006/main">
              <a:ext uri="{FF2B5EF4-FFF2-40B4-BE49-F238E27FC236}">
                <a16:creationId xmlns:a16="http://schemas.microsoft.com/office/drawing/2014/main" id="{92DC8264-451D-40C3-94C1-08FB2480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010" y="3192780"/>
            <a:ext cx="3396714" cy="472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应用场景三</a:t>
            </a:r>
          </a:p>
        </p:txBody>
      </p:sp>
      <p:sp>
        <p:nvSpPr>
          <p:cNvPr id="20" name="图片区-3-图片区">
            <a:extLst xmlns:a="http://schemas.openxmlformats.org/drawingml/2006/main">
              <a:ext uri="{FF2B5EF4-FFF2-40B4-BE49-F238E27FC236}">
                <a16:creationId xmlns:a16="http://schemas.microsoft.com/office/drawing/2014/main" id="{850B7F14-8E63-463F-A6DD-6080B08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321" y="3810000"/>
            <a:ext cx="3290091" cy="170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1" name="文字-21-填写场景或案例名称说明技术的">
            <a:extLst xmlns:a="http://schemas.openxmlformats.org/drawingml/2006/main">
              <a:ext uri="{FF2B5EF4-FFF2-40B4-BE49-F238E27FC236}">
                <a16:creationId xmlns:a16="http://schemas.microsoft.com/office/drawing/2014/main" id="{48AD87D7-9DD5-49BD-AF38-19C654AC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321" y="5631180"/>
            <a:ext cx="3290091" cy="62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场景或案例名称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技术的应用作用</a:t>
            </a:r>
          </a:p>
        </p:txBody>
      </p:sp>
    </p:spTree>
    <p:extLst>
      <p:ext uri="{BB962C8B-B14F-4D97-AF65-F5344CB8AC3E}">
        <p14:creationId xmlns:p14="http://schemas.microsoft.com/office/powerpoint/2010/main" val="115191077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对象-1">
            <a:extLst xmlns:a="http://schemas.openxmlformats.org/drawingml/2006/main">
              <a:ext uri="{FF2B5EF4-FFF2-40B4-BE49-F238E27FC236}">
                <a16:creationId xmlns:a16="http://schemas.microsoft.com/office/drawing/2014/main" id="{2EF9F2CC-CE70-4B4B-9215-29462D90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" y="0"/>
            <a:ext cx="12185522" cy="792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文字-2-填写关键技术与核心测量能力">
            <a:extLst xmlns:a="http://schemas.openxmlformats.org/drawingml/2006/main">
              <a:ext uri="{FF2B5EF4-FFF2-40B4-BE49-F238E27FC236}">
                <a16:creationId xmlns:a16="http://schemas.microsoft.com/office/drawing/2014/main" id="{067B0AA2-DB3D-49FB-B71E-112F178C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16" y="121920"/>
            <a:ext cx="11347767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关键技术与核心测量能力</a:t>
            </a:r>
          </a:p>
        </p:txBody>
      </p:sp>
      <p:sp>
        <p:nvSpPr>
          <p:cNvPr id="3" name="连线-3">
            <a:extLst xmlns:a="http://schemas.openxmlformats.org/drawingml/2006/main">
              <a:ext uri="{FF2B5EF4-FFF2-40B4-BE49-F238E27FC236}">
                <a16:creationId xmlns:a16="http://schemas.microsoft.com/office/drawing/2014/main" id="{BFCB6EBD-0A20-4E82-9CFB-4DD31E8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9" y="830580"/>
            <a:ext cx="12185522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4" name="文字-4-说明研究技术的基本原理及其能">
            <a:extLst xmlns:a="http://schemas.openxmlformats.org/drawingml/2006/main">
              <a:ext uri="{FF2B5EF4-FFF2-40B4-BE49-F238E27FC236}">
                <a16:creationId xmlns:a16="http://schemas.microsoft.com/office/drawing/2014/main" id="{CA40AF4F-6692-49F5-A635-490A3792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44880"/>
            <a:ext cx="1145439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研究技术的基本原理及其能够实现的关键能力</a:t>
            </a:r>
          </a:p>
        </p:txBody>
      </p:sp>
      <p:sp>
        <p:nvSpPr>
          <p:cNvPr id="5" name="对象-5">
            <a:extLst xmlns:a="http://schemas.openxmlformats.org/drawingml/2006/main">
              <a:ext uri="{FF2B5EF4-FFF2-40B4-BE49-F238E27FC236}">
                <a16:creationId xmlns:a16="http://schemas.microsoft.com/office/drawing/2014/main" id="{E41E1F70-28D9-4C86-B6BB-E5E08747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524000"/>
            <a:ext cx="1145439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6" name="文字-6-技术类型一">
            <a:extLst xmlns:a="http://schemas.openxmlformats.org/drawingml/2006/main">
              <a:ext uri="{FF2B5EF4-FFF2-40B4-BE49-F238E27FC236}">
                <a16:creationId xmlns:a16="http://schemas.microsoft.com/office/drawing/2014/main" id="{FAA1B4E3-10F6-4B45-9429-D46C778F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19" y="1691640"/>
            <a:ext cx="1629814" cy="365760"/>
          </a:xfrm>
          <a:prstGeom xmlns:a="http://schemas.openxmlformats.org/drawingml/2006/main" prst="roundRect">
            <a:avLst>
              <a:gd name="adj" fmla="val 1594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技术类型一</a:t>
            </a:r>
          </a:p>
        </p:txBody>
      </p:sp>
      <p:sp>
        <p:nvSpPr>
          <p:cNvPr id="7" name="文字-7-说明该类技术的工作原理、适用">
            <a:extLst xmlns:a="http://schemas.openxmlformats.org/drawingml/2006/main">
              <a:ext uri="{FF2B5EF4-FFF2-40B4-BE49-F238E27FC236}">
                <a16:creationId xmlns:a16="http://schemas.microsoft.com/office/drawing/2014/main" id="{7B33594F-3DC5-4238-9165-C1BB500D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336" y="1691640"/>
            <a:ext cx="9245765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工作原理、适用条件与技术特点</a:t>
            </a:r>
          </a:p>
        </p:txBody>
      </p:sp>
      <p:sp>
        <p:nvSpPr>
          <p:cNvPr id="8" name="文字-8-技术类型二">
            <a:extLst xmlns:a="http://schemas.openxmlformats.org/drawingml/2006/main">
              <a:ext uri="{FF2B5EF4-FFF2-40B4-BE49-F238E27FC236}">
                <a16:creationId xmlns:a16="http://schemas.microsoft.com/office/drawing/2014/main" id="{0C4FF612-6440-4C2D-B3FB-6650C9BB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819" y="2209800"/>
            <a:ext cx="1629814" cy="365760"/>
          </a:xfrm>
          <a:prstGeom xmlns:a="http://schemas.openxmlformats.org/drawingml/2006/main" prst="roundRect">
            <a:avLst>
              <a:gd name="adj" fmla="val 1594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技术类型二</a:t>
            </a:r>
          </a:p>
        </p:txBody>
      </p:sp>
      <p:sp>
        <p:nvSpPr>
          <p:cNvPr id="9" name="文字-9-说明该类技术的工作原理、适用">
            <a:extLst xmlns:a="http://schemas.openxmlformats.org/drawingml/2006/main">
              <a:ext uri="{FF2B5EF4-FFF2-40B4-BE49-F238E27FC236}">
                <a16:creationId xmlns:a16="http://schemas.microsoft.com/office/drawing/2014/main" id="{D0787941-7514-4528-BB72-FD5E0C84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336" y="2209800"/>
            <a:ext cx="9245765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工作原理、适用条件与技术特点</a:t>
            </a:r>
          </a:p>
        </p:txBody>
      </p:sp>
      <p:sp>
        <p:nvSpPr>
          <p:cNvPr id="10" name="文字-10-技术维度一">
            <a:extLst xmlns:a="http://schemas.openxmlformats.org/drawingml/2006/main">
              <a:ext uri="{FF2B5EF4-FFF2-40B4-BE49-F238E27FC236}">
                <a16:creationId xmlns:a16="http://schemas.microsoft.com/office/drawing/2014/main" id="{D04743DC-2E99-4AC1-A2B1-EDD94749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3017520"/>
            <a:ext cx="272651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技术维度一</a:t>
            </a:r>
          </a:p>
        </p:txBody>
      </p:sp>
      <p:sp>
        <p:nvSpPr>
          <p:cNvPr id="11" name="连线-11">
            <a:extLst xmlns:a="http://schemas.openxmlformats.org/drawingml/2006/main">
              <a:ext uri="{FF2B5EF4-FFF2-40B4-BE49-F238E27FC236}">
                <a16:creationId xmlns:a16="http://schemas.microsoft.com/office/drawing/2014/main" id="{6F6DA1A2-C70D-454D-98AF-DC7D1D8A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9676" y="3489960"/>
            <a:ext cx="729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12" name="结构-12">
            <a:extLst xmlns:a="http://schemas.openxmlformats.org/drawingml/2006/main">
              <a:ext uri="{FF2B5EF4-FFF2-40B4-BE49-F238E27FC236}">
                <a16:creationId xmlns:a16="http://schemas.microsoft.com/office/drawing/2014/main" id="{AD77B519-287F-4A3A-B059-F5437646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172" y="3528060"/>
            <a:ext cx="99007" cy="114300"/>
          </a:xfrm>
          <a:custGeom xmlns:a="http://schemas.openxmlformats.org/drawingml/2006/main">
            <a:pathLst>
              <a:path w="129397" h="149384">
                <a:moveTo>
                  <a:pt x="64699" y="149384"/>
                </a:moveTo>
                <a:lnTo>
                  <a:pt x="129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3" name="图片区-1-技术图0">
            <a:extLst xmlns:a="http://schemas.openxmlformats.org/drawingml/2006/main">
              <a:ext uri="{FF2B5EF4-FFF2-40B4-BE49-F238E27FC236}">
                <a16:creationId xmlns:a16="http://schemas.microsoft.com/office/drawing/2014/main" id="{17B9F259-49D2-468B-A233-D64D3D50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28" y="3779520"/>
            <a:ext cx="2513264" cy="1767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4" name="文字-14-技术维度二">
            <a:extLst xmlns:a="http://schemas.openxmlformats.org/drawingml/2006/main">
              <a:ext uri="{FF2B5EF4-FFF2-40B4-BE49-F238E27FC236}">
                <a16:creationId xmlns:a16="http://schemas.microsoft.com/office/drawing/2014/main" id="{5E371B86-8BA8-4FBB-BB7B-7CD8FEEA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866" y="3017520"/>
            <a:ext cx="272651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技术维度二</a:t>
            </a:r>
          </a:p>
        </p:txBody>
      </p:sp>
      <p:sp>
        <p:nvSpPr>
          <p:cNvPr id="15" name="连线-15">
            <a:extLst xmlns:a="http://schemas.openxmlformats.org/drawingml/2006/main">
              <a:ext uri="{FF2B5EF4-FFF2-40B4-BE49-F238E27FC236}">
                <a16:creationId xmlns:a16="http://schemas.microsoft.com/office/drawing/2014/main" id="{B5AF1048-A6E1-484C-AECA-FFF7FB7B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33737" y="3489960"/>
            <a:ext cx="729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16" name="结构-16">
            <a:extLst xmlns:a="http://schemas.openxmlformats.org/drawingml/2006/main">
              <a:ext uri="{FF2B5EF4-FFF2-40B4-BE49-F238E27FC236}">
                <a16:creationId xmlns:a16="http://schemas.microsoft.com/office/drawing/2014/main" id="{6C828539-E543-46F3-B5BC-97623F89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233" y="3528060"/>
            <a:ext cx="99007" cy="114300"/>
          </a:xfrm>
          <a:custGeom xmlns:a="http://schemas.openxmlformats.org/drawingml/2006/main">
            <a:pathLst>
              <a:path w="129397" h="149384">
                <a:moveTo>
                  <a:pt x="64699" y="149384"/>
                </a:moveTo>
                <a:lnTo>
                  <a:pt x="129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7" name="图片区-2-技术图1">
            <a:extLst xmlns:a="http://schemas.openxmlformats.org/drawingml/2006/main">
              <a:ext uri="{FF2B5EF4-FFF2-40B4-BE49-F238E27FC236}">
                <a16:creationId xmlns:a16="http://schemas.microsoft.com/office/drawing/2014/main" id="{AF802D0B-F4BB-460C-8EC2-1EA2D706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489" y="3779520"/>
            <a:ext cx="2513264" cy="1767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8" name="文字-18-技术维度三">
            <a:extLst xmlns:a="http://schemas.openxmlformats.org/drawingml/2006/main">
              <a:ext uri="{FF2B5EF4-FFF2-40B4-BE49-F238E27FC236}">
                <a16:creationId xmlns:a16="http://schemas.microsoft.com/office/drawing/2014/main" id="{BDCBB411-7DC8-4EB3-905B-3BE4A167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28" y="3017520"/>
            <a:ext cx="272651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技术维度三</a:t>
            </a:r>
          </a:p>
        </p:txBody>
      </p:sp>
      <p:sp>
        <p:nvSpPr>
          <p:cNvPr id="19" name="连线-19">
            <a:extLst xmlns:a="http://schemas.openxmlformats.org/drawingml/2006/main">
              <a:ext uri="{FF2B5EF4-FFF2-40B4-BE49-F238E27FC236}">
                <a16:creationId xmlns:a16="http://schemas.microsoft.com/office/drawing/2014/main" id="{D8171FA7-07D6-4B05-8CA4-E26206C8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7799" y="3489960"/>
            <a:ext cx="729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C7115CF6-C447-4F8A-A7C3-10FEAA5C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295" y="3528060"/>
            <a:ext cx="99007" cy="114300"/>
          </a:xfrm>
          <a:custGeom xmlns:a="http://schemas.openxmlformats.org/drawingml/2006/main">
            <a:pathLst>
              <a:path w="129397" h="149384">
                <a:moveTo>
                  <a:pt x="64699" y="149384"/>
                </a:moveTo>
                <a:lnTo>
                  <a:pt x="129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21" name="图片区-3-技术图2">
            <a:extLst xmlns:a="http://schemas.openxmlformats.org/drawingml/2006/main">
              <a:ext uri="{FF2B5EF4-FFF2-40B4-BE49-F238E27FC236}">
                <a16:creationId xmlns:a16="http://schemas.microsoft.com/office/drawing/2014/main" id="{93062A8A-C257-4216-A4E9-5B2A3FF6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551" y="3779520"/>
            <a:ext cx="2513264" cy="1767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2" name="文字-22-技术维度四">
            <a:extLst xmlns:a="http://schemas.openxmlformats.org/drawingml/2006/main">
              <a:ext uri="{FF2B5EF4-FFF2-40B4-BE49-F238E27FC236}">
                <a16:creationId xmlns:a16="http://schemas.microsoft.com/office/drawing/2014/main" id="{0D9F8700-52EE-4102-86B5-99516E4E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989" y="3017520"/>
            <a:ext cx="272651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技术维度四</a:t>
            </a:r>
          </a:p>
        </p:txBody>
      </p:sp>
      <p:sp>
        <p:nvSpPr>
          <p:cNvPr id="23" name="连线-23">
            <a:extLst xmlns:a="http://schemas.openxmlformats.org/drawingml/2006/main">
              <a:ext uri="{FF2B5EF4-FFF2-40B4-BE49-F238E27FC236}">
                <a16:creationId xmlns:a16="http://schemas.microsoft.com/office/drawing/2014/main" id="{46E8BE11-7CE2-4B03-A453-29073E35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21860" y="3489960"/>
            <a:ext cx="729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864">
            <a:solidFill>
              <a:srgbClr val="1979B5"/>
            </a:solidFill>
            <a:prstDash val="solid"/>
          </a:ln>
        </p:spPr>
      </p:sp>
      <p:sp>
        <p:nvSpPr>
          <p:cNvPr id="24" name="结构-24">
            <a:extLst xmlns:a="http://schemas.openxmlformats.org/drawingml/2006/main">
              <a:ext uri="{FF2B5EF4-FFF2-40B4-BE49-F238E27FC236}">
                <a16:creationId xmlns:a16="http://schemas.microsoft.com/office/drawing/2014/main" id="{F7C0DE16-49CE-4CB3-A886-09A11A72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356" y="3528060"/>
            <a:ext cx="99007" cy="114300"/>
          </a:xfrm>
          <a:custGeom xmlns:a="http://schemas.openxmlformats.org/drawingml/2006/main">
            <a:pathLst>
              <a:path w="129397" h="149384">
                <a:moveTo>
                  <a:pt x="64699" y="149384"/>
                </a:moveTo>
                <a:lnTo>
                  <a:pt x="12939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25" name="图片区-4-技术图3">
            <a:extLst xmlns:a="http://schemas.openxmlformats.org/drawingml/2006/main">
              <a:ext uri="{FF2B5EF4-FFF2-40B4-BE49-F238E27FC236}">
                <a16:creationId xmlns:a16="http://schemas.microsoft.com/office/drawing/2014/main" id="{9DF0754B-DFCB-4F39-A96D-EAA1C1C0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612" y="3779520"/>
            <a:ext cx="2513264" cy="1767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6" name="文字-26-说明器件、方法或系统的集成目">
            <a:extLst xmlns:a="http://schemas.openxmlformats.org/drawingml/2006/main">
              <a:ext uri="{FF2B5EF4-FFF2-40B4-BE49-F238E27FC236}">
                <a16:creationId xmlns:a16="http://schemas.microsoft.com/office/drawing/2014/main" id="{5B3E3444-8465-4957-867C-2FAD8E97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5707380"/>
            <a:ext cx="1145439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器件、方法或系统的集成目标</a:t>
            </a:r>
          </a:p>
        </p:txBody>
      </p:sp>
      <p:sp>
        <p:nvSpPr>
          <p:cNvPr id="27" name="文字-27-填写关键技术的总体贡献与应用">
            <a:extLst xmlns:a="http://schemas.openxmlformats.org/drawingml/2006/main">
              <a:ext uri="{FF2B5EF4-FFF2-40B4-BE49-F238E27FC236}">
                <a16:creationId xmlns:a16="http://schemas.microsoft.com/office/drawing/2014/main" id="{8F1CAFA3-2FE7-4282-8C1B-14776AB0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240780"/>
            <a:ext cx="1145439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E8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E8A0"/>
                </a:solidFill>
                <a:latin typeface="Microsoft YaHei"/>
                <a:ea typeface="Microsoft YaHei"/>
                <a:cs typeface="Microsoft YaHei"/>
              </a:rPr>
              <a:t>关键技术的总体贡献与应用价值</a:t>
            </a:r>
          </a:p>
        </p:txBody>
      </p:sp>
    </p:spTree>
    <p:extLst>
      <p:ext uri="{BB962C8B-B14F-4D97-AF65-F5344CB8AC3E}">
        <p14:creationId xmlns:p14="http://schemas.microsoft.com/office/powerpoint/2010/main" val="161140000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文字-1-2.2 科研工作二">
            <a:extLst xmlns:a="http://schemas.openxmlformats.org/drawingml/2006/main">
              <a:ext uri="{FF2B5EF4-FFF2-40B4-BE49-F238E27FC236}">
                <a16:creationId xmlns:a16="http://schemas.microsoft.com/office/drawing/2014/main" id="{6396F11E-22AD-4509-B7B1-60144836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2.2 科研工作二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7C41C191-1BF5-4FC5-8D0D-183AADEE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53C2EB4E-093A-4BE2-884A-224E9A08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52500"/>
            <a:ext cx="1926836" cy="2964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4" name="图片区-1-研究对象">
            <a:extLst xmlns:a="http://schemas.openxmlformats.org/drawingml/2006/main">
              <a:ext uri="{FF2B5EF4-FFF2-40B4-BE49-F238E27FC236}">
                <a16:creationId xmlns:a16="http://schemas.microsoft.com/office/drawing/2014/main" id="{5830D498-85FA-4D53-91FB-FA32A081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6" y="1127760"/>
            <a:ext cx="1591734" cy="14706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5" name="文字-5-填写对象名称">
            <a:extLst xmlns:a="http://schemas.openxmlformats.org/drawingml/2006/main">
              <a:ext uri="{FF2B5EF4-FFF2-40B4-BE49-F238E27FC236}">
                <a16:creationId xmlns:a16="http://schemas.microsoft.com/office/drawing/2014/main" id="{0D9B8580-B71F-474E-A646-EB4967D5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2758440"/>
            <a:ext cx="167551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对象名称</a:t>
            </a:r>
          </a:p>
        </p:txBody>
      </p:sp>
      <p:sp>
        <p:nvSpPr>
          <p:cNvPr id="6" name="文字-6-说明核心特点">
            <a:extLst xmlns:a="http://schemas.openxmlformats.org/drawingml/2006/main">
              <a:ext uri="{FF2B5EF4-FFF2-40B4-BE49-F238E27FC236}">
                <a16:creationId xmlns:a16="http://schemas.microsoft.com/office/drawing/2014/main" id="{F41AA9E9-A122-480E-80B6-5555AA5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" y="3268980"/>
            <a:ext cx="1683125" cy="510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核心特点</a:t>
            </a:r>
          </a:p>
        </p:txBody>
      </p:sp>
      <p:sp>
        <p:nvSpPr>
          <p:cNvPr id="7" name="文字-7-能力维度一">
            <a:extLst xmlns:a="http://schemas.openxmlformats.org/drawingml/2006/main">
              <a:ext uri="{FF2B5EF4-FFF2-40B4-BE49-F238E27FC236}">
                <a16:creationId xmlns:a16="http://schemas.microsoft.com/office/drawing/2014/main" id="{DF4D5F3A-8683-44EC-B647-6A3E062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967" y="1005840"/>
            <a:ext cx="2185778" cy="525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能力维度一</a:t>
            </a:r>
          </a:p>
        </p:txBody>
      </p:sp>
      <p:sp>
        <p:nvSpPr>
          <p:cNvPr id="8" name="连线-8">
            <a:extLst xmlns:a="http://schemas.openxmlformats.org/drawingml/2006/main">
              <a:ext uri="{FF2B5EF4-FFF2-40B4-BE49-F238E27FC236}">
                <a16:creationId xmlns:a16="http://schemas.microsoft.com/office/drawing/2014/main" id="{1D466A12-833E-4A16-9DA9-FE5959B9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46967" y="1805940"/>
            <a:ext cx="219339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073E86"/>
            </a:solidFill>
            <a:prstDash val="solid"/>
          </a:ln>
        </p:spPr>
      </p:sp>
      <p:sp>
        <p:nvSpPr>
          <p:cNvPr id="9" name="文字-9-1">
            <a:extLst xmlns:a="http://schemas.openxmlformats.org/drawingml/2006/main">
              <a:ext uri="{FF2B5EF4-FFF2-40B4-BE49-F238E27FC236}">
                <a16:creationId xmlns:a16="http://schemas.microsoft.com/office/drawing/2014/main" id="{DD9FE1A1-01BD-4D4A-BDC5-41CAF033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894" y="1623060"/>
            <a:ext cx="396029" cy="39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对象-10">
            <a:extLst xmlns:a="http://schemas.openxmlformats.org/drawingml/2006/main">
              <a:ext uri="{FF2B5EF4-FFF2-40B4-BE49-F238E27FC236}">
                <a16:creationId xmlns:a16="http://schemas.microsoft.com/office/drawing/2014/main" id="{9A3C7F2C-2B2C-4B76-A3A9-27D8B324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967" y="2019300"/>
            <a:ext cx="2185778" cy="1897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1979B5"/>
            </a:solidFill>
            <a:prstDash val="solid"/>
          </a:ln>
        </p:spPr>
      </p:sp>
      <p:sp>
        <p:nvSpPr>
          <p:cNvPr id="11" name="文字-11-说明本项能力填写实现方式填写">
            <a:extLst xmlns:a="http://schemas.openxmlformats.org/drawingml/2006/main">
              <a:ext uri="{FF2B5EF4-FFF2-40B4-BE49-F238E27FC236}">
                <a16:creationId xmlns:a16="http://schemas.microsoft.com/office/drawing/2014/main" id="{A2E4CCD2-7214-4C53-8F7C-7ECD9A14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822" y="2148840"/>
            <a:ext cx="1942067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能力描述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实现方式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</p:txBody>
      </p:sp>
      <p:sp>
        <p:nvSpPr>
          <p:cNvPr id="12" name="文字-12-能力维度二">
            <a:extLst xmlns:a="http://schemas.openxmlformats.org/drawingml/2006/main">
              <a:ext uri="{FF2B5EF4-FFF2-40B4-BE49-F238E27FC236}">
                <a16:creationId xmlns:a16="http://schemas.microsoft.com/office/drawing/2014/main" id="{BBB03DF9-9C65-44B0-917E-8CF2B2AD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296" y="1005840"/>
            <a:ext cx="2185778" cy="525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能力维度二</a:t>
            </a:r>
          </a:p>
        </p:txBody>
      </p:sp>
      <p:sp>
        <p:nvSpPr>
          <p:cNvPr id="13" name="连线-13">
            <a:extLst xmlns:a="http://schemas.openxmlformats.org/drawingml/2006/main">
              <a:ext uri="{FF2B5EF4-FFF2-40B4-BE49-F238E27FC236}">
                <a16:creationId xmlns:a16="http://schemas.microsoft.com/office/drawing/2014/main" id="{955483BE-82A5-4A88-B85E-7360BE01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00296" y="1805940"/>
            <a:ext cx="219339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073E86"/>
            </a:solidFill>
            <a:prstDash val="solid"/>
          </a:ln>
        </p:spPr>
      </p:sp>
      <p:sp>
        <p:nvSpPr>
          <p:cNvPr id="14" name="文字-14-2">
            <a:extLst xmlns:a="http://schemas.openxmlformats.org/drawingml/2006/main">
              <a:ext uri="{FF2B5EF4-FFF2-40B4-BE49-F238E27FC236}">
                <a16:creationId xmlns:a16="http://schemas.microsoft.com/office/drawing/2014/main" id="{24DDAF73-BE74-4DF2-8390-0148F3AD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1223" y="1623060"/>
            <a:ext cx="396029" cy="39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对象-15">
            <a:extLst xmlns:a="http://schemas.openxmlformats.org/drawingml/2006/main">
              <a:ext uri="{FF2B5EF4-FFF2-40B4-BE49-F238E27FC236}">
                <a16:creationId xmlns:a16="http://schemas.microsoft.com/office/drawing/2014/main" id="{A6B3D607-38E3-4744-8F42-61E8467F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296" y="2019300"/>
            <a:ext cx="2185778" cy="1897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1979B5"/>
            </a:solidFill>
            <a:prstDash val="solid"/>
          </a:ln>
        </p:spPr>
      </p:sp>
      <p:sp>
        <p:nvSpPr>
          <p:cNvPr id="16" name="文字-16-说明本项能力填写实现方式填写">
            <a:extLst xmlns:a="http://schemas.openxmlformats.org/drawingml/2006/main">
              <a:ext uri="{FF2B5EF4-FFF2-40B4-BE49-F238E27FC236}">
                <a16:creationId xmlns:a16="http://schemas.microsoft.com/office/drawing/2014/main" id="{9645725B-6BE7-4ABF-B22D-BA0F348A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151" y="2148840"/>
            <a:ext cx="1942067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能力描述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实现方式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</p:txBody>
      </p:sp>
      <p:sp>
        <p:nvSpPr>
          <p:cNvPr id="17" name="文字-17-能力维度三">
            <a:extLst xmlns:a="http://schemas.openxmlformats.org/drawingml/2006/main">
              <a:ext uri="{FF2B5EF4-FFF2-40B4-BE49-F238E27FC236}">
                <a16:creationId xmlns:a16="http://schemas.microsoft.com/office/drawing/2014/main" id="{9A8606B1-A5E9-438E-8488-391C1E5E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624" y="1005840"/>
            <a:ext cx="2185778" cy="525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能力维度三</a:t>
            </a:r>
          </a:p>
        </p:txBody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EA73D229-F486-438A-B9DA-CB6E5F51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3624" y="1805940"/>
            <a:ext cx="219339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073E86"/>
            </a:solidFill>
            <a:prstDash val="solid"/>
          </a:ln>
        </p:spPr>
      </p:sp>
      <p:sp>
        <p:nvSpPr>
          <p:cNvPr id="19" name="文字-19-3">
            <a:extLst xmlns:a="http://schemas.openxmlformats.org/drawingml/2006/main">
              <a:ext uri="{FF2B5EF4-FFF2-40B4-BE49-F238E27FC236}">
                <a16:creationId xmlns:a16="http://schemas.microsoft.com/office/drawing/2014/main" id="{60249AB2-8963-47B7-A8A5-0BDC9F57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4552" y="1623060"/>
            <a:ext cx="396029" cy="39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对象-20">
            <a:extLst xmlns:a="http://schemas.openxmlformats.org/drawingml/2006/main">
              <a:ext uri="{FF2B5EF4-FFF2-40B4-BE49-F238E27FC236}">
                <a16:creationId xmlns:a16="http://schemas.microsoft.com/office/drawing/2014/main" id="{8546FA07-360A-4BFD-A450-07391EAC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3624" y="2019300"/>
            <a:ext cx="2185778" cy="1897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1979B5"/>
            </a:solidFill>
            <a:prstDash val="solid"/>
          </a:ln>
        </p:spPr>
      </p:sp>
      <p:sp>
        <p:nvSpPr>
          <p:cNvPr id="21" name="文字-21-说明本项能力填写实现方式填写">
            <a:extLst xmlns:a="http://schemas.openxmlformats.org/drawingml/2006/main">
              <a:ext uri="{FF2B5EF4-FFF2-40B4-BE49-F238E27FC236}">
                <a16:creationId xmlns:a16="http://schemas.microsoft.com/office/drawing/2014/main" id="{FC614132-2109-426B-B2BA-E0C17F94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480" y="2148840"/>
            <a:ext cx="1942067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能力描述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实现方式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</p:txBody>
      </p:sp>
      <p:sp>
        <p:nvSpPr>
          <p:cNvPr id="22" name="文字-22-能力维度四">
            <a:extLst xmlns:a="http://schemas.openxmlformats.org/drawingml/2006/main">
              <a:ext uri="{FF2B5EF4-FFF2-40B4-BE49-F238E27FC236}">
                <a16:creationId xmlns:a16="http://schemas.microsoft.com/office/drawing/2014/main" id="{7E15E71E-199B-4203-B0EF-0777E7E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53" y="1005840"/>
            <a:ext cx="2185778" cy="525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能力维度四</a:t>
            </a:r>
          </a:p>
        </p:txBody>
      </p:sp>
      <p:sp>
        <p:nvSpPr>
          <p:cNvPr id="23" name="连线-23">
            <a:extLst xmlns:a="http://schemas.openxmlformats.org/drawingml/2006/main">
              <a:ext uri="{FF2B5EF4-FFF2-40B4-BE49-F238E27FC236}">
                <a16:creationId xmlns:a16="http://schemas.microsoft.com/office/drawing/2014/main" id="{BDA050A4-936E-4314-A5DF-1D17E5F2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06953" y="1805940"/>
            <a:ext cx="2193394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073E86"/>
            </a:solidFill>
            <a:prstDash val="solid"/>
          </a:ln>
        </p:spPr>
      </p:sp>
      <p:sp>
        <p:nvSpPr>
          <p:cNvPr id="24" name="文字-24-4">
            <a:extLst xmlns:a="http://schemas.openxmlformats.org/drawingml/2006/main">
              <a:ext uri="{FF2B5EF4-FFF2-40B4-BE49-F238E27FC236}">
                <a16:creationId xmlns:a16="http://schemas.microsoft.com/office/drawing/2014/main" id="{2758E2BA-EC7C-4160-B4EF-AD8AA040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81" y="1623060"/>
            <a:ext cx="396029" cy="396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对象-25">
            <a:extLst xmlns:a="http://schemas.openxmlformats.org/drawingml/2006/main">
              <a:ext uri="{FF2B5EF4-FFF2-40B4-BE49-F238E27FC236}">
                <a16:creationId xmlns:a16="http://schemas.microsoft.com/office/drawing/2014/main" id="{B2A8F87D-B6C2-45BA-A13C-16F6E592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6953" y="2019300"/>
            <a:ext cx="2185778" cy="1897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1979B5"/>
            </a:solidFill>
            <a:prstDash val="solid"/>
          </a:ln>
        </p:spPr>
      </p:sp>
      <p:sp>
        <p:nvSpPr>
          <p:cNvPr id="26" name="文字-26-说明本项能力填写实现方式填写">
            <a:extLst xmlns:a="http://schemas.openxmlformats.org/drawingml/2006/main">
              <a:ext uri="{FF2B5EF4-FFF2-40B4-BE49-F238E27FC236}">
                <a16:creationId xmlns:a16="http://schemas.microsoft.com/office/drawing/2014/main" id="{EE608B00-A676-4641-8BFE-26D0CA81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808" y="2148840"/>
            <a:ext cx="1942067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能力描述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实现方式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</a:p>
        </p:txBody>
      </p:sp>
      <p:sp>
        <p:nvSpPr>
          <p:cNvPr id="27" name="结构-27">
            <a:extLst xmlns:a="http://schemas.openxmlformats.org/drawingml/2006/main">
              <a:ext uri="{FF2B5EF4-FFF2-40B4-BE49-F238E27FC236}">
                <a16:creationId xmlns:a16="http://schemas.microsoft.com/office/drawing/2014/main" id="{3FDD8F64-9910-4E60-9CD8-BC1722E8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4175760"/>
            <a:ext cx="11454390" cy="342900"/>
          </a:xfrm>
          <a:custGeom xmlns:a="http://schemas.openxmlformats.org/drawingml/2006/main">
            <a:pathLst>
              <a:path w="14970252" h="448151">
                <a:moveTo>
                  <a:pt x="0" y="448151"/>
                </a:moveTo>
                <a:lnTo>
                  <a:pt x="238887" y="0"/>
                </a:lnTo>
                <a:lnTo>
                  <a:pt x="14731365" y="0"/>
                </a:lnTo>
                <a:lnTo>
                  <a:pt x="14970252" y="448151"/>
                </a:lnTo>
                <a:close/>
              </a:path>
            </a:pathLst>
          </a:cu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</p:sp>
      <p:sp>
        <p:nvSpPr>
          <p:cNvPr id="28" name="文字-28-研究支撑措施">
            <a:extLst xmlns:a="http://schemas.openxmlformats.org/drawingml/2006/main">
              <a:ext uri="{FF2B5EF4-FFF2-40B4-BE49-F238E27FC236}">
                <a16:creationId xmlns:a16="http://schemas.microsoft.com/office/drawing/2014/main" id="{B5DFEC9B-AF65-4B21-B919-2D8CA7BD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044" y="4191000"/>
            <a:ext cx="11225912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研究支撑措施</a:t>
            </a:r>
          </a:p>
        </p:txBody>
      </p:sp>
      <p:sp>
        <p:nvSpPr>
          <p:cNvPr id="29" name="对象-29">
            <a:extLst xmlns:a="http://schemas.openxmlformats.org/drawingml/2006/main">
              <a:ext uri="{FF2B5EF4-FFF2-40B4-BE49-F238E27FC236}">
                <a16:creationId xmlns:a16="http://schemas.microsoft.com/office/drawing/2014/main" id="{554AF00A-D2FB-4CE0-8E19-C6D9D951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4526280"/>
            <a:ext cx="11454390" cy="1889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30" name="对象-30">
            <a:extLst xmlns:a="http://schemas.openxmlformats.org/drawingml/2006/main">
              <a:ext uri="{FF2B5EF4-FFF2-40B4-BE49-F238E27FC236}">
                <a16:creationId xmlns:a16="http://schemas.microsoft.com/office/drawing/2014/main" id="{7CEC809D-4ADF-4932-9AFB-254C2EFB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24" y="4671060"/>
            <a:ext cx="3609961" cy="1607820"/>
          </a:xfrm>
          <a:prstGeom xmlns:a="http://schemas.openxmlformats.org/drawingml/2006/main" prst="roundRect">
            <a:avLst>
              <a:gd name="adj" fmla="val 3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31" name="图片区-2-支撑对象0">
            <a:extLst xmlns:a="http://schemas.openxmlformats.org/drawingml/2006/main">
              <a:ext uri="{FF2B5EF4-FFF2-40B4-BE49-F238E27FC236}">
                <a16:creationId xmlns:a16="http://schemas.microsoft.com/office/drawing/2014/main" id="{F8CCE891-67D7-4268-9FE7-2E880037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79" y="4800600"/>
            <a:ext cx="1325176" cy="1325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2" name="文字-32-支撑措施一">
            <a:extLst xmlns:a="http://schemas.openxmlformats.org/drawingml/2006/main">
              <a:ext uri="{FF2B5EF4-FFF2-40B4-BE49-F238E27FC236}">
                <a16:creationId xmlns:a16="http://schemas.microsoft.com/office/drawing/2014/main" id="{0DD6D38D-66A1-42F0-A763-60C5ED97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394" y="4800600"/>
            <a:ext cx="1896372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支撑措施一</a:t>
            </a:r>
          </a:p>
        </p:txBody>
      </p:sp>
      <p:sp>
        <p:nvSpPr>
          <p:cNvPr id="33" name="文字-33-填写实现方法与作用说明">
            <a:extLst xmlns:a="http://schemas.openxmlformats.org/drawingml/2006/main">
              <a:ext uri="{FF2B5EF4-FFF2-40B4-BE49-F238E27FC236}">
                <a16:creationId xmlns:a16="http://schemas.microsoft.com/office/drawing/2014/main" id="{577D8D1A-C0B2-47D7-8BD7-8870B2A2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394" y="5326380"/>
            <a:ext cx="1896372" cy="739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实现方法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与作用说明</a:t>
            </a:r>
          </a:p>
        </p:txBody>
      </p:sp>
      <p:sp>
        <p:nvSpPr>
          <p:cNvPr id="34" name="对象-34">
            <a:extLst xmlns:a="http://schemas.openxmlformats.org/drawingml/2006/main">
              <a:ext uri="{FF2B5EF4-FFF2-40B4-BE49-F238E27FC236}">
                <a16:creationId xmlns:a16="http://schemas.microsoft.com/office/drawing/2014/main" id="{57EE6CDE-1875-4208-B442-9553E509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636" y="4671060"/>
            <a:ext cx="3609961" cy="1607820"/>
          </a:xfrm>
          <a:prstGeom xmlns:a="http://schemas.openxmlformats.org/drawingml/2006/main" prst="roundRect">
            <a:avLst>
              <a:gd name="adj" fmla="val 3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35" name="图片区-3-支撑对象1">
            <a:extLst xmlns:a="http://schemas.openxmlformats.org/drawingml/2006/main">
              <a:ext uri="{FF2B5EF4-FFF2-40B4-BE49-F238E27FC236}">
                <a16:creationId xmlns:a16="http://schemas.microsoft.com/office/drawing/2014/main" id="{EA76D020-FFF0-4BC6-86B9-87088C83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490" y="4800600"/>
            <a:ext cx="1325176" cy="1325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36" name="文字-36-支撑措施二">
            <a:extLst xmlns:a="http://schemas.openxmlformats.org/drawingml/2006/main">
              <a:ext uri="{FF2B5EF4-FFF2-40B4-BE49-F238E27FC236}">
                <a16:creationId xmlns:a16="http://schemas.microsoft.com/office/drawing/2014/main" id="{A76F9D0B-763A-4C59-ABCE-2BA11845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906" y="4800600"/>
            <a:ext cx="1896372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支撑措施二</a:t>
            </a:r>
          </a:p>
        </p:txBody>
      </p:sp>
      <p:sp>
        <p:nvSpPr>
          <p:cNvPr id="37" name="文字-37-填写实现方法与作用说明">
            <a:extLst xmlns:a="http://schemas.openxmlformats.org/drawingml/2006/main">
              <a:ext uri="{FF2B5EF4-FFF2-40B4-BE49-F238E27FC236}">
                <a16:creationId xmlns:a16="http://schemas.microsoft.com/office/drawing/2014/main" id="{0CD7D84B-1502-46EC-8FCF-8753A3A1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906" y="5326380"/>
            <a:ext cx="1896372" cy="739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实现方法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与作用说明</a:t>
            </a:r>
          </a:p>
        </p:txBody>
      </p:sp>
      <p:sp>
        <p:nvSpPr>
          <p:cNvPr id="38" name="对象-38">
            <a:extLst xmlns:a="http://schemas.openxmlformats.org/drawingml/2006/main">
              <a:ext uri="{FF2B5EF4-FFF2-40B4-BE49-F238E27FC236}">
                <a16:creationId xmlns:a16="http://schemas.microsoft.com/office/drawing/2014/main" id="{7D7A2186-66D1-4166-A7E2-EC5DCB81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147" y="4671060"/>
            <a:ext cx="3609961" cy="1607820"/>
          </a:xfrm>
          <a:prstGeom xmlns:a="http://schemas.openxmlformats.org/drawingml/2006/main" prst="roundRect">
            <a:avLst>
              <a:gd name="adj" fmla="val 3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39" name="图片区-4-支撑对象2">
            <a:extLst xmlns:a="http://schemas.openxmlformats.org/drawingml/2006/main">
              <a:ext uri="{FF2B5EF4-FFF2-40B4-BE49-F238E27FC236}">
                <a16:creationId xmlns:a16="http://schemas.microsoft.com/office/drawing/2014/main" id="{0F9F937B-0FCE-4FD5-A83F-0DBF01BC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002" y="4800600"/>
            <a:ext cx="1325176" cy="1325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40" name="文字-40-支撑措施三">
            <a:extLst xmlns:a="http://schemas.openxmlformats.org/drawingml/2006/main">
              <a:ext uri="{FF2B5EF4-FFF2-40B4-BE49-F238E27FC236}">
                <a16:creationId xmlns:a16="http://schemas.microsoft.com/office/drawing/2014/main" id="{6CE0E7B5-B603-4E25-A3F8-FB2B087C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417" y="4800600"/>
            <a:ext cx="1896372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支撑措施三</a:t>
            </a:r>
          </a:p>
        </p:txBody>
      </p:sp>
      <p:sp>
        <p:nvSpPr>
          <p:cNvPr id="41" name="文字-41-填写实现方法与作用说明">
            <a:extLst xmlns:a="http://schemas.openxmlformats.org/drawingml/2006/main">
              <a:ext uri="{FF2B5EF4-FFF2-40B4-BE49-F238E27FC236}">
                <a16:creationId xmlns:a16="http://schemas.microsoft.com/office/drawing/2014/main" id="{CC01B3BC-2562-4C9B-A639-501383EA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7417" y="5326380"/>
            <a:ext cx="1896372" cy="739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实现方法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与作用说明</a:t>
            </a:r>
          </a:p>
        </p:txBody>
      </p:sp>
    </p:spTree>
    <p:extLst>
      <p:ext uri="{BB962C8B-B14F-4D97-AF65-F5344CB8AC3E}">
        <p14:creationId xmlns:p14="http://schemas.microsoft.com/office/powerpoint/2010/main" val="63403072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文字-1-3.3 研究内容">
            <a:extLst xmlns:a="http://schemas.openxmlformats.org/drawingml/2006/main">
              <a:ext uri="{FF2B5EF4-FFF2-40B4-BE49-F238E27FC236}">
                <a16:creationId xmlns:a16="http://schemas.microsoft.com/office/drawing/2014/main" id="{89386710-FBAC-4421-B5EF-FA2FA261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3.3 研究内容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26F8B1ED-E6E4-4C8C-8A19-F18837C5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对象-3">
            <a:extLst xmlns:a="http://schemas.openxmlformats.org/drawingml/2006/main">
              <a:ext uri="{FF2B5EF4-FFF2-40B4-BE49-F238E27FC236}">
                <a16:creationId xmlns:a16="http://schemas.microsoft.com/office/drawing/2014/main" id="{E0E76376-985C-41DE-B89E-AF03B189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82040"/>
            <a:ext cx="11454390" cy="754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073E86"/>
            </a:solidFill>
            <a:prstDash val="solid"/>
          </a:ln>
        </p:spPr>
      </p:sp>
      <p:sp>
        <p:nvSpPr>
          <p:cNvPr id="4" name="文字-4-填写系统或方法名称">
            <a:extLst xmlns:a="http://schemas.openxmlformats.org/drawingml/2006/main">
              <a:ext uri="{FF2B5EF4-FFF2-40B4-BE49-F238E27FC236}">
                <a16:creationId xmlns:a16="http://schemas.microsoft.com/office/drawing/2014/main" id="{83F5FFB5-981D-43B9-B3B9-858F949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411" y="914400"/>
            <a:ext cx="3427178" cy="365760"/>
          </a:xfrm>
          <a:prstGeom xmlns:a="http://schemas.openxmlformats.org/drawingml/2006/main" prst="roundRect">
            <a:avLst>
              <a:gd name="adj" fmla="val 15940"/>
            </a:avLst>
          </a:prstGeom>
          <a:solidFill xmlns:a="http://schemas.openxmlformats.org/drawingml/2006/main">
            <a:srgbClr val="1979B5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系统或方法名称</a:t>
            </a:r>
          </a:p>
        </p:txBody>
      </p:sp>
      <p:sp>
        <p:nvSpPr>
          <p:cNvPr id="5" name="文字-5-说明系统组成、实现方式及其作">
            <a:extLst xmlns:a="http://schemas.openxmlformats.org/drawingml/2006/main">
              <a:ext uri="{FF2B5EF4-FFF2-40B4-BE49-F238E27FC236}">
                <a16:creationId xmlns:a16="http://schemas.microsoft.com/office/drawing/2014/main" id="{06D35F80-F898-451C-ABF4-51451732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1356360"/>
            <a:ext cx="11088825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系统组成、实现方式及其作用对象</a:t>
            </a:r>
          </a:p>
        </p:txBody>
      </p:sp>
      <p:sp>
        <p:nvSpPr>
          <p:cNvPr id="6" name="对象-6">
            <a:extLst xmlns:a="http://schemas.openxmlformats.org/drawingml/2006/main">
              <a:ext uri="{FF2B5EF4-FFF2-40B4-BE49-F238E27FC236}">
                <a16:creationId xmlns:a16="http://schemas.microsoft.com/office/drawing/2014/main" id="{654B0A2A-56A5-4BC4-81DF-74E769A1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587" y="2065020"/>
            <a:ext cx="11088825" cy="391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7" name="文字-7-快">
            <a:extLst xmlns:a="http://schemas.openxmlformats.org/drawingml/2006/main">
              <a:ext uri="{FF2B5EF4-FFF2-40B4-BE49-F238E27FC236}">
                <a16:creationId xmlns:a16="http://schemas.microsoft.com/office/drawing/2014/main" id="{6E26ADEF-D96F-46B7-B85D-C4D1C42E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234" y="2217420"/>
            <a:ext cx="563580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</a:t>
            </a:r>
          </a:p>
        </p:txBody>
      </p:sp>
      <p:sp>
        <p:nvSpPr>
          <p:cNvPr id="8" name="文字-8-填写性能描述填写指标与测试条">
            <a:extLst xmlns:a="http://schemas.openxmlformats.org/drawingml/2006/main">
              <a:ext uri="{FF2B5EF4-FFF2-40B4-BE49-F238E27FC236}">
                <a16:creationId xmlns:a16="http://schemas.microsoft.com/office/drawing/2014/main" id="{4E273E40-21DD-4C14-B939-A3F6E9ED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22" y="2895600"/>
            <a:ext cx="3282475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性能特点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评价指标与测试条件</a:t>
            </a:r>
          </a:p>
        </p:txBody>
      </p:sp>
      <p:sp>
        <p:nvSpPr>
          <p:cNvPr id="9" name="连线-9">
            <a:extLst xmlns:a="http://schemas.openxmlformats.org/drawingml/2006/main">
              <a:ext uri="{FF2B5EF4-FFF2-40B4-BE49-F238E27FC236}">
                <a16:creationId xmlns:a16="http://schemas.microsoft.com/office/drawing/2014/main" id="{E971E9A9-2C5D-4566-8EAA-B0CF6BF2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48952" y="3802380"/>
            <a:ext cx="729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0">
            <a:solidFill>
              <a:srgbClr val="1979B5"/>
            </a:solidFill>
            <a:prstDash val="solid"/>
          </a:ln>
        </p:spPr>
      </p:sp>
      <p:sp>
        <p:nvSpPr>
          <p:cNvPr id="10" name="结构-10">
            <a:extLst xmlns:a="http://schemas.openxmlformats.org/drawingml/2006/main">
              <a:ext uri="{FF2B5EF4-FFF2-40B4-BE49-F238E27FC236}">
                <a16:creationId xmlns:a16="http://schemas.microsoft.com/office/drawing/2014/main" id="{B6E014EB-B1F1-4982-BECB-0C80A78F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792" y="3977640"/>
            <a:ext cx="152319" cy="167640"/>
          </a:xfrm>
          <a:custGeom xmlns:a="http://schemas.openxmlformats.org/drawingml/2006/main">
            <a:pathLst>
              <a:path w="199073" h="219096">
                <a:moveTo>
                  <a:pt x="99536" y="219096"/>
                </a:moveTo>
                <a:lnTo>
                  <a:pt x="199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11" name="图片区-1-性能示意0">
            <a:extLst xmlns:a="http://schemas.openxmlformats.org/drawingml/2006/main">
              <a:ext uri="{FF2B5EF4-FFF2-40B4-BE49-F238E27FC236}">
                <a16:creationId xmlns:a16="http://schemas.microsoft.com/office/drawing/2014/main" id="{4230E3E1-AE8B-4DB4-8D6B-B1224556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30" y="4305300"/>
            <a:ext cx="3076844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2" name="文字-12-准">
            <a:extLst xmlns:a="http://schemas.openxmlformats.org/drawingml/2006/main">
              <a:ext uri="{FF2B5EF4-FFF2-40B4-BE49-F238E27FC236}">
                <a16:creationId xmlns:a16="http://schemas.microsoft.com/office/drawing/2014/main" id="{097A83F7-D04D-4412-A545-E16EA07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659" y="2217420"/>
            <a:ext cx="563580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</a:t>
            </a:r>
          </a:p>
        </p:txBody>
      </p:sp>
      <p:sp>
        <p:nvSpPr>
          <p:cNvPr id="13" name="文字-13-填写性能描述填写指标与测试条">
            <a:extLst xmlns:a="http://schemas.openxmlformats.org/drawingml/2006/main">
              <a:ext uri="{FF2B5EF4-FFF2-40B4-BE49-F238E27FC236}">
                <a16:creationId xmlns:a16="http://schemas.microsoft.com/office/drawing/2014/main" id="{6FCF0CE7-66D0-4ECC-9F2D-50100CD3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947" y="2895600"/>
            <a:ext cx="3282475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AEC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性能特点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评价指标与测试条件</a:t>
            </a:r>
          </a:p>
        </p:txBody>
      </p:sp>
      <p:sp>
        <p:nvSpPr>
          <p:cNvPr id="14" name="连线-14">
            <a:extLst xmlns:a="http://schemas.openxmlformats.org/drawingml/2006/main">
              <a:ext uri="{FF2B5EF4-FFF2-40B4-BE49-F238E27FC236}">
                <a16:creationId xmlns:a16="http://schemas.microsoft.com/office/drawing/2014/main" id="{C88D2AF6-51F2-426E-8E20-68C19D94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89376" y="3802380"/>
            <a:ext cx="729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0">
            <a:solidFill>
              <a:srgbClr val="AC111A"/>
            </a:solidFill>
            <a:prstDash val="solid"/>
          </a:ln>
        </p:spPr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3F7FD399-2F93-4525-862B-AEC815F7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217" y="3977640"/>
            <a:ext cx="152319" cy="167640"/>
          </a:xfrm>
          <a:custGeom xmlns:a="http://schemas.openxmlformats.org/drawingml/2006/main">
            <a:pathLst>
              <a:path w="199073" h="219096">
                <a:moveTo>
                  <a:pt x="99536" y="219096"/>
                </a:moveTo>
                <a:lnTo>
                  <a:pt x="199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111A"/>
          </a:solidFill>
          <a:ln xmlns:a="http://schemas.openxmlformats.org/drawingml/2006/main" w="0">
            <a:noFill/>
          </a:ln>
        </p:spPr>
      </p:sp>
      <p:sp>
        <p:nvSpPr>
          <p:cNvPr id="16" name="图片区-2-性能示意1">
            <a:extLst xmlns:a="http://schemas.openxmlformats.org/drawingml/2006/main">
              <a:ext uri="{FF2B5EF4-FFF2-40B4-BE49-F238E27FC236}">
                <a16:creationId xmlns:a16="http://schemas.microsoft.com/office/drawing/2014/main" id="{CD1B1812-D6C6-4C5D-9AA4-472530D5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954" y="4305300"/>
            <a:ext cx="3076844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7" name="文字-17-稳">
            <a:extLst xmlns:a="http://schemas.openxmlformats.org/drawingml/2006/main">
              <a:ext uri="{FF2B5EF4-FFF2-40B4-BE49-F238E27FC236}">
                <a16:creationId xmlns:a16="http://schemas.microsoft.com/office/drawing/2014/main" id="{88987AB6-588F-4EA0-BAA0-A3172C56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84" y="2217420"/>
            <a:ext cx="563580" cy="563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</a:t>
            </a:r>
          </a:p>
        </p:txBody>
      </p:sp>
      <p:sp>
        <p:nvSpPr>
          <p:cNvPr id="18" name="文字-18-填写性能描述填写指标与测试条">
            <a:extLst xmlns:a="http://schemas.openxmlformats.org/drawingml/2006/main">
              <a:ext uri="{FF2B5EF4-FFF2-40B4-BE49-F238E27FC236}">
                <a16:creationId xmlns:a16="http://schemas.microsoft.com/office/drawing/2014/main" id="{5E2AC6F4-BE56-4370-BCDA-5230BB57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372" y="2895600"/>
            <a:ext cx="3282475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性能特点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评价指标与测试条件</a:t>
            </a:r>
          </a:p>
        </p:txBody>
      </p:sp>
      <p:sp>
        <p:nvSpPr>
          <p:cNvPr id="19" name="连线-19">
            <a:extLst xmlns:a="http://schemas.openxmlformats.org/drawingml/2006/main">
              <a:ext uri="{FF2B5EF4-FFF2-40B4-BE49-F238E27FC236}">
                <a16:creationId xmlns:a16="http://schemas.microsoft.com/office/drawing/2014/main" id="{58DACE13-884E-4A44-8C47-7CB7C7D2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29801" y="3802380"/>
            <a:ext cx="729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0">
            <a:solidFill>
              <a:srgbClr val="1979B5"/>
            </a:solidFill>
            <a:prstDash val="solid"/>
          </a:ln>
        </p:spPr>
      </p:sp>
      <p:sp>
        <p:nvSpPr>
          <p:cNvPr id="20" name="结构-20">
            <a:extLst xmlns:a="http://schemas.openxmlformats.org/drawingml/2006/main">
              <a:ext uri="{FF2B5EF4-FFF2-40B4-BE49-F238E27FC236}">
                <a16:creationId xmlns:a16="http://schemas.microsoft.com/office/drawing/2014/main" id="{AD6CC7DF-9EA0-430C-8A1D-0E54F155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642" y="3977640"/>
            <a:ext cx="152319" cy="167640"/>
          </a:xfrm>
          <a:custGeom xmlns:a="http://schemas.openxmlformats.org/drawingml/2006/main">
            <a:pathLst>
              <a:path w="199073" h="219096">
                <a:moveTo>
                  <a:pt x="99536" y="219096"/>
                </a:moveTo>
                <a:lnTo>
                  <a:pt x="1990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21" name="图片区-3-性能示意2">
            <a:extLst xmlns:a="http://schemas.openxmlformats.org/drawingml/2006/main">
              <a:ext uri="{FF2B5EF4-FFF2-40B4-BE49-F238E27FC236}">
                <a16:creationId xmlns:a16="http://schemas.microsoft.com/office/drawing/2014/main" id="{931EA65F-BB41-4CB6-B39C-BA9B304E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1379" y="4305300"/>
            <a:ext cx="3076844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22" name="文字-22-填写各项性能共同形成的应用收">
            <a:extLst xmlns:a="http://schemas.openxmlformats.org/drawingml/2006/main">
              <a:ext uri="{FF2B5EF4-FFF2-40B4-BE49-F238E27FC236}">
                <a16:creationId xmlns:a16="http://schemas.microsoft.com/office/drawing/2014/main" id="{318ADB44-3817-4DB5-9F4E-0E9D2E5F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187440"/>
            <a:ext cx="11454390" cy="464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1">
                <a:solidFill>
                  <a:srgbClr val="FFF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60" b="1">
                <a:solidFill>
                  <a:srgbClr val="FFF0BC"/>
                </a:solidFill>
                <a:latin typeface="Microsoft YaHei"/>
                <a:ea typeface="Microsoft YaHei"/>
                <a:cs typeface="Microsoft YaHei"/>
              </a:rPr>
              <a:t>各项性能共同形成的应用收益</a:t>
            </a:r>
          </a:p>
        </p:txBody>
      </p:sp>
    </p:spTree>
    <p:extLst>
      <p:ext uri="{BB962C8B-B14F-4D97-AF65-F5344CB8AC3E}">
        <p14:creationId xmlns:p14="http://schemas.microsoft.com/office/powerpoint/2010/main" val="151320714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文字-1-4.1 研究支撑条件">
            <a:extLst xmlns:a="http://schemas.openxmlformats.org/drawingml/2006/main">
              <a:ext uri="{FF2B5EF4-FFF2-40B4-BE49-F238E27FC236}">
                <a16:creationId xmlns:a16="http://schemas.microsoft.com/office/drawing/2014/main" id="{29B3CE5B-FB49-4DDA-B073-F3475EF7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4.1 研究支撑条件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1C03CC63-3816-4854-B98E-BEBE9C30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填写依托平台及其能够覆盖的主">
            <a:extLst xmlns:a="http://schemas.openxmlformats.org/drawingml/2006/main">
              <a:ext uri="{FF2B5EF4-FFF2-40B4-BE49-F238E27FC236}">
                <a16:creationId xmlns:a16="http://schemas.microsoft.com/office/drawing/2014/main" id="{11D83874-6251-4E36-9E88-94D5CD2F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44880"/>
            <a:ext cx="11454390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依托平台及其能够覆盖的主要研究环节</a:t>
            </a:r>
          </a:p>
        </p:txBody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BBD38619-2C52-4E55-9E2D-A00836BE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844040"/>
            <a:ext cx="11454390" cy="2118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5" name="图片区-1-平台资质">
            <a:extLst xmlns:a="http://schemas.openxmlformats.org/drawingml/2006/main">
              <a:ext uri="{FF2B5EF4-FFF2-40B4-BE49-F238E27FC236}">
                <a16:creationId xmlns:a16="http://schemas.microsoft.com/office/drawing/2014/main" id="{2B2A3B7B-DD6C-49AA-89E5-059374C1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24" y="1988820"/>
            <a:ext cx="2711279" cy="1805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" name="文字-6-核心研究平台">
            <a:extLst xmlns:a="http://schemas.openxmlformats.org/drawingml/2006/main">
              <a:ext uri="{FF2B5EF4-FFF2-40B4-BE49-F238E27FC236}">
                <a16:creationId xmlns:a16="http://schemas.microsoft.com/office/drawing/2014/main" id="{3770F818-5656-4272-9692-59CCBEC9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113" y="1981200"/>
            <a:ext cx="3137771" cy="388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核心研究平台</a:t>
            </a:r>
          </a:p>
        </p:txBody>
      </p:sp>
      <p:sp>
        <p:nvSpPr>
          <p:cNvPr id="7" name="文字-7-说明平台能够承担的关键任务">
            <a:extLst xmlns:a="http://schemas.openxmlformats.org/drawingml/2006/main">
              <a:ext uri="{FF2B5EF4-FFF2-40B4-BE49-F238E27FC236}">
                <a16:creationId xmlns:a16="http://schemas.microsoft.com/office/drawing/2014/main" id="{84910232-4F96-4206-A2CB-924C99C6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5740" y="1981200"/>
            <a:ext cx="485897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80" b="0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平台能够承担的关键任务</a:t>
            </a:r>
          </a:p>
        </p:txBody>
      </p:sp>
      <p:sp>
        <p:nvSpPr>
          <p:cNvPr id="8" name="文字-8-填写平台的主要功能与能力范围">
            <a:extLst xmlns:a="http://schemas.openxmlformats.org/drawingml/2006/main">
              <a:ext uri="{FF2B5EF4-FFF2-40B4-BE49-F238E27FC236}">
                <a16:creationId xmlns:a16="http://schemas.microsoft.com/office/drawing/2014/main" id="{EBAB0162-9A16-4BB9-8556-72D8DA6F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729" y="2491740"/>
            <a:ext cx="8110988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功能与能力范围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关键设备与适用任务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可支持的测试与验证</a:t>
            </a:r>
          </a:p>
        </p:txBody>
      </p:sp>
      <p:sp>
        <p:nvSpPr>
          <p:cNvPr id="9" name="图片区-2-设备1">
            <a:extLst xmlns:a="http://schemas.openxmlformats.org/drawingml/2006/main">
              <a:ext uri="{FF2B5EF4-FFF2-40B4-BE49-F238E27FC236}">
                <a16:creationId xmlns:a16="http://schemas.microsoft.com/office/drawing/2014/main" id="{187C2631-8868-4BD7-BCF6-B1B87A26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00525"/>
            <a:ext cx="2133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0" name="文字-10-设备或条件1">
            <a:extLst xmlns:a="http://schemas.openxmlformats.org/drawingml/2006/main">
              <a:ext uri="{FF2B5EF4-FFF2-40B4-BE49-F238E27FC236}">
                <a16:creationId xmlns:a16="http://schemas.microsoft.com/office/drawing/2014/main" id="{5FEC2ECB-703A-4F26-A99E-9F0AC023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848350"/>
            <a:ext cx="2133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设备或条件1</a:t>
            </a:r>
          </a:p>
        </p:txBody>
      </p:sp>
      <p:sp>
        <p:nvSpPr>
          <p:cNvPr id="11" name="图片区-3-设备2">
            <a:extLst xmlns:a="http://schemas.openxmlformats.org/drawingml/2006/main">
              <a:ext uri="{FF2B5EF4-FFF2-40B4-BE49-F238E27FC236}">
                <a16:creationId xmlns:a16="http://schemas.microsoft.com/office/drawing/2014/main" id="{D636A337-9D19-4678-8BD0-54A23A00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4200525"/>
            <a:ext cx="2133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2" name="文字-12-设备或条件2">
            <a:extLst xmlns:a="http://schemas.openxmlformats.org/drawingml/2006/main">
              <a:ext uri="{FF2B5EF4-FFF2-40B4-BE49-F238E27FC236}">
                <a16:creationId xmlns:a16="http://schemas.microsoft.com/office/drawing/2014/main" id="{7C8B3B8F-89ED-4A61-B931-09D84A98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5848350"/>
            <a:ext cx="2133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设备或条件2</a:t>
            </a:r>
          </a:p>
        </p:txBody>
      </p:sp>
      <p:sp>
        <p:nvSpPr>
          <p:cNvPr id="13" name="图片区-4-设备3">
            <a:extLst xmlns:a="http://schemas.openxmlformats.org/drawingml/2006/main">
              <a:ext uri="{FF2B5EF4-FFF2-40B4-BE49-F238E27FC236}">
                <a16:creationId xmlns:a16="http://schemas.microsoft.com/office/drawing/2014/main" id="{1EBD7E07-FFF8-4BC3-B70C-DBDFA0FD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4200525"/>
            <a:ext cx="2133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4" name="文字-14-设备或条件3">
            <a:extLst xmlns:a="http://schemas.openxmlformats.org/drawingml/2006/main">
              <a:ext uri="{FF2B5EF4-FFF2-40B4-BE49-F238E27FC236}">
                <a16:creationId xmlns:a16="http://schemas.microsoft.com/office/drawing/2014/main" id="{F29BA27D-A7B7-4687-8083-3DF65BCF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4915" y="5848350"/>
            <a:ext cx="2133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设备或条件3</a:t>
            </a:r>
          </a:p>
        </p:txBody>
      </p:sp>
      <p:sp>
        <p:nvSpPr>
          <p:cNvPr id="15" name="图片区-5-设备4">
            <a:extLst xmlns:a="http://schemas.openxmlformats.org/drawingml/2006/main">
              <a:ext uri="{FF2B5EF4-FFF2-40B4-BE49-F238E27FC236}">
                <a16:creationId xmlns:a16="http://schemas.microsoft.com/office/drawing/2014/main" id="{5C4D51BA-1BBF-4993-B59D-808D26A6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635" y="4200525"/>
            <a:ext cx="2133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6" name="文字-16-设备或条件4">
            <a:extLst xmlns:a="http://schemas.openxmlformats.org/drawingml/2006/main">
              <a:ext uri="{FF2B5EF4-FFF2-40B4-BE49-F238E27FC236}">
                <a16:creationId xmlns:a16="http://schemas.microsoft.com/office/drawing/2014/main" id="{B4CEE48F-739B-4A26-8548-9522F13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635" y="5848350"/>
            <a:ext cx="2133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设备或条件4</a:t>
            </a:r>
          </a:p>
        </p:txBody>
      </p:sp>
      <p:sp>
        <p:nvSpPr>
          <p:cNvPr id="17" name="图片区-6-设备5">
            <a:extLst xmlns:a="http://schemas.openxmlformats.org/drawingml/2006/main">
              <a:ext uri="{FF2B5EF4-FFF2-40B4-BE49-F238E27FC236}">
                <a16:creationId xmlns:a16="http://schemas.microsoft.com/office/drawing/2014/main" id="{038BEA9D-B07E-4F91-8B85-460F7E08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4200525"/>
            <a:ext cx="21336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18" name="文字-18-设备或条件5">
            <a:extLst xmlns:a="http://schemas.openxmlformats.org/drawingml/2006/main">
              <a:ext uri="{FF2B5EF4-FFF2-40B4-BE49-F238E27FC236}">
                <a16:creationId xmlns:a16="http://schemas.microsoft.com/office/drawing/2014/main" id="{7DC869E2-4193-48A4-8EC8-9B302C57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5848350"/>
            <a:ext cx="2133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设备或条件5</a:t>
            </a:r>
          </a:p>
        </p:txBody>
      </p:sp>
      <p:sp>
        <p:nvSpPr>
          <p:cNvPr id="19" name="文字-19-填写质量保障、环境覆盖或运行">
            <a:extLst xmlns:a="http://schemas.openxmlformats.org/drawingml/2006/main">
              <a:ext uri="{FF2B5EF4-FFF2-40B4-BE49-F238E27FC236}">
                <a16:creationId xmlns:a16="http://schemas.microsoft.com/office/drawing/2014/main" id="{950ABC96-E21A-434C-9F90-42521E4B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6347460"/>
            <a:ext cx="11454390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质量保障、环境覆盖与运行支撑条件</a:t>
            </a:r>
          </a:p>
        </p:txBody>
      </p:sp>
    </p:spTree>
    <p:extLst>
      <p:ext uri="{BB962C8B-B14F-4D97-AF65-F5344CB8AC3E}">
        <p14:creationId xmlns:p14="http://schemas.microsoft.com/office/powerpoint/2010/main" val="78885239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文字-1-4.2 研究支撑条件">
            <a:extLst xmlns:a="http://schemas.openxmlformats.org/drawingml/2006/main">
              <a:ext uri="{FF2B5EF4-FFF2-40B4-BE49-F238E27FC236}">
                <a16:creationId xmlns:a16="http://schemas.microsoft.com/office/drawing/2014/main" id="{BB50D7DF-4DE6-4679-A785-90A4EA6B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4.2 研究支撑条件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C2242984-1D71-4FC5-84E4-3571753C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填写研究平台、生产条件或试验">
            <a:extLst xmlns:a="http://schemas.openxmlformats.org/drawingml/2006/main">
              <a:ext uri="{FF2B5EF4-FFF2-40B4-BE49-F238E27FC236}">
                <a16:creationId xmlns:a16="http://schemas.microsoft.com/office/drawing/2014/main" id="{34B7E43B-760F-4784-B7D0-200CDE30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37260"/>
            <a:ext cx="1145439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研究平台、生产条件或试验体系的总体能力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368805" y="1676400"/>
          <a:ext xmlns:a="http://schemas.openxmlformats.org/drawingml/2006/main" cx="11454390" cy="352806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00017"/>
                <a:gridCol w="4653346"/>
                <a:gridCol w="4501027"/>
              </a:tblGrid>
              <a:tr h="58801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平台类别</a:t>
                      </a:r>
                    </a:p>
                  </a:txBody>
                  <a:tcPr marL="69965" marR="69965" marT="34982" marB="34982" anchor="ctr">
                    <a:solidFill>
                      <a:srgbClr val="073E8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平台名称</a:t>
                      </a:r>
                    </a:p>
                  </a:txBody>
                  <a:tcPr marL="69965" marR="69965" marT="34982" marB="34982" anchor="ctr">
                    <a:solidFill>
                      <a:srgbClr val="073E8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核心能力与任务定位</a:t>
                      </a:r>
                    </a:p>
                  </a:txBody>
                  <a:tcPr marL="69965" marR="69965" marT="34982" marB="34982" anchor="ctr">
                    <a:solidFill>
                      <a:srgbClr val="073E86"/>
                    </a:solidFill>
                  </a:tcPr>
                </a:tc>
              </a:tr>
              <a:tr h="58801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材料或对象研发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平台名称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研发内容与支持任务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</a:tr>
              <a:tr h="58801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环境与工况模拟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平台名称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环境范围与测试条件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</a:tr>
              <a:tr h="58801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性能与功能测试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平台名称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指标测量与验证能力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</a:tr>
              <a:tr h="58801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制造与系统集成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平台名称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加工、集成或实现能力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</a:tr>
              <a:tr h="58801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检测与质量追溯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平台名称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检测、诊断与质量保障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对象-4">
            <a:extLst xmlns:a="http://schemas.openxmlformats.org/drawingml/2006/main">
              <a:ext uri="{FF2B5EF4-FFF2-40B4-BE49-F238E27FC236}">
                <a16:creationId xmlns:a16="http://schemas.microsoft.com/office/drawing/2014/main" id="{0D3D7E06-439E-4E42-BD87-B2F1C991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5494020"/>
            <a:ext cx="11454390" cy="1127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6" name="文字-5-共同保障平台">
            <a:extLst xmlns:a="http://schemas.openxmlformats.org/drawingml/2006/main">
              <a:ext uri="{FF2B5EF4-FFF2-40B4-BE49-F238E27FC236}">
                <a16:creationId xmlns:a16="http://schemas.microsoft.com/office/drawing/2014/main" id="{300E396C-40D0-4E5A-A37D-5B783600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971" y="5654040"/>
            <a:ext cx="1546038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共同保障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7" name="文字-6-01">
            <a:extLst xmlns:a="http://schemas.openxmlformats.org/drawingml/2006/main">
              <a:ext uri="{FF2B5EF4-FFF2-40B4-BE49-F238E27FC236}">
                <a16:creationId xmlns:a16="http://schemas.microsoft.com/office/drawing/2014/main" id="{9D25EC34-A493-4AB1-AC32-E5BFC277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84" y="5646420"/>
            <a:ext cx="373182" cy="373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文字-7-填写数据记录、过程管理或运行">
            <a:extLst xmlns:a="http://schemas.openxmlformats.org/drawingml/2006/main">
              <a:ext uri="{FF2B5EF4-FFF2-40B4-BE49-F238E27FC236}">
                <a16:creationId xmlns:a16="http://schemas.microsoft.com/office/drawing/2014/main" id="{DB8CD963-6822-4FA8-8D97-537992B6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380" y="5646420"/>
            <a:ext cx="8674568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数据记录、过程管理与运行保障</a:t>
            </a:r>
          </a:p>
        </p:txBody>
      </p:sp>
      <p:sp>
        <p:nvSpPr>
          <p:cNvPr id="9" name="文字-8-02">
            <a:extLst xmlns:a="http://schemas.openxmlformats.org/drawingml/2006/main">
              <a:ext uri="{FF2B5EF4-FFF2-40B4-BE49-F238E27FC236}">
                <a16:creationId xmlns:a16="http://schemas.microsoft.com/office/drawing/2014/main" id="{330A62AB-17A9-4727-B404-B2A7FA1E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84" y="6118860"/>
            <a:ext cx="373182" cy="3733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文字-9-填写全流程追溯、质量控制或维">
            <a:extLst xmlns:a="http://schemas.openxmlformats.org/drawingml/2006/main">
              <a:ext uri="{FF2B5EF4-FFF2-40B4-BE49-F238E27FC236}">
                <a16:creationId xmlns:a16="http://schemas.microsoft.com/office/drawing/2014/main" id="{EE27DAFF-29CD-48F4-BCF0-28FB38F0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380" y="6118860"/>
            <a:ext cx="8674568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全流程追溯、质量控制与维护条件</a:t>
            </a:r>
          </a:p>
        </p:txBody>
      </p:sp>
      <p:sp>
        <p:nvSpPr>
          <p:cNvPr id="11" name="连线-10">
            <a:extLst xmlns:a="http://schemas.openxmlformats.org/drawingml/2006/main">
              <a:ext uri="{FF2B5EF4-FFF2-40B4-BE49-F238E27FC236}">
                <a16:creationId xmlns:a16="http://schemas.microsoft.com/office/drawing/2014/main" id="{2377FD68-1CD9-42BD-B99E-67C93681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27764" y="6073140"/>
            <a:ext cx="8606025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288">
            <a:solidFill>
              <a:srgbClr val="B8C9D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28441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字-1-1.3 学术成果">
            <a:extLst xmlns:a="http://schemas.openxmlformats.org/drawingml/2006/main">
              <a:ext uri="{FF2B5EF4-FFF2-40B4-BE49-F238E27FC236}">
                <a16:creationId xmlns:a16="http://schemas.microsoft.com/office/drawing/2014/main" id="{18A6667A-253F-45A7-9844-6470BDE9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06680"/>
            <a:ext cx="11347767" cy="47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1.3 学术成果</a:t>
            </a:r>
          </a:p>
        </p:txBody>
      </p:sp>
      <p:sp>
        <p:nvSpPr>
          <p:cNvPr id="2" name="连线-2">
            <a:extLst xmlns:a="http://schemas.openxmlformats.org/drawingml/2006/main">
              <a:ext uri="{FF2B5EF4-FFF2-40B4-BE49-F238E27FC236}">
                <a16:creationId xmlns:a16="http://schemas.microsoft.com/office/drawing/2014/main" id="{4B7A8CD4-3C07-44FE-B6DC-207A9932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8805" y="731520"/>
            <a:ext cx="11454390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152">
            <a:solidFill>
              <a:srgbClr val="073E86"/>
            </a:solidFill>
            <a:prstDash val="solid"/>
          </a:ln>
        </p:spPr>
      </p:sp>
      <p:sp>
        <p:nvSpPr>
          <p:cNvPr id="3" name="文字-3-填写成果总量、贡献身份与时间">
            <a:extLst xmlns:a="http://schemas.openxmlformats.org/drawingml/2006/main">
              <a:ext uri="{FF2B5EF4-FFF2-40B4-BE49-F238E27FC236}">
                <a16:creationId xmlns:a16="http://schemas.microsoft.com/office/drawing/2014/main" id="{E697BB6F-5DF6-4A2B-9175-59BFDFD7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906780"/>
            <a:ext cx="11454390" cy="556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73E86"/>
                </a:solidFill>
                <a:latin typeface="Microsoft YaHei"/>
                <a:ea typeface="Microsoft YaHei"/>
                <a:cs typeface="Microsoft YaHei"/>
              </a:rPr>
              <a:t>成果总量 · 贡献身份 · 时间范围</a:t>
            </a:r>
          </a:p>
        </p:txBody>
      </p:sp>
      <p:sp>
        <p:nvSpPr>
          <p:cNvPr id="4" name="文字-4-填写这些成果共同指向的研究方">
            <a:extLst xmlns:a="http://schemas.openxmlformats.org/drawingml/2006/main">
              <a:ext uri="{FF2B5EF4-FFF2-40B4-BE49-F238E27FC236}">
                <a16:creationId xmlns:a16="http://schemas.microsoft.com/office/drawing/2014/main" id="{7EFBC38C-1447-435A-94A2-2DC7AB64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5" y="1546860"/>
            <a:ext cx="11454390" cy="358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共同研究方向与主要贡献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368805" y="2087880"/>
          <a:ext xmlns:a="http://schemas.openxmlformats.org/drawingml/2006/main" cx="11454390" cy="435864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32141"/>
                <a:gridCol w="5597724"/>
                <a:gridCol w="1249016"/>
                <a:gridCol w="1675510"/>
              </a:tblGrid>
              <a:tr h="54483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来源或期刊</a:t>
                      </a:r>
                    </a:p>
                  </a:txBody>
                  <a:tcPr marL="69965" marR="69965" marT="34982" marB="34982" anchor="ctr">
                    <a:solidFill>
                      <a:srgbClr val="073E8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成果名称或论文题目</a:t>
                      </a:r>
                    </a:p>
                  </a:txBody>
                  <a:tcPr marL="69965" marR="69965" marT="34982" marB="34982" anchor="ctr">
                    <a:solidFill>
                      <a:srgbClr val="073E8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69965" marR="69965" marT="34982" marB="34982" anchor="ctr">
                    <a:solidFill>
                      <a:srgbClr val="073E8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贡献角色</a:t>
                      </a:r>
                    </a:p>
                  </a:txBody>
                  <a:tcPr marL="69965" marR="69965" marT="34982" marB="34982" anchor="ctr">
                    <a:solidFill>
                      <a:srgbClr val="073E86"/>
                    </a:solidFill>
                  </a:tcPr>
                </a:tc>
              </a:tr>
              <a:tr h="54483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成果来源1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代表成果 1 名称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贡献身份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成果来源2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代表成果 2 名称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贡献身份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</a:tr>
              <a:tr h="54483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成果来源3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代表成果 3 名称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贡献身份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成果来源4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代表成果 4 名称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贡献身份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</a:tr>
              <a:tr h="54483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成果来源5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代表成果 5 名称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贡献身份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成果来源6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代表成果 6 名称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贡献身份</a:t>
                      </a:r>
                    </a:p>
                  </a:txBody>
                  <a:tcPr marL="69965" marR="69965" marT="34982" marB="34982" anchor="ctr">
                    <a:solidFill>
                      <a:srgbClr val="F2F4F6"/>
                    </a:solidFill>
                  </a:tcPr>
                </a:tc>
              </a:tr>
              <a:tr h="544830"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成果来源7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代表成果 7 名称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95250" tIns="38100" rIns="95250" bIns="381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638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贡献身份</a:t>
                      </a:r>
                    </a:p>
                  </a:txBody>
                  <a:tcPr marL="69965" marR="69965" marT="34982" marB="3498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818648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对象-1">
            <a:extLst xmlns:a="http://schemas.openxmlformats.org/drawingml/2006/main">
              <a:ext uri="{FF2B5EF4-FFF2-40B4-BE49-F238E27FC236}">
                <a16:creationId xmlns:a16="http://schemas.microsoft.com/office/drawing/2014/main" id="{8A5F07C0-82AD-486D-9B56-287449FE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" y="0"/>
            <a:ext cx="12185522" cy="792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文字-2-关键技术与创新点总结">
            <a:extLst xmlns:a="http://schemas.openxmlformats.org/drawingml/2006/main">
              <a:ext uri="{FF2B5EF4-FFF2-40B4-BE49-F238E27FC236}">
                <a16:creationId xmlns:a16="http://schemas.microsoft.com/office/drawing/2014/main" id="{8F68FADD-079C-4C63-BB11-02259F9D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16" y="121920"/>
            <a:ext cx="11347767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8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关键技术与创新点总结</a:t>
            </a:r>
          </a:p>
        </p:txBody>
      </p:sp>
      <p:sp>
        <p:nvSpPr>
          <p:cNvPr id="3" name="连线-3">
            <a:extLst xmlns:a="http://schemas.openxmlformats.org/drawingml/2006/main">
              <a:ext uri="{FF2B5EF4-FFF2-40B4-BE49-F238E27FC236}">
                <a16:creationId xmlns:a16="http://schemas.microsoft.com/office/drawing/2014/main" id="{ABC83595-3D62-4FA7-8BA6-C5733C9E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39" y="830580"/>
            <a:ext cx="12185522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4" name="对象-4">
            <a:extLst xmlns:a="http://schemas.openxmlformats.org/drawingml/2006/main">
              <a:ext uri="{FF2B5EF4-FFF2-40B4-BE49-F238E27FC236}">
                <a16:creationId xmlns:a16="http://schemas.microsoft.com/office/drawing/2014/main" id="{C9535C3C-1CFE-4463-AE7D-D02BE8E2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1" y="1165860"/>
            <a:ext cx="4965600" cy="499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5" name="文字-5-填写核心技术与创新点">
            <a:extLst xmlns:a="http://schemas.openxmlformats.org/drawingml/2006/main">
              <a:ext uri="{FF2B5EF4-FFF2-40B4-BE49-F238E27FC236}">
                <a16:creationId xmlns:a16="http://schemas.microsoft.com/office/drawing/2014/main" id="{8E511FD1-6500-4C39-9894-3036DBF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0" y="1287780"/>
            <a:ext cx="4226853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核心技术与创新点</a:t>
            </a:r>
          </a:p>
        </p:txBody>
      </p:sp>
      <p:sp>
        <p:nvSpPr>
          <p:cNvPr id="6" name="文字-6-用两句话说明技术特点以及相对">
            <a:extLst xmlns:a="http://schemas.openxmlformats.org/drawingml/2006/main">
              <a:ext uri="{FF2B5EF4-FFF2-40B4-BE49-F238E27FC236}">
                <a16:creationId xmlns:a16="http://schemas.microsoft.com/office/drawing/2014/main" id="{40FEB6DA-4A54-4A2D-B83F-CB4359C7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0" y="1699260"/>
            <a:ext cx="4226853" cy="586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技术特点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相对已有方法的贡献</a:t>
            </a:r>
          </a:p>
        </p:txBody>
      </p:sp>
      <p:sp>
        <p:nvSpPr>
          <p:cNvPr id="7" name="对象-7">
            <a:extLst xmlns:a="http://schemas.openxmlformats.org/drawingml/2006/main">
              <a:ext uri="{FF2B5EF4-FFF2-40B4-BE49-F238E27FC236}">
                <a16:creationId xmlns:a16="http://schemas.microsoft.com/office/drawing/2014/main" id="{4F7D5544-DF0C-4AFB-A4CD-2189B665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2484120"/>
            <a:ext cx="449341" cy="2385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文字-8-关">
            <a:extLst xmlns:a="http://schemas.openxmlformats.org/drawingml/2006/main">
              <a:ext uri="{FF2B5EF4-FFF2-40B4-BE49-F238E27FC236}">
                <a16:creationId xmlns:a16="http://schemas.microsoft.com/office/drawing/2014/main" id="{D68EFD5F-6249-459E-B7CB-3114A69C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268605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</a:t>
            </a:r>
          </a:p>
        </p:txBody>
      </p:sp>
      <p:sp>
        <p:nvSpPr>
          <p:cNvPr id="9" name="文字-9-键">
            <a:extLst xmlns:a="http://schemas.openxmlformats.org/drawingml/2006/main">
              <a:ext uri="{FF2B5EF4-FFF2-40B4-BE49-F238E27FC236}">
                <a16:creationId xmlns:a16="http://schemas.microsoft.com/office/drawing/2014/main" id="{3137A27A-0736-4524-97C9-CBB76E04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293370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键</a:t>
            </a:r>
          </a:p>
        </p:txBody>
      </p:sp>
      <p:sp>
        <p:nvSpPr>
          <p:cNvPr id="10" name="文字-10-技">
            <a:extLst xmlns:a="http://schemas.openxmlformats.org/drawingml/2006/main">
              <a:ext uri="{FF2B5EF4-FFF2-40B4-BE49-F238E27FC236}">
                <a16:creationId xmlns:a16="http://schemas.microsoft.com/office/drawing/2014/main" id="{866FD718-6615-4895-9D93-F52F95D5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318135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</a:t>
            </a:r>
          </a:p>
        </p:txBody>
      </p:sp>
      <p:sp>
        <p:nvSpPr>
          <p:cNvPr id="11" name="文字-11-术">
            <a:extLst xmlns:a="http://schemas.openxmlformats.org/drawingml/2006/main">
              <a:ext uri="{FF2B5EF4-FFF2-40B4-BE49-F238E27FC236}">
                <a16:creationId xmlns:a16="http://schemas.microsoft.com/office/drawing/2014/main" id="{6795868D-1E12-4F51-8BB4-50BD174C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342900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术</a:t>
            </a:r>
          </a:p>
        </p:txBody>
      </p:sp>
      <p:sp>
        <p:nvSpPr>
          <p:cNvPr id="12" name="文字-12-与">
            <a:extLst xmlns:a="http://schemas.openxmlformats.org/drawingml/2006/main">
              <a:ext uri="{FF2B5EF4-FFF2-40B4-BE49-F238E27FC236}">
                <a16:creationId xmlns:a16="http://schemas.microsoft.com/office/drawing/2014/main" id="{5FEBDEA3-B442-4C1D-B297-C558DC2D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367665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</a:p>
        </p:txBody>
      </p:sp>
      <p:sp>
        <p:nvSpPr>
          <p:cNvPr id="13" name="文字-13-创">
            <a:extLst xmlns:a="http://schemas.openxmlformats.org/drawingml/2006/main">
              <a:ext uri="{FF2B5EF4-FFF2-40B4-BE49-F238E27FC236}">
                <a16:creationId xmlns:a16="http://schemas.microsoft.com/office/drawing/2014/main" id="{DC7FE642-3A09-4951-A604-5E62546E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392430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</a:t>
            </a:r>
          </a:p>
        </p:txBody>
      </p:sp>
      <p:sp>
        <p:nvSpPr>
          <p:cNvPr id="14" name="文字-14-新">
            <a:extLst xmlns:a="http://schemas.openxmlformats.org/drawingml/2006/main">
              <a:ext uri="{FF2B5EF4-FFF2-40B4-BE49-F238E27FC236}">
                <a16:creationId xmlns:a16="http://schemas.microsoft.com/office/drawing/2014/main" id="{0B26F850-E9CA-4A4C-8934-762E1433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417195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</a:t>
            </a:r>
          </a:p>
        </p:txBody>
      </p:sp>
      <p:sp>
        <p:nvSpPr>
          <p:cNvPr id="15" name="文字-15-点">
            <a:extLst xmlns:a="http://schemas.openxmlformats.org/drawingml/2006/main">
              <a:ext uri="{FF2B5EF4-FFF2-40B4-BE49-F238E27FC236}">
                <a16:creationId xmlns:a16="http://schemas.microsoft.com/office/drawing/2014/main" id="{36B500A4-FE2F-4DE7-8700-4F82AD3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0" y="4419600"/>
            <a:ext cx="449341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</a:t>
            </a:r>
          </a:p>
        </p:txBody>
      </p:sp>
      <p:sp>
        <p:nvSpPr>
          <p:cNvPr id="16" name="文字-16-核心组成">
            <a:extLst xmlns:a="http://schemas.openxmlformats.org/drawingml/2006/main">
              <a:ext uri="{FF2B5EF4-FFF2-40B4-BE49-F238E27FC236}">
                <a16:creationId xmlns:a16="http://schemas.microsoft.com/office/drawing/2014/main" id="{BA76C228-3235-4985-9ADA-F4C790E4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436" y="2430780"/>
            <a:ext cx="280267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1979B5"/>
                </a:solidFill>
                <a:latin typeface="Microsoft YaHei"/>
                <a:ea typeface="Microsoft YaHei"/>
                <a:cs typeface="Microsoft YaHei"/>
              </a:rPr>
              <a:t>核心组成</a:t>
            </a:r>
          </a:p>
        </p:txBody>
      </p:sp>
      <p:sp>
        <p:nvSpPr>
          <p:cNvPr id="17" name="文字-17-组成模块一">
            <a:extLst xmlns:a="http://schemas.openxmlformats.org/drawingml/2006/main">
              <a:ext uri="{FF2B5EF4-FFF2-40B4-BE49-F238E27FC236}">
                <a16:creationId xmlns:a16="http://schemas.microsoft.com/office/drawing/2014/main" id="{76616F8E-32A9-4D01-86AC-3E61D2C4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798" y="2887980"/>
            <a:ext cx="1576502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组成模块一</a:t>
            </a:r>
          </a:p>
        </p:txBody>
      </p:sp>
      <p:sp>
        <p:nvSpPr>
          <p:cNvPr id="18" name="连线-18">
            <a:extLst xmlns:a="http://schemas.openxmlformats.org/drawingml/2006/main">
              <a:ext uri="{FF2B5EF4-FFF2-40B4-BE49-F238E27FC236}">
                <a16:creationId xmlns:a16="http://schemas.microsoft.com/office/drawing/2014/main" id="{A2A1EA18-8913-4C05-89CB-1712B16D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20474" y="3421380"/>
            <a:ext cx="729" cy="990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19" name="结构-19">
            <a:extLst xmlns:a="http://schemas.openxmlformats.org/drawingml/2006/main">
              <a:ext uri="{FF2B5EF4-FFF2-40B4-BE49-F238E27FC236}">
                <a16:creationId xmlns:a16="http://schemas.microsoft.com/office/drawing/2014/main" id="{73286C57-438C-4756-834A-53AACCEF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778" y="341376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20" name="文字-20-组成模块二">
            <a:extLst xmlns:a="http://schemas.openxmlformats.org/drawingml/2006/main">
              <a:ext uri="{FF2B5EF4-FFF2-40B4-BE49-F238E27FC236}">
                <a16:creationId xmlns:a16="http://schemas.microsoft.com/office/drawing/2014/main" id="{F5424837-C36F-4DE6-BA65-EAA01522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798" y="3550920"/>
            <a:ext cx="1576502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组成模块二</a:t>
            </a:r>
          </a:p>
        </p:txBody>
      </p:sp>
      <p:sp>
        <p:nvSpPr>
          <p:cNvPr id="21" name="连线-21">
            <a:extLst xmlns:a="http://schemas.openxmlformats.org/drawingml/2006/main">
              <a:ext uri="{FF2B5EF4-FFF2-40B4-BE49-F238E27FC236}">
                <a16:creationId xmlns:a16="http://schemas.microsoft.com/office/drawing/2014/main" id="{56D3F046-1603-485E-B5CB-A6FD03B6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20474" y="4084320"/>
            <a:ext cx="729" cy="990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6AE8E062-93C7-4482-9CE2-62834384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778" y="4076700"/>
            <a:ext cx="91391" cy="106680"/>
          </a:xfrm>
          <a:custGeom xmlns:a="http://schemas.openxmlformats.org/drawingml/2006/main">
            <a:pathLst>
              <a:path w="119443" h="139425">
                <a:moveTo>
                  <a:pt x="59722" y="139425"/>
                </a:moveTo>
                <a:lnTo>
                  <a:pt x="1194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23" name="文字-23-组成模块三">
            <a:extLst xmlns:a="http://schemas.openxmlformats.org/drawingml/2006/main">
              <a:ext uri="{FF2B5EF4-FFF2-40B4-BE49-F238E27FC236}">
                <a16:creationId xmlns:a16="http://schemas.microsoft.com/office/drawing/2014/main" id="{4257E39B-4740-4665-BD27-4AF40AAD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798" y="4213860"/>
            <a:ext cx="1576502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组成模块三</a:t>
            </a:r>
          </a:p>
        </p:txBody>
      </p:sp>
      <p:sp>
        <p:nvSpPr>
          <p:cNvPr id="24" name="对象-24">
            <a:extLst xmlns:a="http://schemas.openxmlformats.org/drawingml/2006/main">
              <a:ext uri="{FF2B5EF4-FFF2-40B4-BE49-F238E27FC236}">
                <a16:creationId xmlns:a16="http://schemas.microsoft.com/office/drawing/2014/main" id="{A7659DD5-85BF-404E-A8F7-7D5CA176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61" y="2887980"/>
            <a:ext cx="677820" cy="1859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文字-25-共">
            <a:extLst xmlns:a="http://schemas.openxmlformats.org/drawingml/2006/main">
              <a:ext uri="{FF2B5EF4-FFF2-40B4-BE49-F238E27FC236}">
                <a16:creationId xmlns:a16="http://schemas.microsoft.com/office/drawing/2014/main" id="{99B899D2-3706-4C24-9EE0-50C7B62F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61" y="3015234"/>
            <a:ext cx="67782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</a:t>
            </a:r>
          </a:p>
        </p:txBody>
      </p:sp>
      <p:sp>
        <p:nvSpPr>
          <p:cNvPr id="26" name="文字-26-同">
            <a:extLst xmlns:a="http://schemas.openxmlformats.org/drawingml/2006/main">
              <a:ext uri="{FF2B5EF4-FFF2-40B4-BE49-F238E27FC236}">
                <a16:creationId xmlns:a16="http://schemas.microsoft.com/office/drawing/2014/main" id="{4037C55F-F9D3-40C8-AE06-45284B97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61" y="3282696"/>
            <a:ext cx="67782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</a:t>
            </a:r>
          </a:p>
        </p:txBody>
      </p:sp>
      <p:sp>
        <p:nvSpPr>
          <p:cNvPr id="27" name="文字-27-支">
            <a:extLst xmlns:a="http://schemas.openxmlformats.org/drawingml/2006/main">
              <a:ext uri="{FF2B5EF4-FFF2-40B4-BE49-F238E27FC236}">
                <a16:creationId xmlns:a16="http://schemas.microsoft.com/office/drawing/2014/main" id="{EF584AE5-342E-44C0-90F4-A7AE8D68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61" y="3550158"/>
            <a:ext cx="67782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</a:t>
            </a:r>
          </a:p>
        </p:txBody>
      </p:sp>
      <p:sp>
        <p:nvSpPr>
          <p:cNvPr id="28" name="文字-28-撑">
            <a:extLst xmlns:a="http://schemas.openxmlformats.org/drawingml/2006/main">
              <a:ext uri="{FF2B5EF4-FFF2-40B4-BE49-F238E27FC236}">
                <a16:creationId xmlns:a16="http://schemas.microsoft.com/office/drawing/2014/main" id="{31D03882-A7AA-462A-9630-DB0625F1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61" y="3817620"/>
            <a:ext cx="67782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撑</a:t>
            </a:r>
          </a:p>
        </p:txBody>
      </p:sp>
      <p:sp>
        <p:nvSpPr>
          <p:cNvPr id="29" name="文字-29-条">
            <a:extLst xmlns:a="http://schemas.openxmlformats.org/drawingml/2006/main">
              <a:ext uri="{FF2B5EF4-FFF2-40B4-BE49-F238E27FC236}">
                <a16:creationId xmlns:a16="http://schemas.microsoft.com/office/drawing/2014/main" id="{DD8662DF-BF46-4F49-9EA7-7B7277CA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61" y="4085082"/>
            <a:ext cx="67782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条</a:t>
            </a:r>
          </a:p>
        </p:txBody>
      </p:sp>
      <p:sp>
        <p:nvSpPr>
          <p:cNvPr id="30" name="文字-30-件">
            <a:extLst xmlns:a="http://schemas.openxmlformats.org/drawingml/2006/main">
              <a:ext uri="{FF2B5EF4-FFF2-40B4-BE49-F238E27FC236}">
                <a16:creationId xmlns:a16="http://schemas.microsoft.com/office/drawing/2014/main" id="{8374D021-1B77-486A-A6E9-601DD5CB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461" y="4352544"/>
            <a:ext cx="677820" cy="267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件</a:t>
            </a:r>
          </a:p>
        </p:txBody>
      </p:sp>
      <p:sp>
        <p:nvSpPr>
          <p:cNvPr id="31" name="连线-31">
            <a:extLst xmlns:a="http://schemas.openxmlformats.org/drawingml/2006/main">
              <a:ext uri="{FF2B5EF4-FFF2-40B4-BE49-F238E27FC236}">
                <a16:creationId xmlns:a16="http://schemas.microsoft.com/office/drawing/2014/main" id="{B9F6E09E-AACC-459E-BC7D-B739CD7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8228" y="3124200"/>
            <a:ext cx="98245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32" name="结构-32">
            <a:extLst xmlns:a="http://schemas.openxmlformats.org/drawingml/2006/main">
              <a:ext uri="{FF2B5EF4-FFF2-40B4-BE49-F238E27FC236}">
                <a16:creationId xmlns:a16="http://schemas.microsoft.com/office/drawing/2014/main" id="{3BC29EB0-51F3-4767-A33C-7017831E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062" y="3078480"/>
            <a:ext cx="106624" cy="91440"/>
          </a:xfrm>
          <a:custGeom xmlns:a="http://schemas.openxmlformats.org/drawingml/2006/main">
            <a:pathLst>
              <a:path w="139351" h="119507">
                <a:moveTo>
                  <a:pt x="139351" y="59754"/>
                </a:moveTo>
                <a:lnTo>
                  <a:pt x="0" y="0"/>
                </a:lnTo>
                <a:lnTo>
                  <a:pt x="0" y="119507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33" name="连线-33">
            <a:extLst xmlns:a="http://schemas.openxmlformats.org/drawingml/2006/main">
              <a:ext uri="{FF2B5EF4-FFF2-40B4-BE49-F238E27FC236}">
                <a16:creationId xmlns:a16="http://schemas.microsoft.com/office/drawing/2014/main" id="{B5449986-5471-43A6-BC06-DCED5B68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958228" y="3261360"/>
            <a:ext cx="98245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D4D3B116-1188-4207-87FC-DB8167CB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228" y="3215640"/>
            <a:ext cx="106624" cy="91440"/>
          </a:xfrm>
          <a:custGeom xmlns:a="http://schemas.openxmlformats.org/drawingml/2006/main">
            <a:pathLst>
              <a:path w="139351" h="119507">
                <a:moveTo>
                  <a:pt x="0" y="59754"/>
                </a:moveTo>
                <a:lnTo>
                  <a:pt x="139351" y="119507"/>
                </a:lnTo>
                <a:lnTo>
                  <a:pt x="139351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35" name="连线-35">
            <a:extLst xmlns:a="http://schemas.openxmlformats.org/drawingml/2006/main">
              <a:ext uri="{FF2B5EF4-FFF2-40B4-BE49-F238E27FC236}">
                <a16:creationId xmlns:a16="http://schemas.microsoft.com/office/drawing/2014/main" id="{6A81A66C-6901-4B3E-9711-05C4769D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8228" y="3787140"/>
            <a:ext cx="98245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36" name="结构-36">
            <a:extLst xmlns:a="http://schemas.openxmlformats.org/drawingml/2006/main">
              <a:ext uri="{FF2B5EF4-FFF2-40B4-BE49-F238E27FC236}">
                <a16:creationId xmlns:a16="http://schemas.microsoft.com/office/drawing/2014/main" id="{5FE38889-A342-48BE-9441-B0323CF3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062" y="3741420"/>
            <a:ext cx="106624" cy="91440"/>
          </a:xfrm>
          <a:custGeom xmlns:a="http://schemas.openxmlformats.org/drawingml/2006/main">
            <a:pathLst>
              <a:path w="139351" h="119507">
                <a:moveTo>
                  <a:pt x="139351" y="59754"/>
                </a:moveTo>
                <a:lnTo>
                  <a:pt x="0" y="0"/>
                </a:lnTo>
                <a:lnTo>
                  <a:pt x="0" y="119507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37" name="连线-37">
            <a:extLst xmlns:a="http://schemas.openxmlformats.org/drawingml/2006/main">
              <a:ext uri="{FF2B5EF4-FFF2-40B4-BE49-F238E27FC236}">
                <a16:creationId xmlns:a16="http://schemas.microsoft.com/office/drawing/2014/main" id="{4E424D27-45D7-436F-AD97-43CD8DD5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958228" y="3924300"/>
            <a:ext cx="98245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38" name="结构-38">
            <a:extLst xmlns:a="http://schemas.openxmlformats.org/drawingml/2006/main">
              <a:ext uri="{FF2B5EF4-FFF2-40B4-BE49-F238E27FC236}">
                <a16:creationId xmlns:a16="http://schemas.microsoft.com/office/drawing/2014/main" id="{ABC4AED8-E754-4382-8BE2-3CA0BE1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228" y="3878580"/>
            <a:ext cx="106624" cy="91440"/>
          </a:xfrm>
          <a:custGeom xmlns:a="http://schemas.openxmlformats.org/drawingml/2006/main">
            <a:pathLst>
              <a:path w="139351" h="119507">
                <a:moveTo>
                  <a:pt x="0" y="59754"/>
                </a:moveTo>
                <a:lnTo>
                  <a:pt x="139351" y="119507"/>
                </a:lnTo>
                <a:lnTo>
                  <a:pt x="139351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39" name="连线-39">
            <a:extLst xmlns:a="http://schemas.openxmlformats.org/drawingml/2006/main">
              <a:ext uri="{FF2B5EF4-FFF2-40B4-BE49-F238E27FC236}">
                <a16:creationId xmlns:a16="http://schemas.microsoft.com/office/drawing/2014/main" id="{F044D24B-03C0-4AB1-864D-0553F248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58228" y="4450080"/>
            <a:ext cx="98245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40" name="结构-40">
            <a:extLst xmlns:a="http://schemas.openxmlformats.org/drawingml/2006/main">
              <a:ext uri="{FF2B5EF4-FFF2-40B4-BE49-F238E27FC236}">
                <a16:creationId xmlns:a16="http://schemas.microsoft.com/office/drawing/2014/main" id="{0DBE8124-1DE7-468E-B724-E3572BEC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062" y="4404360"/>
            <a:ext cx="106624" cy="91440"/>
          </a:xfrm>
          <a:custGeom xmlns:a="http://schemas.openxmlformats.org/drawingml/2006/main">
            <a:pathLst>
              <a:path w="139351" h="119507">
                <a:moveTo>
                  <a:pt x="139351" y="59754"/>
                </a:moveTo>
                <a:lnTo>
                  <a:pt x="0" y="0"/>
                </a:lnTo>
                <a:lnTo>
                  <a:pt x="0" y="119507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41" name="连线-41">
            <a:extLst xmlns:a="http://schemas.openxmlformats.org/drawingml/2006/main">
              <a:ext uri="{FF2B5EF4-FFF2-40B4-BE49-F238E27FC236}">
                <a16:creationId xmlns:a16="http://schemas.microsoft.com/office/drawing/2014/main" id="{60ADB903-E7CB-4233-8288-2C13DAE7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958228" y="4587240"/>
            <a:ext cx="982458" cy="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576">
            <a:solidFill>
              <a:srgbClr val="1979B5"/>
            </a:solidFill>
            <a:prstDash val="solid"/>
          </a:ln>
        </p:spPr>
      </p:sp>
      <p:sp>
        <p:nvSpPr>
          <p:cNvPr id="42" name="结构-42">
            <a:extLst xmlns:a="http://schemas.openxmlformats.org/drawingml/2006/main">
              <a:ext uri="{FF2B5EF4-FFF2-40B4-BE49-F238E27FC236}">
                <a16:creationId xmlns:a16="http://schemas.microsoft.com/office/drawing/2014/main" id="{BC70736F-65F3-49D9-95D6-4B1BF767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228" y="4541520"/>
            <a:ext cx="106624" cy="91440"/>
          </a:xfrm>
          <a:custGeom xmlns:a="http://schemas.openxmlformats.org/drawingml/2006/main">
            <a:pathLst>
              <a:path w="139351" h="119507">
                <a:moveTo>
                  <a:pt x="0" y="59754"/>
                </a:moveTo>
                <a:lnTo>
                  <a:pt x="139351" y="119507"/>
                </a:lnTo>
                <a:lnTo>
                  <a:pt x="139351" y="0"/>
                </a:lnTo>
                <a:close/>
              </a:path>
            </a:pathLst>
          </a:cu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</a:ln>
        </p:spPr>
      </p:sp>
      <p:sp>
        <p:nvSpPr>
          <p:cNvPr id="43" name="文字-43-直接应用">
            <a:extLst xmlns:a="http://schemas.openxmlformats.org/drawingml/2006/main">
              <a:ext uri="{FF2B5EF4-FFF2-40B4-BE49-F238E27FC236}">
                <a16:creationId xmlns:a16="http://schemas.microsoft.com/office/drawing/2014/main" id="{25F66D84-360A-42B7-8AD0-CC924B88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81" y="5166360"/>
            <a:ext cx="3807976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40" b="1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直接应用</a:t>
            </a:r>
          </a:p>
        </p:txBody>
      </p:sp>
      <p:sp>
        <p:nvSpPr>
          <p:cNvPr id="44" name="文字-44-填写适用场景与应用对象填写预">
            <a:extLst xmlns:a="http://schemas.openxmlformats.org/drawingml/2006/main">
              <a:ext uri="{FF2B5EF4-FFF2-40B4-BE49-F238E27FC236}">
                <a16:creationId xmlns:a16="http://schemas.microsoft.com/office/drawing/2014/main" id="{1E90C92D-7B51-4C2A-B054-B8495980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85" y="5547360"/>
            <a:ext cx="3914599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适用场景与应用对象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333"/>
                </a:solidFill>
                <a:latin typeface="Microsoft YaHei"/>
                <a:ea typeface="Microsoft YaHei"/>
                <a:cs typeface="Microsoft YaHei"/>
              </a:rPr>
              <a:t>预期贡献与使用方式</a:t>
            </a:r>
          </a:p>
        </p:txBody>
      </p:sp>
      <p:sp>
        <p:nvSpPr>
          <p:cNvPr id="45" name="文字-45-填写面向实际应用的共同价值">
            <a:extLst xmlns:a="http://schemas.openxmlformats.org/drawingml/2006/main">
              <a:ext uri="{FF2B5EF4-FFF2-40B4-BE49-F238E27FC236}">
                <a16:creationId xmlns:a16="http://schemas.microsoft.com/office/drawing/2014/main" id="{0DECA0D0-FECF-4CFB-AAC0-84260257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" y="6355080"/>
            <a:ext cx="4744737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20" b="0">
                <a:solidFill>
                  <a:srgbClr val="AC111A"/>
                </a:solidFill>
                <a:latin typeface="Microsoft YaHei"/>
                <a:ea typeface="Microsoft YaHei"/>
                <a:cs typeface="Microsoft YaHei"/>
              </a:rPr>
              <a:t>面向实际应用的共同价值</a:t>
            </a:r>
          </a:p>
        </p:txBody>
      </p:sp>
      <p:sp>
        <p:nvSpPr>
          <p:cNvPr id="46" name="对象-46">
            <a:extLst xmlns:a="http://schemas.openxmlformats.org/drawingml/2006/main">
              <a:ext uri="{FF2B5EF4-FFF2-40B4-BE49-F238E27FC236}">
                <a16:creationId xmlns:a16="http://schemas.microsoft.com/office/drawing/2014/main" id="{81C27621-32AD-46B6-BD29-54C3FB56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9108" y="2072640"/>
            <a:ext cx="487421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9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文字-49-关">
            <a:extLst xmlns:a="http://schemas.openxmlformats.org/drawingml/2006/main">
              <a:ext uri="{FF2B5EF4-FFF2-40B4-BE49-F238E27FC236}">
                <a16:creationId xmlns:a16="http://schemas.microsoft.com/office/drawing/2014/main" id="{8B1ECEEA-2E34-4554-BD97-A9381776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09850"/>
            <a:ext cx="485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rPr>
              <a:t>关</a:t>
            </a:r>
          </a:p>
        </p:txBody>
      </p:sp>
      <p:sp>
        <p:nvSpPr>
          <p:cNvPr id="50" name="文字-50-键">
            <a:extLst xmlns:a="http://schemas.openxmlformats.org/drawingml/2006/main">
              <a:ext uri="{FF2B5EF4-FFF2-40B4-BE49-F238E27FC236}">
                <a16:creationId xmlns:a16="http://schemas.microsoft.com/office/drawing/2014/main" id="{496C48EE-DFCB-4DC8-A4B2-A4948A70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86075"/>
            <a:ext cx="485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rPr>
              <a:t>键</a:t>
            </a:r>
          </a:p>
        </p:txBody>
      </p:sp>
      <p:sp>
        <p:nvSpPr>
          <p:cNvPr id="51" name="文字-51-能">
            <a:extLst xmlns:a="http://schemas.openxmlformats.org/drawingml/2006/main">
              <a:ext uri="{FF2B5EF4-FFF2-40B4-BE49-F238E27FC236}">
                <a16:creationId xmlns:a16="http://schemas.microsoft.com/office/drawing/2014/main" id="{3CED9323-FECE-479E-8887-DE1B59EE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62300"/>
            <a:ext cx="485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rPr>
              <a:t>能</a:t>
            </a:r>
          </a:p>
        </p:txBody>
      </p:sp>
      <p:sp>
        <p:nvSpPr>
          <p:cNvPr id="52" name="文字-52-力">
            <a:extLst xmlns:a="http://schemas.openxmlformats.org/drawingml/2006/main">
              <a:ext uri="{FF2B5EF4-FFF2-40B4-BE49-F238E27FC236}">
                <a16:creationId xmlns:a16="http://schemas.microsoft.com/office/drawing/2014/main" id="{AEDA4288-4678-4CA9-9E77-B4A1646C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438525"/>
            <a:ext cx="485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rPr>
              <a:t>力</a:t>
            </a:r>
          </a:p>
        </p:txBody>
      </p:sp>
      <p:sp>
        <p:nvSpPr>
          <p:cNvPr id="53" name="文字-53-与">
            <a:extLst xmlns:a="http://schemas.openxmlformats.org/drawingml/2006/main">
              <a:ext uri="{FF2B5EF4-FFF2-40B4-BE49-F238E27FC236}">
                <a16:creationId xmlns:a16="http://schemas.microsoft.com/office/drawing/2014/main" id="{96BE64B5-D3AB-4E59-9463-5B35D72E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4750"/>
            <a:ext cx="485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rPr>
              <a:t>与</a:t>
            </a:r>
          </a:p>
        </p:txBody>
      </p:sp>
      <p:sp>
        <p:nvSpPr>
          <p:cNvPr id="54" name="文字-54-应">
            <a:extLst xmlns:a="http://schemas.openxmlformats.org/drawingml/2006/main">
              <a:ext uri="{FF2B5EF4-FFF2-40B4-BE49-F238E27FC236}">
                <a16:creationId xmlns:a16="http://schemas.microsoft.com/office/drawing/2014/main" id="{71114240-06A2-41A9-BC0E-42C5EE03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90975"/>
            <a:ext cx="485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rPr>
              <a:t>应</a:t>
            </a:r>
          </a:p>
        </p:txBody>
      </p:sp>
      <p:sp>
        <p:nvSpPr>
          <p:cNvPr id="55" name="文字-55-用">
            <a:extLst xmlns:a="http://schemas.openxmlformats.org/drawingml/2006/main">
              <a:ext uri="{FF2B5EF4-FFF2-40B4-BE49-F238E27FC236}">
                <a16:creationId xmlns:a16="http://schemas.microsoft.com/office/drawing/2014/main" id="{5E2E7EBC-A529-474E-8C80-A1405374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67200"/>
            <a:ext cx="485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rPr>
              <a:t>用</a:t>
            </a:r>
          </a:p>
        </p:txBody>
      </p:sp>
      <p:sp>
        <p:nvSpPr>
          <p:cNvPr id="56" name="文字-56-目">
            <a:extLst xmlns:a="http://schemas.openxmlformats.org/drawingml/2006/main">
              <a:ext uri="{FF2B5EF4-FFF2-40B4-BE49-F238E27FC236}">
                <a16:creationId xmlns:a16="http://schemas.microsoft.com/office/drawing/2014/main" id="{E42FF782-CE7A-417B-B634-2727BF25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43425"/>
            <a:ext cx="485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57" name="文字-57-标">
            <a:extLst xmlns:a="http://schemas.openxmlformats.org/drawingml/2006/main">
              <a:ext uri="{FF2B5EF4-FFF2-40B4-BE49-F238E27FC236}">
                <a16:creationId xmlns:a16="http://schemas.microsoft.com/office/drawing/2014/main" id="{69521F34-F20F-414A-BF6C-D69EC273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9650"/>
            <a:ext cx="485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080" tIns="7288" rIns="38080" bIns="728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60" b="1">
                <a:solidFill>
                  <a:srgbClr val="FFE9A4"/>
                </a:solidFill>
                <a:latin typeface="Microsoft YaHei"/>
                <a:ea typeface="Microsoft YaHei"/>
                <a:cs typeface="Microsoft YaHei"/>
              </a:rPr>
              <a:t>标</a:t>
            </a:r>
          </a:p>
        </p:txBody>
      </p:sp>
      <p:sp>
        <p:nvSpPr>
          <p:cNvPr id="58" name="对象-58">
            <a:extLst xmlns:a="http://schemas.openxmlformats.org/drawingml/2006/main">
              <a:ext uri="{FF2B5EF4-FFF2-40B4-BE49-F238E27FC236}">
                <a16:creationId xmlns:a16="http://schemas.microsoft.com/office/drawing/2014/main" id="{90E8CB10-F27F-4026-AA4B-2A21B97D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775" y="1150620"/>
            <a:ext cx="5643420" cy="5379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017">
            <a:solidFill>
              <a:srgbClr val="B8C9DB"/>
            </a:solidFill>
            <a:prstDash val="solid"/>
          </a:ln>
        </p:spPr>
      </p:sp>
      <p:sp>
        <p:nvSpPr>
          <p:cNvPr id="59" name="图片区-1-科学插图1-1">
            <a:extLst xmlns:a="http://schemas.openxmlformats.org/drawingml/2006/main">
              <a:ext uri="{FF2B5EF4-FFF2-40B4-BE49-F238E27FC236}">
                <a16:creationId xmlns:a16="http://schemas.microsoft.com/office/drawing/2014/main" id="{65B1346E-E35A-4B59-BAA1-40C0D89C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942" y="1341120"/>
            <a:ext cx="1584118" cy="147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0" name="图片区-2-科学插图1-2">
            <a:extLst xmlns:a="http://schemas.openxmlformats.org/drawingml/2006/main">
              <a:ext uri="{FF2B5EF4-FFF2-40B4-BE49-F238E27FC236}">
                <a16:creationId xmlns:a16="http://schemas.microsoft.com/office/drawing/2014/main" id="{2DEA7815-2693-4C49-95BD-3EF9DE14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234" y="1341120"/>
            <a:ext cx="1584118" cy="147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1" name="图片区-3-科学插图1-3">
            <a:extLst xmlns:a="http://schemas.openxmlformats.org/drawingml/2006/main">
              <a:ext uri="{FF2B5EF4-FFF2-40B4-BE49-F238E27FC236}">
                <a16:creationId xmlns:a16="http://schemas.microsoft.com/office/drawing/2014/main" id="{45F57DA5-7A52-4E6F-98E9-D642E48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526" y="1341120"/>
            <a:ext cx="1584118" cy="147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2" name="图片区-4-科学插图2-1">
            <a:extLst xmlns:a="http://schemas.openxmlformats.org/drawingml/2006/main">
              <a:ext uri="{FF2B5EF4-FFF2-40B4-BE49-F238E27FC236}">
                <a16:creationId xmlns:a16="http://schemas.microsoft.com/office/drawing/2014/main" id="{E7A57801-B3B6-4763-83D5-78B0ACC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942" y="3093720"/>
            <a:ext cx="1584118" cy="147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3" name="图片区-5-科学插图2-2">
            <a:extLst xmlns:a="http://schemas.openxmlformats.org/drawingml/2006/main">
              <a:ext uri="{FF2B5EF4-FFF2-40B4-BE49-F238E27FC236}">
                <a16:creationId xmlns:a16="http://schemas.microsoft.com/office/drawing/2014/main" id="{2C852F85-58AA-48EB-933E-FED0BDCA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234" y="3093720"/>
            <a:ext cx="1584118" cy="147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4" name="图片区-6-科学插图2-3">
            <a:extLst xmlns:a="http://schemas.openxmlformats.org/drawingml/2006/main">
              <a:ext uri="{FF2B5EF4-FFF2-40B4-BE49-F238E27FC236}">
                <a16:creationId xmlns:a16="http://schemas.microsoft.com/office/drawing/2014/main" id="{B15B183A-13B3-4406-8D30-3A9AC5EB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526" y="3093720"/>
            <a:ext cx="1584118" cy="147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5" name="图片区-7-科学插图3-1">
            <a:extLst xmlns:a="http://schemas.openxmlformats.org/drawingml/2006/main">
              <a:ext uri="{FF2B5EF4-FFF2-40B4-BE49-F238E27FC236}">
                <a16:creationId xmlns:a16="http://schemas.microsoft.com/office/drawing/2014/main" id="{D5F99313-8A59-4946-9180-D3D9ED45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942" y="4846320"/>
            <a:ext cx="1584118" cy="147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6" name="图片区-8-科学插图3-2">
            <a:extLst xmlns:a="http://schemas.openxmlformats.org/drawingml/2006/main">
              <a:ext uri="{FF2B5EF4-FFF2-40B4-BE49-F238E27FC236}">
                <a16:creationId xmlns:a16="http://schemas.microsoft.com/office/drawing/2014/main" id="{EA3F953A-3150-497B-AF91-2DD25082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234" y="4846320"/>
            <a:ext cx="1584118" cy="147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  <p:sp>
        <p:nvSpPr>
          <p:cNvPr id="67" name="图片区-9-科学插图3-3">
            <a:extLst xmlns:a="http://schemas.openxmlformats.org/drawingml/2006/main">
              <a:ext uri="{FF2B5EF4-FFF2-40B4-BE49-F238E27FC236}">
                <a16:creationId xmlns:a16="http://schemas.microsoft.com/office/drawing/2014/main" id="{4C817301-0D0A-4512-AE65-98608BBF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526" y="4846320"/>
            <a:ext cx="1584118" cy="1478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AFC0D3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1136375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结构-1">
            <a:extLst xmlns:a="http://schemas.openxmlformats.org/drawingml/2006/main">
              <a:ext uri="{FF2B5EF4-FFF2-40B4-BE49-F238E27FC236}">
                <a16:creationId xmlns:a16="http://schemas.microsoft.com/office/drawing/2014/main" id="{9F2BAC4E-CF17-4D42-B312-CA63DC34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系统理解与执行框架">
            <a:extLst xmlns:a="http://schemas.openxmlformats.org/drawingml/2006/main">
              <a:ext uri="{FF2B5EF4-FFF2-40B4-BE49-F238E27FC236}">
                <a16:creationId xmlns:a16="http://schemas.microsoft.com/office/drawing/2014/main" id="{EDDD79DD-1DE3-4148-B0A1-3109758D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系统理解与执行框架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83BDD261-F450-4D3E-A2F2-8BC09D9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39ABE79A-CDF7-4001-873C-91361F1B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590675"/>
            <a:ext cx="18192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</p:sp>
      <p:sp>
        <p:nvSpPr>
          <p:cNvPr id="5" name="文字-5-研究对象能力升级">
            <a:extLst xmlns:a="http://schemas.openxmlformats.org/drawingml/2006/main">
              <a:ext uri="{FF2B5EF4-FFF2-40B4-BE49-F238E27FC236}">
                <a16:creationId xmlns:a16="http://schemas.microsoft.com/office/drawing/2014/main" id="{F94B994C-DF16-470B-B2DD-002BF79D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62125"/>
            <a:ext cx="1552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  <a:p xmlns:a="http://schemas.openxmlformats.org/drawingml/2006/main">
            <a:pPr algn="ctr">
              <a:defRPr sz="18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能力升级</a:t>
            </a:r>
          </a:p>
        </p:txBody>
      </p:sp>
      <p:sp>
        <p:nvSpPr>
          <p:cNvPr id="6" name="文字-6-需求1填写能力">
            <a:extLst xmlns:a="http://schemas.openxmlformats.org/drawingml/2006/main">
              <a:ext uri="{FF2B5EF4-FFF2-40B4-BE49-F238E27FC236}">
                <a16:creationId xmlns:a16="http://schemas.microsoft.com/office/drawing/2014/main" id="{1E226FE3-51FD-4209-AF5B-77E29BF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714625"/>
            <a:ext cx="14954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需求1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填写能力</a:t>
            </a:r>
          </a:p>
        </p:txBody>
      </p:sp>
      <p:sp>
        <p:nvSpPr>
          <p:cNvPr id="7" name="文字-7-需求2填写能力">
            <a:extLst xmlns:a="http://schemas.openxmlformats.org/drawingml/2006/main">
              <a:ext uri="{FF2B5EF4-FFF2-40B4-BE49-F238E27FC236}">
                <a16:creationId xmlns:a16="http://schemas.microsoft.com/office/drawing/2014/main" id="{AFEED640-27DB-46A4-8159-AB7E3AF4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90950"/>
            <a:ext cx="14954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需求2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填写能力</a:t>
            </a:r>
          </a:p>
        </p:txBody>
      </p:sp>
      <p:sp>
        <p:nvSpPr>
          <p:cNvPr id="8" name="文字-8-需求3填写能力">
            <a:extLst xmlns:a="http://schemas.openxmlformats.org/drawingml/2006/main">
              <a:ext uri="{FF2B5EF4-FFF2-40B4-BE49-F238E27FC236}">
                <a16:creationId xmlns:a16="http://schemas.microsoft.com/office/drawing/2014/main" id="{9BC1AAD8-DC72-409C-8972-A2F693D8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867275"/>
            <a:ext cx="14954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需求3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填写能力</a:t>
            </a:r>
          </a:p>
        </p:txBody>
      </p:sp>
      <p:sp>
        <p:nvSpPr>
          <p:cNvPr id="9" name="结构-9">
            <a:extLst xmlns:a="http://schemas.openxmlformats.org/drawingml/2006/main">
              <a:ext uri="{FF2B5EF4-FFF2-40B4-BE49-F238E27FC236}">
                <a16:creationId xmlns:a16="http://schemas.microsoft.com/office/drawing/2014/main" id="{D82B45D7-04AF-478B-91B6-FADE88EC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1647825"/>
            <a:ext cx="4038600" cy="1038225"/>
          </a:xfrm>
          <a:prstGeom xmlns:a="http://schemas.openxmlformats.org/drawingml/2006/main" prst="roundRect">
            <a:avLst>
              <a:gd name="adj" fmla="val 73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47742D"/>
            </a:solidFill>
            <a:prstDash val="solid"/>
          </a:ln>
        </p:spPr>
      </p:sp>
      <p:sp>
        <p:nvSpPr>
          <p:cNvPr id="10" name="文字-10-多源数据基础">
            <a:extLst xmlns:a="http://schemas.openxmlformats.org/drawingml/2006/main">
              <a:ext uri="{FF2B5EF4-FFF2-40B4-BE49-F238E27FC236}">
                <a16:creationId xmlns:a16="http://schemas.microsoft.com/office/drawing/2014/main" id="{17A8E903-22BE-4CD4-B125-7F0D6B51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476375"/>
            <a:ext cx="3695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77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多源数据基础</a:t>
            </a:r>
          </a:p>
        </p:txBody>
      </p:sp>
      <p:sp>
        <p:nvSpPr>
          <p:cNvPr id="11" name="文字-11-数据一">
            <a:extLst xmlns:a="http://schemas.openxmlformats.org/drawingml/2006/main">
              <a:ext uri="{FF2B5EF4-FFF2-40B4-BE49-F238E27FC236}">
                <a16:creationId xmlns:a16="http://schemas.microsoft.com/office/drawing/2014/main" id="{DDAB6C90-5A88-4D06-A26D-DC36E61D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90725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7742D"/>
                </a:solidFill>
                <a:latin typeface="Microsoft YaHei"/>
                <a:ea typeface="Microsoft YaHei"/>
                <a:cs typeface="Microsoft YaHei"/>
              </a:rPr>
              <a:t>数据一</a:t>
            </a:r>
          </a:p>
        </p:txBody>
      </p:sp>
      <p:sp>
        <p:nvSpPr>
          <p:cNvPr id="12" name="文字-12-数据二">
            <a:extLst xmlns:a="http://schemas.openxmlformats.org/drawingml/2006/main">
              <a:ext uri="{FF2B5EF4-FFF2-40B4-BE49-F238E27FC236}">
                <a16:creationId xmlns:a16="http://schemas.microsoft.com/office/drawing/2014/main" id="{484B9199-A6FC-47F9-BC71-2DD63C21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90725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7742D"/>
                </a:solidFill>
                <a:latin typeface="Microsoft YaHei"/>
                <a:ea typeface="Microsoft YaHei"/>
                <a:cs typeface="Microsoft YaHei"/>
              </a:rPr>
              <a:t>数据二</a:t>
            </a:r>
          </a:p>
        </p:txBody>
      </p:sp>
      <p:sp>
        <p:nvSpPr>
          <p:cNvPr id="13" name="文字-13-数据三">
            <a:extLst xmlns:a="http://schemas.openxmlformats.org/drawingml/2006/main">
              <a:ext uri="{FF2B5EF4-FFF2-40B4-BE49-F238E27FC236}">
                <a16:creationId xmlns:a16="http://schemas.microsoft.com/office/drawing/2014/main" id="{9020F4D1-5A65-4455-AD91-04F07881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990725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774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7742D"/>
                </a:solidFill>
                <a:latin typeface="Microsoft YaHei"/>
                <a:ea typeface="Microsoft YaHei"/>
                <a:cs typeface="Microsoft YaHei"/>
              </a:rPr>
              <a:t>数据三</a:t>
            </a:r>
          </a:p>
        </p:txBody>
      </p:sp>
      <p:sp>
        <p:nvSpPr>
          <p:cNvPr id="14" name="结构-14">
            <a:extLst xmlns:a="http://schemas.openxmlformats.org/drawingml/2006/main">
              <a:ext uri="{FF2B5EF4-FFF2-40B4-BE49-F238E27FC236}">
                <a16:creationId xmlns:a16="http://schemas.microsoft.com/office/drawing/2014/main" id="{19A3E072-BB15-4D94-9158-5C20DDF4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47825"/>
            <a:ext cx="4514850" cy="1038225"/>
          </a:xfrm>
          <a:prstGeom xmlns:a="http://schemas.openxmlformats.org/drawingml/2006/main" prst="roundRect">
            <a:avLst>
              <a:gd name="adj" fmla="val 73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15" name="文字-15-领域知识基础">
            <a:extLst xmlns:a="http://schemas.openxmlformats.org/drawingml/2006/main">
              <a:ext uri="{FF2B5EF4-FFF2-40B4-BE49-F238E27FC236}">
                <a16:creationId xmlns:a16="http://schemas.microsoft.com/office/drawing/2014/main" id="{36FD437F-5BA0-43B8-BB0E-CF3BD8FA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76375"/>
            <a:ext cx="417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领域知识基础</a:t>
            </a:r>
          </a:p>
        </p:txBody>
      </p:sp>
      <p:sp>
        <p:nvSpPr>
          <p:cNvPr id="16" name="文字-16-知识一">
            <a:extLst xmlns:a="http://schemas.openxmlformats.org/drawingml/2006/main">
              <a:ext uri="{FF2B5EF4-FFF2-40B4-BE49-F238E27FC236}">
                <a16:creationId xmlns:a16="http://schemas.microsoft.com/office/drawing/2014/main" id="{0094D628-771E-4E31-9F88-98FB8AA8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90725"/>
            <a:ext cx="13239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知识一</a:t>
            </a:r>
          </a:p>
        </p:txBody>
      </p:sp>
      <p:sp>
        <p:nvSpPr>
          <p:cNvPr id="17" name="文字-17-知识二">
            <a:extLst xmlns:a="http://schemas.openxmlformats.org/drawingml/2006/main">
              <a:ext uri="{FF2B5EF4-FFF2-40B4-BE49-F238E27FC236}">
                <a16:creationId xmlns:a16="http://schemas.microsoft.com/office/drawing/2014/main" id="{091777D8-DA8B-4788-80A3-674E5699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990725"/>
            <a:ext cx="13239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知识二</a:t>
            </a:r>
          </a:p>
        </p:txBody>
      </p:sp>
      <p:sp>
        <p:nvSpPr>
          <p:cNvPr id="18" name="文字-18-知识三">
            <a:extLst xmlns:a="http://schemas.openxmlformats.org/drawingml/2006/main">
              <a:ext uri="{FF2B5EF4-FFF2-40B4-BE49-F238E27FC236}">
                <a16:creationId xmlns:a16="http://schemas.microsoft.com/office/drawing/2014/main" id="{7A603B45-B66C-4D87-B862-2F93E4B7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90725"/>
            <a:ext cx="13239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知识三</a:t>
            </a:r>
          </a:p>
        </p:txBody>
      </p:sp>
      <p:sp>
        <p:nvSpPr>
          <p:cNvPr id="19" name="连线-19">
            <a:extLst xmlns:a="http://schemas.openxmlformats.org/drawingml/2006/main">
              <a:ext uri="{FF2B5EF4-FFF2-40B4-BE49-F238E27FC236}">
                <a16:creationId xmlns:a16="http://schemas.microsoft.com/office/drawing/2014/main" id="{B212BB54-017B-417C-9BF8-5F1B32B8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6775" y="2705100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0" name="连线-20">
            <a:extLst xmlns:a="http://schemas.openxmlformats.org/drawingml/2006/main">
              <a:ext uri="{FF2B5EF4-FFF2-40B4-BE49-F238E27FC236}">
                <a16:creationId xmlns:a16="http://schemas.microsoft.com/office/drawing/2014/main" id="{9F4E6919-C919-4E69-8F43-CAD324ED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6775" y="2962275"/>
            <a:ext cx="2524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1" name="连线-21">
            <a:extLst xmlns:a="http://schemas.openxmlformats.org/drawingml/2006/main">
              <a:ext uri="{FF2B5EF4-FFF2-40B4-BE49-F238E27FC236}">
                <a16:creationId xmlns:a16="http://schemas.microsoft.com/office/drawing/2014/main" id="{A0468150-981F-4208-BCFE-CA744A39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00900" y="2962275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76DF678E-A124-4DB8-8435-08721779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194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3" name="连线-23">
            <a:extLst xmlns:a="http://schemas.openxmlformats.org/drawingml/2006/main">
              <a:ext uri="{FF2B5EF4-FFF2-40B4-BE49-F238E27FC236}">
                <a16:creationId xmlns:a16="http://schemas.microsoft.com/office/drawing/2014/main" id="{F2B18F0F-CD0A-4FAA-8415-61B9E28C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34525" y="2705100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4" name="连线-24">
            <a:extLst xmlns:a="http://schemas.openxmlformats.org/drawingml/2006/main">
              <a:ext uri="{FF2B5EF4-FFF2-40B4-BE49-F238E27FC236}">
                <a16:creationId xmlns:a16="http://schemas.microsoft.com/office/drawing/2014/main" id="{C4464A5E-70E5-48BD-8DD8-3951F698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200900" y="2962275"/>
            <a:ext cx="2333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5" name="连线-25">
            <a:extLst xmlns:a="http://schemas.openxmlformats.org/drawingml/2006/main">
              <a:ext uri="{FF2B5EF4-FFF2-40B4-BE49-F238E27FC236}">
                <a16:creationId xmlns:a16="http://schemas.microsoft.com/office/drawing/2014/main" id="{0B42EB1F-E729-41F4-B1B5-6BC0849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00900" y="2962275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365526B3-DA0F-4A9D-85A1-CDFBA203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194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7" name="文字-27-人员／目标">
            <a:extLst xmlns:a="http://schemas.openxmlformats.org/drawingml/2006/main">
              <a:ext uri="{FF2B5EF4-FFF2-40B4-BE49-F238E27FC236}">
                <a16:creationId xmlns:a16="http://schemas.microsoft.com/office/drawing/2014/main" id="{B905CFC3-258A-4E67-BCBE-2C667475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76625"/>
            <a:ext cx="16859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人员／目标</a:t>
            </a:r>
          </a:p>
        </p:txBody>
      </p:sp>
      <p:sp>
        <p:nvSpPr>
          <p:cNvPr id="28" name="文字-28-核心认知与决策系统">
            <a:extLst xmlns:a="http://schemas.openxmlformats.org/drawingml/2006/main">
              <a:ext uri="{FF2B5EF4-FFF2-40B4-BE49-F238E27FC236}">
                <a16:creationId xmlns:a16="http://schemas.microsoft.com/office/drawing/2014/main" id="{55D85032-3C32-4B2E-86B7-F417D549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62300"/>
            <a:ext cx="1733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核心认知</a:t>
            </a:r>
          </a:p>
          <a:p xmlns:a="http://schemas.openxmlformats.org/drawingml/2006/main">
            <a:pPr algn="ctr">
              <a:defRPr sz="20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与决策系统</a:t>
            </a:r>
          </a:p>
        </p:txBody>
      </p:sp>
      <p:sp>
        <p:nvSpPr>
          <p:cNvPr id="29" name="连线-29">
            <a:extLst xmlns:a="http://schemas.openxmlformats.org/drawingml/2006/main">
              <a:ext uri="{FF2B5EF4-FFF2-40B4-BE49-F238E27FC236}">
                <a16:creationId xmlns:a16="http://schemas.microsoft.com/office/drawing/2014/main" id="{A84DFB52-1692-4E1F-AB22-65BF640F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43425" y="3705225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30" name="结构-30">
            <a:extLst xmlns:a="http://schemas.openxmlformats.org/drawingml/2006/main">
              <a:ext uri="{FF2B5EF4-FFF2-40B4-BE49-F238E27FC236}">
                <a16:creationId xmlns:a16="http://schemas.microsoft.com/office/drawing/2014/main" id="{BD1A0A02-EDE9-44D5-857B-C9789546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52838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1" name="连线-31">
            <a:extLst xmlns:a="http://schemas.openxmlformats.org/drawingml/2006/main">
              <a:ext uri="{FF2B5EF4-FFF2-40B4-BE49-F238E27FC236}">
                <a16:creationId xmlns:a16="http://schemas.microsoft.com/office/drawing/2014/main" id="{4D685DDB-722D-4775-86A4-930A6CF8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543425" y="4000500"/>
            <a:ext cx="171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32" name="结构-32">
            <a:extLst xmlns:a="http://schemas.openxmlformats.org/drawingml/2006/main">
              <a:ext uri="{FF2B5EF4-FFF2-40B4-BE49-F238E27FC236}">
                <a16:creationId xmlns:a16="http://schemas.microsoft.com/office/drawing/2014/main" id="{E60B30D5-C02E-4248-A0FB-B61CEEEA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8113"/>
            <a:ext cx="123825" cy="104775"/>
          </a:xfrm>
          <a:custGeom xmlns:a="http://schemas.openxmlformats.org/drawingml/2006/main">
            <a:pathLst>
              <a:path w="123825" h="104775">
                <a:moveTo>
                  <a:pt x="0" y="52388"/>
                </a:moveTo>
                <a:lnTo>
                  <a:pt x="123825" y="104775"/>
                </a:lnTo>
                <a:lnTo>
                  <a:pt x="123825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3" name="结构-33">
            <a:extLst xmlns:a="http://schemas.openxmlformats.org/drawingml/2006/main">
              <a:ext uri="{FF2B5EF4-FFF2-40B4-BE49-F238E27FC236}">
                <a16:creationId xmlns:a16="http://schemas.microsoft.com/office/drawing/2014/main" id="{28E41448-4149-427C-B393-8D363502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943225" cy="1228725"/>
          </a:xfrm>
          <a:prstGeom xmlns:a="http://schemas.openxmlformats.org/drawingml/2006/main" prst="roundRect">
            <a:avLst>
              <a:gd name="adj" fmla="val 620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34" name="文字-34-受控工具与能力">
            <a:extLst xmlns:a="http://schemas.openxmlformats.org/drawingml/2006/main">
              <a:ext uri="{FF2B5EF4-FFF2-40B4-BE49-F238E27FC236}">
                <a16:creationId xmlns:a16="http://schemas.microsoft.com/office/drawing/2014/main" id="{38DD898F-8519-48DD-AA0E-8DA1EC7C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26003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92D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受控工具与能力</a:t>
            </a:r>
          </a:p>
        </p:txBody>
      </p:sp>
      <p:sp>
        <p:nvSpPr>
          <p:cNvPr id="35" name="文字-35-检索、编排与调用填写工具">
            <a:extLst xmlns:a="http://schemas.openxmlformats.org/drawingml/2006/main">
              <a:ext uri="{FF2B5EF4-FFF2-40B4-BE49-F238E27FC236}">
                <a16:creationId xmlns:a16="http://schemas.microsoft.com/office/drawing/2014/main" id="{0A27BF26-942A-4872-A229-AA0DD6F4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71875"/>
            <a:ext cx="2647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检索、编排与调用</a:t>
            </a:r>
          </a:p>
          <a:p xmlns:a="http://schemas.openxmlformats.org/drawingml/2006/main">
            <a:pPr algn="ctr">
              <a:def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填写工具能力</a:t>
            </a:r>
          </a:p>
        </p:txBody>
      </p:sp>
      <p:sp>
        <p:nvSpPr>
          <p:cNvPr id="36" name="连线-36">
            <a:extLst xmlns:a="http://schemas.openxmlformats.org/drawingml/2006/main">
              <a:ext uri="{FF2B5EF4-FFF2-40B4-BE49-F238E27FC236}">
                <a16:creationId xmlns:a16="http://schemas.microsoft.com/office/drawing/2014/main" id="{EACCD92F-3296-4831-87ED-6A0DAB92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15300" y="3714750"/>
            <a:ext cx="666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37" name="结构-37">
            <a:extLst xmlns:a="http://schemas.openxmlformats.org/drawingml/2006/main">
              <a:ext uri="{FF2B5EF4-FFF2-40B4-BE49-F238E27FC236}">
                <a16:creationId xmlns:a16="http://schemas.microsoft.com/office/drawing/2014/main" id="{7FF9EC13-285A-4A4D-AD6A-FA6E3A473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662363"/>
            <a:ext cx="123825" cy="104775"/>
          </a:xfrm>
          <a:custGeom xmlns:a="http://schemas.openxmlformats.org/drawingml/2006/main">
            <a:pathLst>
              <a:path w="123825" h="104775">
                <a:moveTo>
                  <a:pt x="123825" y="52388"/>
                </a:move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8" name="连线-38">
            <a:extLst xmlns:a="http://schemas.openxmlformats.org/drawingml/2006/main">
              <a:ext uri="{FF2B5EF4-FFF2-40B4-BE49-F238E27FC236}">
                <a16:creationId xmlns:a16="http://schemas.microsoft.com/office/drawing/2014/main" id="{EA2E16A2-1200-422F-AC99-EDC0FE42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115300" y="4048125"/>
            <a:ext cx="666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3F88"/>
            </a:solidFill>
            <a:prstDash val="solid"/>
          </a:ln>
        </p:spPr>
      </p:sp>
      <p:sp>
        <p:nvSpPr>
          <p:cNvPr id="39" name="结构-39">
            <a:extLst xmlns:a="http://schemas.openxmlformats.org/drawingml/2006/main">
              <a:ext uri="{FF2B5EF4-FFF2-40B4-BE49-F238E27FC236}">
                <a16:creationId xmlns:a16="http://schemas.microsoft.com/office/drawing/2014/main" id="{03F4B491-0C24-44C6-B30A-E0CE9C3E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95738"/>
            <a:ext cx="123825" cy="104775"/>
          </a:xfrm>
          <a:custGeom xmlns:a="http://schemas.openxmlformats.org/drawingml/2006/main">
            <a:pathLst>
              <a:path w="123825" h="104775">
                <a:moveTo>
                  <a:pt x="0" y="52388"/>
                </a:moveTo>
                <a:lnTo>
                  <a:pt x="123825" y="104775"/>
                </a:lnTo>
                <a:lnTo>
                  <a:pt x="123825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0" name="文字-40-执行与控制层">
            <a:extLst xmlns:a="http://schemas.openxmlformats.org/drawingml/2006/main">
              <a:ext uri="{FF2B5EF4-FFF2-40B4-BE49-F238E27FC236}">
                <a16:creationId xmlns:a16="http://schemas.microsoft.com/office/drawing/2014/main" id="{75A9D971-F504-481B-8296-F954C730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848225"/>
            <a:ext cx="9144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71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执行与控制层</a:t>
            </a:r>
          </a:p>
        </p:txBody>
      </p:sp>
      <p:sp>
        <p:nvSpPr>
          <p:cNvPr id="41" name="连线-41">
            <a:extLst xmlns:a="http://schemas.openxmlformats.org/drawingml/2006/main">
              <a:ext uri="{FF2B5EF4-FFF2-40B4-BE49-F238E27FC236}">
                <a16:creationId xmlns:a16="http://schemas.microsoft.com/office/drawing/2014/main" id="{CF1FA26F-5068-4423-98B2-61695CB2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91375" y="4533900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6713"/>
            </a:solidFill>
            <a:prstDash val="solid"/>
          </a:ln>
        </p:spPr>
      </p:sp>
      <p:sp>
        <p:nvSpPr>
          <p:cNvPr id="42" name="结构-42">
            <a:extLst xmlns:a="http://schemas.openxmlformats.org/drawingml/2006/main">
              <a:ext uri="{FF2B5EF4-FFF2-40B4-BE49-F238E27FC236}">
                <a16:creationId xmlns:a16="http://schemas.microsoft.com/office/drawing/2014/main" id="{6C96F727-ADFA-49AB-9CDE-06666531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988" y="4667250"/>
            <a:ext cx="104775" cy="123825"/>
          </a:xfrm>
          <a:custGeom xmlns:a="http://schemas.openxmlformats.org/drawingml/2006/main">
            <a:pathLst>
              <a:path w="104775" h="123825">
                <a:moveTo>
                  <a:pt x="52388" y="123825"/>
                </a:moveTo>
                <a:lnTo>
                  <a:pt x="10477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36713"/>
          </a:solidFill>
          <a:ln xmlns:a="http://schemas.openxmlformats.org/drawingml/2006/main" w="0">
            <a:noFill/>
          </a:ln>
        </p:spPr>
      </p:sp>
      <p:sp>
        <p:nvSpPr>
          <p:cNvPr id="43" name="文字-43-执行单元与设备集群">
            <a:extLst xmlns:a="http://schemas.openxmlformats.org/drawingml/2006/main">
              <a:ext uri="{FF2B5EF4-FFF2-40B4-BE49-F238E27FC236}">
                <a16:creationId xmlns:a16="http://schemas.microsoft.com/office/drawing/2014/main" id="{91E4980D-949D-4186-B76C-ED188435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5530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执行单元与设备集群</a:t>
            </a:r>
          </a:p>
        </p:txBody>
      </p:sp>
      <p:sp>
        <p:nvSpPr>
          <p:cNvPr id="44" name="图片区-44">
            <a:extLst xmlns:a="http://schemas.openxmlformats.org/drawingml/2006/main">
              <a:ext uri="{FF2B5EF4-FFF2-40B4-BE49-F238E27FC236}">
                <a16:creationId xmlns:a16="http://schemas.microsoft.com/office/drawing/2014/main" id="{B7293720-8052-4A03-B9D4-81B7C3D6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8170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45" name="连线-45">
            <a:extLst xmlns:a="http://schemas.openxmlformats.org/drawingml/2006/main">
              <a:ext uri="{FF2B5EF4-FFF2-40B4-BE49-F238E27FC236}">
                <a16:creationId xmlns:a16="http://schemas.microsoft.com/office/drawing/2014/main" id="{66BD060A-2D14-4C84-A0BE-4F75FA6D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14700" y="53054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46" name="结构-46">
            <a:extLst xmlns:a="http://schemas.openxmlformats.org/drawingml/2006/main">
              <a:ext uri="{FF2B5EF4-FFF2-40B4-BE49-F238E27FC236}">
                <a16:creationId xmlns:a16="http://schemas.microsoft.com/office/drawing/2014/main" id="{C6EA514E-B9B9-45C6-AA05-55A984F0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3816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47" name="图片区-47">
            <a:extLst xmlns:a="http://schemas.openxmlformats.org/drawingml/2006/main">
              <a:ext uri="{FF2B5EF4-FFF2-40B4-BE49-F238E27FC236}">
                <a16:creationId xmlns:a16="http://schemas.microsoft.com/office/drawing/2014/main" id="{DA55867F-CDB3-44FB-8AB2-0EB16584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98170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48" name="连线-48">
            <a:extLst xmlns:a="http://schemas.openxmlformats.org/drawingml/2006/main">
              <a:ext uri="{FF2B5EF4-FFF2-40B4-BE49-F238E27FC236}">
                <a16:creationId xmlns:a16="http://schemas.microsoft.com/office/drawing/2014/main" id="{50A1CF70-0C85-41E1-8EFF-220D7DAB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10100" y="53054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49" name="结构-49">
            <a:extLst xmlns:a="http://schemas.openxmlformats.org/drawingml/2006/main">
              <a:ext uri="{FF2B5EF4-FFF2-40B4-BE49-F238E27FC236}">
                <a16:creationId xmlns:a16="http://schemas.microsoft.com/office/drawing/2014/main" id="{8F4BE53A-D9C8-4B8D-96B9-1539AAFB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3816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50" name="图片区-50">
            <a:extLst xmlns:a="http://schemas.openxmlformats.org/drawingml/2006/main">
              <a:ext uri="{FF2B5EF4-FFF2-40B4-BE49-F238E27FC236}">
                <a16:creationId xmlns:a16="http://schemas.microsoft.com/office/drawing/2014/main" id="{EBD8C754-9377-47E2-B8B2-D2B7622E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8170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51" name="连线-51">
            <a:extLst xmlns:a="http://schemas.openxmlformats.org/drawingml/2006/main">
              <a:ext uri="{FF2B5EF4-FFF2-40B4-BE49-F238E27FC236}">
                <a16:creationId xmlns:a16="http://schemas.microsoft.com/office/drawing/2014/main" id="{6792460C-0AD6-42FE-BB50-D2CDFF42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05500" y="53054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52" name="结构-52">
            <a:extLst xmlns:a="http://schemas.openxmlformats.org/drawingml/2006/main">
              <a:ext uri="{FF2B5EF4-FFF2-40B4-BE49-F238E27FC236}">
                <a16:creationId xmlns:a16="http://schemas.microsoft.com/office/drawing/2014/main" id="{7856EB24-9C81-4FA0-B382-10A0A180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3816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53" name="图片区-53">
            <a:extLst xmlns:a="http://schemas.openxmlformats.org/drawingml/2006/main">
              <a:ext uri="{FF2B5EF4-FFF2-40B4-BE49-F238E27FC236}">
                <a16:creationId xmlns:a16="http://schemas.microsoft.com/office/drawing/2014/main" id="{81D1D977-2723-484B-9263-6E97BD6D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98170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54" name="连线-54">
            <a:extLst xmlns:a="http://schemas.openxmlformats.org/drawingml/2006/main">
              <a:ext uri="{FF2B5EF4-FFF2-40B4-BE49-F238E27FC236}">
                <a16:creationId xmlns:a16="http://schemas.microsoft.com/office/drawing/2014/main" id="{DA651692-2F9F-43A3-BFF5-64B36CC9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00900" y="53054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55" name="结构-55">
            <a:extLst xmlns:a="http://schemas.openxmlformats.org/drawingml/2006/main">
              <a:ext uri="{FF2B5EF4-FFF2-40B4-BE49-F238E27FC236}">
                <a16:creationId xmlns:a16="http://schemas.microsoft.com/office/drawing/2014/main" id="{E3CFF3DB-2101-4DDD-BD57-6B396E3E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3816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56" name="图片区-56">
            <a:extLst xmlns:a="http://schemas.openxmlformats.org/drawingml/2006/main">
              <a:ext uri="{FF2B5EF4-FFF2-40B4-BE49-F238E27FC236}">
                <a16:creationId xmlns:a16="http://schemas.microsoft.com/office/drawing/2014/main" id="{5CBBD483-042E-428B-BDD7-9EEBC584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8170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57" name="连线-57">
            <a:extLst xmlns:a="http://schemas.openxmlformats.org/drawingml/2006/main">
              <a:ext uri="{FF2B5EF4-FFF2-40B4-BE49-F238E27FC236}">
                <a16:creationId xmlns:a16="http://schemas.microsoft.com/office/drawing/2014/main" id="{784E2BFF-7AF0-4433-9AFC-DF2E2DCE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96300" y="53054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58" name="结构-58">
            <a:extLst xmlns:a="http://schemas.openxmlformats.org/drawingml/2006/main">
              <a:ext uri="{FF2B5EF4-FFF2-40B4-BE49-F238E27FC236}">
                <a16:creationId xmlns:a16="http://schemas.microsoft.com/office/drawing/2014/main" id="{4F64A253-535F-4175-9C34-539AD9E6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3816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59" name="图片区-59">
            <a:extLst xmlns:a="http://schemas.openxmlformats.org/drawingml/2006/main">
              <a:ext uri="{FF2B5EF4-FFF2-40B4-BE49-F238E27FC236}">
                <a16:creationId xmlns:a16="http://schemas.microsoft.com/office/drawing/2014/main" id="{4B61FCA7-ECC8-41DB-BF92-5965C99B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98170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60" name="连线-60">
            <a:extLst xmlns:a="http://schemas.openxmlformats.org/drawingml/2006/main">
              <a:ext uri="{FF2B5EF4-FFF2-40B4-BE49-F238E27FC236}">
                <a16:creationId xmlns:a16="http://schemas.microsoft.com/office/drawing/2014/main" id="{215FF6F0-2934-492F-A556-BD189E17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91700" y="53054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61" name="结构-61">
            <a:extLst xmlns:a="http://schemas.openxmlformats.org/drawingml/2006/main">
              <a:ext uri="{FF2B5EF4-FFF2-40B4-BE49-F238E27FC236}">
                <a16:creationId xmlns:a16="http://schemas.microsoft.com/office/drawing/2014/main" id="{AD00E911-FACE-4E43-A510-70567821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3816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62" name="图片区-62">
            <a:extLst xmlns:a="http://schemas.openxmlformats.org/drawingml/2006/main">
              <a:ext uri="{FF2B5EF4-FFF2-40B4-BE49-F238E27FC236}">
                <a16:creationId xmlns:a16="http://schemas.microsoft.com/office/drawing/2014/main" id="{659FEB30-76B2-46E1-9C63-E5A601A5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98170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63" name="连线-63">
            <a:extLst xmlns:a="http://schemas.openxmlformats.org/drawingml/2006/main">
              <a:ext uri="{FF2B5EF4-FFF2-40B4-BE49-F238E27FC236}">
                <a16:creationId xmlns:a16="http://schemas.microsoft.com/office/drawing/2014/main" id="{CBA909BB-5643-4476-9D71-B1E46B7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87100" y="53054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64" name="结构-64">
            <a:extLst xmlns:a="http://schemas.openxmlformats.org/drawingml/2006/main">
              <a:ext uri="{FF2B5EF4-FFF2-40B4-BE49-F238E27FC236}">
                <a16:creationId xmlns:a16="http://schemas.microsoft.com/office/drawing/2014/main" id="{F5D0D1D2-FEBA-47C1-AAD8-0FF1F900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3816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65" name="文字-65-填写协同方式、执行能力与">
            <a:extLst xmlns:a="http://schemas.openxmlformats.org/drawingml/2006/main">
              <a:ext uri="{FF2B5EF4-FFF2-40B4-BE49-F238E27FC236}">
                <a16:creationId xmlns:a16="http://schemas.microsoft.com/office/drawing/2014/main" id="{A95196CA-8C8E-4715-8867-AC6FFB9A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486525"/>
            <a:ext cx="902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填写协同方式、执行能力与状态反馈机制</a:t>
            </a:r>
          </a:p>
        </p:txBody>
      </p:sp>
      <p:sp>
        <p:nvSpPr>
          <p:cNvPr id="66" name="连线-66">
            <a:extLst xmlns:a="http://schemas.openxmlformats.org/drawingml/2006/main">
              <a:ext uri="{FF2B5EF4-FFF2-40B4-BE49-F238E27FC236}">
                <a16:creationId xmlns:a16="http://schemas.microsoft.com/office/drawing/2014/main" id="{AE8E6258-F2C3-479E-B551-372503B6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343150" y="6238875"/>
            <a:ext cx="276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dash"/>
          </a:ln>
        </p:spPr>
      </p:sp>
      <p:sp>
        <p:nvSpPr>
          <p:cNvPr id="67" name="连线-67">
            <a:extLst xmlns:a="http://schemas.openxmlformats.org/drawingml/2006/main">
              <a:ext uri="{FF2B5EF4-FFF2-40B4-BE49-F238E27FC236}">
                <a16:creationId xmlns:a16="http://schemas.microsoft.com/office/drawing/2014/main" id="{AC075235-0433-4AE6-9DC2-BF3D654D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43150" y="2171700"/>
            <a:ext cx="953" cy="406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dash"/>
          </a:ln>
        </p:spPr>
      </p:sp>
      <p:sp>
        <p:nvSpPr>
          <p:cNvPr id="68" name="连线-68">
            <a:extLst xmlns:a="http://schemas.openxmlformats.org/drawingml/2006/main">
              <a:ext uri="{FF2B5EF4-FFF2-40B4-BE49-F238E27FC236}">
                <a16:creationId xmlns:a16="http://schemas.microsoft.com/office/drawing/2014/main" id="{2BAA61C5-8FBC-42A5-8D86-C40848C0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43150" y="217170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73F88"/>
            </a:solidFill>
            <a:prstDash val="dash"/>
          </a:ln>
        </p:spPr>
      </p:sp>
      <p:sp>
        <p:nvSpPr>
          <p:cNvPr id="69" name="结构-69">
            <a:extLst xmlns:a="http://schemas.openxmlformats.org/drawingml/2006/main">
              <a:ext uri="{FF2B5EF4-FFF2-40B4-BE49-F238E27FC236}">
                <a16:creationId xmlns:a16="http://schemas.microsoft.com/office/drawing/2014/main" id="{E2F806B5-E247-4C7E-8864-D82ECA26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263" y="2126456"/>
            <a:ext cx="109538" cy="90488"/>
          </a:xfrm>
          <a:custGeom xmlns:a="http://schemas.openxmlformats.org/drawingml/2006/main">
            <a:pathLst>
              <a:path w="109538" h="90488">
                <a:moveTo>
                  <a:pt x="109538" y="45244"/>
                </a:moveTo>
                <a:lnTo>
                  <a:pt x="0" y="0"/>
                </a:lnTo>
                <a:lnTo>
                  <a:pt x="0" y="90488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54540171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结构-1">
            <a:extLst xmlns:a="http://schemas.openxmlformats.org/drawingml/2006/main">
              <a:ext uri="{FF2B5EF4-FFF2-40B4-BE49-F238E27FC236}">
                <a16:creationId xmlns:a16="http://schemas.microsoft.com/office/drawing/2014/main" id="{B134A4AF-689B-4E3A-B00A-DFB1F89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数字系统与智能系统协同">
            <a:extLst xmlns:a="http://schemas.openxmlformats.org/drawingml/2006/main">
              <a:ext uri="{FF2B5EF4-FFF2-40B4-BE49-F238E27FC236}">
                <a16:creationId xmlns:a16="http://schemas.microsoft.com/office/drawing/2014/main" id="{E44DDC22-BC5A-430A-88B5-95A3EF6B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数字系统与智能系统协同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5B6634D4-FFF4-4AE4-9E28-0BF36AA9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BDD6EF29-262C-4BA7-AE20-F0526817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810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说明物理对象、数字模型与">
            <a:extLst xmlns:a="http://schemas.openxmlformats.org/drawingml/2006/main">
              <a:ext uri="{FF2B5EF4-FFF2-40B4-BE49-F238E27FC236}">
                <a16:creationId xmlns:a16="http://schemas.microsoft.com/office/drawing/2014/main" id="{189009F9-37A9-48D7-B79B-B07A1E1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57250"/>
            <a:ext cx="1152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说明物理对象、数字模型与智能决策如何共同形成可感知、可推演、可执行的系统</a:t>
            </a:r>
          </a:p>
        </p:txBody>
      </p:sp>
      <p:sp>
        <p:nvSpPr>
          <p:cNvPr id="6" name="结构-6">
            <a:extLst xmlns:a="http://schemas.openxmlformats.org/drawingml/2006/main">
              <a:ext uri="{FF2B5EF4-FFF2-40B4-BE49-F238E27FC236}">
                <a16:creationId xmlns:a16="http://schemas.microsoft.com/office/drawing/2014/main" id="{716F56B7-E5AE-46B9-946B-0706A186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314575"/>
            <a:ext cx="5210175" cy="4076700"/>
          </a:xfrm>
          <a:prstGeom xmlns:a="http://schemas.openxmlformats.org/drawingml/2006/main" prst="roundRect">
            <a:avLst>
              <a:gd name="adj" fmla="val 18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73F88"/>
            </a:solidFill>
            <a:prstDash val="solid"/>
          </a:ln>
        </p:spPr>
      </p:sp>
      <p:sp>
        <p:nvSpPr>
          <p:cNvPr id="7" name="文字-7-数字映射与仿真验证">
            <a:extLst xmlns:a="http://schemas.openxmlformats.org/drawingml/2006/main">
              <a:ext uri="{FF2B5EF4-FFF2-40B4-BE49-F238E27FC236}">
                <a16:creationId xmlns:a16="http://schemas.microsoft.com/office/drawing/2014/main" id="{FB83EC33-E54F-46A3-81DA-5612DEA2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48672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数字映射与仿真验证</a:t>
            </a:r>
          </a:p>
        </p:txBody>
      </p:sp>
      <p:sp>
        <p:nvSpPr>
          <p:cNvPr id="8" name="图片区-8">
            <a:extLst xmlns:a="http://schemas.openxmlformats.org/drawingml/2006/main">
              <a:ext uri="{FF2B5EF4-FFF2-40B4-BE49-F238E27FC236}">
                <a16:creationId xmlns:a16="http://schemas.microsoft.com/office/drawing/2014/main" id="{D4C5ECA5-4195-4EE4-ADC8-2288BAD9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9908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9" name="文字-9-可视／推演验证">
            <a:extLst xmlns:a="http://schemas.openxmlformats.org/drawingml/2006/main">
              <a:ext uri="{FF2B5EF4-FFF2-40B4-BE49-F238E27FC236}">
                <a16:creationId xmlns:a16="http://schemas.microsoft.com/office/drawing/2014/main" id="{7227B943-493E-407D-A7DF-5747A3B5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52775"/>
            <a:ext cx="15049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A6BED4"/>
            </a:solidFill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可视／推演</a:t>
            </a:r>
          </a:p>
          <a:p xmlns:a="http://schemas.openxmlformats.org/drawingml/2006/main">
            <a:pPr algn="ctr">
              <a:def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3F88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0" name="连线-10">
            <a:extLst xmlns:a="http://schemas.openxmlformats.org/drawingml/2006/main">
              <a:ext uri="{FF2B5EF4-FFF2-40B4-BE49-F238E27FC236}">
                <a16:creationId xmlns:a16="http://schemas.microsoft.com/office/drawing/2014/main" id="{6599CD8D-20D0-44B2-BAF8-5A16CEAA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52825" y="3609975"/>
            <a:ext cx="190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11" name="结构-11">
            <a:extLst xmlns:a="http://schemas.openxmlformats.org/drawingml/2006/main">
              <a:ext uri="{FF2B5EF4-FFF2-40B4-BE49-F238E27FC236}">
                <a16:creationId xmlns:a16="http://schemas.microsoft.com/office/drawing/2014/main" id="{3C3A86EA-91E6-4EC2-8C00-751E1862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623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12" name="图片区-12">
            <a:extLst xmlns:a="http://schemas.openxmlformats.org/drawingml/2006/main">
              <a:ext uri="{FF2B5EF4-FFF2-40B4-BE49-F238E27FC236}">
                <a16:creationId xmlns:a16="http://schemas.microsoft.com/office/drawing/2014/main" id="{E6D4EA7B-AA1D-4C8D-AC58-D2295B16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33950"/>
            <a:ext cx="28479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3" name="文字-13-工业数据分析">
            <a:extLst xmlns:a="http://schemas.openxmlformats.org/drawingml/2006/main">
              <a:ext uri="{FF2B5EF4-FFF2-40B4-BE49-F238E27FC236}">
                <a16:creationId xmlns:a16="http://schemas.microsoft.com/office/drawing/2014/main" id="{12BC1A6B-8E94-4BD7-A103-1DE3562A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14925"/>
            <a:ext cx="17811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工业数据分析</a:t>
            </a:r>
          </a:p>
        </p:txBody>
      </p:sp>
      <p:sp>
        <p:nvSpPr>
          <p:cNvPr id="14" name="文字-14-说明数据与模型的映射关系">
            <a:extLst xmlns:a="http://schemas.openxmlformats.org/drawingml/2006/main">
              <a:ext uri="{FF2B5EF4-FFF2-40B4-BE49-F238E27FC236}">
                <a16:creationId xmlns:a16="http://schemas.microsoft.com/office/drawing/2014/main" id="{AC2A6967-6CB6-47D9-91F4-44FFF4D7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800725"/>
            <a:ext cx="1800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说明数据与模型</a:t>
            </a:r>
          </a:p>
          <a:p xmlns:a="http://schemas.openxmlformats.org/drawingml/2006/main">
            <a:pPr algn="ctr">
              <a:defRPr sz="14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的映射关系</a:t>
            </a:r>
          </a:p>
        </p:txBody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1F800CA1-03BE-4069-998E-1F362541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14575"/>
            <a:ext cx="5429250" cy="4076700"/>
          </a:xfrm>
          <a:prstGeom xmlns:a="http://schemas.openxmlformats.org/drawingml/2006/main" prst="roundRect">
            <a:avLst>
              <a:gd name="adj" fmla="val 186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73F88"/>
            </a:solidFill>
            <a:prstDash val="solid"/>
          </a:ln>
        </p:spPr>
      </p:sp>
      <p:sp>
        <p:nvSpPr>
          <p:cNvPr id="16" name="文字-16-智能决策与应用执行">
            <a:extLst xmlns:a="http://schemas.openxmlformats.org/drawingml/2006/main">
              <a:ext uri="{FF2B5EF4-FFF2-40B4-BE49-F238E27FC236}">
                <a16:creationId xmlns:a16="http://schemas.microsoft.com/office/drawing/2014/main" id="{97148776-7920-4162-B917-07E9B73D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086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智能决策与应用执行</a:t>
            </a:r>
          </a:p>
        </p:txBody>
      </p:sp>
      <p:sp>
        <p:nvSpPr>
          <p:cNvPr id="17" name="图片区-17">
            <a:extLst xmlns:a="http://schemas.openxmlformats.org/drawingml/2006/main">
              <a:ext uri="{FF2B5EF4-FFF2-40B4-BE49-F238E27FC236}">
                <a16:creationId xmlns:a16="http://schemas.microsoft.com/office/drawing/2014/main" id="{E33FDA58-6501-46E2-A593-BB4AAF72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95575"/>
            <a:ext cx="31813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8" name="图片区-18">
            <a:extLst xmlns:a="http://schemas.openxmlformats.org/drawingml/2006/main">
              <a:ext uri="{FF2B5EF4-FFF2-40B4-BE49-F238E27FC236}">
                <a16:creationId xmlns:a16="http://schemas.microsoft.com/office/drawing/2014/main" id="{F5B69D81-8A75-4372-B51C-C3DA2679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72050"/>
            <a:ext cx="31813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19" name="图片区-19">
            <a:extLst xmlns:a="http://schemas.openxmlformats.org/drawingml/2006/main">
              <a:ext uri="{FF2B5EF4-FFF2-40B4-BE49-F238E27FC236}">
                <a16:creationId xmlns:a16="http://schemas.microsoft.com/office/drawing/2014/main" id="{34A61E1F-342D-4865-BE0F-B7131D2A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86050"/>
            <a:ext cx="1619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0" name="文字-20-语言交互">
            <a:extLst xmlns:a="http://schemas.openxmlformats.org/drawingml/2006/main">
              <a:ext uri="{FF2B5EF4-FFF2-40B4-BE49-F238E27FC236}">
                <a16:creationId xmlns:a16="http://schemas.microsoft.com/office/drawing/2014/main" id="{FA90330F-9979-49E6-B19F-5F7660A2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242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语言交互</a:t>
            </a:r>
          </a:p>
        </p:txBody>
      </p:sp>
      <p:sp>
        <p:nvSpPr>
          <p:cNvPr id="21" name="连线-21">
            <a:extLst xmlns:a="http://schemas.openxmlformats.org/drawingml/2006/main">
              <a:ext uri="{FF2B5EF4-FFF2-40B4-BE49-F238E27FC236}">
                <a16:creationId xmlns:a16="http://schemas.microsoft.com/office/drawing/2014/main" id="{EFE81754-B150-4B7E-9910-F3AC9209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44075" y="3076575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2" name="结构-22">
            <a:extLst xmlns:a="http://schemas.openxmlformats.org/drawingml/2006/main">
              <a:ext uri="{FF2B5EF4-FFF2-40B4-BE49-F238E27FC236}">
                <a16:creationId xmlns:a16="http://schemas.microsoft.com/office/drawing/2014/main" id="{A2D66964-873F-447F-80D8-D389735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2895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3" name="图片区-23">
            <a:extLst xmlns:a="http://schemas.openxmlformats.org/drawingml/2006/main">
              <a:ext uri="{FF2B5EF4-FFF2-40B4-BE49-F238E27FC236}">
                <a16:creationId xmlns:a16="http://schemas.microsoft.com/office/drawing/2014/main" id="{D8EF3627-56A2-4FF1-8473-3C34ADB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895725"/>
            <a:ext cx="1619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4" name="文字-24-视觉理解">
            <a:extLst xmlns:a="http://schemas.openxmlformats.org/drawingml/2006/main">
              <a:ext uri="{FF2B5EF4-FFF2-40B4-BE49-F238E27FC236}">
                <a16:creationId xmlns:a16="http://schemas.microsoft.com/office/drawing/2014/main" id="{970E7DD6-0A6D-43C9-AC4F-3A99828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73392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视觉理解</a:t>
            </a:r>
          </a:p>
        </p:txBody>
      </p:sp>
      <p:sp>
        <p:nvSpPr>
          <p:cNvPr id="25" name="连线-25">
            <a:extLst xmlns:a="http://schemas.openxmlformats.org/drawingml/2006/main">
              <a:ext uri="{FF2B5EF4-FFF2-40B4-BE49-F238E27FC236}">
                <a16:creationId xmlns:a16="http://schemas.microsoft.com/office/drawing/2014/main" id="{54FC4AA9-D6F5-4845-B3CA-4FD0670A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44075" y="4286250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26" name="结构-26">
            <a:extLst xmlns:a="http://schemas.openxmlformats.org/drawingml/2006/main">
              <a:ext uri="{FF2B5EF4-FFF2-40B4-BE49-F238E27FC236}">
                <a16:creationId xmlns:a16="http://schemas.microsoft.com/office/drawing/2014/main" id="{EC517BA1-A396-4477-B7F9-B669EB6B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386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27" name="图片区-27">
            <a:extLst xmlns:a="http://schemas.openxmlformats.org/drawingml/2006/main">
              <a:ext uri="{FF2B5EF4-FFF2-40B4-BE49-F238E27FC236}">
                <a16:creationId xmlns:a16="http://schemas.microsoft.com/office/drawing/2014/main" id="{98230A41-3145-40A3-B9B9-938A71E7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105400"/>
            <a:ext cx="1619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F"/>
          </a:solidFill>
          <a:ln xmlns:a="http://schemas.openxmlformats.org/drawingml/2006/main" w="9525">
            <a:solidFill>
              <a:srgbClr val="C8D5E4"/>
            </a:solidFill>
            <a:prstDash val="dash"/>
          </a:ln>
        </p:spPr>
      </p:sp>
      <p:sp>
        <p:nvSpPr>
          <p:cNvPr id="28" name="文字-28-动作生成">
            <a:extLst xmlns:a="http://schemas.openxmlformats.org/drawingml/2006/main">
              <a:ext uri="{FF2B5EF4-FFF2-40B4-BE49-F238E27FC236}">
                <a16:creationId xmlns:a16="http://schemas.microsoft.com/office/drawing/2014/main" id="{8D8FADAD-FC5D-49CE-AE2F-FF1FCBAA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9436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动作生成</a:t>
            </a:r>
          </a:p>
        </p:txBody>
      </p:sp>
      <p:sp>
        <p:nvSpPr>
          <p:cNvPr id="29" name="连线-29">
            <a:extLst xmlns:a="http://schemas.openxmlformats.org/drawingml/2006/main">
              <a:ext uri="{FF2B5EF4-FFF2-40B4-BE49-F238E27FC236}">
                <a16:creationId xmlns:a16="http://schemas.microsoft.com/office/drawing/2014/main" id="{6686FC2D-FEEE-453D-86EA-F73C5E1D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44075" y="5495925"/>
            <a:ext cx="1809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3F88"/>
            </a:solidFill>
            <a:prstDash val="solid"/>
          </a:ln>
        </p:spPr>
      </p:sp>
      <p:sp>
        <p:nvSpPr>
          <p:cNvPr id="30" name="结构-30">
            <a:extLst xmlns:a="http://schemas.openxmlformats.org/drawingml/2006/main">
              <a:ext uri="{FF2B5EF4-FFF2-40B4-BE49-F238E27FC236}">
                <a16:creationId xmlns:a16="http://schemas.microsoft.com/office/drawing/2014/main" id="{78A0246A-A072-4855-ABDD-4E2D135B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483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1" name="连线-31">
            <a:extLst xmlns:a="http://schemas.openxmlformats.org/drawingml/2006/main">
              <a:ext uri="{FF2B5EF4-FFF2-40B4-BE49-F238E27FC236}">
                <a16:creationId xmlns:a16="http://schemas.microsoft.com/office/drawing/2014/main" id="{AC3E9558-7CBC-4317-828F-8E99FD85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4181475"/>
            <a:ext cx="628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73F88"/>
            </a:solidFill>
            <a:prstDash val="solid"/>
          </a:ln>
        </p:spPr>
      </p:sp>
      <p:sp>
        <p:nvSpPr>
          <p:cNvPr id="32" name="结构-32">
            <a:extLst xmlns:a="http://schemas.openxmlformats.org/drawingml/2006/main">
              <a:ext uri="{FF2B5EF4-FFF2-40B4-BE49-F238E27FC236}">
                <a16:creationId xmlns:a16="http://schemas.microsoft.com/office/drawing/2014/main" id="{41366897-2E20-4014-9DF1-81F86FE8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119563"/>
            <a:ext cx="142875" cy="123825"/>
          </a:xfrm>
          <a:custGeom xmlns:a="http://schemas.openxmlformats.org/drawingml/2006/main">
            <a:pathLst>
              <a:path w="142875" h="123825">
                <a:moveTo>
                  <a:pt x="142875" y="61913"/>
                </a:moveTo>
                <a:lnTo>
                  <a:pt x="0" y="0"/>
                </a:lnTo>
                <a:lnTo>
                  <a:pt x="0" y="123825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3" name="连线-33">
            <a:extLst xmlns:a="http://schemas.openxmlformats.org/drawingml/2006/main">
              <a:ext uri="{FF2B5EF4-FFF2-40B4-BE49-F238E27FC236}">
                <a16:creationId xmlns:a16="http://schemas.microsoft.com/office/drawing/2014/main" id="{57566F98-159A-42CC-BDF4-AE890E86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619750" y="4505325"/>
            <a:ext cx="619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73F88"/>
            </a:solidFill>
            <a:prstDash val="solid"/>
          </a:ln>
        </p:spPr>
      </p:sp>
      <p:sp>
        <p:nvSpPr>
          <p:cNvPr id="34" name="结构-34">
            <a:extLst xmlns:a="http://schemas.openxmlformats.org/drawingml/2006/main">
              <a:ext uri="{FF2B5EF4-FFF2-40B4-BE49-F238E27FC236}">
                <a16:creationId xmlns:a16="http://schemas.microsoft.com/office/drawing/2014/main" id="{E6D252E3-59B1-4EAA-ACBA-574B976F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43413"/>
            <a:ext cx="142875" cy="123825"/>
          </a:xfrm>
          <a:custGeom xmlns:a="http://schemas.openxmlformats.org/drawingml/2006/main">
            <a:pathLst>
              <a:path w="142875" h="123825">
                <a:moveTo>
                  <a:pt x="0" y="61913"/>
                </a:moveTo>
                <a:lnTo>
                  <a:pt x="142875" y="123825"/>
                </a:lnTo>
                <a:lnTo>
                  <a:pt x="142875" y="0"/>
                </a:lnTo>
                <a:close/>
              </a:path>
            </a:pathLst>
          </a:custGeom>
          <a:solidFill xmlns:a="http://schemas.openxmlformats.org/drawingml/2006/main">
            <a:srgbClr val="073F88"/>
          </a:solidFill>
          <a:ln xmlns:a="http://schemas.openxmlformats.org/drawingml/2006/main" w="0">
            <a:noFill/>
          </a:ln>
        </p:spPr>
      </p:sp>
      <p:sp>
        <p:nvSpPr>
          <p:cNvPr id="35" name="文字-35-双向协同">
            <a:extLst xmlns:a="http://schemas.openxmlformats.org/drawingml/2006/main">
              <a:ext uri="{FF2B5EF4-FFF2-40B4-BE49-F238E27FC236}">
                <a16:creationId xmlns:a16="http://schemas.microsoft.com/office/drawing/2014/main" id="{365B4E67-4464-4782-8CFB-2DCE578B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409950"/>
            <a:ext cx="6381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双向</a:t>
            </a:r>
          </a:p>
          <a:p xmlns:a="http://schemas.openxmlformats.org/drawingml/2006/main">
            <a:pPr algn="ctr">
              <a:defRPr sz="15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</p:spTree>
    <p:extLst>
      <p:ext uri="{BB962C8B-B14F-4D97-AF65-F5344CB8AC3E}">
        <p14:creationId xmlns:p14="http://schemas.microsoft.com/office/powerpoint/2010/main" val="109415053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结构-1">
            <a:extLst xmlns:a="http://schemas.openxmlformats.org/drawingml/2006/main">
              <a:ext uri="{FF2B5EF4-FFF2-40B4-BE49-F238E27FC236}">
                <a16:creationId xmlns:a16="http://schemas.microsoft.com/office/drawing/2014/main" id="{0584C0AC-5600-487C-A4B9-48F24C22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3F88"/>
              </a:gs>
              <a:gs pos="100000">
                <a:srgbClr val="3B6FAA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文字-2-汇报总结">
            <a:extLst xmlns:a="http://schemas.openxmlformats.org/drawingml/2006/main">
              <a:ext uri="{FF2B5EF4-FFF2-40B4-BE49-F238E27FC236}">
                <a16:creationId xmlns:a16="http://schemas.microsoft.com/office/drawing/2014/main" id="{28EED6E4-3282-4D9E-A487-0A4CBE57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6200"/>
            <a:ext cx="10096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汇报总结</a:t>
            </a:r>
          </a:p>
        </p:txBody>
      </p:sp>
      <p:sp>
        <p:nvSpPr>
          <p:cNvPr id="3" name="文字-3-单位名称">
            <a:extLst xmlns:a="http://schemas.openxmlformats.org/drawingml/2006/main">
              <a:ext uri="{FF2B5EF4-FFF2-40B4-BE49-F238E27FC236}">
                <a16:creationId xmlns:a16="http://schemas.microsoft.com/office/drawing/2014/main" id="{8A18BBE4-5A4F-42B9-A8F4-DF608EB0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3350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单位名称</a:t>
            </a:r>
          </a:p>
        </p:txBody>
      </p:sp>
      <p:sp>
        <p:nvSpPr>
          <p:cNvPr id="4" name="结构-4">
            <a:extLst xmlns:a="http://schemas.openxmlformats.org/drawingml/2006/main">
              <a:ext uri="{FF2B5EF4-FFF2-40B4-BE49-F238E27FC236}">
                <a16:creationId xmlns:a16="http://schemas.microsoft.com/office/drawing/2014/main" id="{3CC69057-EF3C-4160-B4A2-09A052F9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9537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5" name="文字-5-填写本次研究围绕的总体问">
            <a:extLst xmlns:a="http://schemas.openxmlformats.org/drawingml/2006/main">
              <a:ext uri="{FF2B5EF4-FFF2-40B4-BE49-F238E27FC236}">
                <a16:creationId xmlns:a16="http://schemas.microsoft.com/office/drawing/2014/main" id="{46388A91-A287-42C6-AD32-1B9DAFC3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1152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填写本次研究围绕的总体问题，以及所开展的三个方面的工作</a:t>
            </a:r>
          </a:p>
        </p:txBody>
      </p:sp>
      <p:sp>
        <p:nvSpPr>
          <p:cNvPr id="6" name="文字-6-1.">
            <a:extLst xmlns:a="http://schemas.openxmlformats.org/drawingml/2006/main">
              <a:ext uri="{FF2B5EF4-FFF2-40B4-BE49-F238E27FC236}">
                <a16:creationId xmlns:a16="http://schemas.microsoft.com/office/drawing/2014/main" id="{C3D8B11C-13F5-41AD-AC98-11558C83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866900"/>
            <a:ext cx="409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1.</a:t>
            </a:r>
          </a:p>
        </p:txBody>
      </p:sp>
      <p:sp>
        <p:nvSpPr>
          <p:cNvPr id="7" name="文字-7-填写研究工作一：说明提出">
            <a:extLst xmlns:a="http://schemas.openxmlformats.org/drawingml/2006/main">
              <a:ext uri="{FF2B5EF4-FFF2-40B4-BE49-F238E27FC236}">
                <a16:creationId xmlns:a16="http://schemas.microsoft.com/office/drawing/2014/main" id="{8ED68E1E-A285-4D31-8124-E2609ABC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66900"/>
            <a:ext cx="11010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填写研究工作一：说明提出的模型或方法</a:t>
            </a:r>
          </a:p>
        </p:txBody>
      </p:sp>
      <p:sp>
        <p:nvSpPr>
          <p:cNvPr id="8" name="文字-8-填写这项工作形成的具体贡">
            <a:extLst xmlns:a="http://schemas.openxmlformats.org/drawingml/2006/main">
              <a:ext uri="{FF2B5EF4-FFF2-40B4-BE49-F238E27FC236}">
                <a16:creationId xmlns:a16="http://schemas.microsoft.com/office/drawing/2014/main" id="{A9824035-BAAB-434F-A0C2-EEA83AA1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14575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填写这项工作形成的具体贡献及其适用范围</a:t>
            </a:r>
          </a:p>
        </p:txBody>
      </p:sp>
      <p:sp>
        <p:nvSpPr>
          <p:cNvPr id="9" name="文字-9-2.">
            <a:extLst xmlns:a="http://schemas.openxmlformats.org/drawingml/2006/main">
              <a:ext uri="{FF2B5EF4-FFF2-40B4-BE49-F238E27FC236}">
                <a16:creationId xmlns:a16="http://schemas.microsoft.com/office/drawing/2014/main" id="{D1B916D4-D79E-4256-9C6A-53360FA9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86075"/>
            <a:ext cx="409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2.</a:t>
            </a:r>
          </a:p>
        </p:txBody>
      </p:sp>
      <p:sp>
        <p:nvSpPr>
          <p:cNvPr id="10" name="文字-10-填写研究工作二：说明关键">
            <a:extLst xmlns:a="http://schemas.openxmlformats.org/drawingml/2006/main">
              <a:ext uri="{FF2B5EF4-FFF2-40B4-BE49-F238E27FC236}">
                <a16:creationId xmlns:a16="http://schemas.microsoft.com/office/drawing/2014/main" id="{656F2A08-98C7-47DD-9298-BBD26116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86075"/>
            <a:ext cx="11010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填写研究工作二：说明关键机制或技术路径</a:t>
            </a:r>
          </a:p>
        </p:txBody>
      </p:sp>
      <p:sp>
        <p:nvSpPr>
          <p:cNvPr id="11" name="文字-11-填写这项工作形成的具体贡">
            <a:extLst xmlns:a="http://schemas.openxmlformats.org/drawingml/2006/main">
              <a:ext uri="{FF2B5EF4-FFF2-40B4-BE49-F238E27FC236}">
                <a16:creationId xmlns:a16="http://schemas.microsoft.com/office/drawing/2014/main" id="{0159257B-DD40-4220-A1B2-BB8B3C40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33750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填写这项工作形成的具体贡献及其适用范围</a:t>
            </a:r>
          </a:p>
        </p:txBody>
      </p:sp>
      <p:sp>
        <p:nvSpPr>
          <p:cNvPr id="12" name="文字-12-3.">
            <a:extLst xmlns:a="http://schemas.openxmlformats.org/drawingml/2006/main">
              <a:ext uri="{FF2B5EF4-FFF2-40B4-BE49-F238E27FC236}">
                <a16:creationId xmlns:a16="http://schemas.microsoft.com/office/drawing/2014/main" id="{7C2B5AFA-CF2B-40F5-B14C-B5E1C40C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05250"/>
            <a:ext cx="4095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3.</a:t>
            </a:r>
          </a:p>
        </p:txBody>
      </p:sp>
      <p:sp>
        <p:nvSpPr>
          <p:cNvPr id="13" name="文字-13-填写研究工作三：说明实验">
            <a:extLst xmlns:a="http://schemas.openxmlformats.org/drawingml/2006/main">
              <a:ext uri="{FF2B5EF4-FFF2-40B4-BE49-F238E27FC236}">
                <a16:creationId xmlns:a16="http://schemas.microsoft.com/office/drawing/2014/main" id="{220F15AB-AD23-4019-B712-44A0B491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05250"/>
            <a:ext cx="11010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43B"/>
                </a:solidFill>
                <a:latin typeface="Microsoft YaHei"/>
                <a:ea typeface="Microsoft YaHei"/>
                <a:cs typeface="Microsoft YaHei"/>
              </a:rPr>
              <a:t>填写研究工作三：说明实验结果与主要发现</a:t>
            </a:r>
          </a:p>
        </p:txBody>
      </p:sp>
      <p:sp>
        <p:nvSpPr>
          <p:cNvPr id="14" name="文字-14-填写这项工作形成的具体贡">
            <a:extLst xmlns:a="http://schemas.openxmlformats.org/drawingml/2006/main">
              <a:ext uri="{FF2B5EF4-FFF2-40B4-BE49-F238E27FC236}">
                <a16:creationId xmlns:a16="http://schemas.microsoft.com/office/drawing/2014/main" id="{88359234-3730-41F5-B72F-0D71791A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52925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90D12"/>
                </a:solidFill>
                <a:latin typeface="Microsoft YaHei"/>
                <a:ea typeface="Microsoft YaHei"/>
                <a:cs typeface="Microsoft YaHei"/>
              </a:rPr>
              <a:t>填写这项工作形成的具体贡献及其适用范围</a:t>
            </a:r>
          </a:p>
        </p:txBody>
      </p:sp>
      <p:sp>
        <p:nvSpPr>
          <p:cNvPr id="15" name="结构-15">
            <a:extLst xmlns:a="http://schemas.openxmlformats.org/drawingml/2006/main">
              <a:ext uri="{FF2B5EF4-FFF2-40B4-BE49-F238E27FC236}">
                <a16:creationId xmlns:a16="http://schemas.microsoft.com/office/drawing/2014/main" id="{DC50B9C4-C3E1-4D85-BD49-D1A5E02B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19112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16" name="文字-16-在此基础上：填写原型系统">
            <a:extLst xmlns:a="http://schemas.openxmlformats.org/drawingml/2006/main">
              <a:ext uri="{FF2B5EF4-FFF2-40B4-BE49-F238E27FC236}">
                <a16:creationId xmlns:a16="http://schemas.microsoft.com/office/drawing/2014/main" id="{19841F81-65F6-4DF1-BD61-710869B6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52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在此基础上：填写原型系统、应用功能或综合验证工作</a:t>
            </a:r>
          </a:p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说明各项研究如何在统一场景中形成闭环</a:t>
            </a:r>
          </a:p>
        </p:txBody>
      </p:sp>
      <p:sp>
        <p:nvSpPr>
          <p:cNvPr id="17" name="结构-17">
            <a:extLst xmlns:a="http://schemas.openxmlformats.org/drawingml/2006/main">
              <a:ext uri="{FF2B5EF4-FFF2-40B4-BE49-F238E27FC236}">
                <a16:creationId xmlns:a16="http://schemas.microsoft.com/office/drawing/2014/main" id="{6BEE1E94-C12F-41F9-9D41-437801FB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18172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92D62"/>
            </a:solidFill>
            <a:prstDash val="solid"/>
          </a:ln>
        </p:spPr>
      </p:sp>
      <p:sp>
        <p:nvSpPr>
          <p:cNvPr id="18" name="文字-18-未来展望：填写后续研究方">
            <a:extLst xmlns:a="http://schemas.openxmlformats.org/drawingml/2006/main">
              <a:ext uri="{FF2B5EF4-FFF2-40B4-BE49-F238E27FC236}">
                <a16:creationId xmlns:a16="http://schemas.microsoft.com/office/drawing/2014/main" id="{5746CA86-83A6-49E3-9399-7D68ED1F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1525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9525" rIns="38100" bIns="952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92D62"/>
                </a:solidFill>
                <a:latin typeface="Microsoft YaHei"/>
                <a:ea typeface="Microsoft YaHei"/>
                <a:cs typeface="Microsoft YaHei"/>
              </a:rPr>
              <a:t>未来展望：填写后续研究方向与仍待解决的问题</a:t>
            </a:r>
          </a:p>
        </p:txBody>
      </p:sp>
    </p:spTree>
    <p:extLst>
      <p:ext uri="{BB962C8B-B14F-4D97-AF65-F5344CB8AC3E}">
        <p14:creationId xmlns:p14="http://schemas.microsoft.com/office/powerpoint/2010/main" val="1458174193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结构-1">
            <a:extLst xmlns:a="http://schemas.openxmlformats.org/drawingml/2006/main">
              <a:ext uri="{FF2B5EF4-FFF2-40B4-BE49-F238E27FC236}">
                <a16:creationId xmlns:a16="http://schemas.microsoft.com/office/drawing/2014/main" id="{77B3272E-C5FB-4786-840F-1DECB8BE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840106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结构-1">
            <a:extLst xmlns:a="http://schemas.openxmlformats.org/drawingml/2006/main">
              <a:ext uri="{FF2B5EF4-FFF2-40B4-BE49-F238E27FC236}">
                <a16:creationId xmlns:a16="http://schemas.microsoft.com/office/drawing/2014/main" id="{6F792822-45F5-42FF-964F-578EFBDD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4499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2026-09-27T18:44:30.9920000Z</dcterms:created>
  <dcterms:modified xsi:type="dcterms:W3CDTF">2026-09-27T18:44:30.9920000Z</dcterms:modified>
</coreProperties>
</file>